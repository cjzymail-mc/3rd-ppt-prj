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640" r:id="rId3"/>
    <p:sldId id="810" r:id="rId4"/>
    <p:sldId id="870" r:id="rId5"/>
    <p:sldId id="878" r:id="rId6"/>
    <p:sldId id="932" r:id="rId7"/>
    <p:sldId id="939" r:id="rId8"/>
    <p:sldId id="940" r:id="rId9"/>
    <p:sldId id="946" r:id="rId10"/>
    <p:sldId id="936" r:id="rId11"/>
    <p:sldId id="866" r:id="rId12"/>
    <p:sldId id="947" r:id="rId13"/>
    <p:sldId id="948" r:id="rId14"/>
    <p:sldId id="950" r:id="rId15"/>
    <p:sldId id="297" r:id="rId16"/>
    <p:sldId id="966" r:id="rId17"/>
    <p:sldId id="965" r:id="rId18"/>
    <p:sldId id="1060" r:id="rId19"/>
    <p:sldId id="1061" r:id="rId20"/>
    <p:sldId id="1077" r:id="rId21"/>
    <p:sldId id="1251" r:id="rId22"/>
    <p:sldId id="1252" r:id="rId23"/>
    <p:sldId id="1253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7" autoAdjust="0"/>
    <p:restoredTop sz="65688" autoAdjust="0"/>
  </p:normalViewPr>
  <p:slideViewPr>
    <p:cSldViewPr>
      <p:cViewPr varScale="1">
        <p:scale>
          <a:sx n="51" d="100"/>
          <a:sy n="51" d="100"/>
        </p:scale>
        <p:origin x="276" y="36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Technique%20Support\Claude%20Code%20Learning\3rd-ppt-prj\&#12304;trash-bin&#12305;\&#38889;&#26195;+&#38539;&#26199;&#65288;&#26381;&#35013;&#27169;&#26495;&#65289;\&#27169;&#26495;2&#65306;&#38889;&#26195;20260521%20&#26381;&#35013;&#35797;&#31359;&#25253;&#21578;%20%20&#32039;&#36523;&#32972;&#24515;%202025%20&#25968;&#25454;%20v2.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  <c:pt idx="6">
                <c:v>G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5</c:v>
              </c:pt>
              <c:pt idx="2">
                <c:v>6</c:v>
              </c:pt>
              <c:pt idx="3">
                <c:v>7</c:v>
              </c:pt>
              <c:pt idx="4">
                <c:v>8</c:v>
              </c:pt>
              <c:pt idx="5">
                <c:v>9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0C42-44F5-BAE0-8ACEE41664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90g轻量正方格'!$C$6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EA0B-468D-92A9-C9B4793DBF41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A0B-468D-92A9-C9B4793DBF41}"/>
              </c:ext>
            </c:extLst>
          </c:dPt>
          <c:dPt>
            <c:idx val="2"/>
            <c:invertIfNegative val="0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5-EA0B-468D-92A9-C9B4793DBF41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7-EA0B-468D-92A9-C9B4793DBF41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9-EA0B-468D-92A9-C9B4793DBF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90g轻量正方格'!$B$7:$B$11</c:f>
              <c:strCache>
                <c:ptCount val="5"/>
                <c:pt idx="0">
                  <c:v>整体</c:v>
                </c:pt>
                <c:pt idx="1">
                  <c:v>衣领</c:v>
                </c:pt>
                <c:pt idx="2">
                  <c:v>袖口</c:v>
                </c:pt>
                <c:pt idx="3">
                  <c:v>胸围</c:v>
                </c:pt>
                <c:pt idx="4">
                  <c:v>腰围</c:v>
                </c:pt>
              </c:strCache>
            </c:strRef>
          </c:cat>
          <c:val>
            <c:numRef>
              <c:f>'服装试穿反馈 对标soar天海花女子长款转印 90g轻量正方格'!$C$7:$C$11</c:f>
              <c:numCache>
                <c:formatCode>0.0</c:formatCode>
                <c:ptCount val="5"/>
                <c:pt idx="0">
                  <c:v>4.3</c:v>
                </c:pt>
                <c:pt idx="1">
                  <c:v>4.8</c:v>
                </c:pt>
                <c:pt idx="2">
                  <c:v>3.3</c:v>
                </c:pt>
                <c:pt idx="3">
                  <c:v>4</c:v>
                </c:pt>
                <c:pt idx="4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0B-468D-92A9-C9B4793DB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00511"/>
        <c:axId val="1190402431"/>
      </c:barChart>
      <c:catAx>
        <c:axId val="11904005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02431"/>
        <c:crosses val="autoZero"/>
        <c:auto val="1"/>
        <c:lblAlgn val="ctr"/>
        <c:lblOffset val="100"/>
        <c:noMultiLvlLbl val="0"/>
      </c:catAx>
      <c:valAx>
        <c:axId val="119040243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005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701baa8-a723-4dcb-913b-9d5e2c3b373a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90g轻量正方格'!$C$18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3692-495C-8635-FE06E9846ABD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3692-495C-8635-FE06E9846AB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3692-495C-8635-FE06E9846A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90g轻量正方格'!$B$19:$B$21</c:f>
              <c:strCache>
                <c:ptCount val="3"/>
                <c:pt idx="0">
                  <c:v>亲肤度/手感</c:v>
                </c:pt>
                <c:pt idx="1">
                  <c:v>透气性</c:v>
                </c:pt>
                <c:pt idx="2">
                  <c:v>轻量化</c:v>
                </c:pt>
              </c:strCache>
            </c:strRef>
          </c:cat>
          <c:val>
            <c:numRef>
              <c:f>'服装试穿反馈 对标soar天海花女子长款转印 90g轻量正方格'!$C$19:$C$21</c:f>
              <c:numCache>
                <c:formatCode>0.0</c:formatCode>
                <c:ptCount val="3"/>
                <c:pt idx="0">
                  <c:v>4.8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92-495C-8635-FE06E9846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24031"/>
        <c:axId val="1190408671"/>
      </c:barChart>
      <c:catAx>
        <c:axId val="119042403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08671"/>
        <c:crosses val="autoZero"/>
        <c:auto val="1"/>
        <c:lblAlgn val="ctr"/>
        <c:lblOffset val="100"/>
        <c:noMultiLvlLbl val="0"/>
      </c:catAx>
      <c:valAx>
        <c:axId val="119040867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2403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0f9708f-eb63-40a5-a4b0-13a0add9258b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90g轻量正方格'!$C$28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8DCD-4144-8F41-1B2D6EC55D39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8DCD-4144-8F41-1B2D6EC55D39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8DCD-4144-8F41-1B2D6EC55D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90g轻量正方格'!$B$29:$B$31</c:f>
              <c:strCache>
                <c:ptCount val="3"/>
                <c:pt idx="0">
                  <c:v>整体</c:v>
                </c:pt>
                <c:pt idx="1">
                  <c:v>前胸</c:v>
                </c:pt>
                <c:pt idx="2">
                  <c:v>后背</c:v>
                </c:pt>
              </c:strCache>
            </c:strRef>
          </c:cat>
          <c:val>
            <c:numRef>
              <c:f>'服装试穿反馈 对标soar天海花女子长款转印 90g轻量正方格'!$C$29:$C$31</c:f>
              <c:numCache>
                <c:formatCode>0.0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CD-4144-8F41-1B2D6EC55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18751"/>
        <c:axId val="1190411551"/>
      </c:barChart>
      <c:catAx>
        <c:axId val="119041875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11551"/>
        <c:crosses val="autoZero"/>
        <c:auto val="1"/>
        <c:lblAlgn val="ctr"/>
        <c:lblOffset val="100"/>
        <c:noMultiLvlLbl val="0"/>
      </c:catAx>
      <c:valAx>
        <c:axId val="119041155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1875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09fd2c2-747e-4ed8-be10-4fc9f7f62907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90g轻量正方格'!$C$38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64B3-4D19-8973-3F1F0EBC816E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64B3-4D19-8973-3F1F0EBC816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64B3-4D19-8973-3F1F0EBC81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90g轻量正方格'!$B$39:$B$41</c:f>
              <c:strCache>
                <c:ptCount val="3"/>
                <c:pt idx="0">
                  <c:v>整体</c:v>
                </c:pt>
                <c:pt idx="1">
                  <c:v>前胸</c:v>
                </c:pt>
                <c:pt idx="2">
                  <c:v>后背</c:v>
                </c:pt>
              </c:strCache>
            </c:strRef>
          </c:cat>
          <c:val>
            <c:numRef>
              <c:f>'服装试穿反馈 对标soar天海花女子长款转印 90g轻量正方格'!$C$39:$C$41</c:f>
              <c:numCache>
                <c:formatCode>0.0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B3-4D19-8973-3F1F0EBC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10591"/>
        <c:axId val="1190418271"/>
      </c:barChart>
      <c:catAx>
        <c:axId val="119041059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18271"/>
        <c:crosses val="autoZero"/>
        <c:auto val="1"/>
        <c:lblAlgn val="ctr"/>
        <c:lblOffset val="100"/>
        <c:noMultiLvlLbl val="0"/>
      </c:catAx>
      <c:valAx>
        <c:axId val="119041827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1059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77578f9-402e-4364-9111-580f51a1e9a0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起点（占位）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Sheet1!$D$5:$D$6</c:f>
              <c:numCache>
                <c:formatCode>General</c:formatCode>
                <c:ptCount val="2"/>
                <c:pt idx="0">
                  <c:v>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A-4673-9EDA-08C3CF00FCFE}"/>
            </c:ext>
          </c:extLst>
        </c:ser>
        <c:ser>
          <c:idx val="1"/>
          <c:order val="1"/>
          <c:tx>
            <c:strRef>
              <c:f>Sheet1!$E$4</c:f>
              <c:strCache>
                <c:ptCount val="1"/>
                <c:pt idx="0">
                  <c:v>温度区间（℃）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Sheet1!$E$5:$E$6</c:f>
              <c:numCache>
                <c:formatCode>General</c:formatCode>
                <c:ptCount val="2"/>
                <c:pt idx="0">
                  <c:v>20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AA-4673-9EDA-08C3CF00FCFE}"/>
            </c:ext>
          </c:extLst>
        </c:ser>
        <c:ser>
          <c:idx val="2"/>
          <c:order val="2"/>
          <c:tx>
            <c:strRef>
              <c:f>Sheet1!$F$4</c:f>
              <c:strCache>
                <c:ptCount val="1"/>
                <c:pt idx="0">
                  <c:v>终点（占位）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Sheet1!$F$5:$F$6</c:f>
              <c:numCache>
                <c:formatCode>General</c:formatCode>
                <c:ptCount val="2"/>
                <c:pt idx="0">
                  <c:v>10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AA-4673-9EDA-08C3CF00F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7173839"/>
        <c:axId val="517184879"/>
      </c:barChart>
      <c:catAx>
        <c:axId val="5171738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84879"/>
        <c:crosses val="autoZero"/>
        <c:auto val="1"/>
        <c:lblAlgn val="ctr"/>
        <c:lblOffset val="100"/>
        <c:noMultiLvlLbl val="0"/>
      </c:catAx>
      <c:valAx>
        <c:axId val="51718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73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'服装试穿问卷--紧身背心'!$B$61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'服装试穿问卷--紧身背心'!$A$62:$A$67</c:f>
              <c:strCache>
                <c:ptCount val="6"/>
                <c:pt idx="0">
                  <c:v>整体</c:v>
                </c:pt>
                <c:pt idx="1">
                  <c:v>领口</c:v>
                </c:pt>
                <c:pt idx="2">
                  <c:v>袖口</c:v>
                </c:pt>
                <c:pt idx="3">
                  <c:v>肩部</c:v>
                </c:pt>
                <c:pt idx="4">
                  <c:v>胸围</c:v>
                </c:pt>
                <c:pt idx="5">
                  <c:v>腰围</c:v>
                </c:pt>
              </c:strCache>
            </c:strRef>
          </c:cat>
          <c:val>
            <c:numRef>
              <c:f>'服装试穿问卷--紧身背心'!$B$62:$B$67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</c:v>
                </c:pt>
                <c:pt idx="2">
                  <c:v>3.89</c:v>
                </c:pt>
                <c:pt idx="3">
                  <c:v>4.1100000000000003</c:v>
                </c:pt>
                <c:pt idx="4">
                  <c:v>3.67</c:v>
                </c:pt>
                <c:pt idx="5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6-4EB3-8511-0BEDC5568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16447"/>
        <c:axId val="1507215967"/>
      </c:barChart>
      <c:catAx>
        <c:axId val="15072164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15967"/>
        <c:crosses val="autoZero"/>
        <c:auto val="1"/>
        <c:lblAlgn val="ctr"/>
        <c:lblOffset val="100"/>
        <c:noMultiLvlLbl val="0"/>
      </c:catAx>
      <c:valAx>
        <c:axId val="15072159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1644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19c4f05-4067-490d-83ed-4af1ff97e129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'服装试穿问卷--紧身背心'!$B$72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'服装试穿问卷--紧身背心'!$A$73:$A$75</c:f>
              <c:strCache>
                <c:ptCount val="3"/>
                <c:pt idx="0">
                  <c:v>手感/亲肤度</c:v>
                </c:pt>
                <c:pt idx="1">
                  <c:v>轻量化</c:v>
                </c:pt>
                <c:pt idx="2">
                  <c:v>透气性</c:v>
                </c:pt>
              </c:strCache>
            </c:strRef>
          </c:cat>
          <c:val>
            <c:numRef>
              <c:f>'服装试穿问卷--紧身背心'!$B$73:$B$75</c:f>
              <c:numCache>
                <c:formatCode>General</c:formatCode>
                <c:ptCount val="3"/>
                <c:pt idx="0">
                  <c:v>4.1100000000000003</c:v>
                </c:pt>
                <c:pt idx="1">
                  <c:v>3.89</c:v>
                </c:pt>
                <c:pt idx="2">
                  <c:v>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5-462A-B6BD-2C813932FA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22687"/>
        <c:axId val="1507247167"/>
      </c:barChart>
      <c:catAx>
        <c:axId val="15072226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47167"/>
        <c:crosses val="autoZero"/>
        <c:auto val="1"/>
        <c:lblAlgn val="ctr"/>
        <c:lblOffset val="100"/>
        <c:noMultiLvlLbl val="0"/>
      </c:catAx>
      <c:valAx>
        <c:axId val="15072471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2268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9e2d559-9aab-4644-904c-24daad720695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'服装试穿问卷--紧身背心'!$B$80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360F-4488-BBED-FF1786070D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'服装试穿问卷--紧身背心'!$A$81:$A$84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'服装试穿问卷--紧身背心'!$B$81:$B$84</c:f>
              <c:numCache>
                <c:formatCode>General</c:formatCode>
                <c:ptCount val="4"/>
                <c:pt idx="0">
                  <c:v>3.78</c:v>
                </c:pt>
                <c:pt idx="1">
                  <c:v>3.56</c:v>
                </c:pt>
                <c:pt idx="2">
                  <c:v>3.67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E-4FDD-915B-D8D46727E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48127"/>
        <c:axId val="1507192927"/>
      </c:barChart>
      <c:catAx>
        <c:axId val="15072481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92927"/>
        <c:crosses val="autoZero"/>
        <c:auto val="1"/>
        <c:lblAlgn val="ctr"/>
        <c:lblOffset val="100"/>
        <c:noMultiLvlLbl val="0"/>
      </c:catAx>
      <c:valAx>
        <c:axId val="150719292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4812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72a60fe-f569-4908-bb18-0a8d26e977e0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'服装试穿问卷--紧身背心'!$B$89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CD5D-438D-9F6F-CDF0FD781D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'服装试穿问卷--紧身背心'!$A$90:$A$93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'服装试穿问卷--紧身背心'!$B$90:$B$93</c:f>
              <c:numCache>
                <c:formatCode>General</c:formatCode>
                <c:ptCount val="4"/>
                <c:pt idx="0">
                  <c:v>3.67</c:v>
                </c:pt>
                <c:pt idx="1">
                  <c:v>3.56</c:v>
                </c:pt>
                <c:pt idx="2">
                  <c:v>3.67</c:v>
                </c:pt>
                <c:pt idx="3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E3F-91DB-EBBE83F78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188607"/>
        <c:axId val="1507195807"/>
      </c:barChart>
      <c:catAx>
        <c:axId val="150718860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95807"/>
        <c:crosses val="autoZero"/>
        <c:auto val="1"/>
        <c:lblAlgn val="ctr"/>
        <c:lblOffset val="100"/>
        <c:noMultiLvlLbl val="0"/>
      </c:catAx>
      <c:valAx>
        <c:axId val="15071958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8860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fee6a1e-27ba-4318-8942-0286a13ca3ed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起点（占位）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0-3DAA-4673-9EDA-08C3CF00FCFE}"/>
            </c:ext>
          </c:extLst>
        </c:ser>
        <c:ser>
          <c:idx val="1"/>
          <c:order val="1"/>
          <c:tx>
            <c:strRef>
              <c:f>Sheet1!$E$4</c:f>
              <c:strCache>
                <c:ptCount val="1"/>
                <c:pt idx="0">
                  <c:v>温度区间（℃）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20</c:v>
              </c:pt>
              <c:pt idx="1">
                <c:v>17</c:v>
              </c:pt>
            </c:numLit>
          </c:val>
          <c:extLst>
            <c:ext xmlns:c16="http://schemas.microsoft.com/office/drawing/2014/chart" uri="{C3380CC4-5D6E-409C-BE32-E72D297353CC}">
              <c16:uniqueId val="{00000001-3DAA-4673-9EDA-08C3CF00FCFE}"/>
            </c:ext>
          </c:extLst>
        </c:ser>
        <c:ser>
          <c:idx val="2"/>
          <c:order val="2"/>
          <c:tx>
            <c:strRef>
              <c:f>Sheet1!$F$4</c:f>
              <c:strCache>
                <c:ptCount val="1"/>
                <c:pt idx="0">
                  <c:v>终点（占位）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Lit>
              <c:ptCount val="2"/>
              <c:pt idx="0">
                <c:v>体感适宜区间</c:v>
              </c:pt>
              <c:pt idx="1">
                <c:v>实际穿着区间</c:v>
              </c:pt>
            </c:strLit>
          </c:cat>
          <c:val>
            <c:numLit>
              <c:formatCode>General</c:formatCode>
              <c:ptCount val="2"/>
              <c:pt idx="0">
                <c:v>10</c:v>
              </c:pt>
              <c:pt idx="1">
                <c:v>3</c:v>
              </c:pt>
            </c:numLit>
          </c:val>
          <c:extLst>
            <c:ext xmlns:c16="http://schemas.microsoft.com/office/drawing/2014/chart" uri="{C3380CC4-5D6E-409C-BE32-E72D297353CC}">
              <c16:uniqueId val="{00000002-3DAA-4673-9EDA-08C3CF00F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7173839"/>
        <c:axId val="517184879"/>
      </c:barChart>
      <c:catAx>
        <c:axId val="5171738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84879"/>
        <c:crosses val="autoZero"/>
        <c:auto val="1"/>
        <c:lblAlgn val="ctr"/>
        <c:lblOffset val="100"/>
        <c:noMultiLvlLbl val="0"/>
      </c:catAx>
      <c:valAx>
        <c:axId val="51718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73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'服装试穿问卷--紧身背心'!$B$61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'服装试穿问卷--紧身背心'!$A$62:$A$67</c:f>
              <c:strCache>
                <c:ptCount val="6"/>
                <c:pt idx="0">
                  <c:v>整体</c:v>
                </c:pt>
                <c:pt idx="1">
                  <c:v>领口</c:v>
                </c:pt>
                <c:pt idx="2">
                  <c:v>袖口</c:v>
                </c:pt>
                <c:pt idx="3">
                  <c:v>肩部</c:v>
                </c:pt>
                <c:pt idx="4">
                  <c:v>胸围</c:v>
                </c:pt>
                <c:pt idx="5">
                  <c:v>腰围</c:v>
                </c:pt>
              </c:strCache>
            </c:strRef>
          </c:cat>
          <c:val>
            <c:numRef>
              <c:f>'服装试穿问卷--紧身背心'!$B$62:$B$67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</c:v>
                </c:pt>
                <c:pt idx="2">
                  <c:v>3.89</c:v>
                </c:pt>
                <c:pt idx="3">
                  <c:v>4.1100000000000003</c:v>
                </c:pt>
                <c:pt idx="4">
                  <c:v>3.67</c:v>
                </c:pt>
                <c:pt idx="5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8C-4288-9E75-885353961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7651391"/>
        <c:axId val="2047639391"/>
      </c:barChart>
      <c:catAx>
        <c:axId val="204765139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047639391"/>
        <c:crosses val="autoZero"/>
        <c:auto val="1"/>
        <c:lblAlgn val="ctr"/>
        <c:lblOffset val="100"/>
        <c:noMultiLvlLbl val="0"/>
      </c:catAx>
      <c:valAx>
        <c:axId val="2047639391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2047651391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'服装试穿问卷--紧身背心'!$B$72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'服装试穿问卷--紧身背心'!$A$73:$A$75</c:f>
              <c:strCache>
                <c:ptCount val="3"/>
                <c:pt idx="0">
                  <c:v>手感/亲肤度</c:v>
                </c:pt>
                <c:pt idx="1">
                  <c:v>轻量化</c:v>
                </c:pt>
                <c:pt idx="2">
                  <c:v>透气性</c:v>
                </c:pt>
              </c:strCache>
            </c:strRef>
          </c:cat>
          <c:val>
            <c:numRef>
              <c:f>'服装试穿问卷--紧身背心'!$B$73:$B$75</c:f>
              <c:numCache>
                <c:formatCode>General</c:formatCode>
                <c:ptCount val="3"/>
                <c:pt idx="0">
                  <c:v>4.1100000000000003</c:v>
                </c:pt>
                <c:pt idx="1">
                  <c:v>3.89</c:v>
                </c:pt>
                <c:pt idx="2">
                  <c:v>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EF-4817-87CE-6175816CEA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5788895"/>
        <c:axId val="1325779295"/>
      </c:barChart>
      <c:catAx>
        <c:axId val="132578889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325779295"/>
        <c:crosses val="autoZero"/>
        <c:auto val="1"/>
        <c:lblAlgn val="ctr"/>
        <c:lblOffset val="100"/>
        <c:noMultiLvlLbl val="0"/>
      </c:catAx>
      <c:valAx>
        <c:axId val="1325779295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325788895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'服装试穿问卷--紧身背心'!$B$80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'服装试穿问卷--紧身背心'!$A$81:$A$84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'服装试穿问卷--紧身背心'!$B$81:$B$84</c:f>
              <c:numCache>
                <c:formatCode>General</c:formatCode>
                <c:ptCount val="4"/>
                <c:pt idx="0">
                  <c:v>3.78</c:v>
                </c:pt>
                <c:pt idx="1">
                  <c:v>3.56</c:v>
                </c:pt>
                <c:pt idx="2">
                  <c:v>3.67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4-4BA2-A47E-C3457A5E8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5788415"/>
        <c:axId val="1325800415"/>
      </c:barChart>
      <c:catAx>
        <c:axId val="132578841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325800415"/>
        <c:crosses val="autoZero"/>
        <c:auto val="1"/>
        <c:lblAlgn val="ctr"/>
        <c:lblOffset val="100"/>
        <c:noMultiLvlLbl val="0"/>
      </c:catAx>
      <c:valAx>
        <c:axId val="1325800415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325788415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'服装试穿问卷--紧身背心'!$B$89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'服装试穿问卷--紧身背心'!$A$90:$A$93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'服装试穿问卷--紧身背心'!$B$90:$B$93</c:f>
              <c:numCache>
                <c:formatCode>General</c:formatCode>
                <c:ptCount val="4"/>
                <c:pt idx="0">
                  <c:v>3.67</c:v>
                </c:pt>
                <c:pt idx="1">
                  <c:v>3.56</c:v>
                </c:pt>
                <c:pt idx="2">
                  <c:v>3.67</c:v>
                </c:pt>
                <c:pt idx="3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BC-42F1-8D12-5F79D4228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7638911"/>
        <c:axId val="2047668191"/>
      </c:barChart>
      <c:catAx>
        <c:axId val="20476389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047668191"/>
        <c:crosses val="autoZero"/>
        <c:auto val="1"/>
        <c:lblAlgn val="ctr"/>
        <c:lblOffset val="100"/>
        <c:noMultiLvlLbl val="0"/>
      </c:catAx>
      <c:valAx>
        <c:axId val="2047668191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2047638911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aseline="0" dirty="0"/>
          </a:p>
        </p:txBody>
      </p:sp>
    </p:spTree>
    <p:extLst>
      <p:ext uri="{BB962C8B-B14F-4D97-AF65-F5344CB8AC3E}">
        <p14:creationId xmlns:p14="http://schemas.microsoft.com/office/powerpoint/2010/main" val="130283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257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788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686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202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120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跑鞋弯折范围：</a:t>
            </a:r>
            <a:r>
              <a:rPr lang="en-US" altLang="zh-CN" dirty="0"/>
              <a:t>5~40</a:t>
            </a:r>
            <a:r>
              <a:rPr lang="zh-CN" altLang="en-US" dirty="0"/>
              <a:t>，扭转范围：</a:t>
            </a:r>
            <a:r>
              <a:rPr lang="en-US" altLang="zh-CN" dirty="0"/>
              <a:t>0.5~8</a:t>
            </a:r>
            <a:r>
              <a:rPr lang="zh-CN" altLang="en-US" dirty="0"/>
              <a:t>，缓冲范围：</a:t>
            </a:r>
            <a:r>
              <a:rPr lang="en-US" altLang="zh-CN" dirty="0"/>
              <a:t>4~16</a:t>
            </a:r>
            <a:r>
              <a:rPr lang="zh-CN" altLang="en-US" dirty="0"/>
              <a:t>，回弹范围：</a:t>
            </a:r>
            <a:r>
              <a:rPr lang="en-US" altLang="zh-CN" dirty="0"/>
              <a:t>30~70</a:t>
            </a:r>
          </a:p>
          <a:p>
            <a:endParaRPr lang="en-US" altLang="zh-CN" dirty="0"/>
          </a:p>
          <a:p>
            <a:r>
              <a:rPr lang="zh-CN" altLang="en-US" dirty="0"/>
              <a:t>大致覆盖</a:t>
            </a:r>
            <a:r>
              <a:rPr lang="en-US" altLang="zh-CN" dirty="0"/>
              <a:t>80%</a:t>
            </a:r>
            <a:r>
              <a:rPr lang="zh-CN" altLang="en-US" dirty="0"/>
              <a:t>类型跑鞋的数据范围：弯折</a:t>
            </a:r>
            <a:r>
              <a:rPr lang="en-US" altLang="zh-CN" dirty="0"/>
              <a:t>11~28</a:t>
            </a:r>
            <a:r>
              <a:rPr lang="zh-CN" altLang="en-US" dirty="0"/>
              <a:t>，扭转</a:t>
            </a:r>
            <a:r>
              <a:rPr lang="en-US" altLang="zh-CN" dirty="0"/>
              <a:t>2~6</a:t>
            </a:r>
            <a:r>
              <a:rPr lang="zh-CN" altLang="en-US" dirty="0"/>
              <a:t>，缓冲：</a:t>
            </a:r>
            <a:r>
              <a:rPr lang="en-US" altLang="zh-CN" dirty="0"/>
              <a:t>6~12</a:t>
            </a:r>
            <a:r>
              <a:rPr lang="zh-CN" altLang="en-US" dirty="0"/>
              <a:t>，回弹</a:t>
            </a:r>
            <a:r>
              <a:rPr lang="en-US" altLang="zh-CN" dirty="0"/>
              <a:t>45~60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445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跑鞋弯折范围：</a:t>
            </a:r>
            <a:r>
              <a:rPr lang="en-US" altLang="zh-CN" dirty="0"/>
              <a:t>5~40</a:t>
            </a:r>
            <a:r>
              <a:rPr lang="zh-CN" altLang="en-US" dirty="0"/>
              <a:t>，扭转范围：</a:t>
            </a:r>
            <a:r>
              <a:rPr lang="en-US" altLang="zh-CN" dirty="0"/>
              <a:t>0.5~8</a:t>
            </a:r>
            <a:r>
              <a:rPr lang="zh-CN" altLang="en-US" dirty="0"/>
              <a:t>，缓冲范围：</a:t>
            </a:r>
            <a:r>
              <a:rPr lang="en-US" altLang="zh-CN" dirty="0"/>
              <a:t>4~16</a:t>
            </a:r>
            <a:r>
              <a:rPr lang="zh-CN" altLang="en-US" dirty="0"/>
              <a:t>，回弹范围：</a:t>
            </a:r>
            <a:r>
              <a:rPr lang="en-US" altLang="zh-CN" dirty="0"/>
              <a:t>30~70</a:t>
            </a:r>
          </a:p>
          <a:p>
            <a:endParaRPr lang="en-US" altLang="zh-CN" dirty="0"/>
          </a:p>
          <a:p>
            <a:r>
              <a:rPr lang="zh-CN" altLang="en-US" dirty="0"/>
              <a:t>大致覆盖</a:t>
            </a:r>
            <a:r>
              <a:rPr lang="en-US" altLang="zh-CN" dirty="0"/>
              <a:t>80%</a:t>
            </a:r>
            <a:r>
              <a:rPr lang="zh-CN" altLang="en-US" dirty="0"/>
              <a:t>类型跑鞋的数据范围：弯折</a:t>
            </a:r>
            <a:r>
              <a:rPr lang="en-US" altLang="zh-CN" dirty="0"/>
              <a:t>11~28</a:t>
            </a:r>
            <a:r>
              <a:rPr lang="zh-CN" altLang="en-US" dirty="0"/>
              <a:t>，扭转</a:t>
            </a:r>
            <a:r>
              <a:rPr lang="en-US" altLang="zh-CN" dirty="0"/>
              <a:t>2~6</a:t>
            </a:r>
            <a:r>
              <a:rPr lang="zh-CN" altLang="en-US" dirty="0"/>
              <a:t>，缓冲：</a:t>
            </a:r>
            <a:r>
              <a:rPr lang="en-US" altLang="zh-CN" dirty="0"/>
              <a:t>6~12</a:t>
            </a:r>
            <a:r>
              <a:rPr lang="zh-CN" altLang="en-US" dirty="0"/>
              <a:t>，回弹</a:t>
            </a:r>
            <a:r>
              <a:rPr lang="en-US" altLang="zh-CN" dirty="0"/>
              <a:t>45~60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861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6283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步长重心振幅矩阵</a:t>
            </a:r>
            <a:r>
              <a:rPr lang="en-US" altLang="zh-CN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-</a:t>
            </a:r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跑步</a:t>
            </a:r>
            <a:r>
              <a:rPr lang="zh-CN" altLang="en-US" sz="800" dirty="0"/>
              <a:t> </a:t>
            </a:r>
            <a:endParaRPr lang="en-US" altLang="zh-CN" sz="800" dirty="0"/>
          </a:p>
          <a:p>
            <a:endParaRPr lang="de-DE" altLang="zh-CN" sz="700" dirty="0"/>
          </a:p>
          <a:p>
            <a:r>
              <a:rPr lang="de-DE" altLang="zh-CN" sz="700" dirty="0"/>
              <a:t>delt_l = 52.357142857142854</a:t>
            </a:r>
          </a:p>
          <a:p>
            <a:r>
              <a:rPr lang="de-DE" altLang="zh-CN" sz="700" dirty="0"/>
              <a:t>zero_l = (-7526.142857142857,415)</a:t>
            </a:r>
          </a:p>
          <a:p>
            <a:r>
              <a:rPr lang="de-DE" altLang="zh-CN" sz="700" dirty="0"/>
              <a:t>delt_t = -201.53846153846143</a:t>
            </a:r>
          </a:p>
          <a:p>
            <a:r>
              <a:rPr lang="de-DE" altLang="zh-CN" sz="700" dirty="0"/>
              <a:t>zero_t = (61,2118.230769230768)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34179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重量厚度矩阵</a:t>
            </a:r>
            <a:r>
              <a:rPr lang="en-US" altLang="zh-CN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-</a:t>
            </a:r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跑步</a:t>
            </a:r>
            <a:r>
              <a:rPr lang="zh-CN" altLang="en-US" sz="800" dirty="0"/>
              <a:t> </a:t>
            </a:r>
            <a:endParaRPr lang="en-US" altLang="zh-CN" sz="800" dirty="0"/>
          </a:p>
          <a:p>
            <a:endParaRPr lang="de-DE" altLang="zh-CN" sz="700" dirty="0"/>
          </a:p>
          <a:p>
            <a:r>
              <a:rPr lang="de-DE" altLang="zh-CN" sz="700" dirty="0"/>
              <a:t>delt_l = -12.637931034482758</a:t>
            </a:r>
          </a:p>
          <a:p>
            <a:r>
              <a:rPr lang="de-DE" altLang="zh-CN" sz="700" dirty="0"/>
              <a:t>zero_l = (3024.7241379310344,415)</a:t>
            </a:r>
          </a:p>
          <a:p>
            <a:r>
              <a:rPr lang="de-DE" altLang="zh-CN" sz="700" dirty="0"/>
              <a:t>delt_t = -17.466666666666665</a:t>
            </a:r>
          </a:p>
          <a:p>
            <a:r>
              <a:rPr lang="de-DE" altLang="zh-CN" sz="700" dirty="0"/>
              <a:t>zero_t = (61,909.0)</a:t>
            </a:r>
          </a:p>
        </p:txBody>
      </p:sp>
    </p:spTree>
    <p:extLst>
      <p:ext uri="{BB962C8B-B14F-4D97-AF65-F5344CB8AC3E}">
        <p14:creationId xmlns:p14="http://schemas.microsoft.com/office/powerpoint/2010/main" val="997982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S+     95-100 </a:t>
            </a:r>
            <a:br>
              <a:rPr lang="en-US" altLang="zh-CN" dirty="0"/>
            </a:br>
            <a:r>
              <a:rPr lang="en-US" altLang="zh-CN" dirty="0"/>
              <a:t>S-     90-95 </a:t>
            </a:r>
            <a:br>
              <a:rPr lang="en-US" altLang="zh-CN" dirty="0"/>
            </a:br>
            <a:r>
              <a:rPr lang="en-US" altLang="zh-CN" dirty="0"/>
              <a:t>A+     85-90 </a:t>
            </a:r>
            <a:br>
              <a:rPr lang="en-US" altLang="zh-CN" dirty="0"/>
            </a:br>
            <a:r>
              <a:rPr lang="en-US" altLang="zh-CN" dirty="0"/>
              <a:t>A-     80-85 </a:t>
            </a:r>
            <a:br>
              <a:rPr lang="en-US" altLang="zh-CN" dirty="0"/>
            </a:br>
            <a:r>
              <a:rPr lang="en-US" altLang="zh-CN" dirty="0"/>
              <a:t>B+     75-80 </a:t>
            </a:r>
            <a:br>
              <a:rPr lang="en-US" altLang="zh-CN" dirty="0"/>
            </a:br>
            <a:r>
              <a:rPr lang="en-US" altLang="zh-CN" dirty="0"/>
              <a:t>B-     70-75 </a:t>
            </a:r>
            <a:br>
              <a:rPr lang="en-US" altLang="zh-CN" dirty="0"/>
            </a:br>
            <a:r>
              <a:rPr lang="en-US" altLang="zh-CN" dirty="0"/>
              <a:t>C+     65-70</a:t>
            </a:r>
            <a:br>
              <a:rPr lang="en-US" altLang="zh-CN" dirty="0"/>
            </a:br>
            <a:r>
              <a:rPr lang="en-US" altLang="zh-CN" dirty="0"/>
              <a:t>C-     60-65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CC48-DBB6-BEE3-3C06-0394F6AE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8781A-C651-91C3-7F95-2366B1DC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6FAEB4-486A-9EFE-9D6F-AB210350C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080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F2E1-2390-75AF-045D-8190ADC9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CF58E2-8425-29C4-047D-05D4038A0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EFCAE2-E407-C86B-9458-280F31C97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6061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097D-2193-2301-DACF-4647B777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2ECD85-E83E-A276-F8C4-D59A5B0E0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DBBCED-E2DC-A05E-4533-D021F9AD1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2519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5705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4278-16CE-65D1-396C-C604C34A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89D5D2-E94F-082A-E389-7C0A51C77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A43DAF-C21A-45E3-30E0-838D57BDD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5602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5E12-D485-BEAC-4885-AE6B3363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5C1B25-6E77-5947-7825-6F53F4AA0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09D614-325E-58FB-DDEC-67500A156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9361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8DC1-A4A1-B8D1-BB02-A8EB0303E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B96122-B60A-7E13-9807-0C767959E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AF2240-B3F2-129F-B07C-CB0278824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493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1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6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2" descr="Picture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75" y="18727"/>
            <a:ext cx="12188825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直接连接符 3"/>
          <p:cNvSpPr/>
          <p:nvPr userDrawn="1"/>
        </p:nvSpPr>
        <p:spPr>
          <a:xfrm>
            <a:off x="918823" y="6006024"/>
            <a:ext cx="566497" cy="1"/>
          </a:xfrm>
          <a:prstGeom prst="line">
            <a:avLst/>
          </a:prstGeom>
          <a:ln w="28575">
            <a:solidFill>
              <a:srgbClr val="FAD6D7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6" name="Picture 3" descr="Picture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4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sp>
        <p:nvSpPr>
          <p:cNvPr id="5" name="MH_Others_1"/>
          <p:cNvSpPr txBox="1"/>
          <p:nvPr userDrawn="1"/>
        </p:nvSpPr>
        <p:spPr>
          <a:xfrm>
            <a:off x="884526" y="2415447"/>
            <a:ext cx="2355376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 录</a:t>
            </a:r>
          </a:p>
        </p:txBody>
      </p:sp>
      <p:sp>
        <p:nvSpPr>
          <p:cNvPr id="6" name="MH_Others_2"/>
          <p:cNvSpPr txBox="1"/>
          <p:nvPr userDrawn="1"/>
        </p:nvSpPr>
        <p:spPr>
          <a:xfrm>
            <a:off x="855951" y="2912113"/>
            <a:ext cx="4252686" cy="8513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6000"/>
            </a:lvl1pPr>
          </a:lstStyle>
          <a:p>
            <a:r>
              <a:rPr dirty="0"/>
              <a:t>CONTENTS</a:t>
            </a:r>
          </a:p>
        </p:txBody>
      </p:sp>
      <p:grpSp>
        <p:nvGrpSpPr>
          <p:cNvPr id="11" name="组合 3"/>
          <p:cNvGrpSpPr/>
          <p:nvPr userDrawn="1"/>
        </p:nvGrpSpPr>
        <p:grpSpPr>
          <a:xfrm>
            <a:off x="5667186" y="1678674"/>
            <a:ext cx="656829" cy="3496573"/>
            <a:chOff x="0" y="0"/>
            <a:chExt cx="656827" cy="3496572"/>
          </a:xfrm>
        </p:grpSpPr>
        <p:grpSp>
          <p:nvGrpSpPr>
            <p:cNvPr id="12" name="组合 7"/>
            <p:cNvGrpSpPr/>
            <p:nvPr/>
          </p:nvGrpSpPr>
          <p:grpSpPr>
            <a:xfrm>
              <a:off x="16783" y="0"/>
              <a:ext cx="627413" cy="563272"/>
              <a:chOff x="0" y="0"/>
              <a:chExt cx="627411" cy="563271"/>
            </a:xfrm>
          </p:grpSpPr>
          <p:grpSp>
            <p:nvGrpSpPr>
              <p:cNvPr id="30" name="组合 6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32" name="梯形 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33" name="任意多边形 2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31" name="矩形 19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</p:grpSp>
        <p:grpSp>
          <p:nvGrpSpPr>
            <p:cNvPr id="13" name="组合 34"/>
            <p:cNvGrpSpPr/>
            <p:nvPr/>
          </p:nvGrpSpPr>
          <p:grpSpPr>
            <a:xfrm>
              <a:off x="29415" y="957725"/>
              <a:ext cx="627413" cy="563273"/>
              <a:chOff x="0" y="0"/>
              <a:chExt cx="627411" cy="563271"/>
            </a:xfrm>
          </p:grpSpPr>
          <p:grpSp>
            <p:nvGrpSpPr>
              <p:cNvPr id="24" name="组合 35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8" name="梯形 37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9" name="任意多边形 38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5" name="矩形 36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</p:grpSp>
        <p:grpSp>
          <p:nvGrpSpPr>
            <p:cNvPr id="14" name="组合 46"/>
            <p:cNvGrpSpPr/>
            <p:nvPr/>
          </p:nvGrpSpPr>
          <p:grpSpPr>
            <a:xfrm>
              <a:off x="0" y="1934295"/>
              <a:ext cx="627412" cy="986426"/>
              <a:chOff x="0" y="0"/>
              <a:chExt cx="627411" cy="986425"/>
            </a:xfrm>
          </p:grpSpPr>
          <p:grpSp>
            <p:nvGrpSpPr>
              <p:cNvPr id="20" name="组合 47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2" name="梯形 49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3" name="任意多边形 50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1" name="矩形 48"/>
              <p:cNvSpPr txBox="1"/>
              <p:nvPr/>
            </p:nvSpPr>
            <p:spPr>
              <a:xfrm>
                <a:off x="0" y="14865"/>
                <a:ext cx="581034" cy="9715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</p:grpSp>
        <p:grpSp>
          <p:nvGrpSpPr>
            <p:cNvPr id="15" name="组合 52"/>
            <p:cNvGrpSpPr/>
            <p:nvPr/>
          </p:nvGrpSpPr>
          <p:grpSpPr>
            <a:xfrm>
              <a:off x="4152" y="2933300"/>
              <a:ext cx="627413" cy="563273"/>
              <a:chOff x="0" y="0"/>
              <a:chExt cx="627411" cy="563271"/>
            </a:xfrm>
          </p:grpSpPr>
          <p:grpSp>
            <p:nvGrpSpPr>
              <p:cNvPr id="16" name="组合 53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18" name="梯形 5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9" name="任意多边形 56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17" name="矩形 54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4</a:t>
                </a:r>
              </a:p>
            </p:txBody>
          </p:sp>
        </p:grpSp>
      </p:grpSp>
      <p:sp>
        <p:nvSpPr>
          <p:cNvPr id="34" name="直接连接符 63"/>
          <p:cNvSpPr/>
          <p:nvPr userDrawn="1"/>
        </p:nvSpPr>
        <p:spPr>
          <a:xfrm>
            <a:off x="889515" y="5521552"/>
            <a:ext cx="8286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49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0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1" name="文本框 50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2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3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4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5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6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7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0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矩形 23"/>
          <p:cNvSpPr/>
          <p:nvPr userDrawn="1"/>
        </p:nvSpPr>
        <p:spPr>
          <a:xfrm>
            <a:off x="1202795" y="1536895"/>
            <a:ext cx="9789584" cy="3771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98500" dist="215900" dir="5400000" rotWithShape="0">
              <a:srgbClr val="000000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文本框 7"/>
          <p:cNvSpPr txBox="1"/>
          <p:nvPr userDrawn="1"/>
        </p:nvSpPr>
        <p:spPr>
          <a:xfrm>
            <a:off x="1439290" y="1960453"/>
            <a:ext cx="3586878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dirty="0"/>
              <a:t>0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13" name="直接连接符 27"/>
          <p:cNvSpPr/>
          <p:nvPr userDrawn="1"/>
        </p:nvSpPr>
        <p:spPr>
          <a:xfrm>
            <a:off x="5759227" y="3600105"/>
            <a:ext cx="5233153" cy="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5" name="Picture 3" descr="C:\Users\Administrator\Desktop\战戟标（3V3标-0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3952" y="3789040"/>
            <a:ext cx="1368152" cy="437971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744210"/>
            <a:ext cx="781050" cy="561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93280" y="6308725"/>
            <a:ext cx="3067685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运动表现研究部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9336" y="6309320"/>
            <a:ext cx="398438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报告编号：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QD20250</a:t>
            </a:r>
            <a:r>
              <a:rPr 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52584" y="6306185"/>
            <a:ext cx="547370" cy="5016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日期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013176"/>
            <a:ext cx="1310546" cy="1008112"/>
          </a:xfrm>
          <a:prstGeom prst="rect">
            <a:avLst/>
          </a:prstGeom>
        </p:spPr>
      </p:pic>
      <p:sp>
        <p:nvSpPr>
          <p:cNvPr id="3" name="矩形 259"/>
          <p:cNvSpPr txBox="1"/>
          <p:nvPr/>
        </p:nvSpPr>
        <p:spPr>
          <a:xfrm>
            <a:off x="6672064" y="1556792"/>
            <a:ext cx="3528391" cy="61555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endParaRPr sz="40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00056" y="1582713"/>
            <a:ext cx="2007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6600056" y="2628201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基本测试</a:t>
            </a:r>
          </a:p>
        </p:txBody>
      </p:sp>
      <p:sp>
        <p:nvSpPr>
          <p:cNvPr id="7" name="矩形 6"/>
          <p:cNvSpPr/>
          <p:nvPr/>
        </p:nvSpPr>
        <p:spPr>
          <a:xfrm>
            <a:off x="6600056" y="4005064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实战测评</a:t>
            </a:r>
          </a:p>
        </p:txBody>
      </p:sp>
      <p:sp>
        <p:nvSpPr>
          <p:cNvPr id="8" name="矩形 7"/>
          <p:cNvSpPr/>
          <p:nvPr/>
        </p:nvSpPr>
        <p:spPr>
          <a:xfrm>
            <a:off x="6600056" y="3212976"/>
            <a:ext cx="338437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  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基础物性测试</a:t>
            </a:r>
            <a:endParaRPr lang="en-US" altLang="zh-CN" sz="1400" b="1" dirty="0">
              <a:solidFill>
                <a:schemeClr val="tx2">
                  <a:lumMod val="75000"/>
                </a:schemeClr>
              </a:solidFill>
              <a:latin typeface="微软雅黑" charset="-122"/>
              <a:ea typeface="微软雅黑" charset="-122"/>
            </a:endParaRPr>
          </a:p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II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  生物力学 </a:t>
            </a: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/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运动捕捉测试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3410744"/>
            <a:ext cx="1076325" cy="2486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788757"/>
            <a:ext cx="1104900" cy="20955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00056" y="4932457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lang="en-US" altLang="zh-CN" sz="3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/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1</a:t>
            </a:r>
            <a:endParaRPr dirty="0"/>
          </a:p>
        </p:txBody>
      </p:sp>
      <p:sp>
        <p:nvSpPr>
          <p:cNvPr id="3" name="矩形 259"/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项目背景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data】</a:t>
            </a:r>
            <a:endParaRPr lang="zh-CN" altLang="en-US" sz="1600" b="1" dirty="0">
              <a:solidFill>
                <a:srgbClr val="FFC00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3351" y="188640"/>
            <a:ext cx="4910542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减震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回弹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79376" y="1000473"/>
            <a:ext cx="11233248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08739" y="5032921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缓震性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776520" y="692696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回弹性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803151" y="921658"/>
            <a:ext cx="29306" cy="461531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551384" y="75915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sz="1200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48748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2279576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307166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93576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72784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559194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384032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17612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8040216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883230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52626" y="164854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852626" y="2296617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852626" y="2944689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52626" y="3592761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61544" y="4221088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87097" y="488890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126679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38%</a:t>
            </a:r>
            <a:endParaRPr lang="zh-CN" altLang="en-US" sz="1200" dirty="0"/>
          </a:p>
        </p:txBody>
      </p:sp>
      <p:cxnSp>
        <p:nvCxnSpPr>
          <p:cNvPr id="105" name="直接连接符 104"/>
          <p:cNvCxnSpPr/>
          <p:nvPr/>
        </p:nvCxnSpPr>
        <p:spPr>
          <a:xfrm>
            <a:off x="969640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1048848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2003591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40%</a:t>
            </a:r>
            <a:endParaRPr lang="zh-CN" altLang="en-US" sz="1200" dirty="0"/>
          </a:p>
        </p:txBody>
      </p:sp>
      <p:sp>
        <p:nvSpPr>
          <p:cNvPr id="108" name="矩形 107"/>
          <p:cNvSpPr/>
          <p:nvPr/>
        </p:nvSpPr>
        <p:spPr>
          <a:xfrm>
            <a:off x="2831683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42%</a:t>
            </a:r>
            <a:endParaRPr lang="zh-CN" altLang="en-US" sz="1200" dirty="0"/>
          </a:p>
        </p:txBody>
      </p:sp>
      <p:sp>
        <p:nvSpPr>
          <p:cNvPr id="109" name="矩形 108"/>
          <p:cNvSpPr/>
          <p:nvPr/>
        </p:nvSpPr>
        <p:spPr>
          <a:xfrm>
            <a:off x="365977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44%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4469604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46%</a:t>
            </a:r>
            <a:endParaRPr lang="zh-CN" altLang="en-US" sz="1200" dirty="0"/>
          </a:p>
        </p:txBody>
      </p:sp>
      <p:sp>
        <p:nvSpPr>
          <p:cNvPr id="111" name="矩形 110"/>
          <p:cNvSpPr/>
          <p:nvPr/>
        </p:nvSpPr>
        <p:spPr>
          <a:xfrm>
            <a:off x="5366857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48%</a:t>
            </a:r>
            <a:endParaRPr lang="zh-CN" altLang="en-US" sz="1200" dirty="0"/>
          </a:p>
        </p:txBody>
      </p:sp>
      <p:sp>
        <p:nvSpPr>
          <p:cNvPr id="112" name="矩形 111"/>
          <p:cNvSpPr/>
          <p:nvPr/>
        </p:nvSpPr>
        <p:spPr>
          <a:xfrm>
            <a:off x="6159971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50%</a:t>
            </a:r>
            <a:endParaRPr lang="zh-CN" altLang="en-US" sz="1200" dirty="0"/>
          </a:p>
        </p:txBody>
      </p:sp>
      <p:sp>
        <p:nvSpPr>
          <p:cNvPr id="113" name="矩形 112"/>
          <p:cNvSpPr/>
          <p:nvPr/>
        </p:nvSpPr>
        <p:spPr>
          <a:xfrm>
            <a:off x="689676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52%</a:t>
            </a:r>
            <a:endParaRPr lang="zh-CN" altLang="en-US" sz="1200" dirty="0"/>
          </a:p>
        </p:txBody>
      </p:sp>
      <p:sp>
        <p:nvSpPr>
          <p:cNvPr id="114" name="矩形 113"/>
          <p:cNvSpPr/>
          <p:nvPr/>
        </p:nvSpPr>
        <p:spPr>
          <a:xfrm>
            <a:off x="776089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54%</a:t>
            </a:r>
            <a:endParaRPr lang="zh-CN" altLang="en-US" sz="1200" dirty="0"/>
          </a:p>
        </p:txBody>
      </p:sp>
      <p:sp>
        <p:nvSpPr>
          <p:cNvPr id="115" name="矩形 114"/>
          <p:cNvSpPr/>
          <p:nvPr/>
        </p:nvSpPr>
        <p:spPr>
          <a:xfrm>
            <a:off x="856966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56%</a:t>
            </a:r>
            <a:endParaRPr lang="zh-CN" altLang="en-US" sz="1200" dirty="0"/>
          </a:p>
        </p:txBody>
      </p:sp>
      <p:sp>
        <p:nvSpPr>
          <p:cNvPr id="116" name="矩形 115"/>
          <p:cNvSpPr/>
          <p:nvPr/>
        </p:nvSpPr>
        <p:spPr>
          <a:xfrm>
            <a:off x="9403239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58%</a:t>
            </a:r>
            <a:endParaRPr lang="zh-CN" altLang="en-US" sz="1200" dirty="0"/>
          </a:p>
        </p:txBody>
      </p:sp>
      <p:sp>
        <p:nvSpPr>
          <p:cNvPr id="118" name="矩形 117"/>
          <p:cNvSpPr/>
          <p:nvPr/>
        </p:nvSpPr>
        <p:spPr>
          <a:xfrm>
            <a:off x="560171" y="4720242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/>
          </a:p>
        </p:txBody>
      </p:sp>
      <p:sp>
        <p:nvSpPr>
          <p:cNvPr id="119" name="矩形 118"/>
          <p:cNvSpPr/>
          <p:nvPr/>
        </p:nvSpPr>
        <p:spPr>
          <a:xfrm>
            <a:off x="688151" y="5542493"/>
            <a:ext cx="301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/>
          </a:p>
        </p:txBody>
      </p:sp>
      <p:sp>
        <p:nvSpPr>
          <p:cNvPr id="120" name="矩形 119"/>
          <p:cNvSpPr/>
          <p:nvPr/>
        </p:nvSpPr>
        <p:spPr>
          <a:xfrm>
            <a:off x="11735918" y="865526"/>
            <a:ext cx="327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%</a:t>
            </a:r>
            <a:endParaRPr lang="zh-CN" altLang="en-US" sz="1200" dirty="0"/>
          </a:p>
        </p:txBody>
      </p:sp>
      <p:sp>
        <p:nvSpPr>
          <p:cNvPr id="121" name="矩形 120"/>
          <p:cNvSpPr/>
          <p:nvPr/>
        </p:nvSpPr>
        <p:spPr>
          <a:xfrm>
            <a:off x="560171" y="4102333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/>
          </a:p>
        </p:txBody>
      </p:sp>
      <p:sp>
        <p:nvSpPr>
          <p:cNvPr id="122" name="矩形 121"/>
          <p:cNvSpPr/>
          <p:nvPr/>
        </p:nvSpPr>
        <p:spPr>
          <a:xfrm>
            <a:off x="470376" y="347195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/>
          </a:p>
        </p:txBody>
      </p:sp>
      <p:sp>
        <p:nvSpPr>
          <p:cNvPr id="123" name="矩形 122"/>
          <p:cNvSpPr/>
          <p:nvPr/>
        </p:nvSpPr>
        <p:spPr>
          <a:xfrm>
            <a:off x="470376" y="282366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/>
          </a:p>
        </p:txBody>
      </p:sp>
      <p:sp>
        <p:nvSpPr>
          <p:cNvPr id="124" name="矩形 123"/>
          <p:cNvSpPr/>
          <p:nvPr/>
        </p:nvSpPr>
        <p:spPr>
          <a:xfrm>
            <a:off x="470376" y="218430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/>
          </a:p>
        </p:txBody>
      </p:sp>
      <p:sp>
        <p:nvSpPr>
          <p:cNvPr id="125" name="矩形 124"/>
          <p:cNvSpPr/>
          <p:nvPr/>
        </p:nvSpPr>
        <p:spPr>
          <a:xfrm>
            <a:off x="470376" y="151562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/>
          </a:p>
        </p:txBody>
      </p:sp>
      <p:sp>
        <p:nvSpPr>
          <p:cNvPr id="126" name="矩形 125"/>
          <p:cNvSpPr/>
          <p:nvPr/>
        </p:nvSpPr>
        <p:spPr>
          <a:xfrm>
            <a:off x="923101" y="757413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27" name="矩形 126"/>
          <p:cNvSpPr/>
          <p:nvPr/>
        </p:nvSpPr>
        <p:spPr>
          <a:xfrm rot="16200000">
            <a:off x="489528" y="1184794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cxnSp>
        <p:nvCxnSpPr>
          <p:cNvPr id="140" name="直接连接符 139"/>
          <p:cNvCxnSpPr/>
          <p:nvPr/>
        </p:nvCxnSpPr>
        <p:spPr>
          <a:xfrm>
            <a:off x="5519936" y="1034412"/>
            <a:ext cx="0" cy="282141"/>
          </a:xfrm>
          <a:prstGeom prst="line">
            <a:avLst/>
          </a:prstGeom>
          <a:ln w="9525" cap="flat" cmpd="sng" algn="ctr">
            <a:solidFill>
              <a:schemeClr val="dk1">
                <a:alpha val="12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1021762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60%</a:t>
            </a:r>
            <a:endParaRPr lang="zh-CN" altLang="en-US" sz="1200" dirty="0"/>
          </a:p>
        </p:txBody>
      </p:sp>
      <p:sp>
        <p:nvSpPr>
          <p:cNvPr id="49" name="矩形 48"/>
          <p:cNvSpPr/>
          <p:nvPr/>
        </p:nvSpPr>
        <p:spPr>
          <a:xfrm>
            <a:off x="0" y="6999004"/>
            <a:ext cx="12192000" cy="103850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173564" y="7126797"/>
            <a:ext cx="2986408" cy="259604"/>
          </a:xfrm>
          <a:prstGeom prst="rect">
            <a:avLst/>
          </a:prstGeom>
          <a:solidFill>
            <a:srgbClr val="33CC33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442556" y="7494245"/>
            <a:ext cx="6533764" cy="259604"/>
          </a:xfrm>
          <a:prstGeom prst="rect">
            <a:avLst/>
          </a:prstGeom>
          <a:solidFill>
            <a:schemeClr val="accent2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351" y="6999364"/>
            <a:ext cx="11665296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结合缓震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回弹率来看，锋刺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整体缓震与回弹上较优，仅次于且略低于锋刺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、驭帅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14boom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。仅从该项指标来看，可以初步得出，爆米花材料所提供的缓震、回弹效果运用在篮球鞋上略优于其他缓震材料。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弯折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扭转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0055299" y="5370040"/>
            <a:ext cx="1082348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抗弯折性能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0439" y="477104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52" name="矩形 51"/>
          <p:cNvSpPr/>
          <p:nvPr/>
        </p:nvSpPr>
        <p:spPr>
          <a:xfrm>
            <a:off x="32505" y="1332153"/>
            <a:ext cx="723275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抗扭转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10021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N*m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179474"/>
            <a:ext cx="0" cy="435600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右箭头 6"/>
          <p:cNvSpPr/>
          <p:nvPr/>
        </p:nvSpPr>
        <p:spPr>
          <a:xfrm>
            <a:off x="773875" y="488287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右箭头 92"/>
          <p:cNvSpPr/>
          <p:nvPr/>
        </p:nvSpPr>
        <p:spPr>
          <a:xfrm>
            <a:off x="773875" y="4467054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右箭头 93"/>
          <p:cNvSpPr/>
          <p:nvPr/>
        </p:nvSpPr>
        <p:spPr>
          <a:xfrm>
            <a:off x="773875" y="405919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右箭头 96"/>
          <p:cNvSpPr/>
          <p:nvPr/>
        </p:nvSpPr>
        <p:spPr>
          <a:xfrm>
            <a:off x="773875" y="3671949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右箭头 98"/>
          <p:cNvSpPr/>
          <p:nvPr/>
        </p:nvSpPr>
        <p:spPr>
          <a:xfrm>
            <a:off x="773875" y="3282394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73875" y="2895146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右箭头 100"/>
          <p:cNvSpPr/>
          <p:nvPr/>
        </p:nvSpPr>
        <p:spPr>
          <a:xfrm>
            <a:off x="773875" y="249517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右箭头 103"/>
          <p:cNvSpPr/>
          <p:nvPr/>
        </p:nvSpPr>
        <p:spPr>
          <a:xfrm>
            <a:off x="773875" y="211745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右箭头 104"/>
          <p:cNvSpPr/>
          <p:nvPr/>
        </p:nvSpPr>
        <p:spPr>
          <a:xfrm>
            <a:off x="774188" y="173245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9587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204677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V="1">
            <a:off x="254243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304649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V="1">
            <a:off x="362255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V="1">
            <a:off x="415519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465924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V="1">
            <a:off x="519721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5773274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627733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678138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 flipV="1">
            <a:off x="735745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786150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834117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884523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9349291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130896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4" name="直接箭头连接符 123"/>
          <p:cNvCxnSpPr/>
          <p:nvPr/>
        </p:nvCxnSpPr>
        <p:spPr>
          <a:xfrm flipV="1">
            <a:off x="98065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187672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35371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7463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41112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3960621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512154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499497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59177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11270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69445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204194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720985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8211949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8702895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12674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90439" y="437427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490439" y="396869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90439" y="3581443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90439" y="3167458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99964" y="2785399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27559" y="237953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27559" y="1988840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矩形 147"/>
          <p:cNvSpPr/>
          <p:nvPr/>
        </p:nvSpPr>
        <p:spPr>
          <a:xfrm rot="5400000">
            <a:off x="495238" y="4994461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 flipV="1">
            <a:off x="10382572" y="5268186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9620101" y="5417519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箭头连接符 59"/>
          <p:cNvCxnSpPr/>
          <p:nvPr/>
        </p:nvCxnSpPr>
        <p:spPr>
          <a:xfrm>
            <a:off x="823225" y="856457"/>
            <a:ext cx="0" cy="4680520"/>
          </a:xfrm>
          <a:prstGeom prst="straightConnector1">
            <a:avLst/>
          </a:prstGeom>
          <a:noFill/>
          <a:ln w="38100" cap="flat">
            <a:solidFill>
              <a:srgbClr val="D82540"/>
            </a:solidFill>
            <a:prstDash val="solid"/>
            <a:round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文本框 19"/>
          <p:cNvSpPr txBox="1"/>
          <p:nvPr/>
        </p:nvSpPr>
        <p:spPr>
          <a:xfrm>
            <a:off x="263351" y="188640"/>
            <a:ext cx="4910542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减震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回弹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79376" y="1000473"/>
            <a:ext cx="11448000" cy="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08739" y="5032921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缓震性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989349" y="692696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回弹性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51384" y="75915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sz="1200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487488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2127354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275612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409383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099290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472447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536340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6046226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6714723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407937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52626" y="164854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852626" y="2296617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852626" y="2944689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52626" y="3592761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61544" y="4221088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87097" y="488890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126679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46%</a:t>
            </a:r>
            <a:endParaRPr lang="zh-CN" altLang="en-US" sz="1200" dirty="0"/>
          </a:p>
        </p:txBody>
      </p:sp>
      <p:cxnSp>
        <p:nvCxnSpPr>
          <p:cNvPr id="105" name="直接连接符 104"/>
          <p:cNvCxnSpPr/>
          <p:nvPr/>
        </p:nvCxnSpPr>
        <p:spPr>
          <a:xfrm>
            <a:off x="8094827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8804866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187835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47%</a:t>
            </a:r>
            <a:endParaRPr lang="zh-CN" altLang="en-US" sz="1200" dirty="0"/>
          </a:p>
        </p:txBody>
      </p:sp>
      <p:sp>
        <p:nvSpPr>
          <p:cNvPr id="108" name="矩形 107"/>
          <p:cNvSpPr/>
          <p:nvPr/>
        </p:nvSpPr>
        <p:spPr>
          <a:xfrm>
            <a:off x="251614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48%</a:t>
            </a:r>
            <a:endParaRPr lang="zh-CN" altLang="en-US" sz="1200" dirty="0"/>
          </a:p>
        </p:txBody>
      </p:sp>
      <p:sp>
        <p:nvSpPr>
          <p:cNvPr id="109" name="矩形 108"/>
          <p:cNvSpPr/>
          <p:nvPr/>
        </p:nvSpPr>
        <p:spPr>
          <a:xfrm>
            <a:off x="31539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49%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38410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50%</a:t>
            </a:r>
            <a:endParaRPr lang="zh-CN" altLang="en-US" sz="1200" dirty="0"/>
          </a:p>
        </p:txBody>
      </p:sp>
      <p:sp>
        <p:nvSpPr>
          <p:cNvPr id="111" name="矩形 110"/>
          <p:cNvSpPr/>
          <p:nvPr/>
        </p:nvSpPr>
        <p:spPr>
          <a:xfrm>
            <a:off x="4499392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51%</a:t>
            </a:r>
            <a:endParaRPr lang="zh-CN" altLang="en-US" sz="1200" dirty="0"/>
          </a:p>
        </p:txBody>
      </p:sp>
      <p:sp>
        <p:nvSpPr>
          <p:cNvPr id="112" name="矩形 111"/>
          <p:cNvSpPr/>
          <p:nvPr/>
        </p:nvSpPr>
        <p:spPr>
          <a:xfrm>
            <a:off x="513934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52%</a:t>
            </a:r>
            <a:endParaRPr lang="zh-CN" altLang="en-US" sz="1200" dirty="0"/>
          </a:p>
        </p:txBody>
      </p:sp>
      <p:sp>
        <p:nvSpPr>
          <p:cNvPr id="113" name="矩形 112"/>
          <p:cNvSpPr/>
          <p:nvPr/>
        </p:nvSpPr>
        <p:spPr>
          <a:xfrm>
            <a:off x="580796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53%</a:t>
            </a:r>
            <a:endParaRPr lang="zh-CN" altLang="en-US" sz="1200" dirty="0"/>
          </a:p>
        </p:txBody>
      </p:sp>
      <p:sp>
        <p:nvSpPr>
          <p:cNvPr id="114" name="矩形 113"/>
          <p:cNvSpPr/>
          <p:nvPr/>
        </p:nvSpPr>
        <p:spPr>
          <a:xfrm>
            <a:off x="645595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54%</a:t>
            </a:r>
            <a:endParaRPr lang="zh-CN" altLang="en-US" sz="1200" dirty="0"/>
          </a:p>
        </p:txBody>
      </p:sp>
      <p:sp>
        <p:nvSpPr>
          <p:cNvPr id="115" name="矩形 114"/>
          <p:cNvSpPr/>
          <p:nvPr/>
        </p:nvSpPr>
        <p:spPr>
          <a:xfrm>
            <a:off x="71658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55%</a:t>
            </a:r>
            <a:endParaRPr lang="zh-CN" altLang="en-US" sz="1200" dirty="0"/>
          </a:p>
        </p:txBody>
      </p:sp>
      <p:sp>
        <p:nvSpPr>
          <p:cNvPr id="116" name="矩形 115"/>
          <p:cNvSpPr/>
          <p:nvPr/>
        </p:nvSpPr>
        <p:spPr>
          <a:xfrm>
            <a:off x="783248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56%</a:t>
            </a:r>
            <a:endParaRPr lang="zh-CN" altLang="en-US" sz="1200" dirty="0"/>
          </a:p>
        </p:txBody>
      </p:sp>
      <p:sp>
        <p:nvSpPr>
          <p:cNvPr id="118" name="矩形 117"/>
          <p:cNvSpPr/>
          <p:nvPr/>
        </p:nvSpPr>
        <p:spPr>
          <a:xfrm>
            <a:off x="560171" y="4720242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/>
          </a:p>
        </p:txBody>
      </p:sp>
      <p:sp>
        <p:nvSpPr>
          <p:cNvPr id="119" name="矩形 118"/>
          <p:cNvSpPr/>
          <p:nvPr/>
        </p:nvSpPr>
        <p:spPr>
          <a:xfrm>
            <a:off x="688151" y="5542493"/>
            <a:ext cx="301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/>
          </a:p>
        </p:txBody>
      </p:sp>
      <p:sp>
        <p:nvSpPr>
          <p:cNvPr id="120" name="矩形 119"/>
          <p:cNvSpPr/>
          <p:nvPr/>
        </p:nvSpPr>
        <p:spPr>
          <a:xfrm>
            <a:off x="11879072" y="865526"/>
            <a:ext cx="327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%</a:t>
            </a:r>
            <a:endParaRPr lang="zh-CN" altLang="en-US" sz="1200" dirty="0"/>
          </a:p>
        </p:txBody>
      </p:sp>
      <p:sp>
        <p:nvSpPr>
          <p:cNvPr id="121" name="矩形 120"/>
          <p:cNvSpPr/>
          <p:nvPr/>
        </p:nvSpPr>
        <p:spPr>
          <a:xfrm>
            <a:off x="560171" y="4102333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/>
          </a:p>
        </p:txBody>
      </p:sp>
      <p:sp>
        <p:nvSpPr>
          <p:cNvPr id="122" name="矩形 121"/>
          <p:cNvSpPr/>
          <p:nvPr/>
        </p:nvSpPr>
        <p:spPr>
          <a:xfrm>
            <a:off x="532020" y="3471957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/>
          </a:p>
        </p:txBody>
      </p:sp>
      <p:sp>
        <p:nvSpPr>
          <p:cNvPr id="123" name="矩形 122"/>
          <p:cNvSpPr/>
          <p:nvPr/>
        </p:nvSpPr>
        <p:spPr>
          <a:xfrm>
            <a:off x="511472" y="2823667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/>
          </a:p>
        </p:txBody>
      </p:sp>
      <p:sp>
        <p:nvSpPr>
          <p:cNvPr id="124" name="矩形 123"/>
          <p:cNvSpPr/>
          <p:nvPr/>
        </p:nvSpPr>
        <p:spPr>
          <a:xfrm>
            <a:off x="448464" y="218430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/>
          </a:p>
        </p:txBody>
      </p:sp>
      <p:sp>
        <p:nvSpPr>
          <p:cNvPr id="125" name="矩形 124"/>
          <p:cNvSpPr/>
          <p:nvPr/>
        </p:nvSpPr>
        <p:spPr>
          <a:xfrm>
            <a:off x="449828" y="151562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/>
          </a:p>
        </p:txBody>
      </p:sp>
      <p:sp>
        <p:nvSpPr>
          <p:cNvPr id="126" name="矩形 125"/>
          <p:cNvSpPr/>
          <p:nvPr/>
        </p:nvSpPr>
        <p:spPr>
          <a:xfrm>
            <a:off x="923101" y="757413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27" name="矩形 126"/>
          <p:cNvSpPr/>
          <p:nvPr/>
        </p:nvSpPr>
        <p:spPr>
          <a:xfrm rot="16200000">
            <a:off x="489528" y="1184794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64" name="矩形 163"/>
          <p:cNvSpPr/>
          <p:nvPr/>
        </p:nvSpPr>
        <p:spPr>
          <a:xfrm>
            <a:off x="85545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57%</a:t>
            </a:r>
            <a:endParaRPr lang="zh-CN" altLang="en-US" sz="1200" dirty="0"/>
          </a:p>
        </p:txBody>
      </p:sp>
      <p:sp>
        <p:nvSpPr>
          <p:cNvPr id="49" name="矩形 48"/>
          <p:cNvSpPr/>
          <p:nvPr/>
        </p:nvSpPr>
        <p:spPr>
          <a:xfrm>
            <a:off x="0" y="6999004"/>
            <a:ext cx="12192000" cy="103850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173564" y="7126797"/>
            <a:ext cx="2986408" cy="259604"/>
          </a:xfrm>
          <a:prstGeom prst="rect">
            <a:avLst/>
          </a:prstGeom>
          <a:solidFill>
            <a:srgbClr val="33CC33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442556" y="7494245"/>
            <a:ext cx="6533764" cy="259604"/>
          </a:xfrm>
          <a:prstGeom prst="rect">
            <a:avLst/>
          </a:prstGeom>
          <a:solidFill>
            <a:schemeClr val="accent2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351" y="6999364"/>
            <a:ext cx="11665296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结合缓震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回弹率来看，锋刺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整体缓震与回弹上较优，仅次于且略低于锋刺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、驭帅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14boom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。仅从该项指标来看，可以初步得出，爆米花材料所提供的缓震、回弹效果运用在篮球鞋上略优于其他缓震材料。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9437704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065318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0735554" y="104302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1352584" y="1060358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9231372" y="739852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58%</a:t>
            </a:r>
            <a:endParaRPr lang="zh-CN" altLang="en-US" sz="1200" dirty="0"/>
          </a:p>
        </p:txBody>
      </p:sp>
      <p:sp>
        <p:nvSpPr>
          <p:cNvPr id="58" name="矩形 57"/>
          <p:cNvSpPr/>
          <p:nvPr/>
        </p:nvSpPr>
        <p:spPr>
          <a:xfrm>
            <a:off x="9879444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59%</a:t>
            </a:r>
            <a:endParaRPr lang="zh-CN" altLang="en-US" sz="1200" dirty="0"/>
          </a:p>
        </p:txBody>
      </p:sp>
      <p:sp>
        <p:nvSpPr>
          <p:cNvPr id="59" name="矩形 58"/>
          <p:cNvSpPr/>
          <p:nvPr/>
        </p:nvSpPr>
        <p:spPr>
          <a:xfrm>
            <a:off x="1047605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60%</a:t>
            </a:r>
            <a:endParaRPr lang="zh-CN" altLang="en-US" sz="12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弯折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扭转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0055299" y="5370040"/>
            <a:ext cx="1082348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抗弯折性能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0439" y="482241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52" name="矩形 51"/>
          <p:cNvSpPr/>
          <p:nvPr/>
        </p:nvSpPr>
        <p:spPr>
          <a:xfrm>
            <a:off x="32505" y="1332153"/>
            <a:ext cx="723275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抗扭转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10021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N*m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右箭头 6"/>
          <p:cNvSpPr/>
          <p:nvPr/>
        </p:nvSpPr>
        <p:spPr>
          <a:xfrm>
            <a:off x="773875" y="493424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右箭头 92"/>
          <p:cNvSpPr/>
          <p:nvPr/>
        </p:nvSpPr>
        <p:spPr>
          <a:xfrm>
            <a:off x="773875" y="4497876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右箭头 93"/>
          <p:cNvSpPr/>
          <p:nvPr/>
        </p:nvSpPr>
        <p:spPr>
          <a:xfrm>
            <a:off x="773875" y="4069471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右箭头 96"/>
          <p:cNvSpPr/>
          <p:nvPr/>
        </p:nvSpPr>
        <p:spPr>
          <a:xfrm>
            <a:off x="773875" y="3651401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右箭头 98"/>
          <p:cNvSpPr/>
          <p:nvPr/>
        </p:nvSpPr>
        <p:spPr>
          <a:xfrm>
            <a:off x="773875" y="324129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73875" y="282322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右箭头 100"/>
          <p:cNvSpPr/>
          <p:nvPr/>
        </p:nvSpPr>
        <p:spPr>
          <a:xfrm>
            <a:off x="773875" y="2423260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右箭头 103"/>
          <p:cNvSpPr/>
          <p:nvPr/>
        </p:nvSpPr>
        <p:spPr>
          <a:xfrm>
            <a:off x="773875" y="201471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9587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204677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V="1">
            <a:off x="254243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307731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V="1">
            <a:off x="362255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V="1">
            <a:off x="415519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4679794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V="1">
            <a:off x="519721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574245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627733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68122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 flipV="1">
            <a:off x="734717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785123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833090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8834961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931846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 flipV="1">
            <a:off x="98065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187400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36263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905455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42636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3968241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50984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501021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56095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11270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620604" y="540712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17106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67752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8158718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8662774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13250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90439" y="4405094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490439" y="397896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90439" y="356089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90439" y="312636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99964" y="2713481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88164" y="2307619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88164" y="1906648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 flipV="1">
            <a:off x="10331202" y="5268186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9627721" y="5417519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右箭头 69"/>
          <p:cNvSpPr/>
          <p:nvPr/>
        </p:nvSpPr>
        <p:spPr>
          <a:xfrm>
            <a:off x="773875" y="161078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238495" y="5421143"/>
            <a:ext cx="520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0" name="矩形 9"/>
          <p:cNvSpPr/>
          <p:nvPr/>
        </p:nvSpPr>
        <p:spPr>
          <a:xfrm>
            <a:off x="407368" y="7304072"/>
            <a:ext cx="11305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生物力学数据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人体试穿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 文字描述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259"/>
          <p:cNvSpPr txBox="1"/>
          <p:nvPr/>
        </p:nvSpPr>
        <p:spPr>
          <a:xfrm>
            <a:off x="904309" y="2569883"/>
            <a:ext cx="6479835" cy="9233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6000" b="1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dirty="0">
                <a:latin typeface="微软雅黑" pitchFamily="34" charset="-122"/>
                <a:ea typeface="微软雅黑" pitchFamily="34" charset="-122"/>
              </a:rPr>
              <a:t>THANK YOU</a:t>
            </a:r>
          </a:p>
        </p:txBody>
      </p:sp>
      <p:pic>
        <p:nvPicPr>
          <p:cNvPr id="645" name="Picture 3" descr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767080" y="5300980"/>
            <a:ext cx="3067685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5890189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步长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垂直重心振幅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" name="等腰三角形 3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等腰三角形 92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2827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7" name="等腰三角形 96"/>
          <p:cNvSpPr/>
          <p:nvPr/>
        </p:nvSpPr>
        <p:spPr>
          <a:xfrm>
            <a:off x="216353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94763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0" name="等腰三角形 99"/>
          <p:cNvSpPr/>
          <p:nvPr/>
        </p:nvSpPr>
        <p:spPr>
          <a:xfrm>
            <a:off x="282847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61257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4" name="等腰三角形 103"/>
          <p:cNvSpPr/>
          <p:nvPr/>
        </p:nvSpPr>
        <p:spPr>
          <a:xfrm>
            <a:off x="349340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27750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8" name="等腰三角形 107"/>
          <p:cNvSpPr/>
          <p:nvPr/>
        </p:nvSpPr>
        <p:spPr>
          <a:xfrm>
            <a:off x="415834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94244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1" name="等腰三角形 110"/>
          <p:cNvSpPr/>
          <p:nvPr/>
        </p:nvSpPr>
        <p:spPr>
          <a:xfrm>
            <a:off x="482327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60737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3" name="等腰三角形 112"/>
          <p:cNvSpPr/>
          <p:nvPr/>
        </p:nvSpPr>
        <p:spPr>
          <a:xfrm>
            <a:off x="5488214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272314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5" name="等腰三角形 114"/>
          <p:cNvSpPr/>
          <p:nvPr/>
        </p:nvSpPr>
        <p:spPr>
          <a:xfrm>
            <a:off x="615315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93725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7" name="等腰三角形 116"/>
          <p:cNvSpPr/>
          <p:nvPr/>
        </p:nvSpPr>
        <p:spPr>
          <a:xfrm>
            <a:off x="681808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60218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9" name="等腰三角形 118"/>
          <p:cNvSpPr/>
          <p:nvPr/>
        </p:nvSpPr>
        <p:spPr>
          <a:xfrm>
            <a:off x="748302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26712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1" name="等腰三角形 120"/>
          <p:cNvSpPr/>
          <p:nvPr/>
        </p:nvSpPr>
        <p:spPr>
          <a:xfrm>
            <a:off x="814795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93205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4" name="等腰三角形 123"/>
          <p:cNvSpPr/>
          <p:nvPr/>
        </p:nvSpPr>
        <p:spPr>
          <a:xfrm>
            <a:off x="881289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859699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6" name="等腰三角形 125"/>
          <p:cNvSpPr/>
          <p:nvPr/>
        </p:nvSpPr>
        <p:spPr>
          <a:xfrm>
            <a:off x="947782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926192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8" name="等腰三角形 127"/>
          <p:cNvSpPr/>
          <p:nvPr/>
        </p:nvSpPr>
        <p:spPr>
          <a:xfrm>
            <a:off x="1014276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92686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0" name="等腰三角形 129"/>
          <p:cNvSpPr/>
          <p:nvPr/>
        </p:nvSpPr>
        <p:spPr>
          <a:xfrm>
            <a:off x="108077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5918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160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等腰三角形 131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330200" y="47625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4" name="等腰三角形 133"/>
          <p:cNvSpPr/>
          <p:nvPr/>
        </p:nvSpPr>
        <p:spPr>
          <a:xfrm rot="5400000">
            <a:off x="774700" y="4633546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330200" y="4506546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774700" y="4377592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0200" y="4250592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8" name="等腰三角形 137"/>
          <p:cNvSpPr/>
          <p:nvPr/>
        </p:nvSpPr>
        <p:spPr>
          <a:xfrm rot="5400000">
            <a:off x="774700" y="4121638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330200" y="3994638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0" name="等腰三角形 139"/>
          <p:cNvSpPr/>
          <p:nvPr/>
        </p:nvSpPr>
        <p:spPr>
          <a:xfrm rot="5400000">
            <a:off x="774700" y="3865685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330200" y="3738685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774700" y="3609731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30200" y="3482731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774700" y="335377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330200" y="322677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6" name="等腰三角形 145"/>
          <p:cNvSpPr/>
          <p:nvPr/>
        </p:nvSpPr>
        <p:spPr>
          <a:xfrm rot="5400000">
            <a:off x="774700" y="309782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30200" y="297082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5" name="等腰三角形 164"/>
          <p:cNvSpPr/>
          <p:nvPr/>
        </p:nvSpPr>
        <p:spPr>
          <a:xfrm rot="5400000">
            <a:off x="774700" y="2841869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30200" y="2714869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3" name="等腰三角形 182"/>
          <p:cNvSpPr/>
          <p:nvPr/>
        </p:nvSpPr>
        <p:spPr>
          <a:xfrm rot="5400000">
            <a:off x="774700" y="2585915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30200" y="2458915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5" name="等腰三角形 184"/>
          <p:cNvSpPr/>
          <p:nvPr/>
        </p:nvSpPr>
        <p:spPr>
          <a:xfrm rot="5400000">
            <a:off x="774700" y="2329961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330200" y="2202961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7" name="等腰三角形 186"/>
          <p:cNvSpPr/>
          <p:nvPr/>
        </p:nvSpPr>
        <p:spPr>
          <a:xfrm rot="5400000">
            <a:off x="774700" y="2074008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30200" y="1947008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74700" y="1818054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330200" y="1691054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1" name="等腰三角形 190"/>
          <p:cNvSpPr/>
          <p:nvPr/>
        </p:nvSpPr>
        <p:spPr>
          <a:xfrm rot="5400000">
            <a:off x="774700" y="15621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330200" y="14351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391168" y="5376331"/>
            <a:ext cx="792000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步长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-9951" y="1332153"/>
            <a:ext cx="800219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垂直重心</a:t>
            </a:r>
            <a:endParaRPr lang="en-US" altLang="zh-CN" sz="1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振幅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5890189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厚度与重量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48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9476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mm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235099" y="1332153"/>
            <a:ext cx="543739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鞋底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厚度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等腰三角形 2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等腰三角形 78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2827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230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1" name="等腰三角形 80"/>
          <p:cNvSpPr/>
          <p:nvPr/>
        </p:nvSpPr>
        <p:spPr>
          <a:xfrm>
            <a:off x="198010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76420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3" name="等腰三角形 82"/>
          <p:cNvSpPr/>
          <p:nvPr/>
        </p:nvSpPr>
        <p:spPr>
          <a:xfrm>
            <a:off x="246161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24571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294311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72721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7" name="等腰三角形 86"/>
          <p:cNvSpPr/>
          <p:nvPr/>
        </p:nvSpPr>
        <p:spPr>
          <a:xfrm>
            <a:off x="342462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20872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0" name="等腰三角形 89"/>
          <p:cNvSpPr/>
          <p:nvPr/>
        </p:nvSpPr>
        <p:spPr>
          <a:xfrm>
            <a:off x="390612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022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2" name="等腰三角形 91"/>
          <p:cNvSpPr/>
          <p:nvPr/>
        </p:nvSpPr>
        <p:spPr>
          <a:xfrm>
            <a:off x="438763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17173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6" name="等腰三角形 95"/>
          <p:cNvSpPr/>
          <p:nvPr/>
        </p:nvSpPr>
        <p:spPr>
          <a:xfrm>
            <a:off x="486913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65323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2" name="等腰三角形 101"/>
          <p:cNvSpPr/>
          <p:nvPr/>
        </p:nvSpPr>
        <p:spPr>
          <a:xfrm>
            <a:off x="535064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13474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3" name="等腰三角形 122"/>
          <p:cNvSpPr/>
          <p:nvPr/>
        </p:nvSpPr>
        <p:spPr>
          <a:xfrm>
            <a:off x="583214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61624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9" name="等腰三角形 148"/>
          <p:cNvSpPr/>
          <p:nvPr/>
        </p:nvSpPr>
        <p:spPr>
          <a:xfrm>
            <a:off x="631365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609775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1" name="等腰三角形 150"/>
          <p:cNvSpPr/>
          <p:nvPr/>
        </p:nvSpPr>
        <p:spPr>
          <a:xfrm>
            <a:off x="679515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657925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3" name="等腰三角形 152"/>
          <p:cNvSpPr/>
          <p:nvPr/>
        </p:nvSpPr>
        <p:spPr>
          <a:xfrm>
            <a:off x="727666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076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5" name="等腰三角形 154"/>
          <p:cNvSpPr/>
          <p:nvPr/>
        </p:nvSpPr>
        <p:spPr>
          <a:xfrm>
            <a:off x="775816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754226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8" name="等腰三角形 157"/>
          <p:cNvSpPr/>
          <p:nvPr/>
        </p:nvSpPr>
        <p:spPr>
          <a:xfrm>
            <a:off x="823967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02377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1" name="等腰三角形 160"/>
          <p:cNvSpPr/>
          <p:nvPr/>
        </p:nvSpPr>
        <p:spPr>
          <a:xfrm>
            <a:off x="872117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850527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3" name="等腰三角形 162"/>
          <p:cNvSpPr/>
          <p:nvPr/>
        </p:nvSpPr>
        <p:spPr>
          <a:xfrm>
            <a:off x="920268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98678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6" name="等腰三角形 165"/>
          <p:cNvSpPr/>
          <p:nvPr/>
        </p:nvSpPr>
        <p:spPr>
          <a:xfrm>
            <a:off x="968418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946828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8" name="等腰三角形 167"/>
          <p:cNvSpPr/>
          <p:nvPr/>
        </p:nvSpPr>
        <p:spPr>
          <a:xfrm>
            <a:off x="1016569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994979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0" name="等腰三角形 169"/>
          <p:cNvSpPr/>
          <p:nvPr/>
        </p:nvSpPr>
        <p:spPr>
          <a:xfrm>
            <a:off x="1064719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0431298" y="5400254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173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0200" y="47625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4" name="等腰三角形 173"/>
          <p:cNvSpPr/>
          <p:nvPr/>
        </p:nvSpPr>
        <p:spPr>
          <a:xfrm rot="5400000">
            <a:off x="774700" y="444584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330200" y="431884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6" name="等腰三角形 175"/>
          <p:cNvSpPr/>
          <p:nvPr/>
        </p:nvSpPr>
        <p:spPr>
          <a:xfrm rot="5400000">
            <a:off x="774700" y="400219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30200" y="387519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8" name="等腰三角形 177"/>
          <p:cNvSpPr/>
          <p:nvPr/>
        </p:nvSpPr>
        <p:spPr>
          <a:xfrm rot="5400000">
            <a:off x="774700" y="355854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330200" y="343154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0" name="等腰三角形 179"/>
          <p:cNvSpPr/>
          <p:nvPr/>
        </p:nvSpPr>
        <p:spPr>
          <a:xfrm rot="5400000">
            <a:off x="774700" y="311488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30200" y="298788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4" name="等腰三角形 193"/>
          <p:cNvSpPr/>
          <p:nvPr/>
        </p:nvSpPr>
        <p:spPr>
          <a:xfrm rot="5400000">
            <a:off x="774700" y="267123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330200" y="254423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6" name="等腰三角形 195"/>
          <p:cNvSpPr/>
          <p:nvPr/>
        </p:nvSpPr>
        <p:spPr>
          <a:xfrm rot="5400000">
            <a:off x="774700" y="222758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330200" y="210058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8" name="等腰三角形 197"/>
          <p:cNvSpPr/>
          <p:nvPr/>
        </p:nvSpPr>
        <p:spPr>
          <a:xfrm rot="5400000">
            <a:off x="774700" y="178392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30200" y="1733546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515298" y="5376331"/>
            <a:ext cx="543739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重量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B2C9E-A068-AFF8-8ECC-84E106305DF8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7058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测试者平均体重：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84.3KG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测试者球场定位：锋、卫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 hangingPunct="0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SUPER GRASS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前掌内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外侧弯折处均出现卡脚情况（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鞋带孔生涩，在绑缚过程中较难对鞋带进行高效的收紧与放松（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在进行内收步、剪刀步时，前掌外侧橡胶出现明显的挤压第五跖趾关节现象（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在进行一些特定的动作时（行进间急停摆脱防守），出现轻微足外翻，具体位置在相比较前掌而言，后跟内侧支撑略低，但尚能接受（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鞋底容易吸灰，导致打滑（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鞋底在与地面摩擦时无“吱吱吱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”声响，对篮球爱好者来说安全感低。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在室内干净木地板、室外水泥地上均能牢牢地锁定在地面。但在灰尘较大的木地板或塑胶场地上，需要频繁的擦拭鞋底灰尘。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场地感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静态下，前掌填覆材料异物感不明显。在动态下，前掌有明显的马蹄形“气垫”回弹反馈，在无碳板的结构下能给到足够澎湃的触地反馈。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注：三种不同硬度的填覆材料，测试结果为：</a:t>
            </a:r>
            <a:r>
              <a:rPr lang="en-US" altLang="zh-CN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30C</a:t>
            </a: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硬度下，所给到的脚感反馈最佳！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53894"/>
              </p:ext>
            </p:extLst>
          </p:nvPr>
        </p:nvGraphicFramePr>
        <p:xfrm>
          <a:off x="3075816" y="278825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1857-89CF-8C2F-E2E6-E828579B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60AF60-2CE0-F6E2-D970-2B2D3F330A45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18886361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9B17-59BC-6642-6114-D6FADF40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494C62-2966-3928-682B-B339878946BB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1E3B39-1748-6C5F-8B34-3D4A894D5B65}"/>
              </a:ext>
            </a:extLst>
          </p:cNvPr>
          <p:cNvSpPr txBox="1"/>
          <p:nvPr/>
        </p:nvSpPr>
        <p:spPr>
          <a:xfrm>
            <a:off x="479376" y="1628800"/>
            <a:ext cx="8242141" cy="41979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优势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包裹性表现较好</a:t>
            </a:r>
            <a:r>
              <a:rPr lang="zh-CN" altLang="en-US" dirty="0"/>
              <a:t>，鞋脚一体性明显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支撑与刚性在线</a:t>
            </a:r>
            <a:r>
              <a:rPr lang="zh-CN" altLang="en-US" dirty="0"/>
              <a:t>，实战稳定性较好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整体舒适度不错</a:t>
            </a:r>
            <a:endParaRPr lang="zh-CN" altLang="en-US" dirty="0"/>
          </a:p>
          <a:p>
            <a:pPr>
              <a:lnSpc>
                <a:spcPct val="150000"/>
              </a:lnSpc>
              <a:buNone/>
            </a:pP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问题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抓地不足（</a:t>
            </a:r>
            <a:r>
              <a:rPr lang="en-US" altLang="zh-CN" b="1" dirty="0"/>
              <a:t>4/7</a:t>
            </a:r>
            <a:r>
              <a:rPr lang="zh-CN" altLang="en-US" b="1" dirty="0"/>
              <a:t>）</a:t>
            </a:r>
            <a:r>
              <a:rPr lang="zh-CN" altLang="en-US" dirty="0"/>
              <a:t>：木地板、急停、横移时更明显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后跟</a:t>
            </a:r>
            <a:r>
              <a:rPr lang="en-US" altLang="zh-CN" b="1" dirty="0"/>
              <a:t>/</a:t>
            </a:r>
            <a:r>
              <a:rPr lang="zh-CN" altLang="en-US" b="1" dirty="0"/>
              <a:t>脚踝问题（</a:t>
            </a:r>
            <a:r>
              <a:rPr lang="en-US" altLang="zh-CN" b="1" dirty="0"/>
              <a:t>3/7</a:t>
            </a:r>
            <a:r>
              <a:rPr lang="zh-CN" altLang="en-US" b="1" dirty="0"/>
              <a:t>）</a:t>
            </a:r>
            <a:r>
              <a:rPr lang="zh-CN" altLang="en-US" dirty="0"/>
              <a:t>：掉跟、外踝卡脚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缓震偏硬</a:t>
            </a:r>
            <a:r>
              <a:rPr lang="en-US" altLang="zh-CN" b="1" dirty="0"/>
              <a:t>/</a:t>
            </a:r>
            <a:r>
              <a:rPr lang="zh-CN" altLang="en-US" b="1" dirty="0"/>
              <a:t>偏薄（</a:t>
            </a:r>
            <a:r>
              <a:rPr lang="en-US" altLang="zh-CN" b="1" dirty="0"/>
              <a:t>2/7</a:t>
            </a:r>
            <a:r>
              <a:rPr lang="zh-CN" altLang="en-US" b="1" dirty="0"/>
              <a:t>）</a:t>
            </a:r>
            <a:r>
              <a:rPr lang="zh-CN" altLang="en-US" dirty="0"/>
              <a:t>：前掌硬、后跟硬、缓震感不足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鞋带偏短（</a:t>
            </a:r>
            <a:r>
              <a:rPr lang="en-US" altLang="zh-CN" b="1" dirty="0"/>
              <a:t>2/7</a:t>
            </a:r>
            <a:r>
              <a:rPr lang="zh-CN" altLang="en-US" b="1" dirty="0"/>
              <a:t>）</a:t>
            </a:r>
            <a:r>
              <a:rPr lang="zh-CN" altLang="en-US" dirty="0"/>
              <a:t>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D99B3E-3E42-AA7F-192A-E2595295D225}"/>
              </a:ext>
            </a:extLst>
          </p:cNvPr>
          <p:cNvSpPr txBox="1"/>
          <p:nvPr/>
        </p:nvSpPr>
        <p:spPr>
          <a:xfrm>
            <a:off x="6989412" y="1862253"/>
            <a:ext cx="6096000" cy="33669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修改建议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1"/>
                </a:solidFill>
              </a:rPr>
              <a:t>P1</a:t>
            </a:r>
            <a:r>
              <a:rPr lang="zh-CN" altLang="en-US" b="1" dirty="0">
                <a:solidFill>
                  <a:schemeClr val="accent1"/>
                </a:solidFill>
              </a:rPr>
              <a:t>：优化抓地</a:t>
            </a:r>
            <a:br>
              <a:rPr lang="zh-CN" altLang="en-US" dirty="0"/>
            </a:br>
            <a:r>
              <a:rPr lang="zh-CN" altLang="en-US" dirty="0"/>
              <a:t>核查橡胶硬度，如果硬度正确考虑调软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更换为普通橡胶或者止滑橡胶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P1</a:t>
            </a:r>
            <a:r>
              <a:rPr lang="zh-CN" altLang="en-US" b="1" dirty="0"/>
              <a:t>：优化后跟锁定</a:t>
            </a:r>
            <a:br>
              <a:rPr lang="zh-CN" altLang="en-US" dirty="0"/>
            </a:br>
            <a:r>
              <a:rPr lang="zh-CN" altLang="en-US" dirty="0"/>
              <a:t>调整后跟杯、领口泡棉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P2</a:t>
            </a:r>
            <a:r>
              <a:rPr lang="zh-CN" altLang="en-US" b="1" dirty="0"/>
              <a:t>：修正细节体验</a:t>
            </a:r>
            <a:br>
              <a:rPr lang="zh-CN" altLang="en-US" dirty="0"/>
            </a:br>
            <a:r>
              <a:rPr lang="zh-CN" altLang="en-US" dirty="0"/>
              <a:t>加长鞋带</a:t>
            </a:r>
          </a:p>
        </p:txBody>
      </p:sp>
    </p:spTree>
    <p:extLst>
      <p:ext uri="{BB962C8B-B14F-4D97-AF65-F5344CB8AC3E}">
        <p14:creationId xmlns:p14="http://schemas.microsoft.com/office/powerpoint/2010/main" val="180291955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67808" y="154659"/>
            <a:ext cx="3384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  &lt;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面料信息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B7F65-DC1D-88AB-C3DF-562E19A24E35}"/>
              </a:ext>
            </a:extLst>
          </p:cNvPr>
          <p:cNvSpPr txBox="1"/>
          <p:nvPr/>
        </p:nvSpPr>
        <p:spPr>
          <a:xfrm>
            <a:off x="262961" y="4548820"/>
            <a:ext cx="5617015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3D3E686-1196-993A-B9DD-850EE760CB9F}"/>
              </a:ext>
            </a:extLst>
          </p:cNvPr>
          <p:cNvSpPr txBox="1"/>
          <p:nvPr/>
        </p:nvSpPr>
        <p:spPr>
          <a:xfrm>
            <a:off x="6096000" y="4548820"/>
            <a:ext cx="4428601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  <a:endParaRPr lang="en-US" altLang="zh-CN" sz="1400" b="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DF3F-599A-128F-2CD5-AA91FA7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4036E-0D18-C531-8E4A-F50243307089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380D277-02AA-1AD6-F687-EC534604EB64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E969061-10B0-FF3B-2558-B4DDF2B0A8DD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72C4F87-E973-B28C-E9DE-43A09BA92BAA}"/>
              </a:ext>
            </a:extLst>
          </p:cNvPr>
          <p:cNvSpPr/>
          <p:nvPr/>
        </p:nvSpPr>
        <p:spPr>
          <a:xfrm>
            <a:off x="4826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52F407-03E3-FAE5-0036-9CD776509CE2}"/>
              </a:ext>
            </a:extLst>
          </p:cNvPr>
          <p:cNvSpPr txBox="1"/>
          <p:nvPr/>
        </p:nvSpPr>
        <p:spPr>
          <a:xfrm>
            <a:off x="4191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</a:p>
        </p:txBody>
      </p:sp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47F463C8-6746-8E48-52DF-5419C32C0E5D}"/>
              </a:ext>
            </a:extLst>
          </p:cNvPr>
          <p:cNvGraphicFramePr/>
          <p:nvPr/>
        </p:nvGraphicFramePr>
        <p:xfrm>
          <a:off x="1625600" y="1016000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39984E8F-25E6-BAA9-C88B-23E5E09B9B9E}"/>
              </a:ext>
            </a:extLst>
          </p:cNvPr>
          <p:cNvSpPr/>
          <p:nvPr/>
        </p:nvSpPr>
        <p:spPr>
          <a:xfrm>
            <a:off x="41910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951B05-D636-E5F2-21FE-589AD43C8E00}"/>
              </a:ext>
            </a:extLst>
          </p:cNvPr>
          <p:cNvSpPr txBox="1"/>
          <p:nvPr/>
        </p:nvSpPr>
        <p:spPr>
          <a:xfrm>
            <a:off x="41275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</a:p>
        </p:txBody>
      </p:sp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B7644477-6B08-E436-7DC7-C39CC6B263AA}"/>
              </a:ext>
            </a:extLst>
          </p:cNvPr>
          <p:cNvGraphicFramePr/>
          <p:nvPr/>
        </p:nvGraphicFramePr>
        <p:xfrm>
          <a:off x="5334000" y="1304032"/>
          <a:ext cx="2413000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椭圆 16">
            <a:extLst>
              <a:ext uri="{FF2B5EF4-FFF2-40B4-BE49-F238E27FC236}">
                <a16:creationId xmlns:a16="http://schemas.microsoft.com/office/drawing/2014/main" id="{1EFFAB1F-AAA5-F812-49DE-DEC3474DB6A0}"/>
              </a:ext>
            </a:extLst>
          </p:cNvPr>
          <p:cNvSpPr/>
          <p:nvPr/>
        </p:nvSpPr>
        <p:spPr>
          <a:xfrm>
            <a:off x="4826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CE48F8-C4C1-1829-A475-4215F61DEACB}"/>
              </a:ext>
            </a:extLst>
          </p:cNvPr>
          <p:cNvSpPr txBox="1"/>
          <p:nvPr/>
        </p:nvSpPr>
        <p:spPr>
          <a:xfrm>
            <a:off x="4191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623D2B04-54F1-4151-2F5F-0D6D0DD6D6E3}"/>
              </a:ext>
            </a:extLst>
          </p:cNvPr>
          <p:cNvGraphicFramePr/>
          <p:nvPr/>
        </p:nvGraphicFramePr>
        <p:xfrm>
          <a:off x="16256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椭圆 19">
            <a:extLst>
              <a:ext uri="{FF2B5EF4-FFF2-40B4-BE49-F238E27FC236}">
                <a16:creationId xmlns:a16="http://schemas.microsoft.com/office/drawing/2014/main" id="{AB24AF34-6ECA-CF9A-E76C-AC17C2289341}"/>
              </a:ext>
            </a:extLst>
          </p:cNvPr>
          <p:cNvSpPr/>
          <p:nvPr/>
        </p:nvSpPr>
        <p:spPr>
          <a:xfrm>
            <a:off x="41910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C35336-77B2-3B8E-5665-AE7ADD6EB1CE}"/>
              </a:ext>
            </a:extLst>
          </p:cNvPr>
          <p:cNvSpPr txBox="1"/>
          <p:nvPr/>
        </p:nvSpPr>
        <p:spPr>
          <a:xfrm>
            <a:off x="41275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</a:p>
        </p:txBody>
      </p:sp>
      <p:graphicFrame>
        <p:nvGraphicFramePr>
          <p:cNvPr id="22" name="图表 21">
            <a:extLst>
              <a:ext uri="{FF2B5EF4-FFF2-40B4-BE49-F238E27FC236}">
                <a16:creationId xmlns:a16="http://schemas.microsoft.com/office/drawing/2014/main" id="{8E9D049E-628D-FDE6-EAFD-6928A06B4E82}"/>
              </a:ext>
            </a:extLst>
          </p:cNvPr>
          <p:cNvGraphicFramePr/>
          <p:nvPr/>
        </p:nvGraphicFramePr>
        <p:xfrm>
          <a:off x="53340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42DBCF6C-9C64-F130-823A-6B6435D59B9A}"/>
              </a:ext>
            </a:extLst>
          </p:cNvPr>
          <p:cNvSpPr txBox="1"/>
          <p:nvPr/>
        </p:nvSpPr>
        <p:spPr>
          <a:xfrm>
            <a:off x="262961" y="4548820"/>
            <a:ext cx="5617015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25B7754-656B-D42A-C5F0-92B296F451E4}"/>
              </a:ext>
            </a:extLst>
          </p:cNvPr>
          <p:cNvSpPr txBox="1"/>
          <p:nvPr/>
        </p:nvSpPr>
        <p:spPr>
          <a:xfrm>
            <a:off x="10555698" y="679061"/>
            <a:ext cx="1589062" cy="1131077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165CM / 52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162CM / 58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168CM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KG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5E0F9A-AFD2-3085-1BB5-51F6352B0CDE}"/>
              </a:ext>
            </a:extLst>
          </p:cNvPr>
          <p:cNvSpPr txBox="1"/>
          <p:nvPr/>
        </p:nvSpPr>
        <p:spPr>
          <a:xfrm>
            <a:off x="6096000" y="4548820"/>
            <a:ext cx="4428601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  <a:endParaRPr lang="en-US" altLang="zh-CN" sz="1400" b="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FD7929-5E38-55C2-592D-D1ACE541AAE5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7C0EDA-4182-5B15-ED80-A9EECA341CB2}"/>
              </a:ext>
            </a:extLst>
          </p:cNvPr>
          <p:cNvSpPr txBox="1"/>
          <p:nvPr/>
        </p:nvSpPr>
        <p:spPr>
          <a:xfrm>
            <a:off x="365479" y="4938944"/>
            <a:ext cx="5411978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轻薄透气，舒适不闷热（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吸湿排汗性能好，汗湿后衣服不会黏在身上（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速干性能极好（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）大部分时间都很干爽（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）几乎感受不到身上有汗（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909F5C-B7F6-DF9C-ACA8-07D662B4C0D4}"/>
              </a:ext>
            </a:extLst>
          </p:cNvPr>
          <p:cNvSpPr txBox="1"/>
          <p:nvPr/>
        </p:nvSpPr>
        <p:spPr>
          <a:xfrm>
            <a:off x="6118860" y="4938944"/>
            <a:ext cx="4296849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>
              <a:lnSpc>
                <a:spcPct val="150000"/>
              </a:lnSpc>
              <a:buFont typeface="+mj-lt"/>
              <a:buAutoNum type="arabicPeriod"/>
              <a:def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肩部挖空偏小，会勒腋下，影响摆臂（</a:t>
            </a:r>
            <a:r>
              <a:rPr lang="en-US" altLang="zh-CN" dirty="0"/>
              <a:t>2/4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zh-CN" altLang="en-US" dirty="0"/>
              <a:t>后背开叉偏高，跑动过程后背会漏出小三角，晒太阳会痛，风大了会受凉，开车可向下调整四指宽（约</a:t>
            </a:r>
            <a:r>
              <a:rPr lang="en-US" altLang="zh-CN" dirty="0"/>
              <a:t>5cm</a:t>
            </a:r>
            <a:r>
              <a:rPr lang="zh-CN" altLang="en-US" dirty="0"/>
              <a:t>）（</a:t>
            </a:r>
            <a:r>
              <a:rPr lang="en-US" altLang="zh-CN" dirty="0"/>
              <a:t>1/4</a:t>
            </a:r>
            <a:r>
              <a:rPr lang="zh-CN" altLang="en-US" dirty="0"/>
              <a:t>）；</a:t>
            </a:r>
            <a:endParaRPr lang="en-US" altLang="zh-CN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AB2860-D225-9537-F3A1-F49F44A3708A}"/>
              </a:ext>
            </a:extLst>
          </p:cNvPr>
          <p:cNvSpPr/>
          <p:nvPr/>
        </p:nvSpPr>
        <p:spPr>
          <a:xfrm>
            <a:off x="4367808" y="154659"/>
            <a:ext cx="3384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  &lt;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面料信息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52451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52689025-6E1E-BBD7-22EF-E85E28BC5DF6}"/>
              </a:ext>
            </a:extLst>
          </p:cNvPr>
          <p:cNvGraphicFramePr>
            <a:graphicFrameLocks/>
          </p:cNvGraphicFramePr>
          <p:nvPr/>
        </p:nvGraphicFramePr>
        <p:xfrm>
          <a:off x="2071400" y="5209016"/>
          <a:ext cx="5422924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/>
          <p:cNvSpPr/>
          <p:nvPr/>
        </p:nvSpPr>
        <p:spPr>
          <a:xfrm>
            <a:off x="453851" y="129850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5542" y="1554393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3.98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0385" y="1356455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8567" y="1589729"/>
            <a:ext cx="1587500" cy="877161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3.96 / 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538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3609" y="358462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3.61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622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48324" y="356083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3.52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555698" y="679060"/>
            <a:ext cx="1589062" cy="1885128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1596851" y="1069906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5152851" y="1350285"/>
          <a:ext cx="2845645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1844305" y="3442585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5536152" y="3399947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0" name="椭圆 49">
            <a:extLst>
              <a:ext uri="{FF2B5EF4-FFF2-40B4-BE49-F238E27FC236}">
                <a16:creationId xmlns:a16="http://schemas.microsoft.com/office/drawing/2014/main" id="{D21B2123-BB1F-628E-200D-6AA4245C16AD}"/>
              </a:ext>
            </a:extLst>
          </p:cNvPr>
          <p:cNvSpPr/>
          <p:nvPr/>
        </p:nvSpPr>
        <p:spPr>
          <a:xfrm>
            <a:off x="427393" y="5103078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8E20231-565C-23DF-A80F-018E8D86BBA1}"/>
              </a:ext>
            </a:extLst>
          </p:cNvPr>
          <p:cNvSpPr txBox="1"/>
          <p:nvPr/>
        </p:nvSpPr>
        <p:spPr>
          <a:xfrm>
            <a:off x="336539" y="5358964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微软雅黑" panose="020B0503020204020204" charset="-122"/>
              </a:rPr>
              <a:t>适宜温度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15~25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097865C-B40E-2AB2-2DC9-21197EA32375}"/>
              </a:ext>
            </a:extLst>
          </p:cNvPr>
          <p:cNvSpPr/>
          <p:nvPr/>
        </p:nvSpPr>
        <p:spPr>
          <a:xfrm>
            <a:off x="10766043" y="2886560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累计跑量</a:t>
            </a:r>
            <a:r>
              <a:rPr kumimoji="0" lang="en-US" altLang="zh-CN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km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671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5DA9769-D2C0-A7CD-A1E5-F9A764B84C9D}"/>
              </a:ext>
            </a:extLst>
          </p:cNvPr>
          <p:cNvSpPr/>
          <p:nvPr/>
        </p:nvSpPr>
        <p:spPr>
          <a:xfrm>
            <a:off x="10779395" y="3919187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定位日常训练</a:t>
            </a:r>
            <a:r>
              <a:rPr lang="en-US" altLang="zh-CN" sz="2400" b="1" dirty="0">
                <a:solidFill>
                  <a:schemeClr val="bg1"/>
                </a:solidFill>
              </a:rPr>
              <a:t>7/9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5172959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328C-5577-55E1-75F2-2081E1D7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735AD8-3E8B-868E-57D5-531C2DD77E60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641640B-8850-0327-3D82-FA39B76CD40E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F125C1D-7969-AFB0-F240-31EF07ACABA6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1DE251-46F6-B2D2-91EA-2F7950B72588}"/>
              </a:ext>
            </a:extLst>
          </p:cNvPr>
          <p:cNvSpPr txBox="1"/>
          <p:nvPr/>
        </p:nvSpPr>
        <p:spPr>
          <a:xfrm>
            <a:off x="426925" y="1627605"/>
            <a:ext cx="7055194" cy="1708158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整体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版型合身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修身显身材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，上身贴合，动作舒展不受限（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charset="-122"/>
              </a:rPr>
              <a:t>9/9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）。
具备一定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支撑性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，覆盖中低到高强度训练（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charset="-122"/>
              </a:rPr>
              <a:t>7/9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）。
面料有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亲肤性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与一定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耐用性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，多名反馈不起球不勾丝</a:t>
            </a:r>
            <a:endParaRPr lang="en-US" altLang="zh-CN" sz="1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短距离及日常训练场景下舒适性评价较好。</a:t>
            </a:r>
            <a:endParaRPr lang="en-US" altLang="zh-CN" sz="1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E4FB02-CCB6-20E1-0425-211E8184E329}"/>
              </a:ext>
            </a:extLst>
          </p:cNvPr>
          <p:cNvSpPr txBox="1"/>
          <p:nvPr/>
        </p:nvSpPr>
        <p:spPr>
          <a:xfrm>
            <a:off x="10555698" y="679060"/>
            <a:ext cx="1589062" cy="1885128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4E159B-670C-3630-6F8F-26F56545F760}"/>
              </a:ext>
            </a:extLst>
          </p:cNvPr>
          <p:cNvSpPr txBox="1"/>
          <p:nvPr/>
        </p:nvSpPr>
        <p:spPr>
          <a:xfrm>
            <a:off x="442680" y="3890160"/>
            <a:ext cx="7039439" cy="2400655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面料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弹性不够（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</a:rPr>
              <a:t>2/9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endParaRPr lang="en-US" altLang="zh-CN" sz="1400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前胸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闷热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面料偏厚</a:t>
            </a:r>
            <a:r>
              <a:rPr lang="zh-CN" altLang="en-US" sz="1400" b="0" dirty="0">
                <a:latin typeface="Arial" panose="020B0604020202020204" pitchFamily="34" charset="0"/>
              </a:rPr>
              <a:t>（</a:t>
            </a:r>
            <a:r>
              <a:rPr lang="en-US" altLang="zh-CN" sz="1400" b="0" dirty="0">
                <a:latin typeface="Arial" panose="020B0604020202020204" pitchFamily="34" charset="0"/>
              </a:rPr>
              <a:t>4/9</a:t>
            </a:r>
            <a:r>
              <a:rPr lang="zh-CN" altLang="en-US" sz="1400" b="0" dirty="0">
                <a:latin typeface="Arial" panose="020B0604020202020204" pitchFamily="34" charset="0"/>
              </a:rPr>
              <a:t>）</a:t>
            </a:r>
            <a:endParaRPr lang="en-US" altLang="zh-CN" sz="1400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腋下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摩擦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副乳硌感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胸下磨皮</a:t>
            </a:r>
            <a:r>
              <a:rPr lang="zh-CN" altLang="en-US" sz="1400" b="0" dirty="0">
                <a:latin typeface="Arial" panose="020B0604020202020204" pitchFamily="34" charset="0"/>
              </a:rPr>
              <a:t>较集中，长距离或出汗后更明显（</a:t>
            </a:r>
            <a:r>
              <a:rPr lang="en-US" altLang="zh-CN" sz="1400" b="0" dirty="0">
                <a:latin typeface="Arial" panose="020B0604020202020204" pitchFamily="34" charset="0"/>
              </a:rPr>
              <a:t>8/9</a:t>
            </a:r>
            <a:r>
              <a:rPr lang="zh-CN" altLang="en-US" sz="1400" b="0" dirty="0">
                <a:latin typeface="Arial" panose="020B0604020202020204" pitchFamily="34" charset="0"/>
              </a:rPr>
              <a:t>）。</a:t>
            </a:r>
            <a:r>
              <a:rPr lang="zh-CN" altLang="en-US" sz="1400" dirty="0">
                <a:latin typeface="Arial" panose="020B0604020202020204" pitchFamily="34" charset="0"/>
              </a:rPr>
              <a:t>
</a:t>
            </a:r>
            <a:r>
              <a:rPr lang="zh-CN" altLang="en-US" sz="1400" b="0" dirty="0">
                <a:latin typeface="Arial" panose="020B0604020202020204" pitchFamily="34" charset="0"/>
              </a:rPr>
              <a:t>透气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排汗不足</a:t>
            </a:r>
            <a:r>
              <a:rPr lang="zh-CN" altLang="en-US" sz="1400" b="0" dirty="0">
                <a:latin typeface="Arial" panose="020B0604020202020204" pitchFamily="34" charset="0"/>
              </a:rPr>
              <a:t>较突出，局部有只吸不排、贴身感，速干较差（</a:t>
            </a:r>
            <a:r>
              <a:rPr lang="en-US" altLang="zh-CN" sz="1400" b="0" dirty="0">
                <a:latin typeface="Arial" panose="020B0604020202020204" pitchFamily="34" charset="0"/>
              </a:rPr>
              <a:t>6/9</a:t>
            </a:r>
            <a:r>
              <a:rPr lang="zh-CN" altLang="en-US" sz="1400" b="0" dirty="0">
                <a:latin typeface="Arial" panose="020B0604020202020204" pitchFamily="34" charset="0"/>
              </a:rPr>
              <a:t>）。
后背口袋不便，补给袋定位与开口方向影响取用（</a:t>
            </a:r>
            <a:r>
              <a:rPr lang="en-US" altLang="zh-CN" sz="1400" b="0" dirty="0">
                <a:latin typeface="Arial" panose="020B0604020202020204" pitchFamily="34" charset="0"/>
              </a:rPr>
              <a:t>4/9</a:t>
            </a:r>
            <a:r>
              <a:rPr lang="zh-CN" altLang="en-US" sz="1400" b="0" dirty="0">
                <a:latin typeface="Arial" panose="020B0604020202020204" pitchFamily="34" charset="0"/>
              </a:rPr>
              <a:t>）；</a:t>
            </a:r>
            <a:endParaRPr lang="en-US" altLang="zh-CN" sz="1400" b="0" dirty="0">
              <a:latin typeface="Arial" panose="020B0604020202020204" pitchFamily="34" charset="0"/>
            </a:endParaRPr>
          </a:p>
          <a:p>
            <a:r>
              <a:rPr lang="zh-CN" altLang="en-US" sz="1400" b="0" dirty="0">
                <a:latin typeface="Arial" panose="020B0604020202020204" pitchFamily="34" charset="0"/>
              </a:rPr>
              <a:t>建议</a:t>
            </a:r>
            <a:r>
              <a:rPr lang="zh-CN" altLang="en-US" b="0" dirty="0"/>
              <a:t>改为</a:t>
            </a:r>
            <a:r>
              <a:rPr lang="zh-CN" altLang="en-US" dirty="0"/>
              <a:t>侧向开口</a:t>
            </a:r>
            <a:r>
              <a:rPr lang="en-US" altLang="zh-CN" dirty="0"/>
              <a:t>/</a:t>
            </a:r>
            <a:r>
              <a:rPr lang="zh-CN" altLang="en-US" dirty="0"/>
              <a:t>更低位置</a:t>
            </a:r>
            <a:r>
              <a:rPr lang="zh-CN" altLang="en-US" b="0" dirty="0"/>
              <a:t>设计。</a:t>
            </a:r>
            <a:endParaRPr lang="en-US" altLang="zh-CN" b="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AF1AF9-EAA9-13EB-BF18-A3BFFC1E6323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988652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7070B-01D9-015E-C711-7D9C2BD8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81D925BA-584A-2130-2317-422A6D5CDA26}"/>
              </a:ext>
            </a:extLst>
          </p:cNvPr>
          <p:cNvGraphicFramePr>
            <a:graphicFrameLocks/>
          </p:cNvGraphicFramePr>
          <p:nvPr/>
        </p:nvGraphicFramePr>
        <p:xfrm>
          <a:off x="2071400" y="5209016"/>
          <a:ext cx="5422924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8F82E7-61A3-3E90-6533-0F2BC941441E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84FE310-8663-00E3-83AD-1AE230BB5C6F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AAD945F-63A1-9E22-5E2A-96B4DC232BDB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12C627B-2778-C440-759C-11E7DE90D831}"/>
              </a:ext>
            </a:extLst>
          </p:cNvPr>
          <p:cNvSpPr/>
          <p:nvPr/>
        </p:nvSpPr>
        <p:spPr>
          <a:xfrm>
            <a:off x="453851" y="129850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704820-3C3B-BA64-CF84-39092A7281A5}"/>
              </a:ext>
            </a:extLst>
          </p:cNvPr>
          <p:cNvSpPr txBox="1"/>
          <p:nvPr/>
        </p:nvSpPr>
        <p:spPr>
          <a:xfrm>
            <a:off x="375542" y="1554393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3.98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BA19D40-D692-C4A3-62D3-54E9CEDB30A1}"/>
              </a:ext>
            </a:extLst>
          </p:cNvPr>
          <p:cNvSpPr/>
          <p:nvPr/>
        </p:nvSpPr>
        <p:spPr>
          <a:xfrm>
            <a:off x="4210385" y="1356455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D8A06F-12D4-FA49-5C1A-6956A0AA6171}"/>
              </a:ext>
            </a:extLst>
          </p:cNvPr>
          <p:cNvSpPr txBox="1"/>
          <p:nvPr/>
        </p:nvSpPr>
        <p:spPr>
          <a:xfrm>
            <a:off x="4158567" y="1589729"/>
            <a:ext cx="1587500" cy="877161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3.96 / 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16CBE44-2B99-76FB-CF63-44CD3466FCC4}"/>
              </a:ext>
            </a:extLst>
          </p:cNvPr>
          <p:cNvSpPr/>
          <p:nvPr/>
        </p:nvSpPr>
        <p:spPr>
          <a:xfrm>
            <a:off x="4538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8443EF-20A4-9193-BAF6-F78D76D45DFB}"/>
              </a:ext>
            </a:extLst>
          </p:cNvPr>
          <p:cNvSpPr txBox="1"/>
          <p:nvPr/>
        </p:nvSpPr>
        <p:spPr>
          <a:xfrm>
            <a:off x="383609" y="358462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3.61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A6A7A48-8948-258D-97BA-5811ADB54718}"/>
              </a:ext>
            </a:extLst>
          </p:cNvPr>
          <p:cNvSpPr/>
          <p:nvPr/>
        </p:nvSpPr>
        <p:spPr>
          <a:xfrm>
            <a:off x="41622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264401-5B95-BBD0-5EB0-CBB414211783}"/>
              </a:ext>
            </a:extLst>
          </p:cNvPr>
          <p:cNvSpPr txBox="1"/>
          <p:nvPr/>
        </p:nvSpPr>
        <p:spPr>
          <a:xfrm>
            <a:off x="4148324" y="356083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3.53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997046-D2D7-75BA-947C-6E743E862034}"/>
              </a:ext>
            </a:extLst>
          </p:cNvPr>
          <p:cNvSpPr txBox="1"/>
          <p:nvPr/>
        </p:nvSpPr>
        <p:spPr>
          <a:xfrm>
            <a:off x="10555698" y="679060"/>
            <a:ext cx="1589062" cy="3141880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D1A29F-402A-8044-02E4-B8D16ECFEBAF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5EBD52E-00EA-1DE3-F88F-C088F00ED961}"/>
              </a:ext>
            </a:extLst>
          </p:cNvPr>
          <p:cNvSpPr/>
          <p:nvPr/>
        </p:nvSpPr>
        <p:spPr>
          <a:xfrm>
            <a:off x="427393" y="5103078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16DD33C-78F4-AE2A-17C4-5254464ECE28}"/>
              </a:ext>
            </a:extLst>
          </p:cNvPr>
          <p:cNvSpPr txBox="1"/>
          <p:nvPr/>
        </p:nvSpPr>
        <p:spPr>
          <a:xfrm>
            <a:off x="336539" y="5358964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charset="-122"/>
              </a:rPr>
              <a:t>适宜温度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5℃~15℃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AD0B82A-F9E2-498A-F1BB-25B40955B826}"/>
              </a:ext>
            </a:extLst>
          </p:cNvPr>
          <p:cNvSpPr/>
          <p:nvPr/>
        </p:nvSpPr>
        <p:spPr>
          <a:xfrm>
            <a:off x="10766043" y="2886560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累计跑量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km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571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5136A099-4599-DAB6-7E69-E88B5FD2019F}"/>
              </a:ext>
            </a:extLst>
          </p:cNvPr>
          <p:cNvSpPr/>
          <p:nvPr/>
        </p:nvSpPr>
        <p:spPr>
          <a:xfrm>
            <a:off x="10779395" y="3919187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定位日常训练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Arial" panose="020B0604020202020204"/>
                <a:cs typeface="Arial" panose="020B0604020202020204"/>
                <a:sym typeface="Arial" panose="020B0604020202020204"/>
              </a:rPr>
              <a:t>9/9</a:t>
            </a:r>
            <a:endParaRPr kumimoji="0" lang="zh-CN" altLang="en-US" sz="2000" b="1" i="0" u="none" strike="noStrike" cap="none" spc="0" normalizeH="0" baseline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D7F4DCF9-3F56-E68E-F9C4-E992FCAA5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416572"/>
              </p:ext>
            </p:extLst>
          </p:nvPr>
        </p:nvGraphicFramePr>
        <p:xfrm>
          <a:off x="1596851" y="1069906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CB3CDDBD-EA1B-AD09-061A-D01E75AB5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918499"/>
              </p:ext>
            </p:extLst>
          </p:nvPr>
        </p:nvGraphicFramePr>
        <p:xfrm>
          <a:off x="5152851" y="1350285"/>
          <a:ext cx="2845645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1365F78E-6984-355F-AC14-E60D2EEE3D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2136951"/>
              </p:ext>
            </p:extLst>
          </p:nvPr>
        </p:nvGraphicFramePr>
        <p:xfrm>
          <a:off x="1844305" y="3442585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48948082-1671-28EC-958F-7F275457C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05881"/>
              </p:ext>
            </p:extLst>
          </p:nvPr>
        </p:nvGraphicFramePr>
        <p:xfrm>
          <a:off x="5536152" y="3399947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20232580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6B11-71C3-97B3-0732-DB30A34A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AED41-E6A1-90B3-715C-C87EA865CA0B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3A806C-A4CF-F479-2417-F69A74D601DE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42F823B-8FDB-295A-76CA-7F9A2E107F10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A5F226-1494-2BBD-0436-8D68786C1BB8}"/>
              </a:ext>
            </a:extLst>
          </p:cNvPr>
          <p:cNvSpPr txBox="1"/>
          <p:nvPr/>
        </p:nvSpPr>
        <p:spPr>
          <a:xfrm>
            <a:off x="426925" y="1627605"/>
            <a:ext cx="7055194" cy="1708158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优点 </a:t>
            </a:r>
            <a:r>
              <a:rPr lang="en-US" alt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strengths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整体版型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合身修身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，多数反馈上身显身材、大小合适，运动时动作舒展不受限（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8/9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面料具备较好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亲肤性耐用性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，多名反馈不易磨皮肤，洗后不起球、不勾丝（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6/9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整体有一定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吸湿排汗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表现，能覆盖日常慢跑与中低强度训练场景（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7/9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具备基础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速干性支撑性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，部分测试者反馈跑后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15-30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分钟可恢复干爽，适合短距训练（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6/9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310D62-528E-D3D4-612F-54EB67029788}"/>
              </a:ext>
            </a:extLst>
          </p:cNvPr>
          <p:cNvSpPr txBox="1"/>
          <p:nvPr/>
        </p:nvSpPr>
        <p:spPr>
          <a:xfrm>
            <a:off x="10555698" y="679060"/>
            <a:ext cx="1589062" cy="3141880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40C3783-C616-BC80-D6A4-1F52F003D774}"/>
              </a:ext>
            </a:extLst>
          </p:cNvPr>
          <p:cNvSpPr txBox="1"/>
          <p:nvPr/>
        </p:nvSpPr>
        <p:spPr>
          <a:xfrm>
            <a:off x="442680" y="3890160"/>
            <a:ext cx="7039439" cy="2400655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>
                <a:solidFill>
                  <a:srgbClr val="0070C0"/>
                </a:solidFill>
                <a:latin typeface="微软雅黑" panose="020B0503020204020204" pitchFamily="34" charset="-122"/>
              </a:rPr>
              <a:t>缺点 </a:t>
            </a:r>
            <a:r>
              <a:rPr lang="en-US" altLang="zh-CN" sz="1400">
                <a:solidFill>
                  <a:srgbClr val="0070C0"/>
                </a:solidFill>
                <a:latin typeface="微软雅黑" panose="020B0503020204020204" pitchFamily="34" charset="-122"/>
              </a:rPr>
              <a:t>drawbacks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腋下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胸下等部位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摩擦硌感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较集中，出汗后或长距离跑动时更明显，部分与袖口偏高、面料偏硬有关（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5/9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前胸与整体有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闷热偏厚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感，双层结构、领口偏高或外层透气不足时更突出（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5/9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吸湿排汗与速干表现存在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只吸不排干得慢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问题，易贴身、裹汗，前胸和贴身内层更明显（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7/9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后背补给兜设计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难拿取位置不合理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，还会影响跑动节奏，部分反馈也影响后背排汗（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4/9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细节适配性不足，如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罩杯压迫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、外层</a:t>
            </a:r>
            <a:r>
              <a:rPr lang="zh-CN" altLang="en-US" sz="1400">
                <a:solidFill>
                  <a:srgbClr val="00B0F0"/>
                </a:solidFill>
                <a:latin typeface="微软雅黑" panose="020B0503020204020204" pitchFamily="34" charset="-122"/>
              </a:rPr>
              <a:t>弹性不够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、后背偏高或大幅动作时有移位（</a:t>
            </a:r>
            <a:r>
              <a:rPr lang="en-US" altLang="zh-CN" sz="1400" b="0">
                <a:solidFill>
                  <a:srgbClr val="000000"/>
                </a:solidFill>
                <a:latin typeface="微软雅黑" panose="020B0503020204020204" pitchFamily="34" charset="-122"/>
              </a:rPr>
              <a:t>4/9</a:t>
            </a:r>
            <a:r>
              <a:rPr lang="zh-CN" altLang="en-US" sz="1400" b="0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</a:p>
          <a:p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建议改为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更柔软透气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面料并优化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腋下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前胸剪裁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，降低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</a:rPr>
              <a:t>摩擦闷热</a:t>
            </a:r>
            <a:r>
              <a:rPr lang="zh-CN" altLang="en-US" b="0">
                <a:solidFill>
                  <a:srgbClr val="000000"/>
                </a:solidFill>
                <a:latin typeface="微软雅黑" panose="020B0503020204020204" pitchFamily="34" charset="-122"/>
              </a:rPr>
              <a:t>，提升贴身区域排汗速干。</a:t>
            </a:r>
            <a:endParaRPr lang="en-US" altLang="zh-CN" b="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3D74C63-CB38-C25E-EE7E-E0300F9D9A28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498456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2304</Words>
  <Application>Microsoft Office PowerPoint</Application>
  <PresentationFormat>宽屏</PresentationFormat>
  <Paragraphs>399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楷体</vt:lpstr>
      <vt:lpstr>微软雅黑</vt:lpstr>
      <vt:lpstr>Arial</vt:lpstr>
      <vt:lpstr>Wingdings</vt:lpstr>
      <vt:lpstr>1_包图主题2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1085</cp:revision>
  <dcterms:created xsi:type="dcterms:W3CDTF">2019-03-25T05:53:00Z</dcterms:created>
  <dcterms:modified xsi:type="dcterms:W3CDTF">2026-05-27T09:32:49Z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