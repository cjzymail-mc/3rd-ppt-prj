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13.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14.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notesSlides/notesSlide15.xml" ContentType="application/vnd.openxmlformats-officedocument.presentationml.notesSlide+xml"/>
  <Override PartName="/ppt/charts/chart1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1252" r:id="rId2"/>
    <p:sldId id="1253" r:id="rId3"/>
    <p:sldId id="1254" r:id="rId4"/>
    <p:sldId id="1255" r:id="rId5"/>
    <p:sldId id="1256" r:id="rId6"/>
    <p:sldId id="1257" r:id="rId7"/>
    <p:sldId id="1258" r:id="rId8"/>
    <p:sldId id="1259" r:id="rId9"/>
    <p:sldId id="1260" r:id="rId10"/>
    <p:sldId id="1261" r:id="rId11"/>
    <p:sldId id="1262" r:id="rId12"/>
    <p:sldId id="960" r:id="rId13"/>
    <p:sldId id="961" r:id="rId14"/>
    <p:sldId id="962" r:id="rId15"/>
    <p:sldId id="963" r:id="rId16"/>
    <p:sldId id="967" r:id="rId17"/>
    <p:sldId id="1263" r:id="rId18"/>
    <p:sldId id="1265" r:id="rId19"/>
    <p:sldId id="1266"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15:guide id="1" orient="horz" pos="2024">
          <p15:clr>
            <a:srgbClr val="A4A3A4"/>
          </p15:clr>
        </p15:guide>
        <p15:guide id="2" pos="39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2540"/>
    <a:srgbClr val="04B555"/>
    <a:srgbClr val="CACACA"/>
    <a:srgbClr val="C3E0FF"/>
    <a:srgbClr val="F5ADAF"/>
    <a:srgbClr val="E16776"/>
    <a:srgbClr val="E9BDDD"/>
    <a:srgbClr val="4BA1FF"/>
    <a:srgbClr val="6393BC"/>
    <a:srgbClr val="263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7" autoAdjust="0"/>
    <p:restoredTop sz="65688" autoAdjust="0"/>
  </p:normalViewPr>
  <p:slideViewPr>
    <p:cSldViewPr>
      <p:cViewPr varScale="1">
        <p:scale>
          <a:sx n="51" d="100"/>
          <a:sy n="51" d="100"/>
        </p:scale>
        <p:origin x="276" y="42"/>
      </p:cViewPr>
      <p:guideLst>
        <p:guide orient="horz" pos="2024"/>
        <p:guide pos="3939"/>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D:\Technique%20Support\Claude%20Code%20Learning\%5bAgent-4%20Claude%5d%20Wu%20Prj\&#12304;&#34917;&#20805;-&#31454;&#21697;&#23545;&#27604;&#25253;&#21578;&#12305;\FE%204.0\2025&#24180;9&#26376;%20&#30005;&#21830;%20FE4\FE4.0%20&#27979;&#35797;&#25968;&#25454;%20&#12304;3th&#12305;%20%20(VS%20FE2.0%20&amp;%20&#26446;&#23425;&#21033;&#20995;4)%20-%20&#21103;&#2641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重量</a:t>
            </a:r>
          </a:p>
        </c:rich>
      </c:tx>
      <c:overlay val="0"/>
    </c:title>
    <c:autoTitleDeleted val="0"/>
    <c:plotArea>
      <c:layout/>
      <c:barChart>
        <c:barDir val="col"/>
        <c:grouping val="clustered"/>
        <c:varyColors val="0"/>
        <c:ser>
          <c:idx val="0"/>
          <c:order val="0"/>
          <c:tx>
            <c:strRef>
              <c:f>篮球基本参数测试!$C$20</c:f>
              <c:strCache>
                <c:ptCount val="1"/>
                <c:pt idx="0">
                  <c:v>重量</c:v>
                </c:pt>
              </c:strCache>
            </c:strRef>
          </c:tx>
          <c:invertIfNegative val="0"/>
          <c:dPt>
            <c:idx val="0"/>
            <c:invertIfNegative val="0"/>
            <c:bubble3D val="0"/>
            <c:spPr>
              <a:solidFill>
                <a:srgbClr val="00B050"/>
              </a:solidFill>
            </c:spPr>
            <c:extLst>
              <c:ext xmlns:c16="http://schemas.microsoft.com/office/drawing/2014/chart" uri="{C3380CC4-5D6E-409C-BE32-E72D297353CC}">
                <c16:uniqueId val="{00000001-42DA-404D-AB9B-7C29158ACDB7}"/>
              </c:ext>
            </c:extLst>
          </c:dPt>
          <c:dPt>
            <c:idx val="1"/>
            <c:invertIfNegative val="0"/>
            <c:bubble3D val="0"/>
            <c:spPr>
              <a:solidFill>
                <a:srgbClr val="00B0F0"/>
              </a:solidFill>
            </c:spPr>
            <c:extLst>
              <c:ext xmlns:c16="http://schemas.microsoft.com/office/drawing/2014/chart" uri="{C3380CC4-5D6E-409C-BE32-E72D297353CC}">
                <c16:uniqueId val="{00000003-42DA-404D-AB9B-7C29158ACDB7}"/>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篮球基本参数测试!$B$21:$B$22</c:f>
              <c:strCache>
                <c:ptCount val="2"/>
                <c:pt idx="0">
                  <c:v>FE4.0 R3</c:v>
                </c:pt>
                <c:pt idx="1">
                  <c:v>利刃4</c:v>
                </c:pt>
              </c:strCache>
            </c:strRef>
          </c:cat>
          <c:val>
            <c:numRef>
              <c:f>篮球基本参数测试!$C$21:$C$22</c:f>
              <c:numCache>
                <c:formatCode>0_ </c:formatCode>
                <c:ptCount val="2"/>
                <c:pt idx="0">
                  <c:v>405</c:v>
                </c:pt>
                <c:pt idx="1">
                  <c:v>374.64</c:v>
                </c:pt>
              </c:numCache>
            </c:numRef>
          </c:val>
          <c:extLst>
            <c:ext xmlns:c16="http://schemas.microsoft.com/office/drawing/2014/chart" uri="{C3380CC4-5D6E-409C-BE32-E72D297353CC}">
              <c16:uniqueId val="{00000004-42DA-404D-AB9B-7C29158ACDB7}"/>
            </c:ext>
          </c:extLst>
        </c:ser>
        <c:dLbls>
          <c:showLegendKey val="0"/>
          <c:showVal val="0"/>
          <c:showCatName val="0"/>
          <c:showSerName val="0"/>
          <c:showPercent val="0"/>
          <c:showBubbleSize val="0"/>
        </c:dLbls>
        <c:gapWidth val="150"/>
        <c:axId val="637978656"/>
        <c:axId val="637975296"/>
      </c:barChart>
      <c:catAx>
        <c:axId val="637978656"/>
        <c:scaling>
          <c:orientation val="minMax"/>
        </c:scaling>
        <c:delete val="0"/>
        <c:axPos val="b"/>
        <c:numFmt formatCode="General" sourceLinked="1"/>
        <c:majorTickMark val="out"/>
        <c:minorTickMark val="none"/>
        <c:tickLblPos val="nextTo"/>
        <c:crossAx val="637975296"/>
        <c:crosses val="autoZero"/>
        <c:auto val="1"/>
        <c:lblAlgn val="ctr"/>
        <c:lblOffset val="100"/>
        <c:noMultiLvlLbl val="0"/>
      </c:catAx>
      <c:valAx>
        <c:axId val="637975296"/>
        <c:scaling>
          <c:orientation val="minMax"/>
          <c:max val="465.7"/>
          <c:min val="187.3"/>
        </c:scaling>
        <c:delete val="0"/>
        <c:axPos val="l"/>
        <c:majorGridlines/>
        <c:title>
          <c:tx>
            <c:rich>
              <a:bodyPr rot="-5400000" vert="horz"/>
              <a:lstStyle/>
              <a:p>
                <a:pPr>
                  <a:defRPr/>
                </a:pPr>
                <a:r>
                  <a:rPr lang="zh-CN" altLang="en-US"/>
                  <a:t>（单位：</a:t>
                </a:r>
                <a:r>
                  <a:rPr lang="en-US" altLang="zh-CN"/>
                  <a:t>g</a:t>
                </a:r>
                <a:r>
                  <a:rPr lang="zh-CN" altLang="en-US"/>
                  <a:t>）</a:t>
                </a:r>
              </a:p>
            </c:rich>
          </c:tx>
          <c:overlay val="0"/>
        </c:title>
        <c:numFmt formatCode="0_ " sourceLinked="1"/>
        <c:majorTickMark val="out"/>
        <c:minorTickMark val="none"/>
        <c:tickLblPos val="nextTo"/>
        <c:crossAx val="63797865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厚度</a:t>
            </a:r>
          </a:p>
        </c:rich>
      </c:tx>
      <c:overlay val="0"/>
    </c:title>
    <c:autoTitleDeleted val="0"/>
    <c:plotArea>
      <c:layout/>
      <c:barChart>
        <c:barDir val="col"/>
        <c:grouping val="clustered"/>
        <c:varyColors val="0"/>
        <c:ser>
          <c:idx val="0"/>
          <c:order val="0"/>
          <c:tx>
            <c:strRef>
              <c:f>篮球基本参数测试!$F$21</c:f>
              <c:strCache>
                <c:ptCount val="1"/>
                <c:pt idx="0">
                  <c:v>FE4.0 R3</c:v>
                </c:pt>
              </c:strCache>
            </c:strRef>
          </c:tx>
          <c:spPr>
            <a:solidFill>
              <a:srgbClr val="00B050"/>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篮球基本参数测试!$G$20:$H$20</c:f>
              <c:strCache>
                <c:ptCount val="2"/>
                <c:pt idx="0">
                  <c:v>前掌</c:v>
                </c:pt>
                <c:pt idx="1">
                  <c:v>后跟</c:v>
                </c:pt>
              </c:strCache>
            </c:strRef>
          </c:cat>
          <c:val>
            <c:numRef>
              <c:f>篮球基本参数测试!$G$21:$H$21</c:f>
              <c:numCache>
                <c:formatCode>0.0_ </c:formatCode>
                <c:ptCount val="2"/>
                <c:pt idx="0">
                  <c:v>17.5</c:v>
                </c:pt>
                <c:pt idx="1">
                  <c:v>24.6</c:v>
                </c:pt>
              </c:numCache>
            </c:numRef>
          </c:val>
          <c:extLst>
            <c:ext xmlns:c16="http://schemas.microsoft.com/office/drawing/2014/chart" uri="{C3380CC4-5D6E-409C-BE32-E72D297353CC}">
              <c16:uniqueId val="{00000000-C0BC-4585-9DB9-E0C1F7510B3E}"/>
            </c:ext>
          </c:extLst>
        </c:ser>
        <c:ser>
          <c:idx val="1"/>
          <c:order val="1"/>
          <c:tx>
            <c:strRef>
              <c:f>篮球基本参数测试!$F$22</c:f>
              <c:strCache>
                <c:ptCount val="1"/>
                <c:pt idx="0">
                  <c:v>利刃4</c:v>
                </c:pt>
              </c:strCache>
            </c:strRef>
          </c:tx>
          <c:spPr>
            <a:solidFill>
              <a:srgbClr val="00B0F0"/>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篮球基本参数测试!$G$20:$H$20</c:f>
              <c:strCache>
                <c:ptCount val="2"/>
                <c:pt idx="0">
                  <c:v>前掌</c:v>
                </c:pt>
                <c:pt idx="1">
                  <c:v>后跟</c:v>
                </c:pt>
              </c:strCache>
            </c:strRef>
          </c:cat>
          <c:val>
            <c:numRef>
              <c:f>篮球基本参数测试!$G$22:$H$22</c:f>
              <c:numCache>
                <c:formatCode>0.0_ </c:formatCode>
                <c:ptCount val="2"/>
                <c:pt idx="0">
                  <c:v>16.809999999999999</c:v>
                </c:pt>
                <c:pt idx="1">
                  <c:v>23.369</c:v>
                </c:pt>
              </c:numCache>
            </c:numRef>
          </c:val>
          <c:extLst>
            <c:ext xmlns:c16="http://schemas.microsoft.com/office/drawing/2014/chart" uri="{C3380CC4-5D6E-409C-BE32-E72D297353CC}">
              <c16:uniqueId val="{00000001-C0BC-4585-9DB9-E0C1F7510B3E}"/>
            </c:ext>
          </c:extLst>
        </c:ser>
        <c:dLbls>
          <c:showLegendKey val="0"/>
          <c:showVal val="0"/>
          <c:showCatName val="0"/>
          <c:showSerName val="0"/>
          <c:showPercent val="0"/>
          <c:showBubbleSize val="0"/>
        </c:dLbls>
        <c:gapWidth val="150"/>
        <c:axId val="638024896"/>
        <c:axId val="638033056"/>
      </c:barChart>
      <c:catAx>
        <c:axId val="638024896"/>
        <c:scaling>
          <c:orientation val="minMax"/>
        </c:scaling>
        <c:delete val="0"/>
        <c:axPos val="b"/>
        <c:numFmt formatCode="General" sourceLinked="1"/>
        <c:majorTickMark val="out"/>
        <c:minorTickMark val="none"/>
        <c:tickLblPos val="nextTo"/>
        <c:crossAx val="638033056"/>
        <c:crosses val="autoZero"/>
        <c:auto val="1"/>
        <c:lblAlgn val="ctr"/>
        <c:lblOffset val="100"/>
        <c:noMultiLvlLbl val="0"/>
      </c:catAx>
      <c:valAx>
        <c:axId val="638033056"/>
        <c:scaling>
          <c:orientation val="minMax"/>
          <c:max val="28.3"/>
          <c:min val="8.4"/>
        </c:scaling>
        <c:delete val="0"/>
        <c:axPos val="l"/>
        <c:majorGridlines/>
        <c:title>
          <c:tx>
            <c:rich>
              <a:bodyPr rot="-5400000" vert="horz"/>
              <a:lstStyle/>
              <a:p>
                <a:pPr>
                  <a:defRPr/>
                </a:pPr>
                <a:r>
                  <a:rPr lang="zh-CN" altLang="en-US"/>
                  <a:t>（单位：</a:t>
                </a:r>
                <a:r>
                  <a:rPr lang="en-US" altLang="zh-CN"/>
                  <a:t>mm</a:t>
                </a:r>
                <a:r>
                  <a:rPr lang="zh-CN" altLang="en-US"/>
                  <a:t>）</a:t>
                </a:r>
              </a:p>
            </c:rich>
          </c:tx>
          <c:overlay val="0"/>
        </c:title>
        <c:numFmt formatCode="0.0_ " sourceLinked="1"/>
        <c:majorTickMark val="out"/>
        <c:minorTickMark val="none"/>
        <c:tickLblPos val="nextTo"/>
        <c:crossAx val="63802489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宽度</a:t>
            </a:r>
          </a:p>
        </c:rich>
      </c:tx>
      <c:overlay val="0"/>
    </c:title>
    <c:autoTitleDeleted val="0"/>
    <c:plotArea>
      <c:layout/>
      <c:barChart>
        <c:barDir val="col"/>
        <c:grouping val="clustered"/>
        <c:varyColors val="0"/>
        <c:ser>
          <c:idx val="0"/>
          <c:order val="0"/>
          <c:tx>
            <c:strRef>
              <c:f>篮球基本参数测试!$K$21</c:f>
              <c:strCache>
                <c:ptCount val="1"/>
                <c:pt idx="0">
                  <c:v>FE4.0 R3</c:v>
                </c:pt>
              </c:strCache>
            </c:strRef>
          </c:tx>
          <c:spPr>
            <a:solidFill>
              <a:srgbClr val="00B050"/>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篮球基本参数测试!$L$20:$M$20</c:f>
              <c:strCache>
                <c:ptCount val="2"/>
                <c:pt idx="0">
                  <c:v>前掌</c:v>
                </c:pt>
                <c:pt idx="1">
                  <c:v>后跟</c:v>
                </c:pt>
              </c:strCache>
            </c:strRef>
          </c:cat>
          <c:val>
            <c:numRef>
              <c:f>篮球基本参数测试!$L$21:$M$21</c:f>
              <c:numCache>
                <c:formatCode>0_ </c:formatCode>
                <c:ptCount val="2"/>
                <c:pt idx="0">
                  <c:v>111</c:v>
                </c:pt>
                <c:pt idx="1">
                  <c:v>90</c:v>
                </c:pt>
              </c:numCache>
            </c:numRef>
          </c:val>
          <c:extLst>
            <c:ext xmlns:c16="http://schemas.microsoft.com/office/drawing/2014/chart" uri="{C3380CC4-5D6E-409C-BE32-E72D297353CC}">
              <c16:uniqueId val="{00000000-15D5-4DD6-AB17-13F3D963D00A}"/>
            </c:ext>
          </c:extLst>
        </c:ser>
        <c:ser>
          <c:idx val="1"/>
          <c:order val="1"/>
          <c:tx>
            <c:strRef>
              <c:f>篮球基本参数测试!$K$22</c:f>
              <c:strCache>
                <c:ptCount val="1"/>
                <c:pt idx="0">
                  <c:v>利刃4</c:v>
                </c:pt>
              </c:strCache>
            </c:strRef>
          </c:tx>
          <c:spPr>
            <a:solidFill>
              <a:srgbClr val="00B0F0"/>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篮球基本参数测试!$L$20:$M$20</c:f>
              <c:strCache>
                <c:ptCount val="2"/>
                <c:pt idx="0">
                  <c:v>前掌</c:v>
                </c:pt>
                <c:pt idx="1">
                  <c:v>后跟</c:v>
                </c:pt>
              </c:strCache>
            </c:strRef>
          </c:cat>
          <c:val>
            <c:numRef>
              <c:f>篮球基本参数测试!$L$22:$M$22</c:f>
              <c:numCache>
                <c:formatCode>0_ </c:formatCode>
                <c:ptCount val="2"/>
                <c:pt idx="0">
                  <c:v>109.13</c:v>
                </c:pt>
                <c:pt idx="1">
                  <c:v>89.16</c:v>
                </c:pt>
              </c:numCache>
            </c:numRef>
          </c:val>
          <c:extLst>
            <c:ext xmlns:c16="http://schemas.microsoft.com/office/drawing/2014/chart" uri="{C3380CC4-5D6E-409C-BE32-E72D297353CC}">
              <c16:uniqueId val="{00000001-15D5-4DD6-AB17-13F3D963D00A}"/>
            </c:ext>
          </c:extLst>
        </c:ser>
        <c:dLbls>
          <c:showLegendKey val="0"/>
          <c:showVal val="0"/>
          <c:showCatName val="0"/>
          <c:showSerName val="0"/>
          <c:showPercent val="0"/>
          <c:showBubbleSize val="0"/>
        </c:dLbls>
        <c:gapWidth val="150"/>
        <c:axId val="638055136"/>
        <c:axId val="638052736"/>
      </c:barChart>
      <c:catAx>
        <c:axId val="638055136"/>
        <c:scaling>
          <c:orientation val="minMax"/>
        </c:scaling>
        <c:delete val="0"/>
        <c:axPos val="b"/>
        <c:numFmt formatCode="General" sourceLinked="1"/>
        <c:majorTickMark val="out"/>
        <c:minorTickMark val="none"/>
        <c:tickLblPos val="nextTo"/>
        <c:crossAx val="638052736"/>
        <c:crosses val="autoZero"/>
        <c:auto val="1"/>
        <c:lblAlgn val="ctr"/>
        <c:lblOffset val="100"/>
        <c:noMultiLvlLbl val="0"/>
      </c:catAx>
      <c:valAx>
        <c:axId val="638052736"/>
        <c:scaling>
          <c:orientation val="minMax"/>
          <c:max val="127.6"/>
          <c:min val="44.6"/>
        </c:scaling>
        <c:delete val="0"/>
        <c:axPos val="l"/>
        <c:majorGridlines/>
        <c:title>
          <c:tx>
            <c:rich>
              <a:bodyPr rot="-5400000" vert="horz"/>
              <a:lstStyle/>
              <a:p>
                <a:pPr>
                  <a:defRPr/>
                </a:pPr>
                <a:r>
                  <a:rPr lang="zh-CN" altLang="en-US"/>
                  <a:t>（单位：</a:t>
                </a:r>
                <a:r>
                  <a:rPr lang="en-US" altLang="zh-CN"/>
                  <a:t>mm</a:t>
                </a:r>
                <a:r>
                  <a:rPr lang="zh-CN" altLang="en-US"/>
                  <a:t>）</a:t>
                </a:r>
              </a:p>
            </c:rich>
          </c:tx>
          <c:overlay val="0"/>
        </c:title>
        <c:numFmt formatCode="0_ " sourceLinked="1"/>
        <c:majorTickMark val="out"/>
        <c:minorTickMark val="none"/>
        <c:tickLblPos val="nextTo"/>
        <c:crossAx val="63805513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减震</a:t>
            </a:r>
            <a:r>
              <a:rPr lang="en-US" altLang="zh-CN"/>
              <a:t>G</a:t>
            </a:r>
            <a:r>
              <a:rPr lang="zh-CN" altLang="en-US"/>
              <a:t>值</a:t>
            </a:r>
          </a:p>
        </c:rich>
      </c:tx>
      <c:overlay val="0"/>
    </c:title>
    <c:autoTitleDeleted val="0"/>
    <c:plotArea>
      <c:layout/>
      <c:barChart>
        <c:barDir val="col"/>
        <c:grouping val="clustered"/>
        <c:varyColors val="0"/>
        <c:ser>
          <c:idx val="0"/>
          <c:order val="0"/>
          <c:tx>
            <c:strRef>
              <c:f>篮球机械力学测试1!$D$17</c:f>
              <c:strCache>
                <c:ptCount val="1"/>
                <c:pt idx="0">
                  <c:v>减震G值</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7370-4F4A-A3DC-F5447571AAD6}"/>
              </c:ext>
            </c:extLst>
          </c:dPt>
          <c:dPt>
            <c:idx val="1"/>
            <c:invertIfNegative val="0"/>
            <c:bubble3D val="0"/>
            <c:spPr>
              <a:solidFill>
                <a:srgbClr val="00B050"/>
              </a:solidFill>
            </c:spPr>
            <c:extLst>
              <c:ext xmlns:c16="http://schemas.microsoft.com/office/drawing/2014/chart" uri="{C3380CC4-5D6E-409C-BE32-E72D297353CC}">
                <c16:uniqueId val="{00000003-7370-4F4A-A3DC-F5447571AAD6}"/>
              </c:ext>
            </c:extLst>
          </c:dPt>
          <c:dPt>
            <c:idx val="2"/>
            <c:invertIfNegative val="0"/>
            <c:bubble3D val="0"/>
            <c:spPr>
              <a:solidFill>
                <a:srgbClr val="00B0F0"/>
              </a:solidFill>
            </c:spPr>
            <c:extLst>
              <c:ext xmlns:c16="http://schemas.microsoft.com/office/drawing/2014/chart" uri="{C3380CC4-5D6E-409C-BE32-E72D297353CC}">
                <c16:uniqueId val="{00000005-7370-4F4A-A3DC-F5447571AAD6}"/>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篮球机械力学测试1!$C$18:$C$20</c:f>
              <c:strCache>
                <c:ptCount val="3"/>
                <c:pt idx="0">
                  <c:v>FE2</c:v>
                </c:pt>
                <c:pt idx="1">
                  <c:v>FE4.0 R3</c:v>
                </c:pt>
                <c:pt idx="2">
                  <c:v>利刃4</c:v>
                </c:pt>
              </c:strCache>
            </c:strRef>
          </c:cat>
          <c:val>
            <c:numRef>
              <c:f>篮球机械力学测试1!$D$18:$D$20</c:f>
              <c:numCache>
                <c:formatCode>0.0_);[Red]\(0.0\)</c:formatCode>
                <c:ptCount val="3"/>
                <c:pt idx="0" formatCode="0.0_ ">
                  <c:v>14</c:v>
                </c:pt>
                <c:pt idx="1">
                  <c:v>13</c:v>
                </c:pt>
                <c:pt idx="2" formatCode="0.0_ ">
                  <c:v>14.5</c:v>
                </c:pt>
              </c:numCache>
            </c:numRef>
          </c:val>
          <c:extLst>
            <c:ext xmlns:c16="http://schemas.microsoft.com/office/drawing/2014/chart" uri="{C3380CC4-5D6E-409C-BE32-E72D297353CC}">
              <c16:uniqueId val="{00000006-7370-4F4A-A3DC-F5447571AAD6}"/>
            </c:ext>
          </c:extLst>
        </c:ser>
        <c:dLbls>
          <c:showLegendKey val="0"/>
          <c:showVal val="0"/>
          <c:showCatName val="0"/>
          <c:showSerName val="0"/>
          <c:showPercent val="0"/>
          <c:showBubbleSize val="0"/>
        </c:dLbls>
        <c:gapWidth val="150"/>
        <c:axId val="663011376"/>
        <c:axId val="663021936"/>
      </c:barChart>
      <c:catAx>
        <c:axId val="663011376"/>
        <c:scaling>
          <c:orientation val="minMax"/>
        </c:scaling>
        <c:delete val="0"/>
        <c:axPos val="b"/>
        <c:numFmt formatCode="General" sourceLinked="1"/>
        <c:majorTickMark val="out"/>
        <c:minorTickMark val="none"/>
        <c:tickLblPos val="nextTo"/>
        <c:crossAx val="663021936"/>
        <c:crosses val="autoZero"/>
        <c:auto val="1"/>
        <c:lblAlgn val="ctr"/>
        <c:lblOffset val="100"/>
        <c:noMultiLvlLbl val="0"/>
      </c:catAx>
      <c:valAx>
        <c:axId val="663021936"/>
        <c:scaling>
          <c:orientation val="minMax"/>
          <c:max val="16.7"/>
          <c:min val="6.5"/>
        </c:scaling>
        <c:delete val="0"/>
        <c:axPos val="l"/>
        <c:majorGridlines/>
        <c:title>
          <c:tx>
            <c:rich>
              <a:bodyPr rot="-5400000" vert="horz"/>
              <a:lstStyle/>
              <a:p>
                <a:pPr>
                  <a:defRPr/>
                </a:pPr>
                <a:r>
                  <a:rPr lang="zh-CN" altLang="en-US"/>
                  <a:t>（单位：</a:t>
                </a:r>
                <a:r>
                  <a:rPr lang="en-US" altLang="zh-CN"/>
                  <a:t>G</a:t>
                </a:r>
                <a:r>
                  <a:rPr lang="zh-CN" altLang="en-US"/>
                  <a:t>）</a:t>
                </a:r>
              </a:p>
            </c:rich>
          </c:tx>
          <c:overlay val="0"/>
        </c:title>
        <c:numFmt formatCode="0.0_ " sourceLinked="1"/>
        <c:majorTickMark val="out"/>
        <c:minorTickMark val="none"/>
        <c:tickLblPos val="nextTo"/>
        <c:crossAx val="66301137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回弹率</a:t>
            </a:r>
          </a:p>
        </c:rich>
      </c:tx>
      <c:overlay val="0"/>
    </c:title>
    <c:autoTitleDeleted val="0"/>
    <c:plotArea>
      <c:layout/>
      <c:barChart>
        <c:barDir val="col"/>
        <c:grouping val="clustered"/>
        <c:varyColors val="0"/>
        <c:ser>
          <c:idx val="0"/>
          <c:order val="0"/>
          <c:tx>
            <c:strRef>
              <c:f>篮球机械力学测试1!$H$17</c:f>
              <c:strCache>
                <c:ptCount val="1"/>
                <c:pt idx="0">
                  <c:v>回弹率</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DEEE-42E1-BE05-B138F4EB4E45}"/>
              </c:ext>
            </c:extLst>
          </c:dPt>
          <c:dPt>
            <c:idx val="1"/>
            <c:invertIfNegative val="0"/>
            <c:bubble3D val="0"/>
            <c:spPr>
              <a:solidFill>
                <a:srgbClr val="00B050"/>
              </a:solidFill>
            </c:spPr>
            <c:extLst>
              <c:ext xmlns:c16="http://schemas.microsoft.com/office/drawing/2014/chart" uri="{C3380CC4-5D6E-409C-BE32-E72D297353CC}">
                <c16:uniqueId val="{00000003-DEEE-42E1-BE05-B138F4EB4E45}"/>
              </c:ext>
            </c:extLst>
          </c:dPt>
          <c:dPt>
            <c:idx val="2"/>
            <c:invertIfNegative val="0"/>
            <c:bubble3D val="0"/>
            <c:spPr>
              <a:solidFill>
                <a:srgbClr val="00B0F0"/>
              </a:solidFill>
            </c:spPr>
            <c:extLst>
              <c:ext xmlns:c16="http://schemas.microsoft.com/office/drawing/2014/chart" uri="{C3380CC4-5D6E-409C-BE32-E72D297353CC}">
                <c16:uniqueId val="{00000005-DEEE-42E1-BE05-B138F4EB4E45}"/>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篮球机械力学测试1!$G$18:$G$20</c:f>
              <c:strCache>
                <c:ptCount val="3"/>
                <c:pt idx="0">
                  <c:v>FE2</c:v>
                </c:pt>
                <c:pt idx="1">
                  <c:v>FE4.0 R3</c:v>
                </c:pt>
                <c:pt idx="2">
                  <c:v>利刃4</c:v>
                </c:pt>
              </c:strCache>
            </c:strRef>
          </c:cat>
          <c:val>
            <c:numRef>
              <c:f>篮球机械力学测试1!$H$18:$H$20</c:f>
              <c:numCache>
                <c:formatCode>0.0_);[Red]\(0.0\)</c:formatCode>
                <c:ptCount val="3"/>
                <c:pt idx="0" formatCode="0.0_ ">
                  <c:v>56</c:v>
                </c:pt>
                <c:pt idx="1">
                  <c:v>54</c:v>
                </c:pt>
                <c:pt idx="2" formatCode="0.0_ ">
                  <c:v>58.2</c:v>
                </c:pt>
              </c:numCache>
            </c:numRef>
          </c:val>
          <c:extLst>
            <c:ext xmlns:c16="http://schemas.microsoft.com/office/drawing/2014/chart" uri="{C3380CC4-5D6E-409C-BE32-E72D297353CC}">
              <c16:uniqueId val="{00000006-DEEE-42E1-BE05-B138F4EB4E45}"/>
            </c:ext>
          </c:extLst>
        </c:ser>
        <c:dLbls>
          <c:showLegendKey val="0"/>
          <c:showVal val="0"/>
          <c:showCatName val="0"/>
          <c:showSerName val="0"/>
          <c:showPercent val="0"/>
          <c:showBubbleSize val="0"/>
        </c:dLbls>
        <c:gapWidth val="150"/>
        <c:axId val="663017616"/>
        <c:axId val="638022016"/>
      </c:barChart>
      <c:catAx>
        <c:axId val="663017616"/>
        <c:scaling>
          <c:orientation val="minMax"/>
        </c:scaling>
        <c:delete val="0"/>
        <c:axPos val="b"/>
        <c:numFmt formatCode="General" sourceLinked="1"/>
        <c:majorTickMark val="out"/>
        <c:minorTickMark val="none"/>
        <c:tickLblPos val="nextTo"/>
        <c:crossAx val="638022016"/>
        <c:crosses val="autoZero"/>
        <c:auto val="1"/>
        <c:lblAlgn val="ctr"/>
        <c:lblOffset val="100"/>
        <c:noMultiLvlLbl val="0"/>
      </c:catAx>
      <c:valAx>
        <c:axId val="638022016"/>
        <c:scaling>
          <c:orientation val="minMax"/>
          <c:max val="66.900000000000006"/>
          <c:min val="27"/>
        </c:scaling>
        <c:delete val="0"/>
        <c:axPos val="l"/>
        <c:majorGridlines/>
        <c:title>
          <c:tx>
            <c:rich>
              <a:bodyPr rot="-5400000" vert="horz"/>
              <a:lstStyle/>
              <a:p>
                <a:pPr>
                  <a:defRPr/>
                </a:pPr>
                <a:r>
                  <a:rPr lang="zh-CN" altLang="en-US"/>
                  <a:t>（单位：</a:t>
                </a:r>
                <a:r>
                  <a:rPr lang="en-US" altLang="zh-CN"/>
                  <a:t>%</a:t>
                </a:r>
                <a:r>
                  <a:rPr lang="zh-CN" altLang="en-US"/>
                  <a:t>）</a:t>
                </a:r>
              </a:p>
            </c:rich>
          </c:tx>
          <c:overlay val="0"/>
        </c:title>
        <c:numFmt formatCode="0.0_ " sourceLinked="1"/>
        <c:majorTickMark val="out"/>
        <c:minorTickMark val="none"/>
        <c:tickLblPos val="nextTo"/>
        <c:crossAx val="66301761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弯折力值</a:t>
            </a:r>
          </a:p>
        </c:rich>
      </c:tx>
      <c:overlay val="0"/>
    </c:title>
    <c:autoTitleDeleted val="0"/>
    <c:plotArea>
      <c:layout/>
      <c:barChart>
        <c:barDir val="col"/>
        <c:grouping val="clustered"/>
        <c:varyColors val="0"/>
        <c:ser>
          <c:idx val="0"/>
          <c:order val="0"/>
          <c:tx>
            <c:strRef>
              <c:f>篮球机械力学测试2!$F$16</c:f>
              <c:strCache>
                <c:ptCount val="1"/>
                <c:pt idx="0">
                  <c:v>弯折力值</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6F48-40F3-86F0-9100A428FB89}"/>
              </c:ext>
            </c:extLst>
          </c:dPt>
          <c:dPt>
            <c:idx val="1"/>
            <c:invertIfNegative val="0"/>
            <c:bubble3D val="0"/>
            <c:spPr>
              <a:solidFill>
                <a:srgbClr val="00B050"/>
              </a:solidFill>
            </c:spPr>
            <c:extLst>
              <c:ext xmlns:c16="http://schemas.microsoft.com/office/drawing/2014/chart" uri="{C3380CC4-5D6E-409C-BE32-E72D297353CC}">
                <c16:uniqueId val="{00000003-6F48-40F3-86F0-9100A428FB89}"/>
              </c:ext>
            </c:extLst>
          </c:dPt>
          <c:dPt>
            <c:idx val="2"/>
            <c:invertIfNegative val="0"/>
            <c:bubble3D val="0"/>
            <c:spPr>
              <a:solidFill>
                <a:srgbClr val="00B0F0"/>
              </a:solidFill>
            </c:spPr>
            <c:extLst>
              <c:ext xmlns:c16="http://schemas.microsoft.com/office/drawing/2014/chart" uri="{C3380CC4-5D6E-409C-BE32-E72D297353CC}">
                <c16:uniqueId val="{00000005-6F48-40F3-86F0-9100A428FB8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篮球机械力学测试2!$E$17:$E$19</c:f>
              <c:strCache>
                <c:ptCount val="3"/>
                <c:pt idx="0">
                  <c:v>FE2</c:v>
                </c:pt>
                <c:pt idx="1">
                  <c:v>FE4.0 R3</c:v>
                </c:pt>
                <c:pt idx="2">
                  <c:v>利刃4</c:v>
                </c:pt>
              </c:strCache>
            </c:strRef>
          </c:cat>
          <c:val>
            <c:numRef>
              <c:f>篮球机械力学测试2!$F$17:$F$19</c:f>
              <c:numCache>
                <c:formatCode>General</c:formatCode>
                <c:ptCount val="3"/>
                <c:pt idx="0" formatCode="0.0_ ">
                  <c:v>14.3</c:v>
                </c:pt>
                <c:pt idx="1">
                  <c:v>13</c:v>
                </c:pt>
                <c:pt idx="2" formatCode="0.0_ ">
                  <c:v>17.64</c:v>
                </c:pt>
              </c:numCache>
            </c:numRef>
          </c:val>
          <c:extLst>
            <c:ext xmlns:c16="http://schemas.microsoft.com/office/drawing/2014/chart" uri="{C3380CC4-5D6E-409C-BE32-E72D297353CC}">
              <c16:uniqueId val="{00000006-6F48-40F3-86F0-9100A428FB89}"/>
            </c:ext>
          </c:extLst>
        </c:ser>
        <c:dLbls>
          <c:showLegendKey val="0"/>
          <c:showVal val="0"/>
          <c:showCatName val="0"/>
          <c:showSerName val="0"/>
          <c:showPercent val="0"/>
          <c:showBubbleSize val="0"/>
        </c:dLbls>
        <c:gapWidth val="150"/>
        <c:axId val="638035456"/>
        <c:axId val="638035936"/>
      </c:barChart>
      <c:catAx>
        <c:axId val="638035456"/>
        <c:scaling>
          <c:orientation val="minMax"/>
        </c:scaling>
        <c:delete val="0"/>
        <c:axPos val="b"/>
        <c:numFmt formatCode="General" sourceLinked="1"/>
        <c:majorTickMark val="out"/>
        <c:minorTickMark val="none"/>
        <c:tickLblPos val="nextTo"/>
        <c:crossAx val="638035936"/>
        <c:crosses val="autoZero"/>
        <c:auto val="1"/>
        <c:lblAlgn val="ctr"/>
        <c:lblOffset val="100"/>
        <c:noMultiLvlLbl val="0"/>
      </c:catAx>
      <c:valAx>
        <c:axId val="638035936"/>
        <c:scaling>
          <c:orientation val="minMax"/>
          <c:max val="20.3"/>
          <c:min val="6.5"/>
        </c:scaling>
        <c:delete val="0"/>
        <c:axPos val="l"/>
        <c:majorGridlines/>
        <c:title>
          <c:tx>
            <c:rich>
              <a:bodyPr rot="-5400000" vert="horz"/>
              <a:lstStyle/>
              <a:p>
                <a:pPr>
                  <a:defRPr/>
                </a:pPr>
                <a:r>
                  <a:rPr lang="zh-CN" altLang="en-US"/>
                  <a:t>（单位：</a:t>
                </a:r>
                <a:r>
                  <a:rPr lang="en-US" altLang="zh-CN"/>
                  <a:t>N</a:t>
                </a:r>
                <a:r>
                  <a:rPr lang="zh-CN" altLang="en-US"/>
                  <a:t>）</a:t>
                </a:r>
              </a:p>
            </c:rich>
          </c:tx>
          <c:overlay val="0"/>
        </c:title>
        <c:numFmt formatCode="0.0_ " sourceLinked="1"/>
        <c:majorTickMark val="out"/>
        <c:minorTickMark val="none"/>
        <c:tickLblPos val="nextTo"/>
        <c:crossAx val="63803545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扭转力矩</a:t>
            </a:r>
          </a:p>
        </c:rich>
      </c:tx>
      <c:overlay val="0"/>
    </c:title>
    <c:autoTitleDeleted val="0"/>
    <c:plotArea>
      <c:layout/>
      <c:barChart>
        <c:barDir val="col"/>
        <c:grouping val="clustered"/>
        <c:varyColors val="0"/>
        <c:ser>
          <c:idx val="0"/>
          <c:order val="0"/>
          <c:tx>
            <c:strRef>
              <c:f>篮球机械力学测试2!$J$16</c:f>
              <c:strCache>
                <c:ptCount val="1"/>
                <c:pt idx="0">
                  <c:v>扭转力矩</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71DC-4CBF-9621-0503C10DB0A0}"/>
              </c:ext>
            </c:extLst>
          </c:dPt>
          <c:dPt>
            <c:idx val="1"/>
            <c:invertIfNegative val="0"/>
            <c:bubble3D val="0"/>
            <c:spPr>
              <a:solidFill>
                <a:srgbClr val="00B050"/>
              </a:solidFill>
            </c:spPr>
            <c:extLst>
              <c:ext xmlns:c16="http://schemas.microsoft.com/office/drawing/2014/chart" uri="{C3380CC4-5D6E-409C-BE32-E72D297353CC}">
                <c16:uniqueId val="{00000003-71DC-4CBF-9621-0503C10DB0A0}"/>
              </c:ext>
            </c:extLst>
          </c:dPt>
          <c:dPt>
            <c:idx val="2"/>
            <c:invertIfNegative val="0"/>
            <c:bubble3D val="0"/>
            <c:spPr>
              <a:solidFill>
                <a:srgbClr val="00B0F0"/>
              </a:solidFill>
            </c:spPr>
            <c:extLst>
              <c:ext xmlns:c16="http://schemas.microsoft.com/office/drawing/2014/chart" uri="{C3380CC4-5D6E-409C-BE32-E72D297353CC}">
                <c16:uniqueId val="{00000005-71DC-4CBF-9621-0503C10DB0A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篮球机械力学测试2!$I$17:$I$19</c:f>
              <c:strCache>
                <c:ptCount val="3"/>
                <c:pt idx="0">
                  <c:v>FE2</c:v>
                </c:pt>
                <c:pt idx="1">
                  <c:v>FE4.0 R3</c:v>
                </c:pt>
                <c:pt idx="2">
                  <c:v>利刃4</c:v>
                </c:pt>
              </c:strCache>
            </c:strRef>
          </c:cat>
          <c:val>
            <c:numRef>
              <c:f>篮球机械力学测试2!$J$17:$J$19</c:f>
              <c:numCache>
                <c:formatCode>0.0_ </c:formatCode>
                <c:ptCount val="3"/>
                <c:pt idx="0">
                  <c:v>4.4000000000000004</c:v>
                </c:pt>
                <c:pt idx="1">
                  <c:v>5.0999999999999996</c:v>
                </c:pt>
                <c:pt idx="2">
                  <c:v>6.24</c:v>
                </c:pt>
              </c:numCache>
            </c:numRef>
          </c:val>
          <c:extLst>
            <c:ext xmlns:c16="http://schemas.microsoft.com/office/drawing/2014/chart" uri="{C3380CC4-5D6E-409C-BE32-E72D297353CC}">
              <c16:uniqueId val="{00000006-71DC-4CBF-9621-0503C10DB0A0}"/>
            </c:ext>
          </c:extLst>
        </c:ser>
        <c:dLbls>
          <c:showLegendKey val="0"/>
          <c:showVal val="0"/>
          <c:showCatName val="0"/>
          <c:showSerName val="0"/>
          <c:showPercent val="0"/>
          <c:showBubbleSize val="0"/>
        </c:dLbls>
        <c:gapWidth val="150"/>
        <c:axId val="663001776"/>
        <c:axId val="663004176"/>
      </c:barChart>
      <c:catAx>
        <c:axId val="663001776"/>
        <c:scaling>
          <c:orientation val="minMax"/>
        </c:scaling>
        <c:delete val="0"/>
        <c:axPos val="b"/>
        <c:numFmt formatCode="General" sourceLinked="1"/>
        <c:majorTickMark val="out"/>
        <c:minorTickMark val="none"/>
        <c:tickLblPos val="nextTo"/>
        <c:crossAx val="663004176"/>
        <c:crosses val="autoZero"/>
        <c:auto val="1"/>
        <c:lblAlgn val="ctr"/>
        <c:lblOffset val="100"/>
        <c:noMultiLvlLbl val="0"/>
      </c:catAx>
      <c:valAx>
        <c:axId val="663004176"/>
        <c:scaling>
          <c:orientation val="minMax"/>
          <c:max val="7.2"/>
          <c:min val="2.2000000000000002"/>
        </c:scaling>
        <c:delete val="0"/>
        <c:axPos val="l"/>
        <c:majorGridlines/>
        <c:title>
          <c:tx>
            <c:rich>
              <a:bodyPr rot="-5400000" vert="horz"/>
              <a:lstStyle/>
              <a:p>
                <a:pPr>
                  <a:defRPr/>
                </a:pPr>
                <a:r>
                  <a:rPr lang="zh-CN" altLang="en-US"/>
                  <a:t>（单位：</a:t>
                </a:r>
                <a:r>
                  <a:rPr lang="en-US" altLang="zh-CN"/>
                  <a:t>N*m</a:t>
                </a:r>
                <a:r>
                  <a:rPr lang="zh-CN" altLang="en-US"/>
                  <a:t>）</a:t>
                </a:r>
              </a:p>
            </c:rich>
          </c:tx>
          <c:overlay val="0"/>
        </c:title>
        <c:numFmt formatCode="0.0_ " sourceLinked="1"/>
        <c:majorTickMark val="out"/>
        <c:minorTickMark val="none"/>
        <c:tickLblPos val="nextTo"/>
        <c:crossAx val="66300177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临界滑动坡度</a:t>
            </a:r>
          </a:p>
        </c:rich>
      </c:tx>
      <c:overlay val="0"/>
    </c:title>
    <c:autoTitleDeleted val="0"/>
    <c:plotArea>
      <c:layout/>
      <c:barChart>
        <c:barDir val="col"/>
        <c:grouping val="clustered"/>
        <c:varyColors val="0"/>
        <c:ser>
          <c:idx val="0"/>
          <c:order val="0"/>
          <c:tx>
            <c:strRef>
              <c:f>止滑性能测试!$D$11</c:f>
              <c:strCache>
                <c:ptCount val="1"/>
                <c:pt idx="0">
                  <c:v>横向</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B3BE-4C00-8642-147B18655E40}"/>
              </c:ext>
            </c:extLst>
          </c:dPt>
          <c:dPt>
            <c:idx val="1"/>
            <c:invertIfNegative val="0"/>
            <c:bubble3D val="0"/>
            <c:spPr>
              <a:solidFill>
                <a:srgbClr val="00B050"/>
              </a:solidFill>
            </c:spPr>
            <c:extLst>
              <c:ext xmlns:c16="http://schemas.microsoft.com/office/drawing/2014/chart" uri="{C3380CC4-5D6E-409C-BE32-E72D297353CC}">
                <c16:uniqueId val="{00000003-B3BE-4C00-8642-147B18655E40}"/>
              </c:ext>
            </c:extLst>
          </c:dPt>
          <c:dPt>
            <c:idx val="2"/>
            <c:invertIfNegative val="0"/>
            <c:bubble3D val="0"/>
            <c:spPr>
              <a:solidFill>
                <a:srgbClr val="00B0F0"/>
              </a:solidFill>
            </c:spPr>
            <c:extLst>
              <c:ext xmlns:c16="http://schemas.microsoft.com/office/drawing/2014/chart" uri="{C3380CC4-5D6E-409C-BE32-E72D297353CC}">
                <c16:uniqueId val="{00000005-B3BE-4C00-8642-147B18655E40}"/>
              </c:ext>
            </c:extLst>
          </c:dPt>
          <c:dPt>
            <c:idx val="3"/>
            <c:invertIfNegative val="0"/>
            <c:bubble3D val="0"/>
            <c:spPr>
              <a:solidFill>
                <a:srgbClr val="013FFF"/>
              </a:solidFill>
            </c:spPr>
            <c:extLst>
              <c:ext xmlns:c16="http://schemas.microsoft.com/office/drawing/2014/chart" uri="{C3380CC4-5D6E-409C-BE32-E72D297353CC}">
                <c16:uniqueId val="{00000007-B3BE-4C00-8642-147B18655E4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止滑性能测试!$C$12:$C$15</c:f>
              <c:strCache>
                <c:ptCount val="4"/>
                <c:pt idx="0">
                  <c:v>FE 3.0</c:v>
                </c:pt>
                <c:pt idx="1">
                  <c:v>FE4.0 R3</c:v>
                </c:pt>
                <c:pt idx="2">
                  <c:v>利刃5 V2</c:v>
                </c:pt>
                <c:pt idx="3">
                  <c:v>利刃6</c:v>
                </c:pt>
              </c:strCache>
            </c:strRef>
          </c:cat>
          <c:val>
            <c:numRef>
              <c:f>止滑性能测试!$D$12:$D$15</c:f>
              <c:numCache>
                <c:formatCode>0.00_ </c:formatCode>
                <c:ptCount val="4"/>
                <c:pt idx="0" formatCode="General">
                  <c:v>1.22</c:v>
                </c:pt>
                <c:pt idx="1">
                  <c:v>1.25</c:v>
                </c:pt>
                <c:pt idx="2">
                  <c:v>1.28</c:v>
                </c:pt>
                <c:pt idx="3">
                  <c:v>1.29</c:v>
                </c:pt>
              </c:numCache>
            </c:numRef>
          </c:val>
          <c:extLst>
            <c:ext xmlns:c16="http://schemas.microsoft.com/office/drawing/2014/chart" uri="{C3380CC4-5D6E-409C-BE32-E72D297353CC}">
              <c16:uniqueId val="{00000008-B3BE-4C00-8642-147B18655E40}"/>
            </c:ext>
          </c:extLst>
        </c:ser>
        <c:dLbls>
          <c:showLegendKey val="0"/>
          <c:showVal val="0"/>
          <c:showCatName val="0"/>
          <c:showSerName val="0"/>
          <c:showPercent val="0"/>
          <c:showBubbleSize val="0"/>
        </c:dLbls>
        <c:gapWidth val="150"/>
        <c:axId val="663023376"/>
        <c:axId val="663006576"/>
      </c:barChart>
      <c:catAx>
        <c:axId val="663023376"/>
        <c:scaling>
          <c:orientation val="minMax"/>
        </c:scaling>
        <c:delete val="0"/>
        <c:axPos val="b"/>
        <c:numFmt formatCode="General" sourceLinked="1"/>
        <c:majorTickMark val="out"/>
        <c:minorTickMark val="none"/>
        <c:tickLblPos val="nextTo"/>
        <c:crossAx val="663006576"/>
        <c:crosses val="autoZero"/>
        <c:auto val="1"/>
        <c:lblAlgn val="ctr"/>
        <c:lblOffset val="100"/>
        <c:noMultiLvlLbl val="0"/>
      </c:catAx>
      <c:valAx>
        <c:axId val="663006576"/>
        <c:scaling>
          <c:orientation val="minMax"/>
          <c:max val="1.5"/>
          <c:min val="0.6"/>
        </c:scaling>
        <c:delete val="0"/>
        <c:axPos val="l"/>
        <c:majorGridlines/>
        <c:title>
          <c:tx>
            <c:rich>
              <a:bodyPr rot="-5400000" vert="horz"/>
              <a:lstStyle/>
              <a:p>
                <a:pPr>
                  <a:defRPr/>
                </a:pPr>
                <a:r>
                  <a:rPr lang="zh-CN" altLang="en-US"/>
                  <a:t>（单位：</a:t>
                </a:r>
                <a:r>
                  <a:rPr lang="en-US" altLang="zh-CN"/>
                  <a:t>°</a:t>
                </a:r>
                <a:r>
                  <a:rPr lang="zh-CN" altLang="en-US"/>
                  <a:t>）</a:t>
                </a:r>
              </a:p>
            </c:rich>
          </c:tx>
          <c:overlay val="0"/>
        </c:title>
        <c:numFmt formatCode="General" sourceLinked="1"/>
        <c:majorTickMark val="out"/>
        <c:minorTickMark val="none"/>
        <c:tickLblPos val="nextTo"/>
        <c:crossAx val="66302337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总触地时间</a:t>
            </a:r>
          </a:p>
        </c:rich>
      </c:tx>
      <c:overlay val="0"/>
    </c:title>
    <c:autoTitleDeleted val="0"/>
    <c:plotArea>
      <c:layout/>
      <c:barChart>
        <c:barDir val="col"/>
        <c:grouping val="clustered"/>
        <c:varyColors val="0"/>
        <c:ser>
          <c:idx val="0"/>
          <c:order val="0"/>
          <c:tx>
            <c:strRef>
              <c:f>篮球生物力学测试1!$E$15</c:f>
              <c:strCache>
                <c:ptCount val="1"/>
                <c:pt idx="0">
                  <c:v>总触地时间</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B77F-431A-B869-4B767A6573C2}"/>
              </c:ext>
            </c:extLst>
          </c:dPt>
          <c:dPt>
            <c:idx val="1"/>
            <c:invertIfNegative val="0"/>
            <c:bubble3D val="0"/>
            <c:spPr>
              <a:solidFill>
                <a:srgbClr val="00B050"/>
              </a:solidFill>
            </c:spPr>
            <c:extLst>
              <c:ext xmlns:c16="http://schemas.microsoft.com/office/drawing/2014/chart" uri="{C3380CC4-5D6E-409C-BE32-E72D297353CC}">
                <c16:uniqueId val="{00000003-B77F-431A-B869-4B767A6573C2}"/>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篮球生物力学测试1!$D$16:$D$17</c:f>
              <c:strCache>
                <c:ptCount val="2"/>
                <c:pt idx="0">
                  <c:v>FE4.0 R3</c:v>
                </c:pt>
                <c:pt idx="1">
                  <c:v>利刃4</c:v>
                </c:pt>
              </c:strCache>
            </c:strRef>
          </c:cat>
          <c:val>
            <c:numRef>
              <c:f>篮球生物力学测试1!$E$16:$E$17</c:f>
              <c:numCache>
                <c:formatCode>0.0_ </c:formatCode>
                <c:ptCount val="2"/>
                <c:pt idx="0">
                  <c:v>195</c:v>
                </c:pt>
                <c:pt idx="1">
                  <c:v>221.8</c:v>
                </c:pt>
              </c:numCache>
            </c:numRef>
          </c:val>
          <c:extLst>
            <c:ext xmlns:c16="http://schemas.microsoft.com/office/drawing/2014/chart" uri="{C3380CC4-5D6E-409C-BE32-E72D297353CC}">
              <c16:uniqueId val="{00000004-B77F-431A-B869-4B767A6573C2}"/>
            </c:ext>
          </c:extLst>
        </c:ser>
        <c:dLbls>
          <c:showLegendKey val="0"/>
          <c:showVal val="0"/>
          <c:showCatName val="0"/>
          <c:showSerName val="0"/>
          <c:showPercent val="0"/>
          <c:showBubbleSize val="0"/>
        </c:dLbls>
        <c:gapWidth val="150"/>
        <c:axId val="637970976"/>
        <c:axId val="637971456"/>
      </c:barChart>
      <c:catAx>
        <c:axId val="637970976"/>
        <c:scaling>
          <c:orientation val="minMax"/>
        </c:scaling>
        <c:delete val="0"/>
        <c:axPos val="b"/>
        <c:numFmt formatCode="General" sourceLinked="1"/>
        <c:majorTickMark val="out"/>
        <c:minorTickMark val="none"/>
        <c:tickLblPos val="nextTo"/>
        <c:crossAx val="637971456"/>
        <c:crosses val="autoZero"/>
        <c:auto val="1"/>
        <c:lblAlgn val="ctr"/>
        <c:lblOffset val="100"/>
        <c:noMultiLvlLbl val="0"/>
      </c:catAx>
      <c:valAx>
        <c:axId val="637971456"/>
        <c:scaling>
          <c:orientation val="minMax"/>
          <c:max val="255.1"/>
          <c:min val="97.5"/>
        </c:scaling>
        <c:delete val="0"/>
        <c:axPos val="l"/>
        <c:majorGridlines/>
        <c:title>
          <c:tx>
            <c:rich>
              <a:bodyPr rot="-5400000" vert="horz"/>
              <a:lstStyle/>
              <a:p>
                <a:pPr>
                  <a:defRPr/>
                </a:pPr>
                <a:r>
                  <a:rPr lang="zh-CN" altLang="en-US"/>
                  <a:t>（单位：</a:t>
                </a:r>
                <a:r>
                  <a:rPr lang="en-US" altLang="zh-CN"/>
                  <a:t>ms</a:t>
                </a:r>
                <a:r>
                  <a:rPr lang="zh-CN" altLang="en-US"/>
                  <a:t>）</a:t>
                </a:r>
              </a:p>
            </c:rich>
          </c:tx>
          <c:overlay val="0"/>
        </c:title>
        <c:numFmt formatCode="0.0_ " sourceLinked="1"/>
        <c:majorTickMark val="out"/>
        <c:minorTickMark val="none"/>
        <c:tickLblPos val="nextTo"/>
        <c:crossAx val="637970976"/>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第一峰值时间</a:t>
            </a:r>
          </a:p>
        </c:rich>
      </c:tx>
      <c:overlay val="0"/>
    </c:title>
    <c:autoTitleDeleted val="0"/>
    <c:plotArea>
      <c:layout/>
      <c:barChart>
        <c:barDir val="col"/>
        <c:grouping val="clustered"/>
        <c:varyColors val="0"/>
        <c:ser>
          <c:idx val="0"/>
          <c:order val="0"/>
          <c:tx>
            <c:strRef>
              <c:f>篮球生物力学测试1!$J$15</c:f>
              <c:strCache>
                <c:ptCount val="1"/>
                <c:pt idx="0">
                  <c:v>第一峰值时间</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41DB-49D5-96AE-70448BFB8274}"/>
              </c:ext>
            </c:extLst>
          </c:dPt>
          <c:dPt>
            <c:idx val="1"/>
            <c:invertIfNegative val="0"/>
            <c:bubble3D val="0"/>
            <c:spPr>
              <a:solidFill>
                <a:srgbClr val="00B050"/>
              </a:solidFill>
            </c:spPr>
            <c:extLst>
              <c:ext xmlns:c16="http://schemas.microsoft.com/office/drawing/2014/chart" uri="{C3380CC4-5D6E-409C-BE32-E72D297353CC}">
                <c16:uniqueId val="{00000003-41DB-49D5-96AE-70448BFB827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篮球生物力学测试1!$I$16:$I$17</c:f>
              <c:strCache>
                <c:ptCount val="2"/>
                <c:pt idx="0">
                  <c:v>FE4.0 R3</c:v>
                </c:pt>
                <c:pt idx="1">
                  <c:v>利刃4</c:v>
                </c:pt>
              </c:strCache>
            </c:strRef>
          </c:cat>
          <c:val>
            <c:numRef>
              <c:f>篮球生物力学测试1!$J$16:$J$17</c:f>
              <c:numCache>
                <c:formatCode>0.0_ </c:formatCode>
                <c:ptCount val="2"/>
                <c:pt idx="0">
                  <c:v>30</c:v>
                </c:pt>
                <c:pt idx="1">
                  <c:v>32.799999999999997</c:v>
                </c:pt>
              </c:numCache>
            </c:numRef>
          </c:val>
          <c:extLst>
            <c:ext xmlns:c16="http://schemas.microsoft.com/office/drawing/2014/chart" uri="{C3380CC4-5D6E-409C-BE32-E72D297353CC}">
              <c16:uniqueId val="{00000004-41DB-49D5-96AE-70448BFB8274}"/>
            </c:ext>
          </c:extLst>
        </c:ser>
        <c:dLbls>
          <c:showLegendKey val="0"/>
          <c:showVal val="0"/>
          <c:showCatName val="0"/>
          <c:showSerName val="0"/>
          <c:showPercent val="0"/>
          <c:showBubbleSize val="0"/>
        </c:dLbls>
        <c:gapWidth val="150"/>
        <c:axId val="1429971760"/>
        <c:axId val="1429985680"/>
      </c:barChart>
      <c:catAx>
        <c:axId val="1429971760"/>
        <c:scaling>
          <c:orientation val="minMax"/>
        </c:scaling>
        <c:delete val="0"/>
        <c:axPos val="b"/>
        <c:numFmt formatCode="General" sourceLinked="1"/>
        <c:majorTickMark val="out"/>
        <c:minorTickMark val="none"/>
        <c:tickLblPos val="nextTo"/>
        <c:crossAx val="1429985680"/>
        <c:crosses val="autoZero"/>
        <c:auto val="1"/>
        <c:lblAlgn val="ctr"/>
        <c:lblOffset val="100"/>
        <c:noMultiLvlLbl val="0"/>
      </c:catAx>
      <c:valAx>
        <c:axId val="1429985680"/>
        <c:scaling>
          <c:orientation val="minMax"/>
          <c:max val="37.700000000000003"/>
          <c:min val="15"/>
        </c:scaling>
        <c:delete val="0"/>
        <c:axPos val="l"/>
        <c:majorGridlines/>
        <c:title>
          <c:tx>
            <c:rich>
              <a:bodyPr rot="-5400000" vert="horz"/>
              <a:lstStyle/>
              <a:p>
                <a:pPr>
                  <a:defRPr/>
                </a:pPr>
                <a:r>
                  <a:rPr lang="zh-CN" altLang="en-US"/>
                  <a:t>（单位：</a:t>
                </a:r>
                <a:r>
                  <a:rPr lang="en-US" altLang="zh-CN"/>
                  <a:t>BW/s</a:t>
                </a:r>
                <a:r>
                  <a:rPr lang="zh-CN" altLang="en-US"/>
                  <a:t>）</a:t>
                </a:r>
              </a:p>
            </c:rich>
          </c:tx>
          <c:overlay val="0"/>
        </c:title>
        <c:numFmt formatCode="0.0_ " sourceLinked="1"/>
        <c:majorTickMark val="out"/>
        <c:minorTickMark val="none"/>
        <c:tickLblPos val="nextTo"/>
        <c:crossAx val="1429971760"/>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zh-CN" altLang="en-US"/>
              <a:t>加载率</a:t>
            </a:r>
          </a:p>
        </c:rich>
      </c:tx>
      <c:overlay val="0"/>
    </c:title>
    <c:autoTitleDeleted val="0"/>
    <c:plotArea>
      <c:layout/>
      <c:barChart>
        <c:barDir val="col"/>
        <c:grouping val="clustered"/>
        <c:varyColors val="0"/>
        <c:ser>
          <c:idx val="0"/>
          <c:order val="0"/>
          <c:tx>
            <c:strRef>
              <c:f>篮球生物力学测试1!$Q$15</c:f>
              <c:strCache>
                <c:ptCount val="1"/>
                <c:pt idx="0">
                  <c:v>加载率</c:v>
                </c:pt>
              </c:strCache>
            </c:strRef>
          </c:tx>
          <c:invertIfNegative val="0"/>
          <c:dPt>
            <c:idx val="0"/>
            <c:invertIfNegative val="0"/>
            <c:bubble3D val="0"/>
            <c:spPr>
              <a:solidFill>
                <a:srgbClr val="FF0000"/>
              </a:solidFill>
            </c:spPr>
            <c:extLst>
              <c:ext xmlns:c16="http://schemas.microsoft.com/office/drawing/2014/chart" uri="{C3380CC4-5D6E-409C-BE32-E72D297353CC}">
                <c16:uniqueId val="{00000001-A810-4DF6-80F6-632C6FFA2906}"/>
              </c:ext>
            </c:extLst>
          </c:dPt>
          <c:dPt>
            <c:idx val="1"/>
            <c:invertIfNegative val="0"/>
            <c:bubble3D val="0"/>
            <c:spPr>
              <a:solidFill>
                <a:srgbClr val="00B050"/>
              </a:solidFill>
            </c:spPr>
            <c:extLst>
              <c:ext xmlns:c16="http://schemas.microsoft.com/office/drawing/2014/chart" uri="{C3380CC4-5D6E-409C-BE32-E72D297353CC}">
                <c16:uniqueId val="{00000003-A810-4DF6-80F6-632C6FFA2906}"/>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篮球生物力学测试1!$P$16:$P$17</c:f>
              <c:strCache>
                <c:ptCount val="2"/>
                <c:pt idx="0">
                  <c:v>FE3</c:v>
                </c:pt>
                <c:pt idx="1">
                  <c:v>利刃4</c:v>
                </c:pt>
              </c:strCache>
            </c:strRef>
          </c:cat>
          <c:val>
            <c:numRef>
              <c:f>篮球生物力学测试1!$Q$16:$Q$17</c:f>
              <c:numCache>
                <c:formatCode>0.0_ </c:formatCode>
                <c:ptCount val="2"/>
                <c:pt idx="0">
                  <c:v>90.480211763007375</c:v>
                </c:pt>
                <c:pt idx="1">
                  <c:v>121.14699081798253</c:v>
                </c:pt>
              </c:numCache>
            </c:numRef>
          </c:val>
          <c:extLst>
            <c:ext xmlns:c16="http://schemas.microsoft.com/office/drawing/2014/chart" uri="{C3380CC4-5D6E-409C-BE32-E72D297353CC}">
              <c16:uniqueId val="{00000004-A810-4DF6-80F6-632C6FFA2906}"/>
            </c:ext>
          </c:extLst>
        </c:ser>
        <c:dLbls>
          <c:showLegendKey val="0"/>
          <c:showVal val="0"/>
          <c:showCatName val="0"/>
          <c:showSerName val="0"/>
          <c:showPercent val="0"/>
          <c:showBubbleSize val="0"/>
        </c:dLbls>
        <c:gapWidth val="150"/>
        <c:axId val="1429977040"/>
        <c:axId val="1429974160"/>
      </c:barChart>
      <c:catAx>
        <c:axId val="1429977040"/>
        <c:scaling>
          <c:orientation val="minMax"/>
        </c:scaling>
        <c:delete val="0"/>
        <c:axPos val="b"/>
        <c:numFmt formatCode="General" sourceLinked="1"/>
        <c:majorTickMark val="out"/>
        <c:minorTickMark val="none"/>
        <c:tickLblPos val="nextTo"/>
        <c:crossAx val="1429974160"/>
        <c:crosses val="autoZero"/>
        <c:auto val="1"/>
        <c:lblAlgn val="ctr"/>
        <c:lblOffset val="100"/>
        <c:noMultiLvlLbl val="0"/>
      </c:catAx>
      <c:valAx>
        <c:axId val="1429974160"/>
        <c:scaling>
          <c:orientation val="minMax"/>
          <c:max val="139.30000000000001"/>
          <c:min val="45.2"/>
        </c:scaling>
        <c:delete val="0"/>
        <c:axPos val="l"/>
        <c:majorGridlines/>
        <c:title>
          <c:tx>
            <c:rich>
              <a:bodyPr rot="-5400000" vert="horz"/>
              <a:lstStyle/>
              <a:p>
                <a:pPr>
                  <a:defRPr/>
                </a:pPr>
                <a:r>
                  <a:rPr lang="zh-CN" altLang="en-US"/>
                  <a:t>（单位：</a:t>
                </a:r>
                <a:r>
                  <a:rPr lang="en-US" altLang="zh-CN"/>
                  <a:t>BW/s</a:t>
                </a:r>
                <a:r>
                  <a:rPr lang="zh-CN" altLang="en-US"/>
                  <a:t>）</a:t>
                </a:r>
              </a:p>
            </c:rich>
          </c:tx>
          <c:overlay val="0"/>
        </c:title>
        <c:numFmt formatCode="0.0_ " sourceLinked="1"/>
        <c:majorTickMark val="out"/>
        <c:minorTickMark val="none"/>
        <c:tickLblPos val="nextTo"/>
        <c:crossAx val="1429977040"/>
        <c:crosses val="autoZero"/>
        <c:crossBetween val="between"/>
      </c:valAx>
    </c:plotArea>
    <c:legend>
      <c:legendPos val="b"/>
      <c:overlay val="0"/>
    </c:legend>
    <c:plotVisOnly val="1"/>
    <c:dispBlanksAs val="gap"/>
    <c:showDLblsOverMax val="0"/>
    <c:extLst>
      <c:ext xmlns:c16r3="http://schemas.microsoft.com/office/drawing/2017/03/chart" uri="{56B9EC1D-385E-4148-901F-78D8002777C0}">
        <c16r3:dataDisplayOptions16>
          <c16r3:dispNaAsBlank val="1"/>
        </c16r3:dataDisplayOptions16>
      </c:ext>
    </c:extLst>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问卷!$A$16</c:f>
              <c:strCache>
                <c:ptCount val="1"/>
                <c:pt idx="0">
                  <c:v>庄旭宏</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问卷!$B$15:$M$15</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问卷!$B$16:$M$16</c:f>
              <c:numCache>
                <c:formatCode>General</c:formatCode>
                <c:ptCount val="12"/>
                <c:pt idx="0">
                  <c:v>2</c:v>
                </c:pt>
                <c:pt idx="1">
                  <c:v>4</c:v>
                </c:pt>
                <c:pt idx="2">
                  <c:v>4</c:v>
                </c:pt>
                <c:pt idx="3">
                  <c:v>4</c:v>
                </c:pt>
                <c:pt idx="4">
                  <c:v>4</c:v>
                </c:pt>
                <c:pt idx="5">
                  <c:v>4</c:v>
                </c:pt>
                <c:pt idx="6">
                  <c:v>4</c:v>
                </c:pt>
                <c:pt idx="7">
                  <c:v>4</c:v>
                </c:pt>
                <c:pt idx="8">
                  <c:v>4</c:v>
                </c:pt>
                <c:pt idx="9">
                  <c:v>4</c:v>
                </c:pt>
                <c:pt idx="10">
                  <c:v>4</c:v>
                </c:pt>
                <c:pt idx="11">
                  <c:v>4</c:v>
                </c:pt>
              </c:numCache>
            </c:numRef>
          </c:val>
          <c:extLst>
            <c:ext xmlns:c16="http://schemas.microsoft.com/office/drawing/2014/chart" uri="{C3380CC4-5D6E-409C-BE32-E72D297353CC}">
              <c16:uniqueId val="{00000000-C42D-4520-9C45-99F9463E79CA}"/>
            </c:ext>
          </c:extLst>
        </c:ser>
        <c:dLbls>
          <c:showLegendKey val="0"/>
          <c:showVal val="0"/>
          <c:showCatName val="0"/>
          <c:showSerName val="0"/>
          <c:showPercent val="0"/>
          <c:showBubbleSize val="0"/>
        </c:dLbls>
        <c:gapWidth val="150"/>
        <c:axId val="227716416"/>
        <c:axId val="227703456"/>
      </c:barChart>
      <c:catAx>
        <c:axId val="227716416"/>
        <c:scaling>
          <c:orientation val="minMax"/>
        </c:scaling>
        <c:delete val="0"/>
        <c:axPos val="l"/>
        <c:numFmt formatCode="General" sourceLinked="1"/>
        <c:majorTickMark val="out"/>
        <c:minorTickMark val="none"/>
        <c:tickLblPos val="nextTo"/>
        <c:crossAx val="227703456"/>
        <c:crosses val="autoZero"/>
        <c:auto val="1"/>
        <c:lblAlgn val="ctr"/>
        <c:lblOffset val="100"/>
        <c:noMultiLvlLbl val="0"/>
      </c:catAx>
      <c:valAx>
        <c:axId val="227703456"/>
        <c:scaling>
          <c:orientation val="minMax"/>
        </c:scaling>
        <c:delete val="1"/>
        <c:axPos val="b"/>
        <c:numFmt formatCode="General" sourceLinked="1"/>
        <c:majorTickMark val="out"/>
        <c:minorTickMark val="none"/>
        <c:tickLblPos val="nextTo"/>
        <c:crossAx val="227716416"/>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问卷!$A$21</c:f>
              <c:strCache>
                <c:ptCount val="1"/>
                <c:pt idx="0">
                  <c:v>曹丹阳</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问卷!$B$20:$M$20</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问卷!$B$21:$M$21</c:f>
              <c:numCache>
                <c:formatCode>General</c:formatCode>
                <c:ptCount val="12"/>
                <c:pt idx="0">
                  <c:v>3</c:v>
                </c:pt>
                <c:pt idx="1">
                  <c:v>4</c:v>
                </c:pt>
                <c:pt idx="2">
                  <c:v>4</c:v>
                </c:pt>
                <c:pt idx="3">
                  <c:v>3</c:v>
                </c:pt>
                <c:pt idx="4">
                  <c:v>4</c:v>
                </c:pt>
                <c:pt idx="5">
                  <c:v>4</c:v>
                </c:pt>
                <c:pt idx="6">
                  <c:v>3</c:v>
                </c:pt>
                <c:pt idx="7">
                  <c:v>4</c:v>
                </c:pt>
                <c:pt idx="8">
                  <c:v>3</c:v>
                </c:pt>
                <c:pt idx="9">
                  <c:v>3</c:v>
                </c:pt>
                <c:pt idx="10">
                  <c:v>3</c:v>
                </c:pt>
                <c:pt idx="11">
                  <c:v>4</c:v>
                </c:pt>
              </c:numCache>
            </c:numRef>
          </c:val>
          <c:extLst>
            <c:ext xmlns:c16="http://schemas.microsoft.com/office/drawing/2014/chart" uri="{C3380CC4-5D6E-409C-BE32-E72D297353CC}">
              <c16:uniqueId val="{00000000-3AC0-4050-BD47-B4A0A26BF06B}"/>
            </c:ext>
          </c:extLst>
        </c:ser>
        <c:dLbls>
          <c:showLegendKey val="0"/>
          <c:showVal val="0"/>
          <c:showCatName val="0"/>
          <c:showSerName val="0"/>
          <c:showPercent val="0"/>
          <c:showBubbleSize val="0"/>
        </c:dLbls>
        <c:gapWidth val="150"/>
        <c:axId val="1186005920"/>
        <c:axId val="1186009280"/>
      </c:barChart>
      <c:catAx>
        <c:axId val="1186005920"/>
        <c:scaling>
          <c:orientation val="minMax"/>
        </c:scaling>
        <c:delete val="0"/>
        <c:axPos val="l"/>
        <c:numFmt formatCode="General" sourceLinked="1"/>
        <c:majorTickMark val="out"/>
        <c:minorTickMark val="none"/>
        <c:tickLblPos val="nextTo"/>
        <c:crossAx val="1186009280"/>
        <c:crosses val="autoZero"/>
        <c:auto val="1"/>
        <c:lblAlgn val="ctr"/>
        <c:lblOffset val="100"/>
        <c:noMultiLvlLbl val="0"/>
      </c:catAx>
      <c:valAx>
        <c:axId val="1186009280"/>
        <c:scaling>
          <c:orientation val="minMax"/>
        </c:scaling>
        <c:delete val="1"/>
        <c:axPos val="b"/>
        <c:numFmt formatCode="General" sourceLinked="1"/>
        <c:majorTickMark val="out"/>
        <c:minorTickMark val="none"/>
        <c:tickLblPos val="nextTo"/>
        <c:crossAx val="1186005920"/>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问卷!$A$26</c:f>
              <c:strCache>
                <c:ptCount val="1"/>
                <c:pt idx="0">
                  <c:v>七十七</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问卷!$B$25:$M$25</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问卷!$B$26:$M$26</c:f>
              <c:numCache>
                <c:formatCode>General</c:formatCode>
                <c:ptCount val="12"/>
                <c:pt idx="0">
                  <c:v>4</c:v>
                </c:pt>
                <c:pt idx="1">
                  <c:v>4</c:v>
                </c:pt>
                <c:pt idx="2">
                  <c:v>3</c:v>
                </c:pt>
                <c:pt idx="3">
                  <c:v>4</c:v>
                </c:pt>
                <c:pt idx="4">
                  <c:v>4</c:v>
                </c:pt>
                <c:pt idx="5">
                  <c:v>4</c:v>
                </c:pt>
                <c:pt idx="6">
                  <c:v>3</c:v>
                </c:pt>
                <c:pt idx="7">
                  <c:v>3</c:v>
                </c:pt>
                <c:pt idx="8">
                  <c:v>3</c:v>
                </c:pt>
                <c:pt idx="9">
                  <c:v>3</c:v>
                </c:pt>
                <c:pt idx="10">
                  <c:v>4</c:v>
                </c:pt>
                <c:pt idx="11">
                  <c:v>4</c:v>
                </c:pt>
              </c:numCache>
            </c:numRef>
          </c:val>
          <c:extLst>
            <c:ext xmlns:c16="http://schemas.microsoft.com/office/drawing/2014/chart" uri="{C3380CC4-5D6E-409C-BE32-E72D297353CC}">
              <c16:uniqueId val="{00000000-9D6D-44E1-AC30-623CFD2AD699}"/>
            </c:ext>
          </c:extLst>
        </c:ser>
        <c:dLbls>
          <c:showLegendKey val="0"/>
          <c:showVal val="0"/>
          <c:showCatName val="0"/>
          <c:showSerName val="0"/>
          <c:showPercent val="0"/>
          <c:showBubbleSize val="0"/>
        </c:dLbls>
        <c:gapWidth val="150"/>
        <c:axId val="446689728"/>
        <c:axId val="446688768"/>
      </c:barChart>
      <c:catAx>
        <c:axId val="446689728"/>
        <c:scaling>
          <c:orientation val="minMax"/>
        </c:scaling>
        <c:delete val="0"/>
        <c:axPos val="l"/>
        <c:numFmt formatCode="General" sourceLinked="1"/>
        <c:majorTickMark val="out"/>
        <c:minorTickMark val="none"/>
        <c:tickLblPos val="nextTo"/>
        <c:crossAx val="446688768"/>
        <c:crosses val="autoZero"/>
        <c:auto val="1"/>
        <c:lblAlgn val="ctr"/>
        <c:lblOffset val="100"/>
        <c:noMultiLvlLbl val="0"/>
      </c:catAx>
      <c:valAx>
        <c:axId val="446688768"/>
        <c:scaling>
          <c:orientation val="minMax"/>
        </c:scaling>
        <c:delete val="1"/>
        <c:axPos val="b"/>
        <c:numFmt formatCode="General" sourceLinked="1"/>
        <c:majorTickMark val="out"/>
        <c:minorTickMark val="none"/>
        <c:tickLblPos val="nextTo"/>
        <c:crossAx val="446689728"/>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问卷!$A$31</c:f>
              <c:strCache>
                <c:ptCount val="1"/>
                <c:pt idx="0">
                  <c:v>戴仕翰</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问卷!$B$30:$M$30</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问卷!$B$31:$M$31</c:f>
              <c:numCache>
                <c:formatCode>General</c:formatCode>
                <c:ptCount val="12"/>
                <c:pt idx="0">
                  <c:v>4</c:v>
                </c:pt>
                <c:pt idx="1">
                  <c:v>5</c:v>
                </c:pt>
                <c:pt idx="2">
                  <c:v>5</c:v>
                </c:pt>
                <c:pt idx="3">
                  <c:v>5</c:v>
                </c:pt>
                <c:pt idx="4">
                  <c:v>5</c:v>
                </c:pt>
                <c:pt idx="5">
                  <c:v>5</c:v>
                </c:pt>
                <c:pt idx="6">
                  <c:v>3</c:v>
                </c:pt>
                <c:pt idx="7">
                  <c:v>4</c:v>
                </c:pt>
                <c:pt idx="8">
                  <c:v>3</c:v>
                </c:pt>
                <c:pt idx="9">
                  <c:v>5</c:v>
                </c:pt>
                <c:pt idx="10">
                  <c:v>5</c:v>
                </c:pt>
                <c:pt idx="11">
                  <c:v>4</c:v>
                </c:pt>
              </c:numCache>
            </c:numRef>
          </c:val>
          <c:extLst>
            <c:ext xmlns:c16="http://schemas.microsoft.com/office/drawing/2014/chart" uri="{C3380CC4-5D6E-409C-BE32-E72D297353CC}">
              <c16:uniqueId val="{00000000-487A-47DA-BD9F-9B16E1D903BC}"/>
            </c:ext>
          </c:extLst>
        </c:ser>
        <c:dLbls>
          <c:showLegendKey val="0"/>
          <c:showVal val="0"/>
          <c:showCatName val="0"/>
          <c:showSerName val="0"/>
          <c:showPercent val="0"/>
          <c:showBubbleSize val="0"/>
        </c:dLbls>
        <c:gapWidth val="150"/>
        <c:axId val="1185985760"/>
        <c:axId val="1185987680"/>
      </c:barChart>
      <c:catAx>
        <c:axId val="1185985760"/>
        <c:scaling>
          <c:orientation val="minMax"/>
        </c:scaling>
        <c:delete val="0"/>
        <c:axPos val="l"/>
        <c:numFmt formatCode="General" sourceLinked="1"/>
        <c:majorTickMark val="out"/>
        <c:minorTickMark val="none"/>
        <c:tickLblPos val="nextTo"/>
        <c:crossAx val="1185987680"/>
        <c:crosses val="autoZero"/>
        <c:auto val="1"/>
        <c:lblAlgn val="ctr"/>
        <c:lblOffset val="100"/>
        <c:noMultiLvlLbl val="0"/>
      </c:catAx>
      <c:valAx>
        <c:axId val="1185987680"/>
        <c:scaling>
          <c:orientation val="minMax"/>
        </c:scaling>
        <c:delete val="1"/>
        <c:axPos val="b"/>
        <c:numFmt formatCode="General" sourceLinked="1"/>
        <c:majorTickMark val="out"/>
        <c:minorTickMark val="none"/>
        <c:tickLblPos val="nextTo"/>
        <c:crossAx val="1185985760"/>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问卷!$A$36</c:f>
              <c:strCache>
                <c:ptCount val="1"/>
                <c:pt idx="0">
                  <c:v>魏小倍</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问卷!$B$35:$M$35</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问卷!$B$36:$M$36</c:f>
              <c:numCache>
                <c:formatCode>General</c:formatCode>
                <c:ptCount val="12"/>
                <c:pt idx="0">
                  <c:v>2</c:v>
                </c:pt>
                <c:pt idx="1">
                  <c:v>5</c:v>
                </c:pt>
                <c:pt idx="2">
                  <c:v>5</c:v>
                </c:pt>
                <c:pt idx="3">
                  <c:v>3</c:v>
                </c:pt>
                <c:pt idx="4">
                  <c:v>4</c:v>
                </c:pt>
                <c:pt idx="5">
                  <c:v>4</c:v>
                </c:pt>
                <c:pt idx="6">
                  <c:v>4</c:v>
                </c:pt>
                <c:pt idx="7">
                  <c:v>4</c:v>
                </c:pt>
                <c:pt idx="8">
                  <c:v>4</c:v>
                </c:pt>
                <c:pt idx="9">
                  <c:v>4</c:v>
                </c:pt>
                <c:pt idx="10">
                  <c:v>5</c:v>
                </c:pt>
                <c:pt idx="11">
                  <c:v>5</c:v>
                </c:pt>
              </c:numCache>
            </c:numRef>
          </c:val>
          <c:extLst>
            <c:ext xmlns:c16="http://schemas.microsoft.com/office/drawing/2014/chart" uri="{C3380CC4-5D6E-409C-BE32-E72D297353CC}">
              <c16:uniqueId val="{00000000-C1C3-4352-8381-6E5B5DA2DAD8}"/>
            </c:ext>
          </c:extLst>
        </c:ser>
        <c:dLbls>
          <c:showLegendKey val="0"/>
          <c:showVal val="0"/>
          <c:showCatName val="0"/>
          <c:showSerName val="0"/>
          <c:showPercent val="0"/>
          <c:showBubbleSize val="0"/>
        </c:dLbls>
        <c:gapWidth val="150"/>
        <c:axId val="438566704"/>
        <c:axId val="438554704"/>
      </c:barChart>
      <c:catAx>
        <c:axId val="438566704"/>
        <c:scaling>
          <c:orientation val="minMax"/>
        </c:scaling>
        <c:delete val="0"/>
        <c:axPos val="l"/>
        <c:numFmt formatCode="General" sourceLinked="1"/>
        <c:majorTickMark val="out"/>
        <c:minorTickMark val="none"/>
        <c:tickLblPos val="nextTo"/>
        <c:crossAx val="438554704"/>
        <c:crosses val="autoZero"/>
        <c:auto val="1"/>
        <c:lblAlgn val="ctr"/>
        <c:lblOffset val="100"/>
        <c:noMultiLvlLbl val="0"/>
      </c:catAx>
      <c:valAx>
        <c:axId val="438554704"/>
        <c:scaling>
          <c:orientation val="minMax"/>
        </c:scaling>
        <c:delete val="1"/>
        <c:axPos val="b"/>
        <c:numFmt formatCode="General" sourceLinked="1"/>
        <c:majorTickMark val="out"/>
        <c:minorTickMark val="none"/>
        <c:tickLblPos val="nextTo"/>
        <c:crossAx val="438566704"/>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问卷!$A$41</c:f>
              <c:strCache>
                <c:ptCount val="1"/>
                <c:pt idx="0">
                  <c:v>李宇宁</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问卷!$B$40:$M$40</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问卷!$B$41:$M$41</c:f>
              <c:numCache>
                <c:formatCode>General</c:formatCode>
                <c:ptCount val="12"/>
                <c:pt idx="0">
                  <c:v>3</c:v>
                </c:pt>
                <c:pt idx="1">
                  <c:v>4</c:v>
                </c:pt>
                <c:pt idx="2">
                  <c:v>2</c:v>
                </c:pt>
                <c:pt idx="3">
                  <c:v>4</c:v>
                </c:pt>
                <c:pt idx="4">
                  <c:v>3</c:v>
                </c:pt>
                <c:pt idx="5">
                  <c:v>2</c:v>
                </c:pt>
                <c:pt idx="6">
                  <c:v>4</c:v>
                </c:pt>
                <c:pt idx="7">
                  <c:v>4</c:v>
                </c:pt>
                <c:pt idx="8">
                  <c:v>4</c:v>
                </c:pt>
                <c:pt idx="9">
                  <c:v>4</c:v>
                </c:pt>
                <c:pt idx="10">
                  <c:v>4</c:v>
                </c:pt>
                <c:pt idx="11">
                  <c:v>4</c:v>
                </c:pt>
              </c:numCache>
            </c:numRef>
          </c:val>
          <c:extLst>
            <c:ext xmlns:c16="http://schemas.microsoft.com/office/drawing/2014/chart" uri="{C3380CC4-5D6E-409C-BE32-E72D297353CC}">
              <c16:uniqueId val="{00000000-994C-4E61-82D1-CEA33A58A533}"/>
            </c:ext>
          </c:extLst>
        </c:ser>
        <c:dLbls>
          <c:showLegendKey val="0"/>
          <c:showVal val="0"/>
          <c:showCatName val="0"/>
          <c:showSerName val="0"/>
          <c:showPercent val="0"/>
          <c:showBubbleSize val="0"/>
        </c:dLbls>
        <c:gapWidth val="150"/>
        <c:axId val="1428809936"/>
        <c:axId val="1428813296"/>
      </c:barChart>
      <c:catAx>
        <c:axId val="1428809936"/>
        <c:scaling>
          <c:orientation val="minMax"/>
        </c:scaling>
        <c:delete val="0"/>
        <c:axPos val="l"/>
        <c:numFmt formatCode="General" sourceLinked="1"/>
        <c:majorTickMark val="out"/>
        <c:minorTickMark val="none"/>
        <c:tickLblPos val="nextTo"/>
        <c:crossAx val="1428813296"/>
        <c:crosses val="autoZero"/>
        <c:auto val="1"/>
        <c:lblAlgn val="ctr"/>
        <c:lblOffset val="100"/>
        <c:noMultiLvlLbl val="0"/>
      </c:catAx>
      <c:valAx>
        <c:axId val="1428813296"/>
        <c:scaling>
          <c:orientation val="minMax"/>
        </c:scaling>
        <c:delete val="1"/>
        <c:axPos val="b"/>
        <c:numFmt formatCode="General" sourceLinked="1"/>
        <c:majorTickMark val="out"/>
        <c:minorTickMark val="none"/>
        <c:tickLblPos val="nextTo"/>
        <c:crossAx val="1428809936"/>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问卷!$A$46</c:f>
              <c:strCache>
                <c:ptCount val="1"/>
                <c:pt idx="0">
                  <c:v>赵继匡</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问卷!$B$45:$M$45</c:f>
              <c:strCache>
                <c:ptCount val="12"/>
                <c:pt idx="0">
                  <c:v>1.4 累计穿着着场次</c:v>
                </c:pt>
                <c:pt idx="1">
                  <c:v>鞋面包裹性</c:v>
                </c:pt>
                <c:pt idx="2">
                  <c:v>鞋跟锁定</c:v>
                </c:pt>
                <c:pt idx="3">
                  <c:v>抓地力</c:v>
                </c:pt>
                <c:pt idx="4">
                  <c:v>整体刚性</c:v>
                </c:pt>
                <c:pt idx="5">
                  <c:v>防侧翻性</c:v>
                </c:pt>
                <c:pt idx="6">
                  <c:v>缓震性能</c:v>
                </c:pt>
                <c:pt idx="7">
                  <c:v>回弹性能</c:v>
                </c:pt>
                <c:pt idx="8">
                  <c:v>轻量化</c:v>
                </c:pt>
                <c:pt idx="9">
                  <c:v>透气性</c:v>
                </c:pt>
                <c:pt idx="10">
                  <c:v>耐用性</c:v>
                </c:pt>
                <c:pt idx="11">
                  <c:v>整体舒适度</c:v>
                </c:pt>
              </c:strCache>
            </c:strRef>
          </c:cat>
          <c:val>
            <c:numRef>
              <c:f>问卷!$B$46:$M$46</c:f>
              <c:numCache>
                <c:formatCode>General</c:formatCode>
                <c:ptCount val="12"/>
                <c:pt idx="0">
                  <c:v>2</c:v>
                </c:pt>
                <c:pt idx="1">
                  <c:v>4</c:v>
                </c:pt>
                <c:pt idx="2">
                  <c:v>4</c:v>
                </c:pt>
                <c:pt idx="3">
                  <c:v>3</c:v>
                </c:pt>
                <c:pt idx="4">
                  <c:v>4</c:v>
                </c:pt>
                <c:pt idx="5">
                  <c:v>4</c:v>
                </c:pt>
                <c:pt idx="6">
                  <c:v>4</c:v>
                </c:pt>
                <c:pt idx="7">
                  <c:v>4</c:v>
                </c:pt>
                <c:pt idx="8">
                  <c:v>3</c:v>
                </c:pt>
                <c:pt idx="9">
                  <c:v>3</c:v>
                </c:pt>
                <c:pt idx="10">
                  <c:v>4</c:v>
                </c:pt>
                <c:pt idx="11">
                  <c:v>4</c:v>
                </c:pt>
              </c:numCache>
            </c:numRef>
          </c:val>
          <c:extLst>
            <c:ext xmlns:c16="http://schemas.microsoft.com/office/drawing/2014/chart" uri="{C3380CC4-5D6E-409C-BE32-E72D297353CC}">
              <c16:uniqueId val="{00000000-9B7D-4E72-BE3F-D129487A84A6}"/>
            </c:ext>
          </c:extLst>
        </c:ser>
        <c:dLbls>
          <c:showLegendKey val="0"/>
          <c:showVal val="0"/>
          <c:showCatName val="0"/>
          <c:showSerName val="0"/>
          <c:showPercent val="0"/>
          <c:showBubbleSize val="0"/>
        </c:dLbls>
        <c:gapWidth val="150"/>
        <c:axId val="227748096"/>
        <c:axId val="227752896"/>
      </c:barChart>
      <c:catAx>
        <c:axId val="227748096"/>
        <c:scaling>
          <c:orientation val="minMax"/>
        </c:scaling>
        <c:delete val="0"/>
        <c:axPos val="l"/>
        <c:numFmt formatCode="General" sourceLinked="1"/>
        <c:majorTickMark val="out"/>
        <c:minorTickMark val="none"/>
        <c:tickLblPos val="nextTo"/>
        <c:crossAx val="227752896"/>
        <c:crosses val="autoZero"/>
        <c:auto val="1"/>
        <c:lblAlgn val="ctr"/>
        <c:lblOffset val="100"/>
        <c:noMultiLvlLbl val="0"/>
      </c:catAx>
      <c:valAx>
        <c:axId val="227752896"/>
        <c:scaling>
          <c:orientation val="minMax"/>
        </c:scaling>
        <c:delete val="1"/>
        <c:axPos val="b"/>
        <c:numFmt formatCode="General" sourceLinked="1"/>
        <c:majorTickMark val="out"/>
        <c:minorTickMark val="none"/>
        <c:tickLblPos val="nextTo"/>
        <c:crossAx val="227748096"/>
        <c:crosses val="autoZero"/>
        <c:crossBetween val="between"/>
      </c:valAx>
    </c:plotArea>
    <c:plotVisOnly val="1"/>
    <c:dispBlanksAs val="gap"/>
    <c:showDLblsOverMax val="0"/>
    <c:extLst>
      <c:ext xmlns:c16r3="http://schemas.microsoft.com/office/drawing/2017/03/chart" uri="{56B9EC1D-385E-4148-901F-78D8002777C0}">
        <c16r3:dataDisplayOptions16>
          <c16r3:dispNaAsBlank val="1"/>
        </c16r3:dataDisplayOptions16>
      </c:ext>
    </c:extLst>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62" name="Shape 6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825761992"/>
      </p:ext>
    </p:extLst>
  </p:cSld>
  <p:clrMap bg1="lt1" tx1="dk1" bg2="lt2" tx2="dk2" accent1="accent1" accent2="accent2" accent3="accent3" accent4="accent4" accent5="accent5" accent6="accent6" hlink="hlink" folHlink="folHlink"/>
  <p:notesStyle>
    <a:lvl1pPr latinLnBrk="0">
      <a:defRPr sz="1200">
        <a:latin typeface="+mj-lt"/>
        <a:ea typeface="+mj-ea"/>
        <a:cs typeface="+mj-cs"/>
        <a:sym typeface="等线" panose="02010600030101010101" charset="-122"/>
      </a:defRPr>
    </a:lvl1pPr>
    <a:lvl2pPr indent="228600" latinLnBrk="0">
      <a:defRPr sz="1200">
        <a:latin typeface="+mj-lt"/>
        <a:ea typeface="+mj-ea"/>
        <a:cs typeface="+mj-cs"/>
        <a:sym typeface="等线" panose="02010600030101010101" charset="-122"/>
      </a:defRPr>
    </a:lvl2pPr>
    <a:lvl3pPr indent="457200" latinLnBrk="0">
      <a:defRPr sz="1200">
        <a:latin typeface="+mj-lt"/>
        <a:ea typeface="+mj-ea"/>
        <a:cs typeface="+mj-cs"/>
        <a:sym typeface="等线" panose="02010600030101010101" charset="-122"/>
      </a:defRPr>
    </a:lvl3pPr>
    <a:lvl4pPr indent="685800" latinLnBrk="0">
      <a:defRPr sz="1200">
        <a:latin typeface="+mj-lt"/>
        <a:ea typeface="+mj-ea"/>
        <a:cs typeface="+mj-cs"/>
        <a:sym typeface="等线" panose="02010600030101010101" charset="-122"/>
      </a:defRPr>
    </a:lvl4pPr>
    <a:lvl5pPr indent="914400" latinLnBrk="0">
      <a:defRPr sz="1200">
        <a:latin typeface="+mj-lt"/>
        <a:ea typeface="+mj-ea"/>
        <a:cs typeface="+mj-cs"/>
        <a:sym typeface="等线" panose="02010600030101010101" charset="-122"/>
      </a:defRPr>
    </a:lvl5pPr>
    <a:lvl6pPr indent="1143000" latinLnBrk="0">
      <a:defRPr sz="1200">
        <a:latin typeface="+mj-lt"/>
        <a:ea typeface="+mj-ea"/>
        <a:cs typeface="+mj-cs"/>
        <a:sym typeface="等线" panose="02010600030101010101" charset="-122"/>
      </a:defRPr>
    </a:lvl6pPr>
    <a:lvl7pPr indent="1371600" latinLnBrk="0">
      <a:defRPr sz="1200">
        <a:latin typeface="+mj-lt"/>
        <a:ea typeface="+mj-ea"/>
        <a:cs typeface="+mj-cs"/>
        <a:sym typeface="等线" panose="02010600030101010101" charset="-122"/>
      </a:defRPr>
    </a:lvl7pPr>
    <a:lvl8pPr indent="1600200" latinLnBrk="0">
      <a:defRPr sz="1200">
        <a:latin typeface="+mj-lt"/>
        <a:ea typeface="+mj-ea"/>
        <a:cs typeface="+mj-cs"/>
        <a:sym typeface="等线" panose="02010600030101010101" charset="-122"/>
      </a:defRPr>
    </a:lvl8pPr>
    <a:lvl9pPr indent="1828800" latinLnBrk="0">
      <a:defRPr sz="1200">
        <a:latin typeface="+mj-lt"/>
        <a:ea typeface="+mj-ea"/>
        <a:cs typeface="+mj-cs"/>
        <a:sym typeface="等线" panose="02010600030101010101"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2576F-B933-47CC-A81E-3E69ADA75D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75A37C-5635-ABF1-C44D-31817D45A775}"/>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F9C0C993-8D57-EF32-AAC2-8219142C25BC}"/>
              </a:ext>
            </a:extLst>
          </p:cNvPr>
          <p:cNvSpPr>
            <a:spLocks noGrp="1"/>
          </p:cNvSpPr>
          <p:nvPr>
            <p:ph type="body" idx="1"/>
          </p:nvPr>
        </p:nvSpPr>
        <p:spPr/>
        <p:txBody>
          <a:bodyPr/>
          <a:lstStyle/>
          <a:p>
            <a:endParaRPr lang="zh-CN" altLang="en-US" baseline="0" dirty="0"/>
          </a:p>
        </p:txBody>
      </p:sp>
    </p:spTree>
    <p:extLst>
      <p:ext uri="{BB962C8B-B14F-4D97-AF65-F5344CB8AC3E}">
        <p14:creationId xmlns:p14="http://schemas.microsoft.com/office/powerpoint/2010/main" val="2001570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C1BDF-3389-37AA-D4DF-3930EB29DB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9CEB7F-5D7C-BFAE-FBC1-1C964B540D5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FF69FAC6-B401-69D9-7A83-444953A3000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59102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FC1B-4432-8BDA-3924-2EFEB36555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CC3497-6080-9A93-FE12-917F6769A87C}"/>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4FE43E3A-301E-A20E-3BBB-6809AEC5F9B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73487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A9A1F-174F-AB1E-1354-BDB2E62416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B19CAD-6D94-C7FD-6E6E-D686ABEB1727}"/>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D0334EFA-3EFD-2C72-37F9-2058B68337D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2381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886E-46B1-7FCE-9601-BDD94D1D69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998BE5-90D6-04A2-855D-BD926E9D8161}"/>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19E288E9-CE5F-7710-7625-BC017347F67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4420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E87F5-5A6F-F6AD-69E3-D4F115CA2D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048FEC-8823-F1D9-7FCC-F12692947DE0}"/>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71148F98-DE48-ED37-A006-8E1873A817F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576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7C918-E4E1-B49D-7E59-240A797BCA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E5B3B4-B417-6292-40A5-327A5D6819DE}"/>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8F3C0B64-E0D9-3431-72A7-D84E779AC8B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73284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5B2A0-8E57-259F-CDF5-CFDBE930F0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72809-95E7-C693-CC17-36A5B8875D15}"/>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20DEDE08-785A-F696-E3D4-64A6FFD3194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90531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FD35E-8853-7C13-DCA3-E11206509A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7A50D3-A4C5-A4B4-2EEB-B194878F0CA6}"/>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1D505D8A-E882-FE2F-A8B4-CB44BE528EE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68729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E7077-F429-43A4-24D4-AD55702C2D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D1EB9E-B203-67C9-6FEA-CF1336B5E3DD}"/>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FC732E46-05FD-49DA-1564-5EB4008FF14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78125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C6688-9888-CA82-D57B-78CC459E84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BFDD30-4402-F191-0FCA-9F086F4D38D5}"/>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3CEEC5B-7736-A359-A607-50A6CE8C1DE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07447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DED6-9E27-D402-1B4C-A4BED6CE73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E68870-D314-904F-139E-0BC04A05ED6A}"/>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4BC6D2A4-B09B-4739-8C9F-65946597582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7170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50ADD-C77B-5E4C-5609-865E108933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84AB38-10B0-2877-F1E7-55B55E23ACD0}"/>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B9917D5D-423C-53C1-DF40-B66D7BF8B2B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77218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AA98-C574-45BE-6862-450B6FE67B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DE7AB7-868B-BC2E-A774-DBC342620227}"/>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446DE9FE-29F2-21B2-F9C6-BEF09DD4D6B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30861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4E1D6-632A-B372-49A9-0E32EC3E61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A30F16-E2E0-DCDD-FC28-B2E8F6DE658D}"/>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7E802DAC-3988-3815-B606-EE7AE1C401D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04346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13BB-69E7-8D68-6E9E-B0AC9FD600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AE81F7-B79E-2093-6D9F-D653D0C2FE2D}"/>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2E004B6-619E-06BA-2C3A-C8F682EB391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020696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502B7-2BF8-B245-03DA-818691F2DF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A5F541-C930-408F-EC00-DC505076ACA9}"/>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696B647-1940-110D-6C50-415CC24AD78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37898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8" name="文本框 1"/>
          <p:cNvSpPr txBox="1"/>
          <p:nvPr/>
        </p:nvSpPr>
        <p:spPr>
          <a:xfrm>
            <a:off x="4318000" y="2971799"/>
            <a:ext cx="3556000" cy="235333"/>
          </a:xfrm>
          <a:prstGeom prst="rect">
            <a:avLst/>
          </a:prstGeom>
          <a:ln w="12700">
            <a:miter lim="400000"/>
          </a:ln>
        </p:spPr>
        <p:txBody>
          <a:bodyPr lIns="45719" rIns="45719">
            <a:spAutoFit/>
          </a:bodyPr>
          <a:lstStyle/>
          <a:p>
            <a:pPr>
              <a:defRPr sz="300">
                <a:solidFill>
                  <a:srgbClr val="FFFFFF">
                    <a:alpha val="0"/>
                  </a:srgbClr>
                </a:solidFill>
                <a:latin typeface="微软雅黑" charset="-122"/>
                <a:ea typeface="微软雅黑" charset="-122"/>
                <a:cs typeface="微软雅黑" charset="-122"/>
                <a:sym typeface="微软雅黑" charset="-122"/>
              </a:defRPr>
            </a:pPr>
            <a:r>
              <a:rPr sz="1800" dirty="0"/>
              <a:t>感谢您下载包图网平台上提供的PPT作品，为了您和包图网以及原创作者的利益，请勿复制、传播、销售，否则将承担法律责任！包图网将对作品进行维权，按照传播下载次数进行十倍的索取赔偿！</a:t>
            </a:r>
          </a:p>
          <a:p>
            <a:pPr>
              <a:defRPr sz="600">
                <a:solidFill>
                  <a:srgbClr val="FFFFFF">
                    <a:alpha val="0"/>
                  </a:srgbClr>
                </a:solidFill>
                <a:latin typeface="微软雅黑" charset="-122"/>
                <a:ea typeface="微软雅黑" charset="-122"/>
                <a:cs typeface="微软雅黑" charset="-122"/>
                <a:sym typeface="微软雅黑" charset="-122"/>
              </a:defRPr>
            </a:pPr>
            <a:r>
              <a:rPr sz="1800" dirty="0"/>
              <a:t>ibaotu.com</a:t>
            </a:r>
          </a:p>
        </p:txBody>
      </p:sp>
      <p:pic>
        <p:nvPicPr>
          <p:cNvPr id="11" name="Picture 2" descr="Picture 2"/>
          <p:cNvPicPr>
            <a:picLocks noChangeAspect="1"/>
          </p:cNvPicPr>
          <p:nvPr userDrawn="1"/>
        </p:nvPicPr>
        <p:blipFill>
          <a:blip r:embed="rId2" cstate="print"/>
          <a:stretch>
            <a:fillRect/>
          </a:stretch>
        </p:blipFill>
        <p:spPr>
          <a:xfrm>
            <a:off x="0" y="0"/>
            <a:ext cx="12188826" cy="6858000"/>
          </a:xfrm>
          <a:prstGeom prst="rect">
            <a:avLst/>
          </a:prstGeom>
          <a:ln w="12700">
            <a:miter lim="400000"/>
            <a:headEnd/>
            <a:tailEnd/>
          </a:ln>
        </p:spPr>
      </p:pic>
      <p:pic>
        <p:nvPicPr>
          <p:cNvPr id="12" name="Picture 2" descr="Picture 2"/>
          <p:cNvPicPr>
            <a:picLocks noChangeAspect="1"/>
          </p:cNvPicPr>
          <p:nvPr userDrawn="1"/>
        </p:nvPicPr>
        <p:blipFill>
          <a:blip r:embed="rId3" cstate="print"/>
          <a:stretch>
            <a:fillRect/>
          </a:stretch>
        </p:blipFill>
        <p:spPr>
          <a:xfrm>
            <a:off x="3175" y="18727"/>
            <a:ext cx="12188825" cy="6858001"/>
          </a:xfrm>
          <a:prstGeom prst="rect">
            <a:avLst/>
          </a:prstGeom>
          <a:ln w="12700">
            <a:miter lim="400000"/>
            <a:headEnd/>
            <a:tailEnd/>
          </a:ln>
        </p:spPr>
      </p:pic>
      <p:sp>
        <p:nvSpPr>
          <p:cNvPr id="13" name="直接连接符 3"/>
          <p:cNvSpPr/>
          <p:nvPr userDrawn="1"/>
        </p:nvSpPr>
        <p:spPr>
          <a:xfrm>
            <a:off x="918823" y="6006024"/>
            <a:ext cx="566497" cy="1"/>
          </a:xfrm>
          <a:prstGeom prst="line">
            <a:avLst/>
          </a:prstGeom>
          <a:ln w="28575">
            <a:solidFill>
              <a:srgbClr val="FAD6D7"/>
            </a:solidFill>
          </a:ln>
        </p:spPr>
        <p:txBody>
          <a:bodyPr lIns="45719" rIns="45719"/>
          <a:lstStyle/>
          <a:p>
            <a:endParaRPr dirty="0"/>
          </a:p>
        </p:txBody>
      </p:sp>
      <p:pic>
        <p:nvPicPr>
          <p:cNvPr id="16" name="Picture 3" descr="Picture 3"/>
          <p:cNvPicPr>
            <a:picLocks noChangeAspect="1"/>
          </p:cNvPicPr>
          <p:nvPr userDrawn="1"/>
        </p:nvPicPr>
        <p:blipFill>
          <a:blip r:embed="rId4" cstate="print"/>
          <a:stretch>
            <a:fillRect/>
          </a:stretch>
        </p:blipFill>
        <p:spPr>
          <a:xfrm>
            <a:off x="10583955" y="399810"/>
            <a:ext cx="1198866" cy="1126018"/>
          </a:xfrm>
          <a:prstGeom prst="rect">
            <a:avLst/>
          </a:prstGeom>
          <a:ln w="12700">
            <a:miter lim="400000"/>
            <a:headEnd/>
            <a:tailEnd/>
          </a:ln>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26" name="文本框 1"/>
          <p:cNvSpPr txBox="1"/>
          <p:nvPr/>
        </p:nvSpPr>
        <p:spPr>
          <a:xfrm>
            <a:off x="4318000" y="2971799"/>
            <a:ext cx="3556000" cy="235333"/>
          </a:xfrm>
          <a:prstGeom prst="rect">
            <a:avLst/>
          </a:prstGeom>
          <a:ln w="12700">
            <a:miter lim="400000"/>
          </a:ln>
        </p:spPr>
        <p:txBody>
          <a:bodyPr lIns="45719" rIns="45719">
            <a:spAutoFit/>
          </a:bodyPr>
          <a:lstStyle/>
          <a:p>
            <a:pPr>
              <a:defRPr sz="300">
                <a:solidFill>
                  <a:srgbClr val="FFFFFF">
                    <a:alpha val="0"/>
                  </a:srgbClr>
                </a:solidFill>
                <a:latin typeface="微软雅黑" charset="-122"/>
                <a:ea typeface="微软雅黑" charset="-122"/>
                <a:cs typeface="微软雅黑" charset="-122"/>
                <a:sym typeface="微软雅黑" charset="-122"/>
              </a:defRPr>
            </a:pPr>
            <a:r>
              <a:rPr sz="1800" dirty="0"/>
              <a:t>感谢您下载包图网平台上提供的PPT作品，为了您和包图网以及原创作者的利益，请勿复制、传播、销售，否则将承担法律责任！包图网将对作品进行维权，按照传播下载次数进行十倍的索取赔偿！</a:t>
            </a:r>
          </a:p>
          <a:p>
            <a:pPr>
              <a:defRPr sz="600">
                <a:solidFill>
                  <a:srgbClr val="FFFFFF">
                    <a:alpha val="0"/>
                  </a:srgbClr>
                </a:solidFill>
                <a:latin typeface="微软雅黑" charset="-122"/>
                <a:ea typeface="微软雅黑" charset="-122"/>
                <a:cs typeface="微软雅黑" charset="-122"/>
                <a:sym typeface="微软雅黑" charset="-122"/>
              </a:defRPr>
            </a:pPr>
            <a:r>
              <a:rPr sz="1800" dirty="0"/>
              <a:t>ibaotu.com</a:t>
            </a:r>
          </a:p>
        </p:txBody>
      </p:sp>
      <p:pic>
        <p:nvPicPr>
          <p:cNvPr id="4" name="Picture 4" descr="C:\Users\Administrator\Desktop\222.jpg"/>
          <p:cNvPicPr>
            <a:picLocks noChangeAspect="1" noChangeArrowheads="1"/>
          </p:cNvPicPr>
          <p:nvPr userDrawn="1"/>
        </p:nvPicPr>
        <p:blipFill>
          <a:blip r:embed="rId2" cstate="print"/>
          <a:srcRect/>
          <a:stretch>
            <a:fillRect/>
          </a:stretch>
        </p:blipFill>
        <p:spPr bwMode="auto">
          <a:xfrm>
            <a:off x="0" y="-1"/>
            <a:ext cx="12192000" cy="6860829"/>
          </a:xfrm>
          <a:prstGeom prst="rect">
            <a:avLst/>
          </a:prstGeom>
          <a:noFill/>
        </p:spPr>
      </p:pic>
      <p:sp>
        <p:nvSpPr>
          <p:cNvPr id="5" name="MH_Others_1"/>
          <p:cNvSpPr txBox="1"/>
          <p:nvPr userDrawn="1"/>
        </p:nvSpPr>
        <p:spPr>
          <a:xfrm>
            <a:off x="884526" y="2415447"/>
            <a:ext cx="2355376" cy="571501"/>
          </a:xfrm>
          <a:prstGeom prst="rect">
            <a:avLst/>
          </a:prstGeom>
          <a:ln w="12700">
            <a:miter lim="400000"/>
          </a:ln>
        </p:spPr>
        <p:txBody>
          <a:bodyPr lIns="0" tIns="0" rIns="0" bIns="0" anchor="ctr">
            <a:spAutoFit/>
          </a:bodyPr>
          <a:lstStyle>
            <a:lvl1pPr>
              <a:defRPr sz="3200" b="1">
                <a:solidFill>
                  <a:schemeClr val="accent1"/>
                </a:solidFill>
                <a:latin typeface="微软雅黑" charset="-122"/>
                <a:ea typeface="微软雅黑" charset="-122"/>
                <a:cs typeface="微软雅黑" charset="-122"/>
                <a:sym typeface="微软雅黑" charset="-122"/>
              </a:defRPr>
            </a:lvl1pPr>
          </a:lstStyle>
          <a:p>
            <a:pPr>
              <a:defRPr>
                <a:latin typeface="Arial"/>
                <a:ea typeface="Arial"/>
                <a:cs typeface="Arial"/>
                <a:sym typeface="Arial"/>
              </a:defRPr>
            </a:pPr>
            <a:r>
              <a:rPr dirty="0">
                <a:latin typeface="微软雅黑" charset="-122"/>
                <a:ea typeface="微软雅黑" charset="-122"/>
                <a:cs typeface="微软雅黑" charset="-122"/>
                <a:sym typeface="微软雅黑" charset="-122"/>
              </a:rPr>
              <a:t>目 录</a:t>
            </a:r>
          </a:p>
        </p:txBody>
      </p:sp>
      <p:sp>
        <p:nvSpPr>
          <p:cNvPr id="6" name="MH_Others_2"/>
          <p:cNvSpPr txBox="1"/>
          <p:nvPr userDrawn="1"/>
        </p:nvSpPr>
        <p:spPr>
          <a:xfrm>
            <a:off x="855951" y="2912113"/>
            <a:ext cx="4252686" cy="851372"/>
          </a:xfrm>
          <a:prstGeom prst="rect">
            <a:avLst/>
          </a:prstGeom>
          <a:ln w="12700">
            <a:miter lim="400000"/>
          </a:ln>
        </p:spPr>
        <p:txBody>
          <a:bodyPr lIns="0" tIns="0" rIns="0" bIns="0">
            <a:spAutoFit/>
          </a:bodyPr>
          <a:lstStyle>
            <a:lvl1pPr>
              <a:defRPr sz="6000"/>
            </a:lvl1pPr>
          </a:lstStyle>
          <a:p>
            <a:r>
              <a:rPr dirty="0"/>
              <a:t>CONTENTS</a:t>
            </a:r>
          </a:p>
        </p:txBody>
      </p:sp>
      <p:grpSp>
        <p:nvGrpSpPr>
          <p:cNvPr id="11" name="组合 3"/>
          <p:cNvGrpSpPr/>
          <p:nvPr userDrawn="1"/>
        </p:nvGrpSpPr>
        <p:grpSpPr>
          <a:xfrm>
            <a:off x="5667186" y="1678674"/>
            <a:ext cx="656829" cy="3496573"/>
            <a:chOff x="0" y="0"/>
            <a:chExt cx="656827" cy="3496572"/>
          </a:xfrm>
        </p:grpSpPr>
        <p:grpSp>
          <p:nvGrpSpPr>
            <p:cNvPr id="12" name="组合 7"/>
            <p:cNvGrpSpPr/>
            <p:nvPr/>
          </p:nvGrpSpPr>
          <p:grpSpPr>
            <a:xfrm>
              <a:off x="16783" y="0"/>
              <a:ext cx="627413" cy="563272"/>
              <a:chOff x="0" y="0"/>
              <a:chExt cx="627411" cy="563271"/>
            </a:xfrm>
          </p:grpSpPr>
          <p:grpSp>
            <p:nvGrpSpPr>
              <p:cNvPr id="30" name="组合 6"/>
              <p:cNvGrpSpPr/>
              <p:nvPr/>
            </p:nvGrpSpPr>
            <p:grpSpPr>
              <a:xfrm>
                <a:off x="12631" y="0"/>
                <a:ext cx="614781" cy="563272"/>
                <a:chOff x="0" y="0"/>
                <a:chExt cx="614780" cy="563271"/>
              </a:xfrm>
            </p:grpSpPr>
            <p:sp>
              <p:nvSpPr>
                <p:cNvPr id="32" name="梯形 5"/>
                <p:cNvSpPr/>
                <p:nvPr/>
              </p:nvSpPr>
              <p:spPr>
                <a:xfrm rot="10800000">
                  <a:off x="141557" y="267554"/>
                  <a:ext cx="473224" cy="29571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151" y="0"/>
                      </a:lnTo>
                      <a:lnTo>
                        <a:pt x="16449" y="0"/>
                      </a:lnTo>
                      <a:lnTo>
                        <a:pt x="21600" y="21600"/>
                      </a:lnTo>
                      <a:close/>
                    </a:path>
                  </a:pathLst>
                </a:custGeom>
                <a:solidFill>
                  <a:srgbClr val="7C101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33" name="任意多边形 2"/>
                <p:cNvSpPr/>
                <p:nvPr/>
              </p:nvSpPr>
              <p:spPr>
                <a:xfrm>
                  <a:off x="-1" y="-1"/>
                  <a:ext cx="527698" cy="5632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0629" y="21600"/>
                      </a:lnTo>
                      <a:lnTo>
                        <a:pt x="21600" y="2046"/>
                      </a:lnTo>
                      <a:lnTo>
                        <a:pt x="0" y="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defRPr>
                  </a:pPr>
                  <a:endParaRPr sz="1800" dirty="0"/>
                </a:p>
              </p:txBody>
            </p:sp>
          </p:grpSp>
          <p:sp>
            <p:nvSpPr>
              <p:cNvPr id="31" name="矩形 19"/>
              <p:cNvSpPr txBox="1"/>
              <p:nvPr/>
            </p:nvSpPr>
            <p:spPr>
              <a:xfrm>
                <a:off x="0" y="14865"/>
                <a:ext cx="581034" cy="486208"/>
              </a:xfrm>
              <a:prstGeom prst="rect">
                <a:avLst/>
              </a:prstGeom>
              <a:noFill/>
              <a:ln w="12700" cap="flat">
                <a:noFill/>
                <a:miter lim="400000"/>
              </a:ln>
              <a:effectLst/>
            </p:spPr>
            <p:txBody>
              <a:bodyPr wrap="square" lIns="45719" tIns="45719" rIns="45719" bIns="45719" numCol="1" anchor="t">
                <a:spAutoFit/>
              </a:bodyPr>
              <a:lstStyle>
                <a:lvl1pPr algn="ctr">
                  <a:lnSpc>
                    <a:spcPct val="120000"/>
                  </a:lnSpc>
                  <a:defRPr sz="2800" b="1">
                    <a:solidFill>
                      <a:srgbClr val="FFFFFF"/>
                    </a:solidFill>
                  </a:defRPr>
                </a:lvl1pPr>
              </a:lstStyle>
              <a:p>
                <a:r>
                  <a:rPr dirty="0"/>
                  <a:t>1</a:t>
                </a:r>
              </a:p>
            </p:txBody>
          </p:sp>
        </p:grpSp>
        <p:grpSp>
          <p:nvGrpSpPr>
            <p:cNvPr id="13" name="组合 34"/>
            <p:cNvGrpSpPr/>
            <p:nvPr/>
          </p:nvGrpSpPr>
          <p:grpSpPr>
            <a:xfrm>
              <a:off x="29415" y="957725"/>
              <a:ext cx="627413" cy="563273"/>
              <a:chOff x="0" y="0"/>
              <a:chExt cx="627411" cy="563271"/>
            </a:xfrm>
          </p:grpSpPr>
          <p:grpSp>
            <p:nvGrpSpPr>
              <p:cNvPr id="24" name="组合 35"/>
              <p:cNvGrpSpPr/>
              <p:nvPr/>
            </p:nvGrpSpPr>
            <p:grpSpPr>
              <a:xfrm>
                <a:off x="12631" y="0"/>
                <a:ext cx="614781" cy="563272"/>
                <a:chOff x="0" y="0"/>
                <a:chExt cx="614780" cy="563271"/>
              </a:xfrm>
            </p:grpSpPr>
            <p:sp>
              <p:nvSpPr>
                <p:cNvPr id="28" name="梯形 37"/>
                <p:cNvSpPr/>
                <p:nvPr/>
              </p:nvSpPr>
              <p:spPr>
                <a:xfrm rot="10800000">
                  <a:off x="141557" y="267554"/>
                  <a:ext cx="473224" cy="29571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151" y="0"/>
                      </a:lnTo>
                      <a:lnTo>
                        <a:pt x="16449" y="0"/>
                      </a:lnTo>
                      <a:lnTo>
                        <a:pt x="21600" y="21600"/>
                      </a:lnTo>
                      <a:close/>
                    </a:path>
                  </a:pathLst>
                </a:custGeom>
                <a:solidFill>
                  <a:srgbClr val="7C101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29" name="任意多边形 38"/>
                <p:cNvSpPr/>
                <p:nvPr/>
              </p:nvSpPr>
              <p:spPr>
                <a:xfrm>
                  <a:off x="-1" y="-1"/>
                  <a:ext cx="527698" cy="5632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0629" y="21600"/>
                      </a:lnTo>
                      <a:lnTo>
                        <a:pt x="21600" y="2046"/>
                      </a:lnTo>
                      <a:lnTo>
                        <a:pt x="0" y="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defRPr>
                  </a:pPr>
                  <a:endParaRPr sz="1800" dirty="0"/>
                </a:p>
              </p:txBody>
            </p:sp>
          </p:grpSp>
          <p:sp>
            <p:nvSpPr>
              <p:cNvPr id="25" name="矩形 36"/>
              <p:cNvSpPr txBox="1"/>
              <p:nvPr/>
            </p:nvSpPr>
            <p:spPr>
              <a:xfrm>
                <a:off x="0" y="14865"/>
                <a:ext cx="581034" cy="486208"/>
              </a:xfrm>
              <a:prstGeom prst="rect">
                <a:avLst/>
              </a:prstGeom>
              <a:noFill/>
              <a:ln w="12700" cap="flat">
                <a:noFill/>
                <a:miter lim="400000"/>
              </a:ln>
              <a:effectLst/>
            </p:spPr>
            <p:txBody>
              <a:bodyPr wrap="square" lIns="45719" tIns="45719" rIns="45719" bIns="45719" numCol="1" anchor="t">
                <a:spAutoFit/>
              </a:bodyPr>
              <a:lstStyle>
                <a:lvl1pPr algn="ctr">
                  <a:lnSpc>
                    <a:spcPct val="120000"/>
                  </a:lnSpc>
                  <a:defRPr sz="2800" b="1">
                    <a:solidFill>
                      <a:srgbClr val="FFFFFF"/>
                    </a:solidFill>
                  </a:defRPr>
                </a:lvl1pPr>
              </a:lstStyle>
              <a:p>
                <a:r>
                  <a:rPr dirty="0"/>
                  <a:t>2</a:t>
                </a:r>
              </a:p>
            </p:txBody>
          </p:sp>
        </p:grpSp>
        <p:grpSp>
          <p:nvGrpSpPr>
            <p:cNvPr id="14" name="组合 46"/>
            <p:cNvGrpSpPr/>
            <p:nvPr/>
          </p:nvGrpSpPr>
          <p:grpSpPr>
            <a:xfrm>
              <a:off x="0" y="1934295"/>
              <a:ext cx="627412" cy="986426"/>
              <a:chOff x="0" y="0"/>
              <a:chExt cx="627411" cy="986425"/>
            </a:xfrm>
          </p:grpSpPr>
          <p:grpSp>
            <p:nvGrpSpPr>
              <p:cNvPr id="20" name="组合 47"/>
              <p:cNvGrpSpPr/>
              <p:nvPr/>
            </p:nvGrpSpPr>
            <p:grpSpPr>
              <a:xfrm>
                <a:off x="12631" y="0"/>
                <a:ext cx="614781" cy="563272"/>
                <a:chOff x="0" y="0"/>
                <a:chExt cx="614780" cy="563271"/>
              </a:xfrm>
            </p:grpSpPr>
            <p:sp>
              <p:nvSpPr>
                <p:cNvPr id="22" name="梯形 49"/>
                <p:cNvSpPr/>
                <p:nvPr/>
              </p:nvSpPr>
              <p:spPr>
                <a:xfrm rot="10800000">
                  <a:off x="141557" y="267554"/>
                  <a:ext cx="473224" cy="29571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151" y="0"/>
                      </a:lnTo>
                      <a:lnTo>
                        <a:pt x="16449" y="0"/>
                      </a:lnTo>
                      <a:lnTo>
                        <a:pt x="21600" y="21600"/>
                      </a:lnTo>
                      <a:close/>
                    </a:path>
                  </a:pathLst>
                </a:custGeom>
                <a:solidFill>
                  <a:srgbClr val="7C101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23" name="任意多边形 50"/>
                <p:cNvSpPr/>
                <p:nvPr/>
              </p:nvSpPr>
              <p:spPr>
                <a:xfrm>
                  <a:off x="-1" y="-1"/>
                  <a:ext cx="527698" cy="5632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0629" y="21600"/>
                      </a:lnTo>
                      <a:lnTo>
                        <a:pt x="21600" y="2046"/>
                      </a:lnTo>
                      <a:lnTo>
                        <a:pt x="0" y="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defRPr>
                  </a:pPr>
                  <a:endParaRPr sz="1800" dirty="0"/>
                </a:p>
              </p:txBody>
            </p:sp>
          </p:grpSp>
          <p:sp>
            <p:nvSpPr>
              <p:cNvPr id="21" name="矩形 48"/>
              <p:cNvSpPr txBox="1"/>
              <p:nvPr/>
            </p:nvSpPr>
            <p:spPr>
              <a:xfrm>
                <a:off x="0" y="14865"/>
                <a:ext cx="581034" cy="971561"/>
              </a:xfrm>
              <a:prstGeom prst="rect">
                <a:avLst/>
              </a:prstGeom>
              <a:noFill/>
              <a:ln w="12700" cap="flat">
                <a:noFill/>
                <a:miter lim="400000"/>
              </a:ln>
              <a:effectLst/>
            </p:spPr>
            <p:txBody>
              <a:bodyPr wrap="square" lIns="45719" tIns="45719" rIns="45719" bIns="45719" numCol="1" anchor="t">
                <a:spAutoFit/>
              </a:bodyPr>
              <a:lstStyle>
                <a:lvl1pPr algn="ctr">
                  <a:lnSpc>
                    <a:spcPct val="120000"/>
                  </a:lnSpc>
                  <a:defRPr sz="2800" b="1">
                    <a:solidFill>
                      <a:srgbClr val="FFFFFF"/>
                    </a:solidFill>
                  </a:defRPr>
                </a:lvl1pPr>
              </a:lstStyle>
              <a:p>
                <a:r>
                  <a:rPr dirty="0"/>
                  <a:t>3</a:t>
                </a:r>
              </a:p>
            </p:txBody>
          </p:sp>
        </p:grpSp>
        <p:grpSp>
          <p:nvGrpSpPr>
            <p:cNvPr id="15" name="组合 52"/>
            <p:cNvGrpSpPr/>
            <p:nvPr/>
          </p:nvGrpSpPr>
          <p:grpSpPr>
            <a:xfrm>
              <a:off x="4152" y="2933300"/>
              <a:ext cx="627413" cy="563273"/>
              <a:chOff x="0" y="0"/>
              <a:chExt cx="627411" cy="563271"/>
            </a:xfrm>
          </p:grpSpPr>
          <p:grpSp>
            <p:nvGrpSpPr>
              <p:cNvPr id="16" name="组合 53"/>
              <p:cNvGrpSpPr/>
              <p:nvPr/>
            </p:nvGrpSpPr>
            <p:grpSpPr>
              <a:xfrm>
                <a:off x="12631" y="0"/>
                <a:ext cx="614781" cy="563272"/>
                <a:chOff x="0" y="0"/>
                <a:chExt cx="614780" cy="563271"/>
              </a:xfrm>
            </p:grpSpPr>
            <p:sp>
              <p:nvSpPr>
                <p:cNvPr id="18" name="梯形 55"/>
                <p:cNvSpPr/>
                <p:nvPr/>
              </p:nvSpPr>
              <p:spPr>
                <a:xfrm rot="10800000">
                  <a:off x="141557" y="267554"/>
                  <a:ext cx="473224" cy="29571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151" y="0"/>
                      </a:lnTo>
                      <a:lnTo>
                        <a:pt x="16449" y="0"/>
                      </a:lnTo>
                      <a:lnTo>
                        <a:pt x="21600" y="21600"/>
                      </a:lnTo>
                      <a:close/>
                    </a:path>
                  </a:pathLst>
                </a:custGeom>
                <a:solidFill>
                  <a:srgbClr val="7C101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任意多边形 56"/>
                <p:cNvSpPr/>
                <p:nvPr/>
              </p:nvSpPr>
              <p:spPr>
                <a:xfrm>
                  <a:off x="-1" y="-1"/>
                  <a:ext cx="527698" cy="5632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0629" y="21600"/>
                      </a:lnTo>
                      <a:lnTo>
                        <a:pt x="21600" y="2046"/>
                      </a:lnTo>
                      <a:lnTo>
                        <a:pt x="0" y="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defRPr>
                  </a:pPr>
                  <a:endParaRPr sz="1800" dirty="0"/>
                </a:p>
              </p:txBody>
            </p:sp>
          </p:grpSp>
          <p:sp>
            <p:nvSpPr>
              <p:cNvPr id="17" name="矩形 54"/>
              <p:cNvSpPr txBox="1"/>
              <p:nvPr/>
            </p:nvSpPr>
            <p:spPr>
              <a:xfrm>
                <a:off x="0" y="14865"/>
                <a:ext cx="581034" cy="486208"/>
              </a:xfrm>
              <a:prstGeom prst="rect">
                <a:avLst/>
              </a:prstGeom>
              <a:noFill/>
              <a:ln w="12700" cap="flat">
                <a:noFill/>
                <a:miter lim="400000"/>
              </a:ln>
              <a:effectLst/>
            </p:spPr>
            <p:txBody>
              <a:bodyPr wrap="square" lIns="45719" tIns="45719" rIns="45719" bIns="45719" numCol="1" anchor="t">
                <a:spAutoFit/>
              </a:bodyPr>
              <a:lstStyle>
                <a:lvl1pPr algn="ctr">
                  <a:lnSpc>
                    <a:spcPct val="120000"/>
                  </a:lnSpc>
                  <a:defRPr sz="2800" b="1">
                    <a:solidFill>
                      <a:srgbClr val="FFFFFF"/>
                    </a:solidFill>
                  </a:defRPr>
                </a:lvl1pPr>
              </a:lstStyle>
              <a:p>
                <a:r>
                  <a:rPr dirty="0"/>
                  <a:t>4</a:t>
                </a:r>
              </a:p>
            </p:txBody>
          </p:sp>
        </p:grpSp>
      </p:grpSp>
      <p:sp>
        <p:nvSpPr>
          <p:cNvPr id="34" name="直接连接符 63"/>
          <p:cNvSpPr/>
          <p:nvPr userDrawn="1"/>
        </p:nvSpPr>
        <p:spPr>
          <a:xfrm>
            <a:off x="889515" y="5521552"/>
            <a:ext cx="828676" cy="1"/>
          </a:xfrm>
          <a:prstGeom prst="line">
            <a:avLst/>
          </a:prstGeom>
          <a:ln w="28575">
            <a:solidFill>
              <a:srgbClr val="000000"/>
            </a:solidFill>
          </a:ln>
        </p:spPr>
        <p:txBody>
          <a:bodyPr lIns="45719" rIns="45719"/>
          <a:lstStyle/>
          <a:p>
            <a:endParaRPr dirty="0"/>
          </a:p>
        </p:txBody>
      </p:sp>
      <p:sp>
        <p:nvSpPr>
          <p:cNvPr id="49" name="文本框 11"/>
          <p:cNvSpPr txBox="1"/>
          <p:nvPr userDrawn="1"/>
        </p:nvSpPr>
        <p:spPr>
          <a:xfrm rot="19675288">
            <a:off x="6242638"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0" name="文本框 11"/>
          <p:cNvSpPr txBox="1"/>
          <p:nvPr userDrawn="1"/>
        </p:nvSpPr>
        <p:spPr>
          <a:xfrm rot="19675288">
            <a:off x="9397217"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1" name="文本框 50"/>
          <p:cNvSpPr txBox="1"/>
          <p:nvPr userDrawn="1"/>
        </p:nvSpPr>
        <p:spPr>
          <a:xfrm rot="19675288">
            <a:off x="340136"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2" name="文本框 11"/>
          <p:cNvSpPr txBox="1"/>
          <p:nvPr userDrawn="1"/>
        </p:nvSpPr>
        <p:spPr>
          <a:xfrm rot="19675288">
            <a:off x="3321202"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3" name="文本框 11"/>
          <p:cNvSpPr txBox="1"/>
          <p:nvPr userDrawn="1"/>
        </p:nvSpPr>
        <p:spPr>
          <a:xfrm rot="19675288">
            <a:off x="6242638"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4" name="文本框 11"/>
          <p:cNvSpPr txBox="1"/>
          <p:nvPr userDrawn="1"/>
        </p:nvSpPr>
        <p:spPr>
          <a:xfrm rot="19675288">
            <a:off x="9397217"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5" name="文本框 11"/>
          <p:cNvSpPr txBox="1"/>
          <p:nvPr userDrawn="1"/>
        </p:nvSpPr>
        <p:spPr>
          <a:xfrm rot="19675288">
            <a:off x="340136"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6" name="文本框 11"/>
          <p:cNvSpPr txBox="1"/>
          <p:nvPr userDrawn="1"/>
        </p:nvSpPr>
        <p:spPr>
          <a:xfrm rot="19675288">
            <a:off x="3321202"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7" name="文本框 11"/>
          <p:cNvSpPr txBox="1"/>
          <p:nvPr userDrawn="1"/>
        </p:nvSpPr>
        <p:spPr>
          <a:xfrm rot="19675288">
            <a:off x="6242638" y="5457138"/>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1_仅标题">
    <p:spTree>
      <p:nvGrpSpPr>
        <p:cNvPr id="1" name=""/>
        <p:cNvGrpSpPr/>
        <p:nvPr/>
      </p:nvGrpSpPr>
      <p:grpSpPr>
        <a:xfrm>
          <a:off x="0" y="0"/>
          <a:ext cx="0" cy="0"/>
          <a:chOff x="0" y="0"/>
          <a:chExt cx="0" cy="0"/>
        </a:xfrm>
      </p:grpSpPr>
      <p:sp>
        <p:nvSpPr>
          <p:cNvPr id="34" name="文本框 1"/>
          <p:cNvSpPr txBox="1"/>
          <p:nvPr/>
        </p:nvSpPr>
        <p:spPr>
          <a:xfrm>
            <a:off x="4318000" y="2971799"/>
            <a:ext cx="3556000" cy="235333"/>
          </a:xfrm>
          <a:prstGeom prst="rect">
            <a:avLst/>
          </a:prstGeom>
          <a:ln w="12700">
            <a:miter lim="400000"/>
          </a:ln>
        </p:spPr>
        <p:txBody>
          <a:bodyPr lIns="45719" rIns="45719">
            <a:spAutoFit/>
          </a:bodyPr>
          <a:lstStyle/>
          <a:p>
            <a:pPr>
              <a:defRPr sz="300">
                <a:solidFill>
                  <a:srgbClr val="FFFFFF">
                    <a:alpha val="0"/>
                  </a:srgbClr>
                </a:solidFill>
                <a:latin typeface="微软雅黑" charset="-122"/>
                <a:ea typeface="微软雅黑" charset="-122"/>
                <a:cs typeface="微软雅黑" charset="-122"/>
                <a:sym typeface="微软雅黑" charset="-122"/>
              </a:defRPr>
            </a:pPr>
            <a:r>
              <a:rPr sz="1800" dirty="0"/>
              <a:t>感谢您下载包图网平台上提供的PPT作品，为了您和包图网以及原创作者的利益，请勿复制、传播、销售，否则将承担法律责任！包图网将对作品进行维权，按照传播下载次数进行十倍的索取赔偿！</a:t>
            </a:r>
          </a:p>
          <a:p>
            <a:pPr>
              <a:defRPr sz="600">
                <a:solidFill>
                  <a:srgbClr val="FFFFFF">
                    <a:alpha val="0"/>
                  </a:srgbClr>
                </a:solidFill>
                <a:latin typeface="微软雅黑" charset="-122"/>
                <a:ea typeface="微软雅黑" charset="-122"/>
                <a:cs typeface="微软雅黑" charset="-122"/>
                <a:sym typeface="微软雅黑" charset="-122"/>
              </a:defRPr>
            </a:pPr>
            <a:r>
              <a:rPr sz="1800" dirty="0"/>
              <a:t>ibaotu.com</a:t>
            </a:r>
          </a:p>
        </p:txBody>
      </p:sp>
      <p:pic>
        <p:nvPicPr>
          <p:cNvPr id="10" name="Picture 2" descr="Picture 2"/>
          <p:cNvPicPr>
            <a:picLocks noChangeAspect="1"/>
          </p:cNvPicPr>
          <p:nvPr userDrawn="1"/>
        </p:nvPicPr>
        <p:blipFill>
          <a:blip r:embed="rId2" cstate="print"/>
          <a:stretch>
            <a:fillRect/>
          </a:stretch>
        </p:blipFill>
        <p:spPr>
          <a:xfrm>
            <a:off x="3175" y="0"/>
            <a:ext cx="12188825" cy="6858000"/>
          </a:xfrm>
          <a:prstGeom prst="rect">
            <a:avLst/>
          </a:prstGeom>
          <a:ln w="12700">
            <a:miter lim="400000"/>
            <a:headEnd/>
            <a:tailEnd/>
          </a:ln>
        </p:spPr>
      </p:pic>
      <p:sp>
        <p:nvSpPr>
          <p:cNvPr id="11" name="矩形 23"/>
          <p:cNvSpPr/>
          <p:nvPr userDrawn="1"/>
        </p:nvSpPr>
        <p:spPr>
          <a:xfrm>
            <a:off x="1202795" y="1536895"/>
            <a:ext cx="9789584" cy="3771901"/>
          </a:xfrm>
          <a:prstGeom prst="rect">
            <a:avLst/>
          </a:prstGeom>
          <a:solidFill>
            <a:srgbClr val="FFFFFF"/>
          </a:solidFill>
          <a:ln w="12700">
            <a:miter lim="400000"/>
          </a:ln>
          <a:effectLst>
            <a:outerShdw blurRad="698500" dist="215900" dir="5400000" rotWithShape="0">
              <a:srgbClr val="000000">
                <a:alpha val="14000"/>
              </a:srgbClr>
            </a:outerShdw>
          </a:effectLst>
        </p:spPr>
        <p:txBody>
          <a:bodyPr lIns="45719" rIns="45719" anchor="ctr"/>
          <a:lstStyle/>
          <a:p>
            <a:pPr algn="ctr">
              <a:defRPr>
                <a:solidFill>
                  <a:srgbClr val="FFFFFF"/>
                </a:solidFill>
              </a:defRPr>
            </a:pPr>
            <a:endParaRPr dirty="0"/>
          </a:p>
        </p:txBody>
      </p:sp>
      <p:sp>
        <p:nvSpPr>
          <p:cNvPr id="12" name="文本框 7"/>
          <p:cNvSpPr txBox="1"/>
          <p:nvPr userDrawn="1"/>
        </p:nvSpPr>
        <p:spPr>
          <a:xfrm>
            <a:off x="1439290" y="1960453"/>
            <a:ext cx="3586878" cy="3108543"/>
          </a:xfrm>
          <a:prstGeom prst="rect">
            <a:avLst/>
          </a:prstGeom>
          <a:ln w="12700">
            <a:miter lim="400000"/>
          </a:ln>
        </p:spPr>
        <p:txBody>
          <a:bodyPr wrap="none" lIns="45719" rIns="45719">
            <a:spAutoFit/>
          </a:bodyPr>
          <a:lstStyle>
            <a:lvl1pPr algn="ctr">
              <a:defRPr sz="19600" b="1">
                <a:solidFill>
                  <a:schemeClr val="accent1"/>
                </a:solidFill>
              </a:defRPr>
            </a:lvl1pPr>
          </a:lstStyle>
          <a:p>
            <a:r>
              <a:rPr dirty="0"/>
              <a:t>0</a:t>
            </a:r>
            <a:r>
              <a:rPr lang="en-US" dirty="0"/>
              <a:t>   </a:t>
            </a:r>
            <a:endParaRPr dirty="0"/>
          </a:p>
        </p:txBody>
      </p:sp>
      <p:sp>
        <p:nvSpPr>
          <p:cNvPr id="13" name="直接连接符 27"/>
          <p:cNvSpPr/>
          <p:nvPr userDrawn="1"/>
        </p:nvSpPr>
        <p:spPr>
          <a:xfrm>
            <a:off x="5759227" y="3600105"/>
            <a:ext cx="5233153" cy="1"/>
          </a:xfrm>
          <a:prstGeom prst="line">
            <a:avLst/>
          </a:prstGeom>
          <a:ln w="12700">
            <a:solidFill>
              <a:srgbClr val="BFBFBF"/>
            </a:solidFill>
          </a:ln>
        </p:spPr>
        <p:txBody>
          <a:bodyPr lIns="45719" rIns="45719"/>
          <a:lstStyle/>
          <a:p>
            <a:endParaRPr dirty="0"/>
          </a:p>
        </p:txBody>
      </p:sp>
      <p:pic>
        <p:nvPicPr>
          <p:cNvPr id="15" name="Picture 3" descr="C:\Users\Administrator\Desktop\战戟标（3V3标-01.png"/>
          <p:cNvPicPr>
            <a:picLocks noChangeAspect="1" noChangeArrowheads="1"/>
          </p:cNvPicPr>
          <p:nvPr userDrawn="1"/>
        </p:nvPicPr>
        <p:blipFill>
          <a:blip r:embed="rId3" cstate="print"/>
          <a:srcRect/>
          <a:stretch>
            <a:fillRect/>
          </a:stretch>
        </p:blipFill>
        <p:spPr bwMode="auto">
          <a:xfrm>
            <a:off x="5663952" y="3789040"/>
            <a:ext cx="1368152" cy="437971"/>
          </a:xfrm>
          <a:prstGeom prst="rect">
            <a:avLst/>
          </a:prstGeom>
          <a:noFill/>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pic>
        <p:nvPicPr>
          <p:cNvPr id="8" name="Picture 4" descr="C:\Users\Administrator\Desktop\222.jpg"/>
          <p:cNvPicPr>
            <a:picLocks noChangeAspect="1" noChangeArrowheads="1"/>
          </p:cNvPicPr>
          <p:nvPr userDrawn="1"/>
        </p:nvPicPr>
        <p:blipFill>
          <a:blip r:embed="rId2" cstate="print"/>
          <a:srcRect/>
          <a:stretch>
            <a:fillRect/>
          </a:stretch>
        </p:blipFill>
        <p:spPr bwMode="auto">
          <a:xfrm>
            <a:off x="0" y="-1"/>
            <a:ext cx="12192000" cy="6860829"/>
          </a:xfrm>
          <a:prstGeom prst="rect">
            <a:avLst/>
          </a:prstGeom>
          <a:noFill/>
        </p:spPr>
      </p:pic>
      <p:pic>
        <p:nvPicPr>
          <p:cNvPr id="2" name="图片 1"/>
          <p:cNvPicPr>
            <a:picLocks noChangeAspect="1"/>
          </p:cNvPicPr>
          <p:nvPr userDrawn="1"/>
        </p:nvPicPr>
        <p:blipFill>
          <a:blip r:embed="rId3"/>
          <a:stretch>
            <a:fillRect/>
          </a:stretch>
        </p:blipFill>
        <p:spPr>
          <a:xfrm>
            <a:off x="10172700" y="5200650"/>
            <a:ext cx="2019300" cy="1657350"/>
          </a:xfrm>
          <a:prstGeom prst="rect">
            <a:avLst/>
          </a:prstGeom>
        </p:spPr>
      </p:pic>
      <p:sp>
        <p:nvSpPr>
          <p:cNvPr id="4" name="文本框 11"/>
          <p:cNvSpPr txBox="1"/>
          <p:nvPr userDrawn="1"/>
        </p:nvSpPr>
        <p:spPr>
          <a:xfrm rot="19675288">
            <a:off x="340136" y="333320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5" name="文本框 11"/>
          <p:cNvSpPr txBox="1"/>
          <p:nvPr userDrawn="1"/>
        </p:nvSpPr>
        <p:spPr>
          <a:xfrm rot="19675288">
            <a:off x="3321202" y="333320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6" name="文本框 11"/>
          <p:cNvSpPr txBox="1"/>
          <p:nvPr userDrawn="1"/>
        </p:nvSpPr>
        <p:spPr>
          <a:xfrm rot="19675288">
            <a:off x="6242638"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7" name="文本框 11"/>
          <p:cNvSpPr txBox="1"/>
          <p:nvPr userDrawn="1"/>
        </p:nvSpPr>
        <p:spPr>
          <a:xfrm rot="19675288">
            <a:off x="9397217"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9" name="文本框 8"/>
          <p:cNvSpPr txBox="1"/>
          <p:nvPr userDrawn="1"/>
        </p:nvSpPr>
        <p:spPr>
          <a:xfrm rot="19675288">
            <a:off x="340136"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0" name="文本框 11"/>
          <p:cNvSpPr txBox="1"/>
          <p:nvPr userDrawn="1"/>
        </p:nvSpPr>
        <p:spPr>
          <a:xfrm rot="19675288">
            <a:off x="3321202"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1" name="文本框 11"/>
          <p:cNvSpPr txBox="1"/>
          <p:nvPr userDrawn="1"/>
        </p:nvSpPr>
        <p:spPr>
          <a:xfrm rot="19675288">
            <a:off x="6242638"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2" name="文本框 11"/>
          <p:cNvSpPr txBox="1"/>
          <p:nvPr userDrawn="1"/>
        </p:nvSpPr>
        <p:spPr>
          <a:xfrm rot="19675288">
            <a:off x="9397217"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3" name="文本框 11"/>
          <p:cNvSpPr txBox="1"/>
          <p:nvPr userDrawn="1"/>
        </p:nvSpPr>
        <p:spPr>
          <a:xfrm rot="19675288">
            <a:off x="340136"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4" name="文本框 11"/>
          <p:cNvSpPr txBox="1"/>
          <p:nvPr userDrawn="1"/>
        </p:nvSpPr>
        <p:spPr>
          <a:xfrm rot="19675288">
            <a:off x="3321202"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5" name="文本框 11"/>
          <p:cNvSpPr txBox="1"/>
          <p:nvPr userDrawn="1"/>
        </p:nvSpPr>
        <p:spPr>
          <a:xfrm rot="19675288">
            <a:off x="6242638" y="5457138"/>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6" name="文本框 11"/>
          <p:cNvSpPr txBox="1"/>
          <p:nvPr userDrawn="1"/>
        </p:nvSpPr>
        <p:spPr>
          <a:xfrm rot="19675288">
            <a:off x="9397217" y="5457138"/>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DFC0C0-F3C1-46A6-B1E0-38A19114CB16}" type="datetimeFigureOut">
              <a:rPr lang="zh-CN" altLang="en-US" smtClean="0"/>
              <a:t>2026/6/15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pic>
        <p:nvPicPr>
          <p:cNvPr id="8" name="Picture 4" descr="C:\Users\Administrator\Desktop\222.jpg"/>
          <p:cNvPicPr>
            <a:picLocks noChangeAspect="1" noChangeArrowheads="1"/>
          </p:cNvPicPr>
          <p:nvPr userDrawn="1"/>
        </p:nvPicPr>
        <p:blipFill>
          <a:blip r:embed="rId2" cstate="print"/>
          <a:srcRect/>
          <a:stretch>
            <a:fillRect/>
          </a:stretch>
        </p:blipFill>
        <p:spPr bwMode="auto">
          <a:xfrm>
            <a:off x="0" y="-1"/>
            <a:ext cx="12192000" cy="6860829"/>
          </a:xfrm>
          <a:prstGeom prst="rect">
            <a:avLst/>
          </a:prstGeom>
          <a:noFill/>
        </p:spPr>
      </p:pic>
      <p:pic>
        <p:nvPicPr>
          <p:cNvPr id="2" name="图片 1"/>
          <p:cNvPicPr>
            <a:picLocks noChangeAspect="1"/>
          </p:cNvPicPr>
          <p:nvPr userDrawn="1"/>
        </p:nvPicPr>
        <p:blipFill>
          <a:blip r:embed="rId3"/>
          <a:stretch>
            <a:fillRect/>
          </a:stretch>
        </p:blipFill>
        <p:spPr>
          <a:xfrm>
            <a:off x="10172700" y="5200650"/>
            <a:ext cx="2019300" cy="1657350"/>
          </a:xfrm>
          <a:prstGeom prst="rect">
            <a:avLst/>
          </a:prstGeom>
        </p:spPr>
      </p:pic>
      <p:sp>
        <p:nvSpPr>
          <p:cNvPr id="5" name="文本框 11"/>
          <p:cNvSpPr txBox="1"/>
          <p:nvPr userDrawn="1"/>
        </p:nvSpPr>
        <p:spPr>
          <a:xfrm rot="19675288">
            <a:off x="340136" y="333320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9" name="文本框 11"/>
          <p:cNvSpPr txBox="1"/>
          <p:nvPr userDrawn="1"/>
        </p:nvSpPr>
        <p:spPr>
          <a:xfrm rot="19675288">
            <a:off x="3321202" y="333320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0" name="文本框 11"/>
          <p:cNvSpPr txBox="1"/>
          <p:nvPr userDrawn="1"/>
        </p:nvSpPr>
        <p:spPr>
          <a:xfrm rot="19675288">
            <a:off x="6242638"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1" name="文本框 11"/>
          <p:cNvSpPr txBox="1"/>
          <p:nvPr userDrawn="1"/>
        </p:nvSpPr>
        <p:spPr>
          <a:xfrm rot="19675288">
            <a:off x="9397217" y="333320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2" name="文本框 11"/>
          <p:cNvSpPr txBox="1"/>
          <p:nvPr userDrawn="1"/>
        </p:nvSpPr>
        <p:spPr>
          <a:xfrm rot="19675288">
            <a:off x="340136"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3" name="文本框 11"/>
          <p:cNvSpPr txBox="1"/>
          <p:nvPr userDrawn="1"/>
        </p:nvSpPr>
        <p:spPr>
          <a:xfrm rot="19675288">
            <a:off x="3321202" y="1234935"/>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4" name="文本框 11"/>
          <p:cNvSpPr txBox="1"/>
          <p:nvPr userDrawn="1"/>
        </p:nvSpPr>
        <p:spPr>
          <a:xfrm rot="19675288">
            <a:off x="6242638"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5" name="文本框 11"/>
          <p:cNvSpPr txBox="1"/>
          <p:nvPr userDrawn="1"/>
        </p:nvSpPr>
        <p:spPr>
          <a:xfrm rot="19675288">
            <a:off x="9397217" y="1234934"/>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6" name="文本框 11"/>
          <p:cNvSpPr txBox="1"/>
          <p:nvPr userDrawn="1"/>
        </p:nvSpPr>
        <p:spPr>
          <a:xfrm rot="19675288">
            <a:off x="340136"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7" name="文本框 11"/>
          <p:cNvSpPr txBox="1"/>
          <p:nvPr userDrawn="1"/>
        </p:nvSpPr>
        <p:spPr>
          <a:xfrm rot="19675288">
            <a:off x="3321202" y="5457139"/>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8" name="文本框 11"/>
          <p:cNvSpPr txBox="1"/>
          <p:nvPr userDrawn="1"/>
        </p:nvSpPr>
        <p:spPr>
          <a:xfrm rot="19675288">
            <a:off x="6242638" y="5457138"/>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
        <p:nvSpPr>
          <p:cNvPr id="19" name="文本框 11"/>
          <p:cNvSpPr txBox="1"/>
          <p:nvPr userDrawn="1"/>
        </p:nvSpPr>
        <p:spPr>
          <a:xfrm rot="19675288">
            <a:off x="9397217" y="5457138"/>
            <a:ext cx="2813412" cy="7386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457200" rtl="0" fontAlgn="auto" latinLnBrk="0" hangingPunct="0">
              <a:lnSpc>
                <a:spcPct val="150000"/>
              </a:lnSpc>
              <a:spcBef>
                <a:spcPts val="0"/>
              </a:spcBef>
              <a:spcAft>
                <a:spcPts val="0"/>
              </a:spcAft>
              <a:buClrTx/>
              <a:buSzTx/>
              <a:buFontTx/>
              <a:buNone/>
            </a:pPr>
            <a:r>
              <a:rPr lang="en-US" altLang="zh-CN" sz="1400" dirty="0">
                <a:solidFill>
                  <a:schemeClr val="tx2">
                    <a:lumMod val="20000"/>
                    <a:lumOff val="80000"/>
                  </a:schemeClr>
                </a:solidFill>
              </a:rPr>
              <a:t>QD Sports Science Laboratory</a:t>
            </a:r>
          </a:p>
          <a:p>
            <a:pPr marL="0" marR="0" indent="0" algn="ctr" defTabSz="457200" rtl="0" fontAlgn="auto" latinLnBrk="0" hangingPunct="0">
              <a:lnSpc>
                <a:spcPct val="150000"/>
              </a:lnSpc>
              <a:spcBef>
                <a:spcPts val="0"/>
              </a:spcBef>
              <a:spcAft>
                <a:spcPts val="0"/>
              </a:spcAft>
              <a:buClrTx/>
              <a:buSzTx/>
              <a:buFontTx/>
              <a:buNone/>
            </a:pPr>
            <a:r>
              <a:rPr kumimoji="0" lang="zh-CN" altLang="en-US" sz="1400" b="0" i="0" u="none" strike="noStrike" cap="none" spc="0" normalizeH="0" baseline="0" dirty="0">
                <a:ln>
                  <a:noFill/>
                </a:ln>
                <a:solidFill>
                  <a:schemeClr val="tx2">
                    <a:lumMod val="20000"/>
                    <a:lumOff val="80000"/>
                  </a:schemeClr>
                </a:solidFill>
                <a:effectLst/>
                <a:uFillTx/>
                <a:latin typeface="Arial"/>
                <a:ea typeface="Arial"/>
                <a:cs typeface="Arial"/>
                <a:sym typeface="Arial"/>
              </a:rPr>
              <a:t>乔丹科学实验室</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6" name="文本占位符 5"/>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FC0C0-F3C1-46A6-B1E0-38A19114CB16}" type="datetimeFigureOut">
              <a:rPr lang="zh-CN" altLang="en-US" smtClean="0"/>
              <a:t>2026/6/15</a:t>
            </a:fld>
            <a:endParaRPr lang="zh-CN" altLang="en-US"/>
          </a:p>
        </p:txBody>
      </p:sp>
      <p:sp>
        <p:nvSpPr>
          <p:cNvPr id="8" name="页脚占位符 7"/>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Arial"/>
          <a:ea typeface="Arial"/>
          <a:cs typeface="Arial"/>
          <a:sym typeface="Arial"/>
        </a:defRPr>
      </a:lvl9pPr>
    </p:titleStyle>
    <p:bodyStyle>
      <a:lvl1pPr marL="228600" marR="0" indent="-228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1pPr>
      <a:lvl2pPr marL="723900" marR="0" indent="-2667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2pPr>
      <a:lvl3pPr marL="1234440" marR="0" indent="-32004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3pPr>
      <a:lvl4pPr marL="17272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4pPr>
      <a:lvl5pPr marL="21844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5pPr>
      <a:lvl6pPr marL="26416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6pPr>
      <a:lvl7pPr marL="30988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7pPr>
      <a:lvl8pPr marL="35560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8pPr>
      <a:lvl9pPr marL="4013200" marR="0" indent="-355600" algn="l" defTabSz="914400" rtl="0" latinLnBrk="0">
        <a:lnSpc>
          <a:spcPct val="90000"/>
        </a:lnSpc>
        <a:spcBef>
          <a:spcPts val="1000"/>
        </a:spcBef>
        <a:spcAft>
          <a:spcPts val="0"/>
        </a:spcAft>
        <a:buClrTx/>
        <a:buSzPct val="100000"/>
        <a:buFont typeface="Arial"/>
        <a:buChar char="•"/>
        <a:defRPr sz="2800" b="0" i="0" u="none" strike="noStrike" cap="none" spc="0" baseline="0">
          <a:ln>
            <a:noFill/>
          </a:ln>
          <a:solidFill>
            <a:srgbClr val="000000"/>
          </a:solidFill>
          <a:uFillTx/>
          <a:latin typeface="Arial"/>
          <a:ea typeface="Arial"/>
          <a:cs typeface="Arial"/>
          <a:sym typeface="Arial"/>
        </a:defRPr>
      </a:lvl9pPr>
    </p:bodyStyle>
    <p:otherStyle>
      <a:lvl1pPr marL="0" marR="0" indent="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1pPr>
      <a:lvl2pPr marL="0" marR="0" indent="4572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2pPr>
      <a:lvl3pPr marL="0" marR="0" indent="9144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3pPr>
      <a:lvl4pPr marL="0" marR="0" indent="13716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4pPr>
      <a:lvl5pPr marL="0" marR="0" indent="18288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5pPr>
      <a:lvl6pPr marL="0" marR="0" indent="22860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6pPr>
      <a:lvl7pPr marL="0" marR="0" indent="27432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7pPr>
      <a:lvl8pPr marL="0" marR="0" indent="32004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8pPr>
      <a:lvl9pPr marL="0" marR="0" indent="3657600" algn="r" defTabSz="4572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chart" Target="../charts/chart1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chart" Target="../charts/char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chart" Target="../charts/chart15.xml"/></Relationships>
</file>

<file path=ppt/slides/_rels/slide14.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chart" Target="../charts/chart17.xml"/></Relationships>
</file>

<file path=ppt/slides/_rels/slide15.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1D297-2D8B-2F38-2CF1-5ADE675B5445}"/>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B757A29-9D76-F17A-DA01-23F891E067CF}"/>
              </a:ext>
            </a:extLst>
          </p:cNvPr>
          <p:cNvPicPr>
            <a:picLocks noChangeAspect="1"/>
          </p:cNvPicPr>
          <p:nvPr/>
        </p:nvPicPr>
        <p:blipFill>
          <a:blip r:embed="rId3"/>
          <a:stretch>
            <a:fillRect/>
          </a:stretch>
        </p:blipFill>
        <p:spPr>
          <a:xfrm>
            <a:off x="911424" y="5744210"/>
            <a:ext cx="781050" cy="561975"/>
          </a:xfrm>
          <a:prstGeom prst="rect">
            <a:avLst/>
          </a:prstGeom>
        </p:spPr>
      </p:pic>
      <p:sp>
        <p:nvSpPr>
          <p:cNvPr id="3" name="矩形 2">
            <a:extLst>
              <a:ext uri="{FF2B5EF4-FFF2-40B4-BE49-F238E27FC236}">
                <a16:creationId xmlns:a16="http://schemas.microsoft.com/office/drawing/2014/main" id="{DAB9B69E-6324-94F2-2F49-CC4C6F75B147}"/>
              </a:ext>
            </a:extLst>
          </p:cNvPr>
          <p:cNvSpPr/>
          <p:nvPr/>
        </p:nvSpPr>
        <p:spPr>
          <a:xfrm>
            <a:off x="7193280" y="6308725"/>
            <a:ext cx="3067685" cy="502920"/>
          </a:xfrm>
          <a:prstGeom prst="rect">
            <a:avLst/>
          </a:prstGeom>
        </p:spPr>
        <p:txBody>
          <a:bodyPr wrap="square">
            <a:spAutoFit/>
          </a:bodyPr>
          <a:lstStyle/>
          <a:p>
            <a:pPr algn="r">
              <a:lnSpc>
                <a:spcPct val="150000"/>
              </a:lnSpc>
            </a:pPr>
            <a:r>
              <a:rPr lang="zh-CN" altLang="en-US" b="1" dirty="0">
                <a:solidFill>
                  <a:schemeClr val="bg1"/>
                </a:solidFill>
                <a:latin typeface="微软雅黑" pitchFamily="34" charset="-122"/>
                <a:ea typeface="微软雅黑" pitchFamily="34" charset="-122"/>
              </a:rPr>
              <a:t>科技中心   运动表现研究部</a:t>
            </a:r>
            <a:r>
              <a:rPr lang="en-US" altLang="zh-CN" b="1" dirty="0">
                <a:solidFill>
                  <a:schemeClr val="bg1"/>
                </a:solidFill>
                <a:latin typeface="微软雅黑" pitchFamily="34" charset="-122"/>
                <a:ea typeface="微软雅黑" pitchFamily="34" charset="-122"/>
              </a:rPr>
              <a:t>     </a:t>
            </a:r>
            <a:endParaRPr lang="zh-CN" altLang="en-US" dirty="0">
              <a:solidFill>
                <a:schemeClr val="bg1"/>
              </a:solidFill>
            </a:endParaRPr>
          </a:p>
        </p:txBody>
      </p:sp>
      <p:sp>
        <p:nvSpPr>
          <p:cNvPr id="6" name="矩形 5">
            <a:extLst>
              <a:ext uri="{FF2B5EF4-FFF2-40B4-BE49-F238E27FC236}">
                <a16:creationId xmlns:a16="http://schemas.microsoft.com/office/drawing/2014/main" id="{7D16ACD5-7822-20F2-0FF7-720B05660322}"/>
              </a:ext>
            </a:extLst>
          </p:cNvPr>
          <p:cNvSpPr/>
          <p:nvPr/>
        </p:nvSpPr>
        <p:spPr>
          <a:xfrm>
            <a:off x="119336" y="6309320"/>
            <a:ext cx="3984380" cy="458459"/>
          </a:xfrm>
          <a:prstGeom prst="rect">
            <a:avLst/>
          </a:prstGeom>
        </p:spPr>
        <p:txBody>
          <a:bodyPr wrap="square">
            <a:spAutoFit/>
          </a:bodyPr>
          <a:lstStyle/>
          <a:p>
            <a:pPr>
              <a:lnSpc>
                <a:spcPct val="150000"/>
              </a:lnSpc>
            </a:pPr>
            <a:r>
              <a:rPr lang="zh-CN" altLang="en-US" b="1" dirty="0">
                <a:solidFill>
                  <a:schemeClr val="bg1"/>
                </a:solidFill>
                <a:latin typeface="微软雅黑" pitchFamily="34" charset="-122"/>
                <a:ea typeface="微软雅黑" pitchFamily="34" charset="-122"/>
              </a:rPr>
              <a:t>报告编号：</a:t>
            </a:r>
            <a:r>
              <a:rPr lang="en-US" altLang="zh-CN" b="1">
                <a:solidFill>
                  <a:schemeClr val="bg1"/>
                </a:solidFill>
                <a:latin typeface="微软雅黑" pitchFamily="34" charset="-122"/>
                <a:ea typeface="微软雅黑" pitchFamily="34" charset="-122"/>
              </a:rPr>
              <a:t>QD20250</a:t>
            </a:r>
            <a:r>
              <a:rPr lang="en-US" b="1">
                <a:solidFill>
                  <a:schemeClr val="bg1"/>
                </a:solidFill>
                <a:latin typeface="微软雅黑" pitchFamily="34" charset="-122"/>
                <a:ea typeface="微软雅黑" pitchFamily="34" charset="-122"/>
              </a:rPr>
              <a:t>XXX</a:t>
            </a:r>
            <a:endParaRPr lang="en-US" dirty="0">
              <a:solidFill>
                <a:schemeClr val="bg1"/>
              </a:solidFill>
            </a:endParaRPr>
          </a:p>
        </p:txBody>
      </p:sp>
      <p:sp>
        <p:nvSpPr>
          <p:cNvPr id="4" name="文本框 3">
            <a:extLst>
              <a:ext uri="{FF2B5EF4-FFF2-40B4-BE49-F238E27FC236}">
                <a16:creationId xmlns:a16="http://schemas.microsoft.com/office/drawing/2014/main" id="{D1DE39FC-C51E-105A-835C-ED3B48CB1063}"/>
              </a:ext>
            </a:extLst>
          </p:cNvPr>
          <p:cNvSpPr txBox="1"/>
          <p:nvPr/>
        </p:nvSpPr>
        <p:spPr>
          <a:xfrm>
            <a:off x="10464306" y="6306185"/>
            <a:ext cx="1435648" cy="45845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algn="r">
              <a:lnSpc>
                <a:spcPct val="150000"/>
              </a:lnSpc>
            </a:pPr>
            <a:r>
              <a:rPr lang="en-US" altLang="zh-CN" b="1">
                <a:solidFill>
                  <a:schemeClr val="bg1"/>
                </a:solidFill>
                <a:latin typeface="微软雅黑" pitchFamily="34" charset="-122"/>
                <a:ea typeface="微软雅黑" pitchFamily="34" charset="-122"/>
                <a:sym typeface="+mn-ea"/>
              </a:rPr>
              <a:t>2026-06-15</a:t>
            </a:r>
            <a:endParaRPr kumimoji="0" lang="zh-CN" alt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5" name="文本框 4">
            <a:extLst>
              <a:ext uri="{FF2B5EF4-FFF2-40B4-BE49-F238E27FC236}">
                <a16:creationId xmlns:a16="http://schemas.microsoft.com/office/drawing/2014/main" id="{2CBA74D1-C361-8F2E-30D7-0DF00548537D}"/>
              </a:ext>
            </a:extLst>
          </p:cNvPr>
          <p:cNvSpPr txBox="1"/>
          <p:nvPr/>
        </p:nvSpPr>
        <p:spPr>
          <a:xfrm>
            <a:off x="977900" y="2057400"/>
            <a:ext cx="7112000" cy="876300"/>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defTabSz="457200" rtl="0" fontAlgn="auto" latinLnBrk="0" hangingPunct="0">
              <a:spcBef>
                <a:spcPts val="0"/>
              </a:spcBef>
              <a:spcAft>
                <a:spcPts val="0"/>
              </a:spcAft>
              <a:buClrTx/>
              <a:buSzTx/>
              <a:buFontTx/>
              <a:buNone/>
            </a:pPr>
            <a:r>
              <a:rPr kumimoji="0" lang="en-US" altLang="zh-CN" sz="50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FE4.0 R3</a:t>
            </a:r>
            <a:r>
              <a:rPr kumimoji="0" lang="zh-CN" altLang="en-US" sz="50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功能性测试报告</a:t>
            </a:r>
          </a:p>
        </p:txBody>
      </p:sp>
    </p:spTree>
    <p:extLst>
      <p:ext uri="{BB962C8B-B14F-4D97-AF65-F5344CB8AC3E}">
        <p14:creationId xmlns:p14="http://schemas.microsoft.com/office/powerpoint/2010/main" val="389185029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59FBF-77C6-9929-5022-696A41EF2500}"/>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BCA1B7A7-48DF-1861-00C9-9FD93583F844}"/>
              </a:ext>
            </a:extLst>
          </p:cNvPr>
          <p:cNvPicPr>
            <a:picLocks noChangeAspect="1"/>
          </p:cNvPicPr>
          <p:nvPr/>
        </p:nvPicPr>
        <p:blipFill>
          <a:blip r:embed="rId3"/>
          <a:stretch>
            <a:fillRect/>
          </a:stretch>
        </p:blipFill>
        <p:spPr>
          <a:xfrm>
            <a:off x="767408" y="5013176"/>
            <a:ext cx="1310546" cy="1008112"/>
          </a:xfrm>
          <a:prstGeom prst="rect">
            <a:avLst/>
          </a:prstGeom>
        </p:spPr>
      </p:pic>
      <p:sp>
        <p:nvSpPr>
          <p:cNvPr id="3" name="矩形 259">
            <a:extLst>
              <a:ext uri="{FF2B5EF4-FFF2-40B4-BE49-F238E27FC236}">
                <a16:creationId xmlns:a16="http://schemas.microsoft.com/office/drawing/2014/main" id="{6AF051C2-A85F-5789-DE34-1D32DDC76347}"/>
              </a:ext>
            </a:extLst>
          </p:cNvPr>
          <p:cNvSpPr txBox="1"/>
          <p:nvPr/>
        </p:nvSpPr>
        <p:spPr>
          <a:xfrm>
            <a:off x="6672064" y="1556792"/>
            <a:ext cx="3528391" cy="615553"/>
          </a:xfrm>
          <a:prstGeom prst="rect">
            <a:avLst/>
          </a:prstGeom>
          <a:ln w="12700">
            <a:miter lim="400000"/>
          </a:ln>
        </p:spPr>
        <p:txBody>
          <a:bodyPr wrap="square" lIns="0" tIns="0" rIns="0" bIns="0">
            <a:spAutoFit/>
          </a:bodyPr>
          <a:lstStyle/>
          <a:p>
            <a:pPr>
              <a:spcBef>
                <a:spcPts val="1100"/>
              </a:spcBef>
              <a:defRPr sz="4800">
                <a:solidFill>
                  <a:srgbClr val="FFFFFF"/>
                </a:solidFill>
                <a:latin typeface="FZHei-B01S"/>
                <a:ea typeface="FZHei-B01S"/>
                <a:cs typeface="FZHei-B01S"/>
                <a:sym typeface="FZHei-B01S"/>
              </a:defRPr>
            </a:pPr>
            <a:endParaRPr sz="4000" b="1" dirty="0">
              <a:solidFill>
                <a:schemeClr val="tx1"/>
              </a:solidFill>
              <a:latin typeface="微软雅黑" charset="-122"/>
              <a:ea typeface="微软雅黑" charset="-122"/>
            </a:endParaRPr>
          </a:p>
        </p:txBody>
      </p:sp>
      <p:sp>
        <p:nvSpPr>
          <p:cNvPr id="2" name="矩形 1">
            <a:extLst>
              <a:ext uri="{FF2B5EF4-FFF2-40B4-BE49-F238E27FC236}">
                <a16:creationId xmlns:a16="http://schemas.microsoft.com/office/drawing/2014/main" id="{703D9E94-DF15-1049-C83C-27E2CEE86361}"/>
              </a:ext>
            </a:extLst>
          </p:cNvPr>
          <p:cNvSpPr/>
          <p:nvPr/>
        </p:nvSpPr>
        <p:spPr>
          <a:xfrm>
            <a:off x="6600056" y="1582713"/>
            <a:ext cx="2007056" cy="584775"/>
          </a:xfrm>
          <a:prstGeom prst="rect">
            <a:avLst/>
          </a:prstGeom>
        </p:spPr>
        <p:txBody>
          <a:bodyPr wrap="square">
            <a:spAutoFit/>
          </a:bodyPr>
          <a:lstStyle/>
          <a:p>
            <a:pPr>
              <a:spcBef>
                <a:spcPts val="1100"/>
              </a:spcBef>
              <a:defRPr sz="4800">
                <a:solidFill>
                  <a:srgbClr val="FFFFFF"/>
                </a:solidFill>
                <a:latin typeface="FZHei-B01S"/>
                <a:ea typeface="FZHei-B01S"/>
                <a:cs typeface="FZHei-B01S"/>
                <a:sym typeface="FZHei-B01S"/>
              </a:defRPr>
            </a:pPr>
            <a:r>
              <a:rPr lang="zh-CN" altLang="en-US" sz="3200" b="1" dirty="0">
                <a:solidFill>
                  <a:schemeClr val="tx1"/>
                </a:solidFill>
                <a:latin typeface="微软雅黑" charset="-122"/>
                <a:ea typeface="微软雅黑" charset="-122"/>
              </a:rPr>
              <a:t>背景</a:t>
            </a:r>
          </a:p>
        </p:txBody>
      </p:sp>
      <p:sp>
        <p:nvSpPr>
          <p:cNvPr id="5" name="矩形 4">
            <a:extLst>
              <a:ext uri="{FF2B5EF4-FFF2-40B4-BE49-F238E27FC236}">
                <a16:creationId xmlns:a16="http://schemas.microsoft.com/office/drawing/2014/main" id="{8F7D8C4A-F423-BA78-47BE-B57F66269B7E}"/>
              </a:ext>
            </a:extLst>
          </p:cNvPr>
          <p:cNvSpPr/>
          <p:nvPr/>
        </p:nvSpPr>
        <p:spPr>
          <a:xfrm>
            <a:off x="6600056" y="2628201"/>
            <a:ext cx="3384376" cy="584775"/>
          </a:xfrm>
          <a:prstGeom prst="rect">
            <a:avLst/>
          </a:prstGeom>
        </p:spPr>
        <p:txBody>
          <a:bodyPr wrap="square">
            <a:spAutoFit/>
          </a:bodyPr>
          <a:lstStyle/>
          <a:p>
            <a:pPr>
              <a:spcBef>
                <a:spcPts val="1100"/>
              </a:spcBef>
              <a:defRPr sz="4800">
                <a:solidFill>
                  <a:srgbClr val="FFFFFF"/>
                </a:solidFill>
                <a:latin typeface="FZHei-B01S"/>
                <a:ea typeface="FZHei-B01S"/>
                <a:cs typeface="FZHei-B01S"/>
                <a:sym typeface="FZHei-B01S"/>
              </a:defRPr>
            </a:pPr>
            <a:r>
              <a:rPr lang="zh-CN" altLang="en-US" sz="3200" b="1" dirty="0">
                <a:solidFill>
                  <a:schemeClr val="tx1"/>
                </a:solidFill>
                <a:latin typeface="微软雅黑" charset="-122"/>
                <a:ea typeface="微软雅黑" charset="-122"/>
              </a:rPr>
              <a:t>基本测试</a:t>
            </a:r>
          </a:p>
        </p:txBody>
      </p:sp>
      <p:sp>
        <p:nvSpPr>
          <p:cNvPr id="7" name="矩形 6">
            <a:extLst>
              <a:ext uri="{FF2B5EF4-FFF2-40B4-BE49-F238E27FC236}">
                <a16:creationId xmlns:a16="http://schemas.microsoft.com/office/drawing/2014/main" id="{3BF8DBCB-3FCB-9E04-A000-CBD3582E7CA3}"/>
              </a:ext>
            </a:extLst>
          </p:cNvPr>
          <p:cNvSpPr/>
          <p:nvPr/>
        </p:nvSpPr>
        <p:spPr>
          <a:xfrm>
            <a:off x="6600056" y="4005064"/>
            <a:ext cx="3384376" cy="584775"/>
          </a:xfrm>
          <a:prstGeom prst="rect">
            <a:avLst/>
          </a:prstGeom>
        </p:spPr>
        <p:txBody>
          <a:bodyPr wrap="square">
            <a:spAutoFit/>
          </a:bodyPr>
          <a:lstStyle/>
          <a:p>
            <a:pPr>
              <a:spcBef>
                <a:spcPts val="1100"/>
              </a:spcBef>
              <a:defRPr sz="4800">
                <a:solidFill>
                  <a:srgbClr val="FFFFFF"/>
                </a:solidFill>
                <a:latin typeface="FZHei-B01S"/>
                <a:ea typeface="FZHei-B01S"/>
                <a:cs typeface="FZHei-B01S"/>
                <a:sym typeface="FZHei-B01S"/>
              </a:defRPr>
            </a:pPr>
            <a:r>
              <a:rPr lang="zh-CN" altLang="en-US" sz="3200" b="1" dirty="0">
                <a:solidFill>
                  <a:schemeClr val="tx1"/>
                </a:solidFill>
                <a:latin typeface="微软雅黑" charset="-122"/>
                <a:ea typeface="微软雅黑" charset="-122"/>
              </a:rPr>
              <a:t>实战测评</a:t>
            </a:r>
          </a:p>
        </p:txBody>
      </p:sp>
      <p:sp>
        <p:nvSpPr>
          <p:cNvPr id="8" name="矩形 7">
            <a:extLst>
              <a:ext uri="{FF2B5EF4-FFF2-40B4-BE49-F238E27FC236}">
                <a16:creationId xmlns:a16="http://schemas.microsoft.com/office/drawing/2014/main" id="{6C20299F-7BB5-8049-9551-BBE4561F4D61}"/>
              </a:ext>
            </a:extLst>
          </p:cNvPr>
          <p:cNvSpPr/>
          <p:nvPr/>
        </p:nvSpPr>
        <p:spPr>
          <a:xfrm>
            <a:off x="6600056" y="3212976"/>
            <a:ext cx="3384376" cy="664284"/>
          </a:xfrm>
          <a:prstGeom prst="rect">
            <a:avLst/>
          </a:prstGeom>
        </p:spPr>
        <p:txBody>
          <a:bodyPr wrap="square">
            <a:spAutoFit/>
          </a:bodyPr>
          <a:lstStyle/>
          <a:p>
            <a:pPr>
              <a:spcBef>
                <a:spcPts val="1100"/>
              </a:spcBef>
              <a:defRPr sz="4800">
                <a:solidFill>
                  <a:srgbClr val="FFFFFF"/>
                </a:solidFill>
                <a:latin typeface="FZHei-B01S"/>
                <a:ea typeface="FZHei-B01S"/>
                <a:cs typeface="FZHei-B01S"/>
                <a:sym typeface="FZHei-B01S"/>
              </a:defRPr>
            </a:pPr>
            <a:r>
              <a:rPr lang="en-US" altLang="zh-CN" sz="1400" b="1" dirty="0">
                <a:solidFill>
                  <a:schemeClr val="tx2">
                    <a:lumMod val="75000"/>
                  </a:schemeClr>
                </a:solidFill>
                <a:latin typeface="微软雅黑" charset="-122"/>
                <a:ea typeface="微软雅黑" charset="-122"/>
              </a:rPr>
              <a:t>I   </a:t>
            </a:r>
            <a:r>
              <a:rPr lang="zh-CN" altLang="en-US" sz="1400" b="1" dirty="0">
                <a:solidFill>
                  <a:schemeClr val="tx2">
                    <a:lumMod val="75000"/>
                  </a:schemeClr>
                </a:solidFill>
                <a:latin typeface="微软雅黑" charset="-122"/>
                <a:ea typeface="微软雅黑" charset="-122"/>
              </a:rPr>
              <a:t>基础物性测试</a:t>
            </a:r>
            <a:endParaRPr lang="en-US" altLang="zh-CN" sz="1400" b="1" dirty="0">
              <a:solidFill>
                <a:schemeClr val="tx2">
                  <a:lumMod val="75000"/>
                </a:schemeClr>
              </a:solidFill>
              <a:latin typeface="微软雅黑" charset="-122"/>
              <a:ea typeface="微软雅黑" charset="-122"/>
            </a:endParaRPr>
          </a:p>
          <a:p>
            <a:pPr>
              <a:spcBef>
                <a:spcPts val="1100"/>
              </a:spcBef>
              <a:defRPr sz="4800">
                <a:solidFill>
                  <a:srgbClr val="FFFFFF"/>
                </a:solidFill>
                <a:latin typeface="FZHei-B01S"/>
                <a:ea typeface="FZHei-B01S"/>
                <a:cs typeface="FZHei-B01S"/>
                <a:sym typeface="FZHei-B01S"/>
              </a:defRPr>
            </a:pPr>
            <a:r>
              <a:rPr lang="en-US" altLang="zh-CN" sz="1400" b="1" dirty="0">
                <a:solidFill>
                  <a:schemeClr val="tx2">
                    <a:lumMod val="75000"/>
                  </a:schemeClr>
                </a:solidFill>
                <a:latin typeface="微软雅黑" charset="-122"/>
                <a:ea typeface="微软雅黑" charset="-122"/>
              </a:rPr>
              <a:t>II</a:t>
            </a:r>
            <a:r>
              <a:rPr lang="zh-CN" altLang="en-US" sz="1400" b="1" dirty="0">
                <a:solidFill>
                  <a:schemeClr val="tx2">
                    <a:lumMod val="75000"/>
                  </a:schemeClr>
                </a:solidFill>
                <a:latin typeface="微软雅黑" charset="-122"/>
                <a:ea typeface="微软雅黑" charset="-122"/>
              </a:rPr>
              <a:t>  生物力学 </a:t>
            </a:r>
            <a:r>
              <a:rPr lang="en-US" altLang="zh-CN" sz="1400" b="1" dirty="0">
                <a:solidFill>
                  <a:schemeClr val="tx2">
                    <a:lumMod val="75000"/>
                  </a:schemeClr>
                </a:solidFill>
                <a:latin typeface="微软雅黑" charset="-122"/>
                <a:ea typeface="微软雅黑" charset="-122"/>
              </a:rPr>
              <a:t>/ </a:t>
            </a:r>
            <a:r>
              <a:rPr lang="zh-CN" altLang="en-US" sz="1400" b="1" dirty="0">
                <a:solidFill>
                  <a:schemeClr val="tx2">
                    <a:lumMod val="75000"/>
                  </a:schemeClr>
                </a:solidFill>
                <a:latin typeface="微软雅黑" charset="-122"/>
                <a:ea typeface="微软雅黑" charset="-122"/>
              </a:rPr>
              <a:t>运动捕捉测试</a:t>
            </a:r>
          </a:p>
        </p:txBody>
      </p:sp>
      <p:pic>
        <p:nvPicPr>
          <p:cNvPr id="9" name="图片 8">
            <a:extLst>
              <a:ext uri="{FF2B5EF4-FFF2-40B4-BE49-F238E27FC236}">
                <a16:creationId xmlns:a16="http://schemas.microsoft.com/office/drawing/2014/main" id="{AC28EF55-C60D-76FC-B9EE-1CCB0EDDDBF6}"/>
              </a:ext>
            </a:extLst>
          </p:cNvPr>
          <p:cNvPicPr>
            <a:picLocks noChangeAspect="1"/>
          </p:cNvPicPr>
          <p:nvPr/>
        </p:nvPicPr>
        <p:blipFill>
          <a:blip r:embed="rId4"/>
          <a:stretch>
            <a:fillRect/>
          </a:stretch>
        </p:blipFill>
        <p:spPr>
          <a:xfrm>
            <a:off x="5303912" y="3410744"/>
            <a:ext cx="1076325" cy="2486025"/>
          </a:xfrm>
          <a:prstGeom prst="rect">
            <a:avLst/>
          </a:prstGeom>
        </p:spPr>
      </p:pic>
      <p:pic>
        <p:nvPicPr>
          <p:cNvPr id="4" name="图片 3">
            <a:extLst>
              <a:ext uri="{FF2B5EF4-FFF2-40B4-BE49-F238E27FC236}">
                <a16:creationId xmlns:a16="http://schemas.microsoft.com/office/drawing/2014/main" id="{C2A0B0C8-D20E-1E3F-635C-F4B4313EDD2D}"/>
              </a:ext>
            </a:extLst>
          </p:cNvPr>
          <p:cNvPicPr>
            <a:picLocks noChangeAspect="1"/>
          </p:cNvPicPr>
          <p:nvPr/>
        </p:nvPicPr>
        <p:blipFill>
          <a:blip r:embed="rId5"/>
          <a:stretch>
            <a:fillRect/>
          </a:stretch>
        </p:blipFill>
        <p:spPr>
          <a:xfrm>
            <a:off x="5447928" y="3788757"/>
            <a:ext cx="1104900" cy="2095500"/>
          </a:xfrm>
          <a:prstGeom prst="rect">
            <a:avLst/>
          </a:prstGeom>
        </p:spPr>
      </p:pic>
      <p:sp>
        <p:nvSpPr>
          <p:cNvPr id="10" name="矩形 9">
            <a:extLst>
              <a:ext uri="{FF2B5EF4-FFF2-40B4-BE49-F238E27FC236}">
                <a16:creationId xmlns:a16="http://schemas.microsoft.com/office/drawing/2014/main" id="{E2A50F91-B748-42DE-77E2-8D773FE5FDE4}"/>
              </a:ext>
            </a:extLst>
          </p:cNvPr>
          <p:cNvSpPr/>
          <p:nvPr/>
        </p:nvSpPr>
        <p:spPr>
          <a:xfrm>
            <a:off x="6600056" y="4932457"/>
            <a:ext cx="3384376" cy="584775"/>
          </a:xfrm>
          <a:prstGeom prst="rect">
            <a:avLst/>
          </a:prstGeom>
        </p:spPr>
        <p:txBody>
          <a:bodyPr wrap="square">
            <a:spAutoFit/>
          </a:bodyPr>
          <a:lstStyle/>
          <a:p>
            <a:pPr>
              <a:spcBef>
                <a:spcPts val="1100"/>
              </a:spcBef>
              <a:defRPr sz="4800">
                <a:solidFill>
                  <a:srgbClr val="FFFFFF"/>
                </a:solidFill>
                <a:latin typeface="FZHei-B01S"/>
                <a:ea typeface="FZHei-B01S"/>
                <a:cs typeface="FZHei-B01S"/>
                <a:sym typeface="FZHei-B01S"/>
              </a:defRPr>
            </a:pPr>
            <a:r>
              <a:rPr lang="zh-CN" altLang="en-US" sz="3200" b="1" dirty="0">
                <a:solidFill>
                  <a:schemeClr val="tx1"/>
                </a:solidFill>
                <a:latin typeface="微软雅黑" charset="-122"/>
                <a:ea typeface="微软雅黑" charset="-122"/>
              </a:rPr>
              <a:t>总结</a:t>
            </a:r>
            <a:endParaRPr lang="en-US" altLang="zh-CN" sz="3200" b="1" dirty="0">
              <a:solidFill>
                <a:schemeClr val="tx1"/>
              </a:solidFill>
              <a:latin typeface="微软雅黑" charset="-122"/>
              <a:ea typeface="微软雅黑" charset="-122"/>
            </a:endParaRPr>
          </a:p>
        </p:txBody>
      </p:sp>
    </p:spTree>
    <p:extLst>
      <p:ext uri="{BB962C8B-B14F-4D97-AF65-F5344CB8AC3E}">
        <p14:creationId xmlns:p14="http://schemas.microsoft.com/office/powerpoint/2010/main" val="140027876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8BF0E-C326-C22E-8C49-F8996810485B}"/>
            </a:ext>
          </a:extLst>
        </p:cNvPr>
        <p:cNvGrpSpPr/>
        <p:nvPr/>
      </p:nvGrpSpPr>
      <p:grpSpPr>
        <a:xfrm>
          <a:off x="0" y="0"/>
          <a:ext cx="0" cy="0"/>
          <a:chOff x="0" y="0"/>
          <a:chExt cx="0" cy="0"/>
        </a:xfrm>
      </p:grpSpPr>
      <p:sp>
        <p:nvSpPr>
          <p:cNvPr id="12" name="文本框 7">
            <a:extLst>
              <a:ext uri="{FF2B5EF4-FFF2-40B4-BE49-F238E27FC236}">
                <a16:creationId xmlns:a16="http://schemas.microsoft.com/office/drawing/2014/main" id="{02F8D13B-5945-1B23-A366-0ADE61E8E838}"/>
              </a:ext>
            </a:extLst>
          </p:cNvPr>
          <p:cNvSpPr txBox="1"/>
          <p:nvPr/>
        </p:nvSpPr>
        <p:spPr>
          <a:xfrm>
            <a:off x="2829514" y="1931243"/>
            <a:ext cx="1490150" cy="3108543"/>
          </a:xfrm>
          <a:prstGeom prst="rect">
            <a:avLst/>
          </a:prstGeom>
          <a:ln w="12700">
            <a:miter lim="400000"/>
          </a:ln>
        </p:spPr>
        <p:txBody>
          <a:bodyPr wrap="none" lIns="45719" rIns="45719">
            <a:spAutoFit/>
          </a:bodyPr>
          <a:lstStyle>
            <a:lvl1pPr algn="ctr">
              <a:defRPr sz="19600" b="1">
                <a:solidFill>
                  <a:schemeClr val="accent1"/>
                </a:solidFill>
              </a:defRPr>
            </a:lvl1pPr>
          </a:lstStyle>
          <a:p>
            <a:r>
              <a:rPr lang="en-US"/>
              <a:t>1</a:t>
            </a:r>
            <a:endParaRPr dirty="0"/>
          </a:p>
        </p:txBody>
      </p:sp>
      <p:sp>
        <p:nvSpPr>
          <p:cNvPr id="3" name="矩形 259">
            <a:extLst>
              <a:ext uri="{FF2B5EF4-FFF2-40B4-BE49-F238E27FC236}">
                <a16:creationId xmlns:a16="http://schemas.microsoft.com/office/drawing/2014/main" id="{B929279D-2A17-A159-BC30-7A5C5313A000}"/>
              </a:ext>
            </a:extLst>
          </p:cNvPr>
          <p:cNvSpPr txBox="1"/>
          <p:nvPr/>
        </p:nvSpPr>
        <p:spPr>
          <a:xfrm>
            <a:off x="5879976" y="2746850"/>
            <a:ext cx="4464496" cy="738664"/>
          </a:xfrm>
          <a:prstGeom prst="rect">
            <a:avLst/>
          </a:prstGeom>
          <a:ln w="12700">
            <a:miter lim="400000"/>
          </a:ln>
        </p:spPr>
        <p:txBody>
          <a:bodyPr wrap="square" lIns="0" tIns="0" rIns="0" bIns="0">
            <a:spAutoFit/>
          </a:bodyPr>
          <a:lstStyle/>
          <a:p>
            <a:pPr>
              <a:spcBef>
                <a:spcPts val="1100"/>
              </a:spcBef>
              <a:defRPr sz="4800">
                <a:solidFill>
                  <a:srgbClr val="FFFFFF"/>
                </a:solidFill>
                <a:latin typeface="FZHei-B01S"/>
                <a:ea typeface="FZHei-B01S"/>
                <a:cs typeface="FZHei-B01S"/>
                <a:sym typeface="FZHei-B01S"/>
              </a:defRPr>
            </a:pPr>
            <a:r>
              <a:rPr lang="zh-CN" altLang="en-US" sz="4800" b="1">
                <a:solidFill>
                  <a:schemeClr val="tx1"/>
                </a:solidFill>
                <a:latin typeface="微软雅黑" charset="-122"/>
                <a:ea typeface="微软雅黑" charset="-122"/>
              </a:rPr>
              <a:t>项目背景</a:t>
            </a:r>
            <a:endParaRPr sz="4800" b="1" dirty="0">
              <a:solidFill>
                <a:schemeClr val="tx1"/>
              </a:solidFill>
              <a:latin typeface="微软雅黑" charset="-122"/>
              <a:ea typeface="微软雅黑" charset="-122"/>
            </a:endParaRPr>
          </a:p>
        </p:txBody>
      </p:sp>
    </p:spTree>
    <p:extLst>
      <p:ext uri="{BB962C8B-B14F-4D97-AF65-F5344CB8AC3E}">
        <p14:creationId xmlns:p14="http://schemas.microsoft.com/office/powerpoint/2010/main" val="109010355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457C-6F19-CADC-D1EE-EDD61EE94F1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16AD5C4-6FD3-E43F-0585-1A79439BB195}"/>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背景</a:t>
            </a:r>
          </a:p>
        </p:txBody>
      </p:sp>
      <p:sp>
        <p:nvSpPr>
          <p:cNvPr id="4" name="文本框 3">
            <a:extLst>
              <a:ext uri="{FF2B5EF4-FFF2-40B4-BE49-F238E27FC236}">
                <a16:creationId xmlns:a16="http://schemas.microsoft.com/office/drawing/2014/main" id="{6EFEAFBF-40C1-D237-9602-4865523BC8AD}"/>
              </a:ext>
            </a:extLst>
          </p:cNvPr>
          <p:cNvSpPr txBox="1"/>
          <p:nvPr/>
        </p:nvSpPr>
        <p:spPr>
          <a:xfrm>
            <a:off x="241300" y="927100"/>
            <a:ext cx="3175000" cy="571500"/>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u"/>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测试背景</a:t>
            </a:r>
          </a:p>
        </p:txBody>
      </p:sp>
      <p:sp>
        <p:nvSpPr>
          <p:cNvPr id="7" name="文本框 6">
            <a:extLst>
              <a:ext uri="{FF2B5EF4-FFF2-40B4-BE49-F238E27FC236}">
                <a16:creationId xmlns:a16="http://schemas.microsoft.com/office/drawing/2014/main" id="{C2B69511-69CB-A1D0-F563-74012D6D2B51}"/>
              </a:ext>
            </a:extLst>
          </p:cNvPr>
          <p:cNvSpPr txBox="1"/>
          <p:nvPr/>
        </p:nvSpPr>
        <p:spPr>
          <a:xfrm>
            <a:off x="482600" y="2755900"/>
            <a:ext cx="11455400" cy="923328"/>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科技中心收到</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款 </a:t>
            </a:r>
            <a:r>
              <a:rPr kumimoji="0" lang="en-US" altLang="zh-CN"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底模编号</a:t>
            </a:r>
            <a:r>
              <a:rPr lang="en-US" altLang="zh-CN" dirty="0">
                <a:latin typeface="Arial" panose="020B0604020202020204" pitchFamily="34" charset="0"/>
                <a:ea typeface="微软雅黑" panose="020B0503020204020204" pitchFamily="34" charset="-122"/>
              </a:rPr>
              <a:t>:QD-262113M),</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根据项目进度</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基于该产品的科技功能定位</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现对该款产品进行功能性测试。此次测试的对比样品分别为</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en-US" altLang="zh-CN"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en-US" altLang="zh-CN"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本品及竞品的鞋款信息如图所示。</a:t>
            </a:r>
          </a:p>
        </p:txBody>
      </p:sp>
      <p:sp>
        <p:nvSpPr>
          <p:cNvPr id="8" name="文本框 7">
            <a:extLst>
              <a:ext uri="{FF2B5EF4-FFF2-40B4-BE49-F238E27FC236}">
                <a16:creationId xmlns:a16="http://schemas.microsoft.com/office/drawing/2014/main" id="{419B9AED-9139-8780-4EBC-306F7F5B16D0}"/>
              </a:ext>
            </a:extLst>
          </p:cNvPr>
          <p:cNvSpPr txBox="1"/>
          <p:nvPr/>
        </p:nvSpPr>
        <p:spPr>
          <a:xfrm>
            <a:off x="241300" y="4152900"/>
            <a:ext cx="3175000" cy="571500"/>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u"/>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测试方法</a:t>
            </a:r>
          </a:p>
        </p:txBody>
      </p:sp>
      <p:sp>
        <p:nvSpPr>
          <p:cNvPr id="9" name="文本框 8">
            <a:extLst>
              <a:ext uri="{FF2B5EF4-FFF2-40B4-BE49-F238E27FC236}">
                <a16:creationId xmlns:a16="http://schemas.microsoft.com/office/drawing/2014/main" id="{1E5324C7-3A45-7883-1A83-A755E96432C0}"/>
              </a:ext>
            </a:extLst>
          </p:cNvPr>
          <p:cNvSpPr txBox="1"/>
          <p:nvPr/>
        </p:nvSpPr>
        <p:spPr>
          <a:xfrm>
            <a:off x="5003800" y="4584700"/>
            <a:ext cx="11455400" cy="876300"/>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defTabSz="457200" rtl="0" fontAlgn="auto" latinLnBrk="0" hangingPunct="0">
              <a:lnSpc>
                <a:spcPct val="150000"/>
              </a:lnSpc>
              <a:spcBef>
                <a:spcPts val="0"/>
              </a:spcBef>
              <a:spcAft>
                <a:spcPts val="0"/>
              </a:spcAft>
              <a:buClrTx/>
              <a:buSzTx/>
              <a:buFontTx/>
              <a:buNone/>
            </a:pPr>
            <a:r>
              <a:rPr kumimoji="0" lang="zh-CN" altLang="en-US"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基础数据测试、实战测评、运动生物力学测试</a:t>
            </a:r>
          </a:p>
        </p:txBody>
      </p:sp>
      <p:sp>
        <p:nvSpPr>
          <p:cNvPr id="10" name="文本框 9">
            <a:extLst>
              <a:ext uri="{FF2B5EF4-FFF2-40B4-BE49-F238E27FC236}">
                <a16:creationId xmlns:a16="http://schemas.microsoft.com/office/drawing/2014/main" id="{41A61755-C975-AEFC-C877-D55D1D1E9E58}"/>
              </a:ext>
            </a:extLst>
          </p:cNvPr>
          <p:cNvSpPr txBox="1"/>
          <p:nvPr/>
        </p:nvSpPr>
        <p:spPr>
          <a:xfrm>
            <a:off x="5130800" y="5003800"/>
            <a:ext cx="7102348" cy="1938990"/>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Arial" panose="020B0604020202020204" pitchFamily="34" charset="0"/>
              <a:buAutoNum type="arabicPeriod"/>
            </a:pP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采用电子厚度计、精密电子称、游标卡尺等测量鞋款的基础信息。</a:t>
            </a:r>
          </a:p>
          <a:p>
            <a:pPr marL="342900" indent="-342900">
              <a:lnSpc>
                <a:spcPct val="150000"/>
              </a:lnSpc>
              <a:buFont typeface="Arial" panose="020B0604020202020204" pitchFamily="34" charset="0"/>
              <a:buAutoNum type="arabicPeriod"/>
            </a:pP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采用机械对鞋款的减震、回弹、弯折及抗扭性能进行测试。</a:t>
            </a:r>
          </a:p>
          <a:p>
            <a:pPr marL="342900" indent="-342900">
              <a:lnSpc>
                <a:spcPct val="150000"/>
              </a:lnSpc>
              <a:buFont typeface="Arial" panose="020B0604020202020204" pitchFamily="34" charset="0"/>
              <a:buAutoNum type="arabicPeriod"/>
            </a:pP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采用</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vicon</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运动捕捉系统，对鞋款侧切稳定性、响应速度等性能进行测试。</a:t>
            </a:r>
          </a:p>
          <a:p>
            <a:pPr marL="342900" indent="-342900">
              <a:lnSpc>
                <a:spcPct val="150000"/>
              </a:lnSpc>
              <a:buFont typeface="Arial" panose="020B0604020202020204" pitchFamily="34" charset="0"/>
              <a:buAutoNum type="arabicPeriod"/>
            </a:pP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采用人体止滑性能测试仪，对鞋底的摩擦系数</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临界滑动坡度进行测量。</a:t>
            </a:r>
          </a:p>
          <a:p>
            <a:pPr marL="342900" indent="-342900">
              <a:lnSpc>
                <a:spcPct val="150000"/>
              </a:lnSpc>
              <a:buFont typeface="Arial" panose="020B0604020202020204" pitchFamily="34" charset="0"/>
              <a:buAutoNum type="arabicPeriod"/>
            </a:pPr>
            <a:endPar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endParaRPr>
          </a:p>
        </p:txBody>
      </p:sp>
      <p:pic>
        <p:nvPicPr>
          <p:cNvPr id="11" name="图片 10">
            <a:extLst>
              <a:ext uri="{FF2B5EF4-FFF2-40B4-BE49-F238E27FC236}">
                <a16:creationId xmlns:a16="http://schemas.microsoft.com/office/drawing/2014/main" id="{00000000-0008-0000-0000-00000B000000}"/>
              </a:ext>
            </a:extLst>
          </p:cNvPr>
          <p:cNvPicPr>
            <a:picLocks noChangeAspect="1"/>
          </p:cNvPicPr>
          <p:nvPr/>
        </p:nvPicPr>
        <p:blipFill>
          <a:blip r:embed="rId3"/>
          <a:stretch>
            <a:fillRect/>
          </a:stretch>
        </p:blipFill>
        <p:spPr>
          <a:xfrm>
            <a:off x="546100" y="4775200"/>
            <a:ext cx="864686" cy="1577340"/>
          </a:xfrm>
          <a:prstGeom prst="rect">
            <a:avLst/>
          </a:prstGeom>
        </p:spPr>
      </p:pic>
      <p:pic>
        <p:nvPicPr>
          <p:cNvPr id="12" name="图片 11">
            <a:extLst>
              <a:ext uri="{FF2B5EF4-FFF2-40B4-BE49-F238E27FC236}">
                <a16:creationId xmlns:a16="http://schemas.microsoft.com/office/drawing/2014/main" id="{00000000-0008-0000-0000-00000C000000}"/>
              </a:ext>
            </a:extLst>
          </p:cNvPr>
          <p:cNvPicPr>
            <a:picLocks noChangeAspect="1"/>
          </p:cNvPicPr>
          <p:nvPr/>
        </p:nvPicPr>
        <p:blipFill>
          <a:blip r:embed="rId4"/>
          <a:stretch>
            <a:fillRect/>
          </a:stretch>
        </p:blipFill>
        <p:spPr>
          <a:xfrm>
            <a:off x="1442536" y="4775200"/>
            <a:ext cx="751402" cy="1577340"/>
          </a:xfrm>
          <a:prstGeom prst="rect">
            <a:avLst/>
          </a:prstGeom>
        </p:spPr>
      </p:pic>
      <p:pic>
        <p:nvPicPr>
          <p:cNvPr id="13" name="图片 12">
            <a:extLst>
              <a:ext uri="{FF2B5EF4-FFF2-40B4-BE49-F238E27FC236}">
                <a16:creationId xmlns:a16="http://schemas.microsoft.com/office/drawing/2014/main" id="{00000000-0008-0000-0000-000009000000}"/>
              </a:ext>
            </a:extLst>
          </p:cNvPr>
          <p:cNvPicPr>
            <a:picLocks noChangeAspect="1"/>
          </p:cNvPicPr>
          <p:nvPr/>
        </p:nvPicPr>
        <p:blipFill rotWithShape="1">
          <a:blip r:embed="rId5"/>
          <a:srcRect l="23594" t="7529" r="32397" b="17439"/>
          <a:stretch>
            <a:fillRect/>
          </a:stretch>
        </p:blipFill>
        <p:spPr>
          <a:xfrm>
            <a:off x="2225688" y="4775200"/>
            <a:ext cx="1339241" cy="1577340"/>
          </a:xfrm>
          <a:prstGeom prst="rect">
            <a:avLst/>
          </a:prstGeom>
        </p:spPr>
      </p:pic>
      <p:pic>
        <p:nvPicPr>
          <p:cNvPr id="14" name="图片 13">
            <a:extLst>
              <a:ext uri="{FF2B5EF4-FFF2-40B4-BE49-F238E27FC236}">
                <a16:creationId xmlns:a16="http://schemas.microsoft.com/office/drawing/2014/main" id="{6FAFDB84-915C-696E-8079-1AA3E96941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000" y="1130300"/>
            <a:ext cx="3238168" cy="1371600"/>
          </a:xfrm>
          <a:prstGeom prst="rect">
            <a:avLst/>
          </a:prstGeom>
        </p:spPr>
      </p:pic>
      <p:pic>
        <p:nvPicPr>
          <p:cNvPr id="15" name="图片 14">
            <a:extLst>
              <a:ext uri="{FF2B5EF4-FFF2-40B4-BE49-F238E27FC236}">
                <a16:creationId xmlns:a16="http://schemas.microsoft.com/office/drawing/2014/main" id="{F62C75A4-94BD-C1FB-FB43-549CB92E5602}"/>
              </a:ext>
            </a:extLst>
          </p:cNvPr>
          <p:cNvPicPr>
            <a:picLocks noChangeAspect="1"/>
          </p:cNvPicPr>
          <p:nvPr/>
        </p:nvPicPr>
        <p:blipFill>
          <a:blip r:embed="rId7"/>
          <a:stretch>
            <a:fillRect/>
          </a:stretch>
        </p:blipFill>
        <p:spPr>
          <a:xfrm>
            <a:off x="4793918" y="1130300"/>
            <a:ext cx="3021067" cy="1371600"/>
          </a:xfrm>
          <a:prstGeom prst="rect">
            <a:avLst/>
          </a:prstGeom>
        </p:spPr>
      </p:pic>
      <p:pic>
        <p:nvPicPr>
          <p:cNvPr id="16" name="图片 15">
            <a:extLst>
              <a:ext uri="{FF2B5EF4-FFF2-40B4-BE49-F238E27FC236}">
                <a16:creationId xmlns:a16="http://schemas.microsoft.com/office/drawing/2014/main" id="{DC72969A-D8F7-34F0-EB65-70FA71CCA694}"/>
              </a:ext>
            </a:extLst>
          </p:cNvPr>
          <p:cNvPicPr>
            <a:picLocks noChangeAspect="1"/>
          </p:cNvPicPr>
          <p:nvPr/>
        </p:nvPicPr>
        <p:blipFill>
          <a:blip r:embed="rId8"/>
          <a:stretch>
            <a:fillRect/>
          </a:stretch>
        </p:blipFill>
        <p:spPr>
          <a:xfrm>
            <a:off x="7846735" y="1130300"/>
            <a:ext cx="2884311" cy="1371600"/>
          </a:xfrm>
          <a:prstGeom prst="rect">
            <a:avLst/>
          </a:prstGeom>
        </p:spPr>
      </p:pic>
    </p:spTree>
    <p:extLst>
      <p:ext uri="{BB962C8B-B14F-4D97-AF65-F5344CB8AC3E}">
        <p14:creationId xmlns:p14="http://schemas.microsoft.com/office/powerpoint/2010/main" val="77922463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8BB2B-3C86-F0A6-3BA2-8255F6626160}"/>
            </a:ext>
          </a:extLst>
        </p:cNvPr>
        <p:cNvGrpSpPr/>
        <p:nvPr/>
      </p:nvGrpSpPr>
      <p:grpSpPr>
        <a:xfrm>
          <a:off x="0" y="0"/>
          <a:ext cx="0" cy="0"/>
          <a:chOff x="0" y="0"/>
          <a:chExt cx="0" cy="0"/>
        </a:xfrm>
      </p:grpSpPr>
      <p:sp>
        <p:nvSpPr>
          <p:cNvPr id="12" name="文本框 7">
            <a:extLst>
              <a:ext uri="{FF2B5EF4-FFF2-40B4-BE49-F238E27FC236}">
                <a16:creationId xmlns:a16="http://schemas.microsoft.com/office/drawing/2014/main" id="{EF57622D-CF79-E5D2-54C1-CC519F0C191B}"/>
              </a:ext>
            </a:extLst>
          </p:cNvPr>
          <p:cNvSpPr txBox="1"/>
          <p:nvPr/>
        </p:nvSpPr>
        <p:spPr>
          <a:xfrm>
            <a:off x="2829514" y="1931243"/>
            <a:ext cx="1490150" cy="3108543"/>
          </a:xfrm>
          <a:prstGeom prst="rect">
            <a:avLst/>
          </a:prstGeom>
          <a:ln w="12700">
            <a:miter lim="400000"/>
          </a:ln>
        </p:spPr>
        <p:txBody>
          <a:bodyPr wrap="none" lIns="45719" rIns="45719">
            <a:spAutoFit/>
          </a:bodyPr>
          <a:lstStyle>
            <a:lvl1pPr algn="ctr">
              <a:defRPr sz="19600" b="1">
                <a:solidFill>
                  <a:schemeClr val="accent1"/>
                </a:solidFill>
              </a:defRPr>
            </a:lvl1pPr>
          </a:lstStyle>
          <a:p>
            <a:r>
              <a:rPr lang="en-US"/>
              <a:t>2</a:t>
            </a:r>
            <a:endParaRPr dirty="0"/>
          </a:p>
        </p:txBody>
      </p:sp>
      <p:sp>
        <p:nvSpPr>
          <p:cNvPr id="3" name="矩形 259">
            <a:extLst>
              <a:ext uri="{FF2B5EF4-FFF2-40B4-BE49-F238E27FC236}">
                <a16:creationId xmlns:a16="http://schemas.microsoft.com/office/drawing/2014/main" id="{504D7FAA-9B2B-508C-2D9C-F5F9CA9839DD}"/>
              </a:ext>
            </a:extLst>
          </p:cNvPr>
          <p:cNvSpPr txBox="1"/>
          <p:nvPr/>
        </p:nvSpPr>
        <p:spPr>
          <a:xfrm>
            <a:off x="5879976" y="2746850"/>
            <a:ext cx="4464496" cy="738664"/>
          </a:xfrm>
          <a:prstGeom prst="rect">
            <a:avLst/>
          </a:prstGeom>
          <a:ln w="12700">
            <a:miter lim="400000"/>
          </a:ln>
        </p:spPr>
        <p:txBody>
          <a:bodyPr wrap="square" lIns="0" tIns="0" rIns="0" bIns="0">
            <a:spAutoFit/>
          </a:bodyPr>
          <a:lstStyle/>
          <a:p>
            <a:pPr>
              <a:spcBef>
                <a:spcPts val="1100"/>
              </a:spcBef>
              <a:defRPr sz="4800">
                <a:solidFill>
                  <a:srgbClr val="FFFFFF"/>
                </a:solidFill>
                <a:latin typeface="FZHei-B01S"/>
                <a:ea typeface="FZHei-B01S"/>
                <a:cs typeface="FZHei-B01S"/>
                <a:sym typeface="FZHei-B01S"/>
              </a:defRPr>
            </a:pPr>
            <a:r>
              <a:rPr lang="zh-CN" altLang="en-US" sz="4800" b="1">
                <a:solidFill>
                  <a:schemeClr val="tx1"/>
                </a:solidFill>
                <a:latin typeface="微软雅黑" charset="-122"/>
                <a:ea typeface="微软雅黑" charset="-122"/>
              </a:rPr>
              <a:t>基础性能测试</a:t>
            </a:r>
            <a:endParaRPr sz="4800" b="1" dirty="0">
              <a:solidFill>
                <a:schemeClr val="tx1"/>
              </a:solidFill>
              <a:latin typeface="微软雅黑" charset="-122"/>
              <a:ea typeface="微软雅黑" charset="-122"/>
            </a:endParaRPr>
          </a:p>
        </p:txBody>
      </p:sp>
    </p:spTree>
    <p:extLst>
      <p:ext uri="{BB962C8B-B14F-4D97-AF65-F5344CB8AC3E}">
        <p14:creationId xmlns:p14="http://schemas.microsoft.com/office/powerpoint/2010/main" val="299636514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EAC1-4E00-4941-B3F7-384A96F78BC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7D4472B-478B-1D6D-C30B-DE4DB729231B}"/>
              </a:ext>
            </a:extLst>
          </p:cNvPr>
          <p:cNvSpPr txBox="1"/>
          <p:nvPr/>
        </p:nvSpPr>
        <p:spPr>
          <a:xfrm>
            <a:off x="262961" y="113947"/>
            <a:ext cx="4809683" cy="4001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t">
            <a:spAutoFit/>
          </a:bodyPr>
          <a:lstStyle/>
          <a:p>
            <a:pPr marL="342900" indent="-342900">
              <a:buFont typeface="Wingdings" pitchFamily="2" charset="2"/>
              <a:buChar char="Ø"/>
            </a:pPr>
            <a:r>
              <a:rPr lang="zh-CN" altLang="en-US" sz="2000" b="1" dirty="0">
                <a:solidFill>
                  <a:schemeClr val="bg1"/>
                </a:solidFill>
                <a:latin typeface="微软雅黑" charset="-122"/>
                <a:ea typeface="微软雅黑" charset="-122"/>
                <a:sym typeface="+mn-ea"/>
              </a:rPr>
              <a:t>测试数据</a:t>
            </a:r>
            <a:r>
              <a:rPr lang="en-US" altLang="zh-CN" sz="1600" b="1" dirty="0">
                <a:solidFill>
                  <a:srgbClr val="FFC000"/>
                </a:solidFill>
                <a:latin typeface="微软雅黑" charset="-122"/>
                <a:ea typeface="微软雅黑" charset="-122"/>
                <a:sym typeface="+mn-ea"/>
              </a:rPr>
              <a:t>【</a:t>
            </a:r>
            <a:r>
              <a:rPr lang="en-US" altLang="zh-CN" b="1" dirty="0"/>
              <a:t> </a:t>
            </a:r>
            <a:r>
              <a:rPr lang="en-US" altLang="zh-CN" sz="1600" b="1" dirty="0">
                <a:solidFill>
                  <a:srgbClr val="FFC000"/>
                </a:solidFill>
                <a:latin typeface="微软雅黑" charset="-122"/>
                <a:ea typeface="微软雅黑" charset="-122"/>
              </a:rPr>
              <a:t>essential data】</a:t>
            </a:r>
            <a:endParaRPr lang="zh-CN" altLang="en-US" sz="1600" b="1" dirty="0">
              <a:solidFill>
                <a:srgbClr val="FFC000"/>
              </a:solidFill>
              <a:latin typeface="微软雅黑" charset="-122"/>
              <a:ea typeface="微软雅黑" charset="-122"/>
              <a:sym typeface="+mn-ea"/>
            </a:endParaRPr>
          </a:p>
        </p:txBody>
      </p:sp>
      <p:cxnSp>
        <p:nvCxnSpPr>
          <p:cNvPr id="5" name="直接连接符 4">
            <a:extLst>
              <a:ext uri="{FF2B5EF4-FFF2-40B4-BE49-F238E27FC236}">
                <a16:creationId xmlns:a16="http://schemas.microsoft.com/office/drawing/2014/main" id="{A1180CE2-6ABC-541E-4FC7-906966DC0D1A}"/>
              </a:ext>
            </a:extLst>
          </p:cNvPr>
          <p:cNvCxnSpPr/>
          <p:nvPr/>
        </p:nvCxnSpPr>
        <p:spPr>
          <a:xfrm>
            <a:off x="4312963" y="1107442"/>
            <a:ext cx="361928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C40E38A9-9B40-AE0F-55E2-389C19032989}"/>
              </a:ext>
            </a:extLst>
          </p:cNvPr>
          <p:cNvCxnSpPr/>
          <p:nvPr/>
        </p:nvCxnSpPr>
        <p:spPr>
          <a:xfrm>
            <a:off x="693674" y="1107442"/>
            <a:ext cx="3619289"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a:extLst>
              <a:ext uri="{FF2B5EF4-FFF2-40B4-BE49-F238E27FC236}">
                <a16:creationId xmlns:a16="http://schemas.microsoft.com/office/drawing/2014/main" id="{62A82729-0C18-D4EF-508B-731E8998FCDB}"/>
              </a:ext>
            </a:extLst>
          </p:cNvPr>
          <p:cNvSpPr txBox="1"/>
          <p:nvPr/>
        </p:nvSpPr>
        <p:spPr>
          <a:xfrm>
            <a:off x="546100" y="673100"/>
            <a:ext cx="3175000" cy="400108"/>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ü"/>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篮球基本参数测试结果</a:t>
            </a:r>
          </a:p>
        </p:txBody>
      </p:sp>
      <p:graphicFrame>
        <p:nvGraphicFramePr>
          <p:cNvPr id="4" name="图表 3">
            <a:extLst>
              <a:ext uri="{FF2B5EF4-FFF2-40B4-BE49-F238E27FC236}">
                <a16:creationId xmlns:a16="http://schemas.microsoft.com/office/drawing/2014/main" id="{0E149643-6AA2-BAD2-A352-7A28183A9D59}"/>
              </a:ext>
            </a:extLst>
          </p:cNvPr>
          <p:cNvGraphicFramePr>
            <a:graphicFrameLocks/>
          </p:cNvGraphicFramePr>
          <p:nvPr>
            <p:extLst>
              <p:ext uri="{D42A27DB-BD31-4B8C-83A1-F6EECF244321}">
                <p14:modId xmlns:p14="http://schemas.microsoft.com/office/powerpoint/2010/main" val="431883497"/>
              </p:ext>
            </p:extLst>
          </p:nvPr>
        </p:nvGraphicFramePr>
        <p:xfrm>
          <a:off x="317500" y="1270000"/>
          <a:ext cx="3810000" cy="266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a16="http://schemas.microsoft.com/office/drawing/2014/main" id="{2AF3755F-FEDE-F422-0BDD-F07AF50FAD73}"/>
              </a:ext>
            </a:extLst>
          </p:cNvPr>
          <p:cNvGraphicFramePr>
            <a:graphicFrameLocks/>
          </p:cNvGraphicFramePr>
          <p:nvPr>
            <p:extLst>
              <p:ext uri="{D42A27DB-BD31-4B8C-83A1-F6EECF244321}">
                <p14:modId xmlns:p14="http://schemas.microsoft.com/office/powerpoint/2010/main" val="758443798"/>
              </p:ext>
            </p:extLst>
          </p:nvPr>
        </p:nvGraphicFramePr>
        <p:xfrm>
          <a:off x="4191000" y="1270000"/>
          <a:ext cx="3810000" cy="2667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图表 7">
            <a:extLst>
              <a:ext uri="{FF2B5EF4-FFF2-40B4-BE49-F238E27FC236}">
                <a16:creationId xmlns:a16="http://schemas.microsoft.com/office/drawing/2014/main" id="{9B8BFCB1-EC09-42DD-B1E9-6E93D48C4004}"/>
              </a:ext>
            </a:extLst>
          </p:cNvPr>
          <p:cNvGraphicFramePr>
            <a:graphicFrameLocks/>
          </p:cNvGraphicFramePr>
          <p:nvPr>
            <p:extLst>
              <p:ext uri="{D42A27DB-BD31-4B8C-83A1-F6EECF244321}">
                <p14:modId xmlns:p14="http://schemas.microsoft.com/office/powerpoint/2010/main" val="3704665428"/>
              </p:ext>
            </p:extLst>
          </p:nvPr>
        </p:nvGraphicFramePr>
        <p:xfrm>
          <a:off x="8064500" y="1270000"/>
          <a:ext cx="3810000" cy="26670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文本框 9">
            <a:extLst>
              <a:ext uri="{FF2B5EF4-FFF2-40B4-BE49-F238E27FC236}">
                <a16:creationId xmlns:a16="http://schemas.microsoft.com/office/drawing/2014/main" id="{4ECF0BCA-9CB8-C91D-6B98-C26532A5BCAD}"/>
              </a:ext>
            </a:extLst>
          </p:cNvPr>
          <p:cNvSpPr txBox="1"/>
          <p:nvPr/>
        </p:nvSpPr>
        <p:spPr>
          <a:xfrm>
            <a:off x="190500" y="4000500"/>
            <a:ext cx="11455400" cy="3046986"/>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【GPT-5</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解析结论如下（该部分内容为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AI</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自动生成，请认真审阅后，酌情使用）：</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
</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）重量（轻量化）：</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整体重量为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405.0g</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，相比较于李宁利刃</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重</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30.36g</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，整体轻量化表现一般。  
（</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）厚度（重心、落差）：</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此轮测试样鞋实际测量厚度，前掌厚度为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17.5mm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，后跟厚度为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24.6mm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，前后坡差在</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7.1mm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。相比较于李宁利刃</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，前掌厚</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0.69mm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，后跟厚</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1.231mm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，前后坡差大</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0.541mm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）宽度（廓形）：</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前掌宽度为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111.0mm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，后跟宽度为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90.0mm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。相比较于李宁利刃</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，前掌宽</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1.87mm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，后跟宽</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0.84mm</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，整体廓形略宽。</a:t>
            </a:r>
          </a:p>
        </p:txBody>
      </p:sp>
    </p:spTree>
    <p:extLst>
      <p:ext uri="{BB962C8B-B14F-4D97-AF65-F5344CB8AC3E}">
        <p14:creationId xmlns:p14="http://schemas.microsoft.com/office/powerpoint/2010/main" val="271459529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26B8-C899-D5DC-506F-15B91F536FA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C753655-896D-61C2-8AE6-9E26EFE13D77}"/>
              </a:ext>
            </a:extLst>
          </p:cNvPr>
          <p:cNvSpPr txBox="1"/>
          <p:nvPr/>
        </p:nvSpPr>
        <p:spPr>
          <a:xfrm>
            <a:off x="262961" y="113947"/>
            <a:ext cx="4809683" cy="4001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t">
            <a:spAutoFit/>
          </a:bodyPr>
          <a:lstStyle/>
          <a:p>
            <a:pPr marL="342900" indent="-342900">
              <a:buFont typeface="Wingdings" pitchFamily="2" charset="2"/>
              <a:buChar char="Ø"/>
            </a:pPr>
            <a:r>
              <a:rPr lang="zh-CN" altLang="en-US" sz="2000" b="1" dirty="0">
                <a:solidFill>
                  <a:schemeClr val="bg1"/>
                </a:solidFill>
                <a:latin typeface="微软雅黑" charset="-122"/>
                <a:ea typeface="微软雅黑" charset="-122"/>
                <a:sym typeface="+mn-ea"/>
              </a:rPr>
              <a:t>测试数据</a:t>
            </a:r>
            <a:r>
              <a:rPr lang="en-US" altLang="zh-CN" sz="1600" b="1" dirty="0">
                <a:solidFill>
                  <a:srgbClr val="FFC000"/>
                </a:solidFill>
                <a:latin typeface="微软雅黑" charset="-122"/>
                <a:ea typeface="微软雅黑" charset="-122"/>
                <a:sym typeface="+mn-ea"/>
              </a:rPr>
              <a:t>【</a:t>
            </a:r>
            <a:r>
              <a:rPr lang="en-US" altLang="zh-CN" b="1" dirty="0"/>
              <a:t> </a:t>
            </a:r>
            <a:r>
              <a:rPr lang="en-US" altLang="zh-CN" sz="1600" b="1" dirty="0">
                <a:solidFill>
                  <a:srgbClr val="FFC000"/>
                </a:solidFill>
                <a:latin typeface="微软雅黑" charset="-122"/>
                <a:ea typeface="微软雅黑" charset="-122"/>
              </a:rPr>
              <a:t>essential data】</a:t>
            </a:r>
            <a:endParaRPr lang="zh-CN" altLang="en-US" sz="1600" b="1" dirty="0">
              <a:solidFill>
                <a:srgbClr val="FFC000"/>
              </a:solidFill>
              <a:latin typeface="微软雅黑" charset="-122"/>
              <a:ea typeface="微软雅黑" charset="-122"/>
              <a:sym typeface="+mn-ea"/>
            </a:endParaRPr>
          </a:p>
        </p:txBody>
      </p:sp>
      <p:cxnSp>
        <p:nvCxnSpPr>
          <p:cNvPr id="5" name="直接连接符 4">
            <a:extLst>
              <a:ext uri="{FF2B5EF4-FFF2-40B4-BE49-F238E27FC236}">
                <a16:creationId xmlns:a16="http://schemas.microsoft.com/office/drawing/2014/main" id="{D725F282-48DA-445D-2E4C-890F5E904C99}"/>
              </a:ext>
            </a:extLst>
          </p:cNvPr>
          <p:cNvCxnSpPr/>
          <p:nvPr/>
        </p:nvCxnSpPr>
        <p:spPr>
          <a:xfrm>
            <a:off x="4312963" y="1107442"/>
            <a:ext cx="361928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B752F595-0FB7-15AB-B933-3A68DBD0E61A}"/>
              </a:ext>
            </a:extLst>
          </p:cNvPr>
          <p:cNvCxnSpPr/>
          <p:nvPr/>
        </p:nvCxnSpPr>
        <p:spPr>
          <a:xfrm>
            <a:off x="693674" y="1107442"/>
            <a:ext cx="3619289"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a:extLst>
              <a:ext uri="{FF2B5EF4-FFF2-40B4-BE49-F238E27FC236}">
                <a16:creationId xmlns:a16="http://schemas.microsoft.com/office/drawing/2014/main" id="{B8CAFB8F-FFBB-A64C-9C34-2D31F60BDB62}"/>
              </a:ext>
            </a:extLst>
          </p:cNvPr>
          <p:cNvSpPr txBox="1"/>
          <p:nvPr/>
        </p:nvSpPr>
        <p:spPr>
          <a:xfrm>
            <a:off x="546100" y="673100"/>
            <a:ext cx="3175000" cy="400108"/>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ü"/>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篮球机械力学测试结果</a:t>
            </a:r>
          </a:p>
        </p:txBody>
      </p:sp>
      <p:graphicFrame>
        <p:nvGraphicFramePr>
          <p:cNvPr id="4" name="图表 3">
            <a:extLst>
              <a:ext uri="{FF2B5EF4-FFF2-40B4-BE49-F238E27FC236}">
                <a16:creationId xmlns:a16="http://schemas.microsoft.com/office/drawing/2014/main" id="{32C1DBCD-B450-6CE4-AFFB-9A6E828FFFE1}"/>
              </a:ext>
            </a:extLst>
          </p:cNvPr>
          <p:cNvGraphicFramePr>
            <a:graphicFrameLocks/>
          </p:cNvGraphicFramePr>
          <p:nvPr>
            <p:extLst>
              <p:ext uri="{D42A27DB-BD31-4B8C-83A1-F6EECF244321}">
                <p14:modId xmlns:p14="http://schemas.microsoft.com/office/powerpoint/2010/main" val="619477964"/>
              </p:ext>
            </p:extLst>
          </p:nvPr>
        </p:nvGraphicFramePr>
        <p:xfrm>
          <a:off x="914400" y="1524000"/>
          <a:ext cx="4572000" cy="3048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a16="http://schemas.microsoft.com/office/drawing/2014/main" id="{D66A0BF0-62BA-26DA-9584-9F1E1635C9A0}"/>
              </a:ext>
            </a:extLst>
          </p:cNvPr>
          <p:cNvGraphicFramePr>
            <a:graphicFrameLocks/>
          </p:cNvGraphicFramePr>
          <p:nvPr>
            <p:extLst>
              <p:ext uri="{D42A27DB-BD31-4B8C-83A1-F6EECF244321}">
                <p14:modId xmlns:p14="http://schemas.microsoft.com/office/powerpoint/2010/main" val="1793864072"/>
              </p:ext>
            </p:extLst>
          </p:nvPr>
        </p:nvGraphicFramePr>
        <p:xfrm>
          <a:off x="5549900" y="1524000"/>
          <a:ext cx="4572000" cy="3048000"/>
        </p:xfrm>
        <a:graphic>
          <a:graphicData uri="http://schemas.openxmlformats.org/drawingml/2006/chart">
            <c:chart xmlns:c="http://schemas.openxmlformats.org/drawingml/2006/chart" xmlns:r="http://schemas.openxmlformats.org/officeDocument/2006/relationships" r:id="rId4"/>
          </a:graphicData>
        </a:graphic>
      </p:graphicFrame>
      <p:sp>
        <p:nvSpPr>
          <p:cNvPr id="9" name="文本框 8">
            <a:extLst>
              <a:ext uri="{FF2B5EF4-FFF2-40B4-BE49-F238E27FC236}">
                <a16:creationId xmlns:a16="http://schemas.microsoft.com/office/drawing/2014/main" id="{0D3BD2FB-6A29-B949-9214-1D2647AC0F2A}"/>
              </a:ext>
            </a:extLst>
          </p:cNvPr>
          <p:cNvSpPr txBox="1"/>
          <p:nvPr/>
        </p:nvSpPr>
        <p:spPr>
          <a:xfrm>
            <a:off x="190500" y="4635500"/>
            <a:ext cx="11455400" cy="2308322"/>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【GPT-5</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解析结论如下（该部分内容为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AI</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自动生成，请认真审阅后，酌情使用）：</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
</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）减震</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值：</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值越小，后跟缓震水平越突出；从数据来看，</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的减震</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值为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13.0</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，低于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14.0</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，也低于</a:t>
            </a:r>
            <a:r>
              <a:rPr kumimoji="0" lang="zh-CN" altLang="en-US"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14.5</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，后跟缓震表现更为突出。  
（</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）回弹性：回弹率</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R</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值相对越大，后跟回弹性能越突出；</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的回弹率为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54.0%</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，低于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56.0%</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，也低于</a:t>
            </a:r>
            <a:r>
              <a:rPr kumimoji="0" lang="zh-CN" altLang="en-US"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58.2%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，后跟回弹性能相对较弱。</a:t>
            </a:r>
          </a:p>
        </p:txBody>
      </p:sp>
    </p:spTree>
    <p:extLst>
      <p:ext uri="{BB962C8B-B14F-4D97-AF65-F5344CB8AC3E}">
        <p14:creationId xmlns:p14="http://schemas.microsoft.com/office/powerpoint/2010/main" val="14522651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BE51-4EBF-7ACF-3077-9E8384CEF98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0EF7393-6D0C-61DA-C5B5-29A6F20E7CD8}"/>
              </a:ext>
            </a:extLst>
          </p:cNvPr>
          <p:cNvSpPr txBox="1"/>
          <p:nvPr/>
        </p:nvSpPr>
        <p:spPr>
          <a:xfrm>
            <a:off x="262961" y="113947"/>
            <a:ext cx="4809683" cy="4001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t">
            <a:spAutoFit/>
          </a:bodyPr>
          <a:lstStyle/>
          <a:p>
            <a:pPr marL="342900" indent="-342900">
              <a:buFont typeface="Wingdings" pitchFamily="2" charset="2"/>
              <a:buChar char="Ø"/>
            </a:pPr>
            <a:r>
              <a:rPr lang="zh-CN" altLang="en-US" sz="2000" b="1" dirty="0">
                <a:solidFill>
                  <a:schemeClr val="bg1"/>
                </a:solidFill>
                <a:latin typeface="微软雅黑" charset="-122"/>
                <a:ea typeface="微软雅黑" charset="-122"/>
                <a:sym typeface="+mn-ea"/>
              </a:rPr>
              <a:t>测试数据</a:t>
            </a:r>
            <a:r>
              <a:rPr lang="en-US" altLang="zh-CN" sz="1600" b="1" dirty="0">
                <a:solidFill>
                  <a:srgbClr val="FFC000"/>
                </a:solidFill>
                <a:latin typeface="微软雅黑" charset="-122"/>
                <a:ea typeface="微软雅黑" charset="-122"/>
                <a:sym typeface="+mn-ea"/>
              </a:rPr>
              <a:t>【</a:t>
            </a:r>
            <a:r>
              <a:rPr lang="en-US" altLang="zh-CN" b="1" dirty="0"/>
              <a:t> </a:t>
            </a:r>
            <a:r>
              <a:rPr lang="en-US" altLang="zh-CN" sz="1600" b="1" dirty="0">
                <a:solidFill>
                  <a:srgbClr val="FFC000"/>
                </a:solidFill>
                <a:latin typeface="微软雅黑" charset="-122"/>
                <a:ea typeface="微软雅黑" charset="-122"/>
              </a:rPr>
              <a:t>essential data】</a:t>
            </a:r>
            <a:endParaRPr lang="zh-CN" altLang="en-US" sz="1600" b="1" dirty="0">
              <a:solidFill>
                <a:srgbClr val="FFC000"/>
              </a:solidFill>
              <a:latin typeface="微软雅黑" charset="-122"/>
              <a:ea typeface="微软雅黑" charset="-122"/>
              <a:sym typeface="+mn-ea"/>
            </a:endParaRPr>
          </a:p>
        </p:txBody>
      </p:sp>
      <p:cxnSp>
        <p:nvCxnSpPr>
          <p:cNvPr id="5" name="直接连接符 4">
            <a:extLst>
              <a:ext uri="{FF2B5EF4-FFF2-40B4-BE49-F238E27FC236}">
                <a16:creationId xmlns:a16="http://schemas.microsoft.com/office/drawing/2014/main" id="{93D668F6-44DE-0ED2-AD4C-DA9B7C9C8789}"/>
              </a:ext>
            </a:extLst>
          </p:cNvPr>
          <p:cNvCxnSpPr/>
          <p:nvPr/>
        </p:nvCxnSpPr>
        <p:spPr>
          <a:xfrm>
            <a:off x="4312963" y="1107442"/>
            <a:ext cx="361928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719FD2D7-12B6-5F35-0517-A8C095A61E34}"/>
              </a:ext>
            </a:extLst>
          </p:cNvPr>
          <p:cNvCxnSpPr/>
          <p:nvPr/>
        </p:nvCxnSpPr>
        <p:spPr>
          <a:xfrm>
            <a:off x="693674" y="1107442"/>
            <a:ext cx="3619289"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a:extLst>
              <a:ext uri="{FF2B5EF4-FFF2-40B4-BE49-F238E27FC236}">
                <a16:creationId xmlns:a16="http://schemas.microsoft.com/office/drawing/2014/main" id="{B93CCA56-7E37-1D37-E469-CE875BF400AB}"/>
              </a:ext>
            </a:extLst>
          </p:cNvPr>
          <p:cNvSpPr txBox="1"/>
          <p:nvPr/>
        </p:nvSpPr>
        <p:spPr>
          <a:xfrm>
            <a:off x="546100" y="673100"/>
            <a:ext cx="3175000" cy="400108"/>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ü"/>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篮球机械力学测试结果</a:t>
            </a:r>
          </a:p>
        </p:txBody>
      </p:sp>
      <p:graphicFrame>
        <p:nvGraphicFramePr>
          <p:cNvPr id="4" name="图表 3">
            <a:extLst>
              <a:ext uri="{FF2B5EF4-FFF2-40B4-BE49-F238E27FC236}">
                <a16:creationId xmlns:a16="http://schemas.microsoft.com/office/drawing/2014/main" id="{926FA6D9-9974-28A9-12EE-C01A34563E73}"/>
              </a:ext>
            </a:extLst>
          </p:cNvPr>
          <p:cNvGraphicFramePr>
            <a:graphicFrameLocks/>
          </p:cNvGraphicFramePr>
          <p:nvPr>
            <p:extLst>
              <p:ext uri="{D42A27DB-BD31-4B8C-83A1-F6EECF244321}">
                <p14:modId xmlns:p14="http://schemas.microsoft.com/office/powerpoint/2010/main" val="2344438386"/>
              </p:ext>
            </p:extLst>
          </p:nvPr>
        </p:nvGraphicFramePr>
        <p:xfrm>
          <a:off x="914400" y="1524000"/>
          <a:ext cx="4572000" cy="3048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a16="http://schemas.microsoft.com/office/drawing/2014/main" id="{5A901364-806B-2B69-DDAB-CCF368CEEA84}"/>
              </a:ext>
            </a:extLst>
          </p:cNvPr>
          <p:cNvGraphicFramePr>
            <a:graphicFrameLocks/>
          </p:cNvGraphicFramePr>
          <p:nvPr>
            <p:extLst>
              <p:ext uri="{D42A27DB-BD31-4B8C-83A1-F6EECF244321}">
                <p14:modId xmlns:p14="http://schemas.microsoft.com/office/powerpoint/2010/main" val="225721056"/>
              </p:ext>
            </p:extLst>
          </p:nvPr>
        </p:nvGraphicFramePr>
        <p:xfrm>
          <a:off x="5549900" y="1524000"/>
          <a:ext cx="4572000" cy="3048000"/>
        </p:xfrm>
        <a:graphic>
          <a:graphicData uri="http://schemas.openxmlformats.org/drawingml/2006/chart">
            <c:chart xmlns:c="http://schemas.openxmlformats.org/drawingml/2006/chart" xmlns:r="http://schemas.openxmlformats.org/officeDocument/2006/relationships" r:id="rId4"/>
          </a:graphicData>
        </a:graphic>
      </p:graphicFrame>
      <p:sp>
        <p:nvSpPr>
          <p:cNvPr id="9" name="文本框 8">
            <a:extLst>
              <a:ext uri="{FF2B5EF4-FFF2-40B4-BE49-F238E27FC236}">
                <a16:creationId xmlns:a16="http://schemas.microsoft.com/office/drawing/2014/main" id="{8A35318E-FCEF-F6CB-9A46-1959CD2BB1C5}"/>
              </a:ext>
            </a:extLst>
          </p:cNvPr>
          <p:cNvSpPr txBox="1"/>
          <p:nvPr/>
        </p:nvSpPr>
        <p:spPr>
          <a:xfrm>
            <a:off x="190500" y="4635500"/>
            <a:ext cx="11455400" cy="1938990"/>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【GPT-5</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解析结论如下（该部分内容为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AI</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自动生成，请认真审阅后，酌情使用）：</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
</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）弯折力值</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&amp;</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扭转力矩：弯折力和中足扭转力矩用来反映鞋底抗外力产生变形的能力，数值可以直观地反映前掌的刚性与鞋底的强度水平。</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的弯折力值为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13.0</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，低于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14.3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，也低于</a:t>
            </a:r>
            <a:r>
              <a:rPr kumimoji="0" lang="zh-CN" altLang="en-US"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17.64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；扭转力矩为</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5.1</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，高于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4.4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，但低于</a:t>
            </a:r>
            <a:r>
              <a:rPr kumimoji="0" lang="zh-CN" altLang="en-US"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6.24</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。整体来看，</a:t>
            </a:r>
            <a:r>
              <a:rPr kumimoji="0" lang="en-US" altLang="zh-CN" sz="1600" b="1" i="0" u="none" strike="noStrike" cap="none" spc="0" normalizeH="0" baseline="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的抗扭转表现优于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，但前掌刚性弱于</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FE2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，整体刚性表现不及</a:t>
            </a:r>
            <a:r>
              <a:rPr kumimoji="0" lang="zh-CN" altLang="en-US"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a:t>
            </a:r>
          </a:p>
        </p:txBody>
      </p:sp>
    </p:spTree>
    <p:extLst>
      <p:ext uri="{BB962C8B-B14F-4D97-AF65-F5344CB8AC3E}">
        <p14:creationId xmlns:p14="http://schemas.microsoft.com/office/powerpoint/2010/main" val="329890576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060A-76CC-907E-3F6F-8E4080F64E1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B6403AEE-3DD7-BF52-B193-5A98B51B72F7}"/>
              </a:ext>
            </a:extLst>
          </p:cNvPr>
          <p:cNvSpPr txBox="1"/>
          <p:nvPr/>
        </p:nvSpPr>
        <p:spPr>
          <a:xfrm>
            <a:off x="262961" y="113947"/>
            <a:ext cx="4809683" cy="4001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t">
            <a:spAutoFit/>
          </a:bodyPr>
          <a:lstStyle/>
          <a:p>
            <a:pPr marL="342900" indent="-342900">
              <a:buFont typeface="Wingdings" pitchFamily="2" charset="2"/>
              <a:buChar char="Ø"/>
            </a:pPr>
            <a:r>
              <a:rPr lang="zh-CN" altLang="en-US" sz="2000" b="1" dirty="0">
                <a:solidFill>
                  <a:schemeClr val="bg1"/>
                </a:solidFill>
                <a:latin typeface="微软雅黑" charset="-122"/>
                <a:ea typeface="微软雅黑" charset="-122"/>
                <a:sym typeface="+mn-ea"/>
              </a:rPr>
              <a:t>测试数据</a:t>
            </a:r>
            <a:r>
              <a:rPr lang="en-US" altLang="zh-CN" sz="1600" b="1" dirty="0">
                <a:solidFill>
                  <a:srgbClr val="FFC000"/>
                </a:solidFill>
                <a:latin typeface="微软雅黑" charset="-122"/>
                <a:ea typeface="微软雅黑" charset="-122"/>
                <a:sym typeface="+mn-ea"/>
              </a:rPr>
              <a:t>【</a:t>
            </a:r>
            <a:r>
              <a:rPr lang="en-US" altLang="zh-CN" b="1" dirty="0"/>
              <a:t> </a:t>
            </a:r>
            <a:r>
              <a:rPr lang="en-US" altLang="zh-CN" sz="1600" b="1" dirty="0">
                <a:solidFill>
                  <a:srgbClr val="FFC000"/>
                </a:solidFill>
                <a:latin typeface="微软雅黑" charset="-122"/>
                <a:ea typeface="微软雅黑" charset="-122"/>
              </a:rPr>
              <a:t>essential data】</a:t>
            </a:r>
            <a:endParaRPr lang="zh-CN" altLang="en-US" sz="1600" b="1" dirty="0">
              <a:solidFill>
                <a:srgbClr val="FFC000"/>
              </a:solidFill>
              <a:latin typeface="微软雅黑" charset="-122"/>
              <a:ea typeface="微软雅黑" charset="-122"/>
              <a:sym typeface="+mn-ea"/>
            </a:endParaRPr>
          </a:p>
        </p:txBody>
      </p:sp>
      <p:cxnSp>
        <p:nvCxnSpPr>
          <p:cNvPr id="5" name="直接连接符 4">
            <a:extLst>
              <a:ext uri="{FF2B5EF4-FFF2-40B4-BE49-F238E27FC236}">
                <a16:creationId xmlns:a16="http://schemas.microsoft.com/office/drawing/2014/main" id="{08297398-EF4E-96FF-E373-03FDE2BAFD42}"/>
              </a:ext>
            </a:extLst>
          </p:cNvPr>
          <p:cNvCxnSpPr/>
          <p:nvPr/>
        </p:nvCxnSpPr>
        <p:spPr>
          <a:xfrm>
            <a:off x="4312963" y="1107442"/>
            <a:ext cx="361928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323DD1ED-7BE3-8588-3A15-7FA50CCF98F9}"/>
              </a:ext>
            </a:extLst>
          </p:cNvPr>
          <p:cNvCxnSpPr/>
          <p:nvPr/>
        </p:nvCxnSpPr>
        <p:spPr>
          <a:xfrm>
            <a:off x="693674" y="1107442"/>
            <a:ext cx="3619289"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a:extLst>
              <a:ext uri="{FF2B5EF4-FFF2-40B4-BE49-F238E27FC236}">
                <a16:creationId xmlns:a16="http://schemas.microsoft.com/office/drawing/2014/main" id="{3BCC70A7-5D7B-9B3F-4FEA-811F96CF41B2}"/>
              </a:ext>
            </a:extLst>
          </p:cNvPr>
          <p:cNvSpPr txBox="1"/>
          <p:nvPr/>
        </p:nvSpPr>
        <p:spPr>
          <a:xfrm>
            <a:off x="546100" y="673100"/>
            <a:ext cx="3175000" cy="400108"/>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ü"/>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止滑性能测试结果</a:t>
            </a:r>
          </a:p>
        </p:txBody>
      </p:sp>
      <p:graphicFrame>
        <p:nvGraphicFramePr>
          <p:cNvPr id="4" name="图表 3">
            <a:extLst>
              <a:ext uri="{FF2B5EF4-FFF2-40B4-BE49-F238E27FC236}">
                <a16:creationId xmlns:a16="http://schemas.microsoft.com/office/drawing/2014/main" id="{7683D181-6AA4-9980-9253-8609200DBAE2}"/>
              </a:ext>
            </a:extLst>
          </p:cNvPr>
          <p:cNvGraphicFramePr>
            <a:graphicFrameLocks/>
          </p:cNvGraphicFramePr>
          <p:nvPr>
            <p:extLst>
              <p:ext uri="{D42A27DB-BD31-4B8C-83A1-F6EECF244321}">
                <p14:modId xmlns:p14="http://schemas.microsoft.com/office/powerpoint/2010/main" val="269989934"/>
              </p:ext>
            </p:extLst>
          </p:nvPr>
        </p:nvGraphicFramePr>
        <p:xfrm>
          <a:off x="2857499" y="1270000"/>
          <a:ext cx="6731000" cy="337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框 7">
            <a:extLst>
              <a:ext uri="{FF2B5EF4-FFF2-40B4-BE49-F238E27FC236}">
                <a16:creationId xmlns:a16="http://schemas.microsoft.com/office/drawing/2014/main" id="{6919DA04-0F82-3DEB-65D3-785A76F783CE}"/>
              </a:ext>
            </a:extLst>
          </p:cNvPr>
          <p:cNvSpPr txBox="1"/>
          <p:nvPr/>
        </p:nvSpPr>
        <p:spPr>
          <a:xfrm>
            <a:off x="190500" y="4711700"/>
            <a:ext cx="11455400" cy="1200327"/>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）摩擦系数：</a:t>
            </a:r>
            <a:r>
              <a:rPr kumimoji="0" lang="en-US" altLang="zh-CN"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的横向摩擦系数为</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1.25</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，处在非常安全范围。</a:t>
            </a:r>
            <a:endPar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endParaRPr>
          </a:p>
          <a:p>
            <a:pPr marL="342900" indent="-342900">
              <a:lnSpc>
                <a:spcPct val="150000"/>
              </a:lnSpc>
              <a:buFont typeface="Wingdings" panose="05000000000000000000" pitchFamily="2" charset="2"/>
              <a:buChar char="n"/>
            </a:pP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对比来看，</a:t>
            </a:r>
            <a:r>
              <a:rPr kumimoji="0" lang="en-US" altLang="zh-CN"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高于</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 3.0</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1.22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，低于利刃</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5 V2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1.28</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和利刃</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6</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1.29</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，整体抓地力表现较强。</a:t>
            </a:r>
            <a:endPar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endParaRPr>
          </a:p>
          <a:p>
            <a:pPr marL="342900" indent="-342900">
              <a:lnSpc>
                <a:spcPct val="150000"/>
              </a:lnSpc>
              <a:buFont typeface="Wingdings" panose="05000000000000000000" pitchFamily="2" charset="2"/>
              <a:buChar char="n"/>
            </a:pPr>
            <a:r>
              <a:rPr lang="zh-CN" altLang="en-US" sz="1600" dirty="0">
                <a:latin typeface="Arial" panose="020B0604020202020204" pitchFamily="34" charset="0"/>
                <a:ea typeface="微软雅黑" panose="020B0503020204020204" pitchFamily="34" charset="-122"/>
              </a:rPr>
              <a:t>说明配方调整后，防滑性能有了显著提升，达到防滑性能目标</a:t>
            </a:r>
            <a:endPar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endParaRPr>
          </a:p>
        </p:txBody>
      </p:sp>
    </p:spTree>
    <p:extLst>
      <p:ext uri="{BB962C8B-B14F-4D97-AF65-F5344CB8AC3E}">
        <p14:creationId xmlns:p14="http://schemas.microsoft.com/office/powerpoint/2010/main" val="39873519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32E5-6BCE-8709-7E5B-7DAC3FC1A8D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AED8B8D-F5CA-4D4C-DE57-3F4D57B3AFFD}"/>
              </a:ext>
            </a:extLst>
          </p:cNvPr>
          <p:cNvSpPr txBox="1"/>
          <p:nvPr/>
        </p:nvSpPr>
        <p:spPr>
          <a:xfrm>
            <a:off x="262961" y="113947"/>
            <a:ext cx="4809683" cy="4001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t">
            <a:spAutoFit/>
          </a:bodyPr>
          <a:lstStyle/>
          <a:p>
            <a:pPr marL="342900" indent="-342900">
              <a:buFont typeface="Wingdings" pitchFamily="2" charset="2"/>
              <a:buChar char="Ø"/>
            </a:pPr>
            <a:r>
              <a:rPr lang="zh-CN" altLang="en-US" sz="2000" b="1" dirty="0">
                <a:solidFill>
                  <a:schemeClr val="bg1"/>
                </a:solidFill>
                <a:latin typeface="微软雅黑" charset="-122"/>
                <a:ea typeface="微软雅黑" charset="-122"/>
                <a:sym typeface="+mn-ea"/>
              </a:rPr>
              <a:t>测试数据</a:t>
            </a:r>
            <a:r>
              <a:rPr lang="en-US" altLang="zh-CN" sz="1600" b="1" dirty="0">
                <a:solidFill>
                  <a:srgbClr val="FFC000"/>
                </a:solidFill>
                <a:latin typeface="微软雅黑" charset="-122"/>
                <a:ea typeface="微软雅黑" charset="-122"/>
                <a:sym typeface="+mn-ea"/>
              </a:rPr>
              <a:t>【</a:t>
            </a:r>
            <a:r>
              <a:rPr lang="en-US" altLang="zh-CN" b="1" dirty="0"/>
              <a:t> </a:t>
            </a:r>
            <a:r>
              <a:rPr lang="en-US" altLang="zh-CN" sz="1600" b="1" dirty="0">
                <a:solidFill>
                  <a:srgbClr val="FFC000"/>
                </a:solidFill>
                <a:latin typeface="微软雅黑" charset="-122"/>
                <a:ea typeface="微软雅黑" charset="-122"/>
              </a:rPr>
              <a:t>essential data】</a:t>
            </a:r>
            <a:endParaRPr lang="zh-CN" altLang="en-US" sz="1600" b="1" dirty="0">
              <a:solidFill>
                <a:srgbClr val="FFC000"/>
              </a:solidFill>
              <a:latin typeface="微软雅黑" charset="-122"/>
              <a:ea typeface="微软雅黑" charset="-122"/>
              <a:sym typeface="+mn-ea"/>
            </a:endParaRPr>
          </a:p>
        </p:txBody>
      </p:sp>
      <p:cxnSp>
        <p:nvCxnSpPr>
          <p:cNvPr id="5" name="直接连接符 4">
            <a:extLst>
              <a:ext uri="{FF2B5EF4-FFF2-40B4-BE49-F238E27FC236}">
                <a16:creationId xmlns:a16="http://schemas.microsoft.com/office/drawing/2014/main" id="{B228E9C9-C02D-BC09-1A51-BD519B6AFB2D}"/>
              </a:ext>
            </a:extLst>
          </p:cNvPr>
          <p:cNvCxnSpPr/>
          <p:nvPr/>
        </p:nvCxnSpPr>
        <p:spPr>
          <a:xfrm>
            <a:off x="4312963" y="1107442"/>
            <a:ext cx="361928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a:extLst>
              <a:ext uri="{FF2B5EF4-FFF2-40B4-BE49-F238E27FC236}">
                <a16:creationId xmlns:a16="http://schemas.microsoft.com/office/drawing/2014/main" id="{5ACFA033-5F50-E94B-F859-979E1AC6038A}"/>
              </a:ext>
            </a:extLst>
          </p:cNvPr>
          <p:cNvCxnSpPr/>
          <p:nvPr/>
        </p:nvCxnSpPr>
        <p:spPr>
          <a:xfrm>
            <a:off x="693674" y="1107442"/>
            <a:ext cx="3619289"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文本框 1">
            <a:extLst>
              <a:ext uri="{FF2B5EF4-FFF2-40B4-BE49-F238E27FC236}">
                <a16:creationId xmlns:a16="http://schemas.microsoft.com/office/drawing/2014/main" id="{FAED748C-2448-0821-7C3A-5AD3580FB9F3}"/>
              </a:ext>
            </a:extLst>
          </p:cNvPr>
          <p:cNvSpPr txBox="1"/>
          <p:nvPr/>
        </p:nvSpPr>
        <p:spPr>
          <a:xfrm>
            <a:off x="546100" y="673100"/>
            <a:ext cx="3175000" cy="400108"/>
          </a:xfrm>
          <a:prstGeom prst="rect">
            <a:avLst/>
          </a:prstGeom>
          <a:solidFill>
            <a:srgbClr val="000000">
              <a:alpha val="0"/>
            </a:s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457200" indent="-457200">
              <a:buFont typeface="Wingdings" panose="05000000000000000000" pitchFamily="2" charset="2"/>
              <a:buChar char="ü"/>
            </a:pPr>
            <a:r>
              <a:rPr kumimoji="0" lang="zh-CN" altLang="en-US" sz="2000" b="1" i="0" u="none" strike="noStrike" cap="none" spc="0" normalizeH="0" baseline="0">
                <a:ln>
                  <a:noFill/>
                </a:ln>
                <a:effectLst/>
                <a:uFillTx/>
                <a:latin typeface="Arial" panose="020B0604020202020204" pitchFamily="34" charset="0"/>
                <a:ea typeface="微软雅黑" panose="020B0503020204020204" pitchFamily="34" charset="-122"/>
                <a:cs typeface="Arial"/>
                <a:sym typeface="Arial"/>
              </a:rPr>
              <a:t>篮球生物力学测试结果</a:t>
            </a:r>
          </a:p>
        </p:txBody>
      </p:sp>
      <p:graphicFrame>
        <p:nvGraphicFramePr>
          <p:cNvPr id="4" name="图表 3">
            <a:extLst>
              <a:ext uri="{FF2B5EF4-FFF2-40B4-BE49-F238E27FC236}">
                <a16:creationId xmlns:a16="http://schemas.microsoft.com/office/drawing/2014/main" id="{C4E370DA-261B-6A8E-1F0A-AA6980A3DF8F}"/>
              </a:ext>
            </a:extLst>
          </p:cNvPr>
          <p:cNvGraphicFramePr>
            <a:graphicFrameLocks/>
          </p:cNvGraphicFramePr>
          <p:nvPr>
            <p:extLst>
              <p:ext uri="{D42A27DB-BD31-4B8C-83A1-F6EECF244321}">
                <p14:modId xmlns:p14="http://schemas.microsoft.com/office/powerpoint/2010/main" val="609189126"/>
              </p:ext>
            </p:extLst>
          </p:nvPr>
        </p:nvGraphicFramePr>
        <p:xfrm>
          <a:off x="317500" y="1270000"/>
          <a:ext cx="3810000" cy="266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a16="http://schemas.microsoft.com/office/drawing/2014/main" id="{5DD1F251-47E4-D6DF-5BCE-13BB6BE205AE}"/>
              </a:ext>
            </a:extLst>
          </p:cNvPr>
          <p:cNvGraphicFramePr>
            <a:graphicFrameLocks/>
          </p:cNvGraphicFramePr>
          <p:nvPr>
            <p:extLst>
              <p:ext uri="{D42A27DB-BD31-4B8C-83A1-F6EECF244321}">
                <p14:modId xmlns:p14="http://schemas.microsoft.com/office/powerpoint/2010/main" val="3633307924"/>
              </p:ext>
            </p:extLst>
          </p:nvPr>
        </p:nvGraphicFramePr>
        <p:xfrm>
          <a:off x="4191000" y="1270000"/>
          <a:ext cx="3810000" cy="2667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图表 7">
            <a:extLst>
              <a:ext uri="{FF2B5EF4-FFF2-40B4-BE49-F238E27FC236}">
                <a16:creationId xmlns:a16="http://schemas.microsoft.com/office/drawing/2014/main" id="{C79614A8-45FB-60EE-6CA0-6C3C1018BFEB}"/>
              </a:ext>
            </a:extLst>
          </p:cNvPr>
          <p:cNvGraphicFramePr>
            <a:graphicFrameLocks/>
          </p:cNvGraphicFramePr>
          <p:nvPr>
            <p:extLst>
              <p:ext uri="{D42A27DB-BD31-4B8C-83A1-F6EECF244321}">
                <p14:modId xmlns:p14="http://schemas.microsoft.com/office/powerpoint/2010/main" val="1980116047"/>
              </p:ext>
            </p:extLst>
          </p:nvPr>
        </p:nvGraphicFramePr>
        <p:xfrm>
          <a:off x="8064500" y="1270000"/>
          <a:ext cx="3810000" cy="26670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文本框 9">
            <a:extLst>
              <a:ext uri="{FF2B5EF4-FFF2-40B4-BE49-F238E27FC236}">
                <a16:creationId xmlns:a16="http://schemas.microsoft.com/office/drawing/2014/main" id="{DA805E0F-C9D4-8702-CF8D-C8D7F0DEE96B}"/>
              </a:ext>
            </a:extLst>
          </p:cNvPr>
          <p:cNvSpPr txBox="1"/>
          <p:nvPr/>
        </p:nvSpPr>
        <p:spPr>
          <a:xfrm>
            <a:off x="190500" y="4000500"/>
            <a:ext cx="11455400" cy="2308322"/>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）从微观数据上结合三步上篮起跳总触地用时与到达第一峰值时间来看，</a:t>
            </a:r>
            <a:r>
              <a:rPr kumimoji="0" lang="en-US" altLang="zh-CN"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的总触地时间为</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195.0ms</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，第一峰值时间为</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30.0ms</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，均低于</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221.8ms</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32.8ms</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，启动响应略快于</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）第一峰值加载率表示上篮后跟着地阶段地面对人体的反作用力在垂直方向上的加载效果，数值越大，表明地面反作用力对人体冲击效果越明显。当前数据仅提供</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与</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的加载率，其中</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为</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90.48</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李宁利刃</a:t>
            </a:r>
            <a:r>
              <a:rPr kumimoji="0" lang="en-US" altLang="zh-CN"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4V2</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为</a:t>
            </a:r>
            <a:r>
              <a:rPr kumimoji="0" lang="en-US" altLang="zh-CN"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121.15</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，未提供</a:t>
            </a:r>
            <a:r>
              <a:rPr kumimoji="0" lang="en-US" altLang="zh-CN"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FE4.0 R3</a:t>
            </a:r>
            <a:r>
              <a:rPr kumimoji="0" lang="zh-CN" altLang="en-US" sz="16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加载率数据。</a:t>
            </a:r>
          </a:p>
        </p:txBody>
      </p:sp>
    </p:spTree>
    <p:extLst>
      <p:ext uri="{BB962C8B-B14F-4D97-AF65-F5344CB8AC3E}">
        <p14:creationId xmlns:p14="http://schemas.microsoft.com/office/powerpoint/2010/main" val="406123520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9F81-EE42-D576-3162-69B242135339}"/>
            </a:ext>
          </a:extLst>
        </p:cNvPr>
        <p:cNvGrpSpPr/>
        <p:nvPr/>
      </p:nvGrpSpPr>
      <p:grpSpPr>
        <a:xfrm>
          <a:off x="0" y="0"/>
          <a:ext cx="0" cy="0"/>
          <a:chOff x="0" y="0"/>
          <a:chExt cx="0" cy="0"/>
        </a:xfrm>
      </p:grpSpPr>
      <p:sp>
        <p:nvSpPr>
          <p:cNvPr id="12" name="文本框 7">
            <a:extLst>
              <a:ext uri="{FF2B5EF4-FFF2-40B4-BE49-F238E27FC236}">
                <a16:creationId xmlns:a16="http://schemas.microsoft.com/office/drawing/2014/main" id="{ACA1D10C-130E-7B8A-1621-85C25EDAE001}"/>
              </a:ext>
            </a:extLst>
          </p:cNvPr>
          <p:cNvSpPr txBox="1"/>
          <p:nvPr/>
        </p:nvSpPr>
        <p:spPr>
          <a:xfrm>
            <a:off x="2829514" y="1931243"/>
            <a:ext cx="1490150" cy="3108543"/>
          </a:xfrm>
          <a:prstGeom prst="rect">
            <a:avLst/>
          </a:prstGeom>
          <a:ln w="12700">
            <a:miter lim="400000"/>
          </a:ln>
        </p:spPr>
        <p:txBody>
          <a:bodyPr wrap="none" lIns="45719" rIns="45719">
            <a:spAutoFit/>
          </a:bodyPr>
          <a:lstStyle>
            <a:lvl1pPr algn="ctr">
              <a:defRPr sz="19600" b="1">
                <a:solidFill>
                  <a:schemeClr val="accent1"/>
                </a:solidFill>
              </a:defRPr>
            </a:lvl1pPr>
          </a:lstStyle>
          <a:p>
            <a:r>
              <a:rPr lang="en-US"/>
              <a:t>3</a:t>
            </a:r>
            <a:endParaRPr dirty="0"/>
          </a:p>
        </p:txBody>
      </p:sp>
      <p:sp>
        <p:nvSpPr>
          <p:cNvPr id="3" name="矩形 259">
            <a:extLst>
              <a:ext uri="{FF2B5EF4-FFF2-40B4-BE49-F238E27FC236}">
                <a16:creationId xmlns:a16="http://schemas.microsoft.com/office/drawing/2014/main" id="{3A9B0A9F-E97E-DB91-62F3-7335D009831E}"/>
              </a:ext>
            </a:extLst>
          </p:cNvPr>
          <p:cNvSpPr txBox="1"/>
          <p:nvPr/>
        </p:nvSpPr>
        <p:spPr>
          <a:xfrm>
            <a:off x="5879976" y="2746850"/>
            <a:ext cx="4464496" cy="738664"/>
          </a:xfrm>
          <a:prstGeom prst="rect">
            <a:avLst/>
          </a:prstGeom>
          <a:ln w="12700">
            <a:miter lim="400000"/>
          </a:ln>
        </p:spPr>
        <p:txBody>
          <a:bodyPr wrap="square" lIns="0" tIns="0" rIns="0" bIns="0">
            <a:spAutoFit/>
          </a:bodyPr>
          <a:lstStyle/>
          <a:p>
            <a:pPr>
              <a:spcBef>
                <a:spcPts val="1100"/>
              </a:spcBef>
              <a:defRPr sz="4800">
                <a:solidFill>
                  <a:srgbClr val="FFFFFF"/>
                </a:solidFill>
                <a:latin typeface="FZHei-B01S"/>
                <a:ea typeface="FZHei-B01S"/>
                <a:cs typeface="FZHei-B01S"/>
                <a:sym typeface="FZHei-B01S"/>
              </a:defRPr>
            </a:pPr>
            <a:r>
              <a:rPr lang="zh-CN" altLang="en-US" sz="4800" b="1">
                <a:solidFill>
                  <a:schemeClr val="tx1"/>
                </a:solidFill>
                <a:latin typeface="微软雅黑" charset="-122"/>
                <a:ea typeface="微软雅黑" charset="-122"/>
              </a:rPr>
              <a:t>实战测试</a:t>
            </a:r>
            <a:endParaRPr sz="4800" b="1" dirty="0">
              <a:solidFill>
                <a:schemeClr val="tx1"/>
              </a:solidFill>
              <a:latin typeface="微软雅黑" charset="-122"/>
              <a:ea typeface="微软雅黑" charset="-122"/>
            </a:endParaRPr>
          </a:p>
        </p:txBody>
      </p:sp>
    </p:spTree>
    <p:extLst>
      <p:ext uri="{BB962C8B-B14F-4D97-AF65-F5344CB8AC3E}">
        <p14:creationId xmlns:p14="http://schemas.microsoft.com/office/powerpoint/2010/main" val="17073713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0C67-4264-331B-9668-7FA94ED4B70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4B5EC12-7CE0-8FD6-7441-48224B4B0AA8}"/>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实战测试</a:t>
            </a:r>
          </a:p>
        </p:txBody>
      </p:sp>
      <p:cxnSp>
        <p:nvCxnSpPr>
          <p:cNvPr id="4" name="直接连接符 3">
            <a:extLst>
              <a:ext uri="{FF2B5EF4-FFF2-40B4-BE49-F238E27FC236}">
                <a16:creationId xmlns:a16="http://schemas.microsoft.com/office/drawing/2014/main" id="{4907EE56-C3EF-DD97-6B6F-DDBB3F2B4642}"/>
              </a:ext>
            </a:extLst>
          </p:cNvPr>
          <p:cNvCxnSpPr/>
          <p:nvPr/>
        </p:nvCxnSpPr>
        <p:spPr>
          <a:xfrm>
            <a:off x="6096000" y="381000"/>
            <a:ext cx="0" cy="5842000"/>
          </a:xfrm>
          <a:prstGeom prst="line">
            <a:avLst/>
          </a:prstGeom>
          <a:noFill/>
          <a:ln w="6350" cap="flat">
            <a:solidFill>
              <a:srgbClr val="FF0000"/>
            </a:solidFill>
            <a:prstDash val="dash"/>
            <a:round/>
          </a:ln>
          <a:effectLst/>
          <a:extLst>
            <a:ext uri="{AF507438-7753-43E0-B8FC-AC1667EBCBE1}">
              <a14:hiddenEffects xmlns:a14="http://schemas.microsoft.com/office/drawing/2010/main">
                <a:effectLst>
                  <a:outerShdw blurRad="50800" dist="38100" dir="5400000" rotWithShape="0">
                    <a:srgbClr val="000000">
                      <a:alpha val="43137"/>
                    </a:srgbClr>
                  </a:outerShdw>
                </a:effectLst>
              </a14:hiddenEffects>
            </a:ext>
          </a:extLst>
        </p:spPr>
        <p:style>
          <a:lnRef idx="0">
            <a:scrgbClr r="0" g="0" b="0"/>
          </a:lnRef>
          <a:fillRef idx="0">
            <a:scrgbClr r="0" g="0" b="0"/>
          </a:fillRef>
          <a:effectRef idx="0">
            <a:scrgbClr r="0" g="0" b="0"/>
          </a:effectRef>
          <a:fontRef idx="none"/>
        </p:style>
      </p:cxnSp>
      <p:graphicFrame>
        <p:nvGraphicFramePr>
          <p:cNvPr id="8" name="图表 7">
            <a:extLst>
              <a:ext uri="{FF2B5EF4-FFF2-40B4-BE49-F238E27FC236}">
                <a16:creationId xmlns:a16="http://schemas.microsoft.com/office/drawing/2014/main" id="{EC6E257B-488C-65CD-ADED-C2C89EC0B520}"/>
              </a:ext>
            </a:extLst>
          </p:cNvPr>
          <p:cNvGraphicFramePr>
            <a:graphicFrameLocks/>
          </p:cNvGraphicFramePr>
          <p:nvPr/>
        </p:nvGraphicFramePr>
        <p:xfrm>
          <a:off x="708398" y="1056318"/>
          <a:ext cx="3175000" cy="2788342"/>
        </p:xfrm>
        <a:graphic>
          <a:graphicData uri="http://schemas.openxmlformats.org/drawingml/2006/chart">
            <c:chart xmlns:c="http://schemas.openxmlformats.org/drawingml/2006/chart" xmlns:r="http://schemas.openxmlformats.org/officeDocument/2006/relationships" r:id="rId3"/>
          </a:graphicData>
        </a:graphic>
      </p:graphicFrame>
      <p:sp>
        <p:nvSpPr>
          <p:cNvPr id="10" name="文本框 9">
            <a:extLst>
              <a:ext uri="{FF2B5EF4-FFF2-40B4-BE49-F238E27FC236}">
                <a16:creationId xmlns:a16="http://schemas.microsoft.com/office/drawing/2014/main" id="{612883F8-5832-26D9-4C30-208D07F1394E}"/>
              </a:ext>
            </a:extLst>
          </p:cNvPr>
          <p:cNvSpPr txBox="1"/>
          <p:nvPr/>
        </p:nvSpPr>
        <p:spPr>
          <a:xfrm>
            <a:off x="368300" y="3829734"/>
            <a:ext cx="5727700" cy="3000819"/>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包裹性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鞋跟锁定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表现较好，整体贴合度高。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抓地力</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刚性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防侧翻</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缓震</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回弹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轻量化</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透气性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耐用性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表现均衡。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、运动员反馈</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穿起来挺舒服</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，整体舒适度较好。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初上脚外踝有点卡</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，存在局部压迫感。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鞋带稍短</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，使用便利性还有改进空间。</a:t>
            </a:r>
          </a:p>
        </p:txBody>
      </p:sp>
      <p:graphicFrame>
        <p:nvGraphicFramePr>
          <p:cNvPr id="12" name="图表 11">
            <a:extLst>
              <a:ext uri="{FF2B5EF4-FFF2-40B4-BE49-F238E27FC236}">
                <a16:creationId xmlns:a16="http://schemas.microsoft.com/office/drawing/2014/main" id="{217C473F-0220-BC63-7053-C7ED88E868CC}"/>
              </a:ext>
            </a:extLst>
          </p:cNvPr>
          <p:cNvGraphicFramePr>
            <a:graphicFrameLocks/>
          </p:cNvGraphicFramePr>
          <p:nvPr/>
        </p:nvGraphicFramePr>
        <p:xfrm>
          <a:off x="6737198" y="1080324"/>
          <a:ext cx="3175000" cy="2788342"/>
        </p:xfrm>
        <a:graphic>
          <a:graphicData uri="http://schemas.openxmlformats.org/drawingml/2006/chart">
            <c:chart xmlns:c="http://schemas.openxmlformats.org/drawingml/2006/chart" xmlns:r="http://schemas.openxmlformats.org/officeDocument/2006/relationships" r:id="rId4"/>
          </a:graphicData>
        </a:graphic>
      </p:graphicFrame>
      <p:sp>
        <p:nvSpPr>
          <p:cNvPr id="14" name="文本框 13">
            <a:extLst>
              <a:ext uri="{FF2B5EF4-FFF2-40B4-BE49-F238E27FC236}">
                <a16:creationId xmlns:a16="http://schemas.microsoft.com/office/drawing/2014/main" id="{2291E07C-6234-D591-A397-4043191CFC5D}"/>
              </a:ext>
            </a:extLst>
          </p:cNvPr>
          <p:cNvSpPr txBox="1"/>
          <p:nvPr/>
        </p:nvSpPr>
        <p:spPr>
          <a:xfrm>
            <a:off x="6565900" y="3829734"/>
            <a:ext cx="5727700" cy="2354489"/>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包裹性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鞋跟锁定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整体刚性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防侧翻</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表现较好。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回弹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整体舒适度</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表现尚可，整体反馈为</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其他都还行</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抓地力不足</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，反馈为</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急停时容易打滑</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透气性一般</a:t>
            </a:r>
            <a:endPar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endParaRPr>
          </a:p>
        </p:txBody>
      </p:sp>
      <p:pic>
        <p:nvPicPr>
          <p:cNvPr id="1026" name="Picture 2">
            <a:extLst>
              <a:ext uri="{FF2B5EF4-FFF2-40B4-BE49-F238E27FC236}">
                <a16:creationId xmlns:a16="http://schemas.microsoft.com/office/drawing/2014/main" id="{E2DE9053-B845-B810-AEBE-5923962D184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80466" y="1307163"/>
            <a:ext cx="1600198" cy="21335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BEC0FD8-A8EA-B143-6F9B-26F4C15842A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69500" y="1267769"/>
            <a:ext cx="1695299" cy="2260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606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7A404-B872-060B-C8DF-4162D979A39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64FF30C-35AD-4D87-ECBF-06702C617F43}"/>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实战测试</a:t>
            </a:r>
          </a:p>
        </p:txBody>
      </p:sp>
      <p:cxnSp>
        <p:nvCxnSpPr>
          <p:cNvPr id="4" name="直接连接符 3">
            <a:extLst>
              <a:ext uri="{FF2B5EF4-FFF2-40B4-BE49-F238E27FC236}">
                <a16:creationId xmlns:a16="http://schemas.microsoft.com/office/drawing/2014/main" id="{75A2D853-2E2F-5DDC-32E0-A63048CBCDF3}"/>
              </a:ext>
            </a:extLst>
          </p:cNvPr>
          <p:cNvCxnSpPr/>
          <p:nvPr/>
        </p:nvCxnSpPr>
        <p:spPr>
          <a:xfrm>
            <a:off x="6096000" y="381000"/>
            <a:ext cx="0" cy="5842000"/>
          </a:xfrm>
          <a:prstGeom prst="line">
            <a:avLst/>
          </a:prstGeom>
          <a:noFill/>
          <a:ln w="6350" cap="flat">
            <a:solidFill>
              <a:srgbClr val="FF0000"/>
            </a:solidFill>
            <a:prstDash val="dash"/>
            <a:round/>
          </a:ln>
          <a:effectLst/>
          <a:extLst>
            <a:ext uri="{AF507438-7753-43E0-B8FC-AC1667EBCBE1}">
              <a14:hiddenEffects xmlns:a14="http://schemas.microsoft.com/office/drawing/2010/main">
                <a:effectLst>
                  <a:outerShdw blurRad="50800" dist="38100" dir="5400000" rotWithShape="0">
                    <a:srgbClr val="000000">
                      <a:alpha val="43137"/>
                    </a:srgbClr>
                  </a:outerShdw>
                </a:effectLst>
              </a14:hiddenEffects>
            </a:ext>
          </a:extLst>
        </p:spPr>
        <p:style>
          <a:lnRef idx="0">
            <a:scrgbClr r="0" g="0" b="0"/>
          </a:lnRef>
          <a:fillRef idx="0">
            <a:scrgbClr r="0" g="0" b="0"/>
          </a:fillRef>
          <a:effectRef idx="0">
            <a:scrgbClr r="0" g="0" b="0"/>
          </a:effectRef>
          <a:fontRef idx="none"/>
        </p:style>
      </p:cxnSp>
      <p:graphicFrame>
        <p:nvGraphicFramePr>
          <p:cNvPr id="8" name="图表 7">
            <a:extLst>
              <a:ext uri="{FF2B5EF4-FFF2-40B4-BE49-F238E27FC236}">
                <a16:creationId xmlns:a16="http://schemas.microsoft.com/office/drawing/2014/main" id="{BBE4C7F3-CC02-2C2F-2838-07545866C9BB}"/>
              </a:ext>
            </a:extLst>
          </p:cNvPr>
          <p:cNvGraphicFramePr>
            <a:graphicFrameLocks/>
          </p:cNvGraphicFramePr>
          <p:nvPr/>
        </p:nvGraphicFramePr>
        <p:xfrm>
          <a:off x="838200" y="980728"/>
          <a:ext cx="3175000" cy="2948781"/>
        </p:xfrm>
        <a:graphic>
          <a:graphicData uri="http://schemas.openxmlformats.org/drawingml/2006/chart">
            <c:chart xmlns:c="http://schemas.openxmlformats.org/drawingml/2006/chart" xmlns:r="http://schemas.openxmlformats.org/officeDocument/2006/relationships" r:id="rId3"/>
          </a:graphicData>
        </a:graphic>
      </p:graphicFrame>
      <p:sp>
        <p:nvSpPr>
          <p:cNvPr id="10" name="文本框 9">
            <a:extLst>
              <a:ext uri="{FF2B5EF4-FFF2-40B4-BE49-F238E27FC236}">
                <a16:creationId xmlns:a16="http://schemas.microsoft.com/office/drawing/2014/main" id="{8E3FF153-55C9-805C-EB4F-796B3184F6BA}"/>
              </a:ext>
            </a:extLst>
          </p:cNvPr>
          <p:cNvSpPr txBox="1"/>
          <p:nvPr/>
        </p:nvSpPr>
        <p:spPr>
          <a:xfrm>
            <a:off x="354484" y="4084738"/>
            <a:ext cx="5727700" cy="2354489"/>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抓地力</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整体刚性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防侧翻</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耐用性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表现较好。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场地感不错</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、外观反馈为</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黑色耐看</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，整体舒适度尚可。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略微板脚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有点掉跟</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，前掌</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有点硬</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鞋面质感偏肥</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p>
        </p:txBody>
      </p:sp>
      <p:graphicFrame>
        <p:nvGraphicFramePr>
          <p:cNvPr id="12" name="图表 11">
            <a:extLst>
              <a:ext uri="{FF2B5EF4-FFF2-40B4-BE49-F238E27FC236}">
                <a16:creationId xmlns:a16="http://schemas.microsoft.com/office/drawing/2014/main" id="{D3A13DE8-9E79-3579-6382-CEE723CC8D11}"/>
              </a:ext>
            </a:extLst>
          </p:cNvPr>
          <p:cNvGraphicFramePr>
            <a:graphicFrameLocks/>
          </p:cNvGraphicFramePr>
          <p:nvPr/>
        </p:nvGraphicFramePr>
        <p:xfrm>
          <a:off x="6896100" y="980728"/>
          <a:ext cx="3175000" cy="2948781"/>
        </p:xfrm>
        <a:graphic>
          <a:graphicData uri="http://schemas.openxmlformats.org/drawingml/2006/chart">
            <c:chart xmlns:c="http://schemas.openxmlformats.org/drawingml/2006/chart" xmlns:r="http://schemas.openxmlformats.org/officeDocument/2006/relationships" r:id="rId4"/>
          </a:graphicData>
        </a:graphic>
      </p:graphicFrame>
      <p:sp>
        <p:nvSpPr>
          <p:cNvPr id="14" name="文本框 13">
            <a:extLst>
              <a:ext uri="{FF2B5EF4-FFF2-40B4-BE49-F238E27FC236}">
                <a16:creationId xmlns:a16="http://schemas.microsoft.com/office/drawing/2014/main" id="{22C6DC15-2B57-AC05-8EA2-A57BA10E9066}"/>
              </a:ext>
            </a:extLst>
          </p:cNvPr>
          <p:cNvSpPr txBox="1"/>
          <p:nvPr/>
        </p:nvSpPr>
        <p:spPr>
          <a:xfrm>
            <a:off x="6350000" y="4008884"/>
            <a:ext cx="5727700" cy="2354489"/>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包裹性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鞋跟锁定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抓地力</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整体刚性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防侧翻</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表现突出。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跟脚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且</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鞋面强度够</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变向形变少</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启动响应快</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透气性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和</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耐用性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表现优秀。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缓震较为薄弱</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，且</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后跟稍硬</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p>
        </p:txBody>
      </p:sp>
    </p:spTree>
    <p:extLst>
      <p:ext uri="{BB962C8B-B14F-4D97-AF65-F5344CB8AC3E}">
        <p14:creationId xmlns:p14="http://schemas.microsoft.com/office/powerpoint/2010/main" val="153938942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90BD-502A-10F6-001E-22CB7EE67B0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A775F1A-1FE5-A86C-09B3-88818E40491E}"/>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实战测试</a:t>
            </a:r>
          </a:p>
        </p:txBody>
      </p:sp>
      <p:cxnSp>
        <p:nvCxnSpPr>
          <p:cNvPr id="4" name="直接连接符 3">
            <a:extLst>
              <a:ext uri="{FF2B5EF4-FFF2-40B4-BE49-F238E27FC236}">
                <a16:creationId xmlns:a16="http://schemas.microsoft.com/office/drawing/2014/main" id="{253E0FEE-60B9-8BC7-EA62-01E3C6C71A51}"/>
              </a:ext>
            </a:extLst>
          </p:cNvPr>
          <p:cNvCxnSpPr/>
          <p:nvPr/>
        </p:nvCxnSpPr>
        <p:spPr>
          <a:xfrm>
            <a:off x="6096000" y="381000"/>
            <a:ext cx="0" cy="5842000"/>
          </a:xfrm>
          <a:prstGeom prst="line">
            <a:avLst/>
          </a:prstGeom>
          <a:noFill/>
          <a:ln w="6350" cap="flat">
            <a:solidFill>
              <a:srgbClr val="FF0000"/>
            </a:solidFill>
            <a:prstDash val="dash"/>
            <a:round/>
          </a:ln>
          <a:effectLst/>
          <a:extLst>
            <a:ext uri="{AF507438-7753-43E0-B8FC-AC1667EBCBE1}">
              <a14:hiddenEffects xmlns:a14="http://schemas.microsoft.com/office/drawing/2010/main">
                <a:effectLst>
                  <a:outerShdw blurRad="50800" dist="38100" dir="5400000" rotWithShape="0">
                    <a:srgbClr val="000000">
                      <a:alpha val="43137"/>
                    </a:srgbClr>
                  </a:outerShdw>
                </a:effectLst>
              </a14:hiddenEffects>
            </a:ext>
          </a:extLst>
        </p:spPr>
        <p:style>
          <a:lnRef idx="0">
            <a:scrgbClr r="0" g="0" b="0"/>
          </a:lnRef>
          <a:fillRef idx="0">
            <a:scrgbClr r="0" g="0" b="0"/>
          </a:fillRef>
          <a:effectRef idx="0">
            <a:scrgbClr r="0" g="0" b="0"/>
          </a:effectRef>
          <a:fontRef idx="none"/>
        </p:style>
      </p:cxnSp>
      <p:graphicFrame>
        <p:nvGraphicFramePr>
          <p:cNvPr id="8" name="图表 7">
            <a:extLst>
              <a:ext uri="{FF2B5EF4-FFF2-40B4-BE49-F238E27FC236}">
                <a16:creationId xmlns:a16="http://schemas.microsoft.com/office/drawing/2014/main" id="{453EFB28-EA31-4835-9840-8066D8F18A1B}"/>
              </a:ext>
            </a:extLst>
          </p:cNvPr>
          <p:cNvGraphicFramePr>
            <a:graphicFrameLocks/>
          </p:cNvGraphicFramePr>
          <p:nvPr/>
        </p:nvGraphicFramePr>
        <p:xfrm>
          <a:off x="859632" y="980728"/>
          <a:ext cx="3175000" cy="2804765"/>
        </p:xfrm>
        <a:graphic>
          <a:graphicData uri="http://schemas.openxmlformats.org/drawingml/2006/chart">
            <c:chart xmlns:c="http://schemas.openxmlformats.org/drawingml/2006/chart" xmlns:r="http://schemas.openxmlformats.org/officeDocument/2006/relationships" r:id="rId3"/>
          </a:graphicData>
        </a:graphic>
      </p:graphicFrame>
      <p:sp>
        <p:nvSpPr>
          <p:cNvPr id="10" name="文本框 9">
            <a:extLst>
              <a:ext uri="{FF2B5EF4-FFF2-40B4-BE49-F238E27FC236}">
                <a16:creationId xmlns:a16="http://schemas.microsoft.com/office/drawing/2014/main" id="{FC8C344A-E297-2408-DB3D-405B488CBCD6}"/>
              </a:ext>
            </a:extLst>
          </p:cNvPr>
          <p:cNvSpPr txBox="1"/>
          <p:nvPr/>
        </p:nvSpPr>
        <p:spPr>
          <a:xfrm>
            <a:off x="330200" y="4152900"/>
            <a:ext cx="5727700" cy="2677654"/>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包裹感强</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鞋跟锁定好</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，穿着</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很舒服</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整体刚性可以</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缓震好</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对弹跳有帮助</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耐用性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表现突出，轻量化、透气性、回弹表现较均衡。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抓地力一般</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，反馈为</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突破横移时有一点滑</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、横向移动时</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稳定性略受影响</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，抓地仍需继续观察。</a:t>
            </a:r>
          </a:p>
        </p:txBody>
      </p:sp>
      <p:graphicFrame>
        <p:nvGraphicFramePr>
          <p:cNvPr id="12" name="图表 11">
            <a:extLst>
              <a:ext uri="{FF2B5EF4-FFF2-40B4-BE49-F238E27FC236}">
                <a16:creationId xmlns:a16="http://schemas.microsoft.com/office/drawing/2014/main" id="{20F2F8B0-4EB3-5F25-B187-2A4575AEE7BB}"/>
              </a:ext>
            </a:extLst>
          </p:cNvPr>
          <p:cNvGraphicFramePr>
            <a:graphicFrameLocks/>
          </p:cNvGraphicFramePr>
          <p:nvPr/>
        </p:nvGraphicFramePr>
        <p:xfrm>
          <a:off x="6917532" y="980728"/>
          <a:ext cx="3175000" cy="2804765"/>
        </p:xfrm>
        <a:graphic>
          <a:graphicData uri="http://schemas.openxmlformats.org/drawingml/2006/chart">
            <c:chart xmlns:c="http://schemas.openxmlformats.org/drawingml/2006/chart" xmlns:r="http://schemas.openxmlformats.org/officeDocument/2006/relationships" r:id="rId4"/>
          </a:graphicData>
        </a:graphic>
      </p:graphicFrame>
      <p:sp>
        <p:nvSpPr>
          <p:cNvPr id="14" name="文本框 13">
            <a:extLst>
              <a:ext uri="{FF2B5EF4-FFF2-40B4-BE49-F238E27FC236}">
                <a16:creationId xmlns:a16="http://schemas.microsoft.com/office/drawing/2014/main" id="{395C29E7-176C-7BE9-556E-36A1760AF69F}"/>
              </a:ext>
            </a:extLst>
          </p:cNvPr>
          <p:cNvSpPr txBox="1"/>
          <p:nvPr/>
        </p:nvSpPr>
        <p:spPr>
          <a:xfrm>
            <a:off x="6240016" y="4152900"/>
            <a:ext cx="6298727" cy="2677654"/>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贴合度较上一轮提升</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，足弓</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支撑还可以</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缓震</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回弹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轻量化</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透气性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耐用性</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表现较均衡。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颜值比较能打</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后脚跟包裹相较上轮有所提高，但是还是锁定略有不足</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，且</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鞋带偏短</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木地板抓地不够，打滑</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p>
        </p:txBody>
      </p:sp>
    </p:spTree>
    <p:extLst>
      <p:ext uri="{BB962C8B-B14F-4D97-AF65-F5344CB8AC3E}">
        <p14:creationId xmlns:p14="http://schemas.microsoft.com/office/powerpoint/2010/main" val="251684692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B3F6-082A-05F5-316B-4B5F5B4CFB2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94EE2F6-C9E3-0D4F-A07A-F06EBF8CE3D8}"/>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实战测试</a:t>
            </a:r>
          </a:p>
        </p:txBody>
      </p:sp>
      <p:cxnSp>
        <p:nvCxnSpPr>
          <p:cNvPr id="4" name="直接连接符 3">
            <a:extLst>
              <a:ext uri="{FF2B5EF4-FFF2-40B4-BE49-F238E27FC236}">
                <a16:creationId xmlns:a16="http://schemas.microsoft.com/office/drawing/2014/main" id="{89B6C039-95E5-74E9-5685-8ED37299A86D}"/>
              </a:ext>
            </a:extLst>
          </p:cNvPr>
          <p:cNvCxnSpPr/>
          <p:nvPr/>
        </p:nvCxnSpPr>
        <p:spPr>
          <a:xfrm>
            <a:off x="6096000" y="381000"/>
            <a:ext cx="0" cy="5842000"/>
          </a:xfrm>
          <a:prstGeom prst="line">
            <a:avLst/>
          </a:prstGeom>
          <a:noFill/>
          <a:ln w="6350" cap="flat">
            <a:solidFill>
              <a:srgbClr val="FF0000"/>
            </a:solidFill>
            <a:prstDash val="dash"/>
            <a:round/>
          </a:ln>
          <a:effectLst/>
          <a:extLst>
            <a:ext uri="{AF507438-7753-43E0-B8FC-AC1667EBCBE1}">
              <a14:hiddenEffects xmlns:a14="http://schemas.microsoft.com/office/drawing/2010/main">
                <a:effectLst>
                  <a:outerShdw blurRad="50800" dist="38100" dir="5400000" rotWithShape="0">
                    <a:srgbClr val="000000">
                      <a:alpha val="43137"/>
                    </a:srgbClr>
                  </a:outerShdw>
                </a:effectLst>
              </a14:hiddenEffects>
            </a:ext>
          </a:extLst>
        </p:spPr>
        <p:style>
          <a:lnRef idx="0">
            <a:scrgbClr r="0" g="0" b="0"/>
          </a:lnRef>
          <a:fillRef idx="0">
            <a:scrgbClr r="0" g="0" b="0"/>
          </a:fillRef>
          <a:effectRef idx="0">
            <a:scrgbClr r="0" g="0" b="0"/>
          </a:effectRef>
          <a:fontRef idx="none"/>
        </p:style>
      </p:cxnSp>
      <p:graphicFrame>
        <p:nvGraphicFramePr>
          <p:cNvPr id="8" name="图表 7">
            <a:extLst>
              <a:ext uri="{FF2B5EF4-FFF2-40B4-BE49-F238E27FC236}">
                <a16:creationId xmlns:a16="http://schemas.microsoft.com/office/drawing/2014/main" id="{6A0EFD50-CE54-3E0D-A548-0BCE4F7A855C}"/>
              </a:ext>
            </a:extLst>
          </p:cNvPr>
          <p:cNvGraphicFramePr>
            <a:graphicFrameLocks/>
          </p:cNvGraphicFramePr>
          <p:nvPr/>
        </p:nvGraphicFramePr>
        <p:xfrm>
          <a:off x="838200" y="1340768"/>
          <a:ext cx="3175000" cy="2732757"/>
        </p:xfrm>
        <a:graphic>
          <a:graphicData uri="http://schemas.openxmlformats.org/drawingml/2006/chart">
            <c:chart xmlns:c="http://schemas.openxmlformats.org/drawingml/2006/chart" xmlns:r="http://schemas.openxmlformats.org/officeDocument/2006/relationships" r:id="rId3"/>
          </a:graphicData>
        </a:graphic>
      </p:graphicFrame>
      <p:sp>
        <p:nvSpPr>
          <p:cNvPr id="10" name="文本框 9">
            <a:extLst>
              <a:ext uri="{FF2B5EF4-FFF2-40B4-BE49-F238E27FC236}">
                <a16:creationId xmlns:a16="http://schemas.microsoft.com/office/drawing/2014/main" id="{8DF621D5-5A98-940D-3DCF-35618ACB9133}"/>
              </a:ext>
            </a:extLst>
          </p:cNvPr>
          <p:cNvSpPr txBox="1"/>
          <p:nvPr/>
        </p:nvSpPr>
        <p:spPr>
          <a:xfrm>
            <a:off x="368300" y="4141038"/>
            <a:ext cx="5727700" cy="2031323"/>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nSpc>
                <a:spcPct val="150000"/>
              </a:lnSpc>
            </a:pP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优点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鞋脚一体性不错</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，且</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改善了掉后跟问题</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，变向、突破时较</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跟脚</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脚感反馈不错</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，缓震、回弹、整体舒适度表现较好。
</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缺点</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1</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抓地力可加强</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，在</a:t>
            </a:r>
            <a:r>
              <a:rPr kumimoji="0" lang="zh-CN" altLang="en-US" sz="14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木地板有打滑现象</a:t>
            </a:r>
            <a:r>
              <a:rPr kumimoji="0" lang="zh-CN" altLang="en-US" sz="1400" b="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p>
        </p:txBody>
      </p:sp>
    </p:spTree>
    <p:extLst>
      <p:ext uri="{BB962C8B-B14F-4D97-AF65-F5344CB8AC3E}">
        <p14:creationId xmlns:p14="http://schemas.microsoft.com/office/powerpoint/2010/main" val="10944240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E08AD72-B67D-5953-455B-BB09A4D1B6B8}"/>
              </a:ext>
            </a:extLst>
          </p:cNvPr>
          <p:cNvSpPr txBox="1"/>
          <p:nvPr/>
        </p:nvSpPr>
        <p:spPr>
          <a:xfrm>
            <a:off x="190500" y="190499"/>
            <a:ext cx="2032000" cy="584773"/>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dirty="0">
                <a:ln>
                  <a:noFill/>
                </a:ln>
                <a:solidFill>
                  <a:srgbClr val="FFFFFF"/>
                </a:solidFill>
                <a:effectLst/>
                <a:uFillTx/>
                <a:latin typeface="Arial" panose="020B0604020202020204" pitchFamily="34" charset="0"/>
                <a:ea typeface="微软雅黑" panose="020B0503020204020204" pitchFamily="34" charset="-122"/>
                <a:cs typeface="Arial"/>
                <a:sym typeface="Arial"/>
              </a:rPr>
              <a:t>鞋垫选择</a:t>
            </a:r>
          </a:p>
        </p:txBody>
      </p:sp>
      <p:pic>
        <p:nvPicPr>
          <p:cNvPr id="4" name="图片 3">
            <a:extLst>
              <a:ext uri="{FF2B5EF4-FFF2-40B4-BE49-F238E27FC236}">
                <a16:creationId xmlns:a16="http://schemas.microsoft.com/office/drawing/2014/main" id="{DDAE8EEF-7CBC-998A-C1BA-E38668A36D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9416" y="1294285"/>
            <a:ext cx="3202072" cy="4269430"/>
          </a:xfrm>
          <a:prstGeom prst="rect">
            <a:avLst/>
          </a:prstGeom>
        </p:spPr>
      </p:pic>
      <p:sp>
        <p:nvSpPr>
          <p:cNvPr id="5" name="文本框 4">
            <a:extLst>
              <a:ext uri="{FF2B5EF4-FFF2-40B4-BE49-F238E27FC236}">
                <a16:creationId xmlns:a16="http://schemas.microsoft.com/office/drawing/2014/main" id="{7D814F91-F95E-AB29-DC58-0C343115A915}"/>
              </a:ext>
            </a:extLst>
          </p:cNvPr>
          <p:cNvSpPr txBox="1"/>
          <p:nvPr/>
        </p:nvSpPr>
        <p:spPr>
          <a:xfrm>
            <a:off x="1206839" y="5713398"/>
            <a:ext cx="1015661" cy="369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Arial"/>
                <a:ea typeface="Arial"/>
                <a:cs typeface="Arial"/>
                <a:sym typeface="Arial"/>
              </a:rPr>
              <a:t>原配鞋垫</a:t>
            </a:r>
          </a:p>
        </p:txBody>
      </p:sp>
      <p:sp>
        <p:nvSpPr>
          <p:cNvPr id="6" name="文本框 5">
            <a:extLst>
              <a:ext uri="{FF2B5EF4-FFF2-40B4-BE49-F238E27FC236}">
                <a16:creationId xmlns:a16="http://schemas.microsoft.com/office/drawing/2014/main" id="{CD5C3FD4-B658-77EE-C2CD-5B1641DF54DE}"/>
              </a:ext>
            </a:extLst>
          </p:cNvPr>
          <p:cNvSpPr txBox="1"/>
          <p:nvPr/>
        </p:nvSpPr>
        <p:spPr>
          <a:xfrm>
            <a:off x="2567608" y="5713398"/>
            <a:ext cx="1015661" cy="369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Arial"/>
                <a:ea typeface="Arial"/>
                <a:cs typeface="Arial"/>
                <a:sym typeface="Arial"/>
              </a:rPr>
              <a:t>加测鞋垫</a:t>
            </a:r>
          </a:p>
        </p:txBody>
      </p:sp>
      <p:sp>
        <p:nvSpPr>
          <p:cNvPr id="7" name="文本框 6">
            <a:extLst>
              <a:ext uri="{FF2B5EF4-FFF2-40B4-BE49-F238E27FC236}">
                <a16:creationId xmlns:a16="http://schemas.microsoft.com/office/drawing/2014/main" id="{FD772F29-5839-33CC-9FED-FB89E3A57A3F}"/>
              </a:ext>
            </a:extLst>
          </p:cNvPr>
          <p:cNvSpPr txBox="1"/>
          <p:nvPr/>
        </p:nvSpPr>
        <p:spPr>
          <a:xfrm>
            <a:off x="4511824" y="1294285"/>
            <a:ext cx="2413479" cy="64632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pPr>
            <a:r>
              <a:rPr lang="zh-CN" altLang="en-US" dirty="0"/>
              <a:t>原配鞋垫厚度：</a:t>
            </a:r>
            <a:r>
              <a:rPr lang="en-US" altLang="zh-CN" dirty="0"/>
              <a:t>5.1mm</a:t>
            </a:r>
          </a:p>
          <a:p>
            <a:pPr marL="0" marR="0" indent="0" algn="l" defTabSz="457200" rtl="0" fontAlgn="auto" latinLnBrk="0" hangingPunct="0">
              <a:lnSpc>
                <a:spcPct val="100000"/>
              </a:lnSpc>
              <a:spcBef>
                <a:spcPts val="0"/>
              </a:spcBef>
              <a:spcAft>
                <a:spcPts val="0"/>
              </a:spcAft>
              <a:buClrTx/>
              <a:buSzTx/>
              <a:buFontTx/>
              <a:buNone/>
            </a:pPr>
            <a:r>
              <a:rPr lang="zh-CN" altLang="en-US" dirty="0"/>
              <a:t>加测鞋垫厚度：</a:t>
            </a:r>
            <a:r>
              <a:rPr lang="en-US" altLang="zh-CN" dirty="0"/>
              <a:t>4.7mm</a:t>
            </a:r>
          </a:p>
        </p:txBody>
      </p:sp>
      <p:sp>
        <p:nvSpPr>
          <p:cNvPr id="8" name="文本框 7">
            <a:extLst>
              <a:ext uri="{FF2B5EF4-FFF2-40B4-BE49-F238E27FC236}">
                <a16:creationId xmlns:a16="http://schemas.microsoft.com/office/drawing/2014/main" id="{3BFB5CAE-7CEC-09DF-2438-4523A037B9BB}"/>
              </a:ext>
            </a:extLst>
          </p:cNvPr>
          <p:cNvSpPr txBox="1"/>
          <p:nvPr/>
        </p:nvSpPr>
        <p:spPr>
          <a:xfrm>
            <a:off x="4511824" y="2348880"/>
            <a:ext cx="3990834" cy="17543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5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Arial"/>
                <a:ea typeface="Arial"/>
                <a:cs typeface="Arial"/>
                <a:sym typeface="Arial"/>
              </a:rPr>
              <a:t>受试者试穿反馈：</a:t>
            </a:r>
            <a:endParaRPr kumimoji="0" lang="en-US" altLang="zh-CN" sz="1800" b="0" i="0" u="none" strike="noStrike" cap="none" spc="0" normalizeH="0" baseline="0" dirty="0">
              <a:ln>
                <a:noFill/>
              </a:ln>
              <a:solidFill>
                <a:srgbClr val="000000"/>
              </a:solidFill>
              <a:effectLst/>
              <a:uFillTx/>
              <a:latin typeface="Arial"/>
              <a:ea typeface="Arial"/>
              <a:cs typeface="Arial"/>
              <a:sym typeface="Arial"/>
            </a:endParaRPr>
          </a:p>
          <a:p>
            <a:pPr marL="342900" marR="0" indent="-342900" algn="l" defTabSz="457200" rtl="0" fontAlgn="auto" latinLnBrk="0" hangingPunct="0">
              <a:lnSpc>
                <a:spcPct val="150000"/>
              </a:lnSpc>
              <a:spcBef>
                <a:spcPts val="0"/>
              </a:spcBef>
              <a:spcAft>
                <a:spcPts val="0"/>
              </a:spcAft>
              <a:buClrTx/>
              <a:buSzTx/>
              <a:buFontTx/>
              <a:buAutoNum type="arabicPeriod"/>
            </a:pPr>
            <a:r>
              <a:rPr lang="zh-CN" altLang="en-US" dirty="0"/>
              <a:t>二者差异不大（</a:t>
            </a:r>
            <a:r>
              <a:rPr lang="en-US" altLang="zh-CN" dirty="0"/>
              <a:t>2/4</a:t>
            </a:r>
            <a:r>
              <a:rPr lang="zh-CN" altLang="en-US" dirty="0"/>
              <a:t>）</a:t>
            </a:r>
            <a:endParaRPr lang="en-US" altLang="zh-CN" dirty="0"/>
          </a:p>
          <a:p>
            <a:pPr marL="342900" marR="0" indent="-342900" algn="l" defTabSz="457200" rtl="0" fontAlgn="auto" latinLnBrk="0" hangingPunct="0">
              <a:lnSpc>
                <a:spcPct val="150000"/>
              </a:lnSpc>
              <a:spcBef>
                <a:spcPts val="0"/>
              </a:spcBef>
              <a:spcAft>
                <a:spcPts val="0"/>
              </a:spcAft>
              <a:buClrTx/>
              <a:buSzTx/>
              <a:buFontTx/>
              <a:buAutoNum type="arabicPeriod"/>
            </a:pPr>
            <a:r>
              <a:rPr lang="zh-CN" altLang="en-US" dirty="0"/>
              <a:t>原配鞋垫更厚，舒适度更高（</a:t>
            </a:r>
            <a:r>
              <a:rPr lang="en-US" altLang="zh-CN" dirty="0"/>
              <a:t>1/4</a:t>
            </a:r>
            <a:r>
              <a:rPr lang="zh-CN" altLang="en-US" dirty="0"/>
              <a:t>）</a:t>
            </a:r>
            <a:endParaRPr lang="en-US" altLang="zh-CN" dirty="0"/>
          </a:p>
          <a:p>
            <a:pPr marL="342900" marR="0" indent="-342900" algn="l" defTabSz="457200" rtl="0" fontAlgn="auto" latinLnBrk="0" hangingPunct="0">
              <a:lnSpc>
                <a:spcPct val="150000"/>
              </a:lnSpc>
              <a:spcBef>
                <a:spcPts val="0"/>
              </a:spcBef>
              <a:spcAft>
                <a:spcPts val="0"/>
              </a:spcAft>
              <a:buClrTx/>
              <a:buSzTx/>
              <a:buFontTx/>
              <a:buAutoNum type="arabicPeriod"/>
            </a:pPr>
            <a:r>
              <a:rPr kumimoji="0" lang="zh-CN" altLang="en-US" sz="1800" b="0" i="0" u="none" strike="noStrike" cap="none" spc="0" normalizeH="0" baseline="0" dirty="0">
                <a:ln>
                  <a:noFill/>
                </a:ln>
                <a:solidFill>
                  <a:srgbClr val="000000"/>
                </a:solidFill>
                <a:effectLst/>
                <a:uFillTx/>
                <a:latin typeface="Arial"/>
                <a:ea typeface="Arial"/>
                <a:cs typeface="Arial"/>
                <a:sym typeface="Arial"/>
              </a:rPr>
              <a:t>加测鞋垫回弹反馈更强（</a:t>
            </a:r>
            <a:r>
              <a:rPr kumimoji="0" lang="en-US" altLang="zh-CN" sz="1800" b="0" i="0" u="none" strike="noStrike" cap="none" spc="0" normalizeH="0" baseline="0" dirty="0">
                <a:ln>
                  <a:noFill/>
                </a:ln>
                <a:solidFill>
                  <a:srgbClr val="000000"/>
                </a:solidFill>
                <a:effectLst/>
                <a:uFillTx/>
                <a:latin typeface="Arial"/>
                <a:ea typeface="Arial"/>
                <a:cs typeface="Arial"/>
                <a:sym typeface="Arial"/>
              </a:rPr>
              <a:t>1/4</a:t>
            </a:r>
            <a:r>
              <a:rPr kumimoji="0" lang="zh-CN" altLang="en-US" sz="1800" b="0" i="0" u="none" strike="noStrike" cap="none" spc="0" normalizeH="0" baseline="0" dirty="0">
                <a:ln>
                  <a:noFill/>
                </a:ln>
                <a:solidFill>
                  <a:srgbClr val="000000"/>
                </a:solidFill>
                <a:effectLst/>
                <a:uFillTx/>
                <a:latin typeface="Arial"/>
                <a:ea typeface="Arial"/>
                <a:cs typeface="Arial"/>
                <a:sym typeface="Arial"/>
              </a:rPr>
              <a:t>）</a:t>
            </a:r>
          </a:p>
        </p:txBody>
      </p:sp>
    </p:spTree>
    <p:extLst>
      <p:ext uri="{BB962C8B-B14F-4D97-AF65-F5344CB8AC3E}">
        <p14:creationId xmlns:p14="http://schemas.microsoft.com/office/powerpoint/2010/main" val="86823480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675F-0531-E791-D08C-E475C542DEC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92C2C22-E1B8-44BF-CB17-2FF593059D7E}"/>
              </a:ext>
            </a:extLst>
          </p:cNvPr>
          <p:cNvSpPr txBox="1"/>
          <p:nvPr/>
        </p:nvSpPr>
        <p:spPr>
          <a:xfrm>
            <a:off x="190500" y="190499"/>
            <a:ext cx="2032000" cy="635000"/>
          </a:xfrm>
          <a:prstGeom prst="rect">
            <a:avLst/>
          </a:prstGeom>
          <a:solidFill>
            <a:srgbClr val="000000"/>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457200" rtl="0" fontAlgn="auto" latinLnBrk="0" hangingPunct="0">
              <a:spcBef>
                <a:spcPts val="0"/>
              </a:spcBef>
              <a:spcAft>
                <a:spcPts val="0"/>
              </a:spcAft>
              <a:buClrTx/>
              <a:buSzTx/>
              <a:buFontTx/>
              <a:buNone/>
            </a:pPr>
            <a:r>
              <a:rPr kumimoji="0" lang="zh-CN" altLang="en-US" sz="3200" b="1" i="0" u="none" strike="noStrike" cap="none" spc="0" normalizeH="0" baseline="0">
                <a:ln>
                  <a:noFill/>
                </a:ln>
                <a:solidFill>
                  <a:srgbClr val="FFFFFF"/>
                </a:solidFill>
                <a:effectLst/>
                <a:uFillTx/>
                <a:latin typeface="Arial" panose="020B0604020202020204" pitchFamily="34" charset="0"/>
                <a:ea typeface="微软雅黑" panose="020B0503020204020204" pitchFamily="34" charset="-122"/>
                <a:cs typeface="Arial"/>
                <a:sym typeface="Arial"/>
              </a:rPr>
              <a:t>实战测试</a:t>
            </a:r>
          </a:p>
        </p:txBody>
      </p:sp>
      <p:cxnSp>
        <p:nvCxnSpPr>
          <p:cNvPr id="4" name="直接连接符 3">
            <a:extLst>
              <a:ext uri="{FF2B5EF4-FFF2-40B4-BE49-F238E27FC236}">
                <a16:creationId xmlns:a16="http://schemas.microsoft.com/office/drawing/2014/main" id="{8AE800E0-3AED-9B24-C74A-58DB93425FD6}"/>
              </a:ext>
            </a:extLst>
          </p:cNvPr>
          <p:cNvCxnSpPr/>
          <p:nvPr/>
        </p:nvCxnSpPr>
        <p:spPr>
          <a:xfrm>
            <a:off x="6096000" y="381000"/>
            <a:ext cx="0" cy="5842000"/>
          </a:xfrm>
          <a:prstGeom prst="line">
            <a:avLst/>
          </a:prstGeom>
          <a:noFill/>
          <a:ln w="6350" cap="flat">
            <a:solidFill>
              <a:srgbClr val="FF0000"/>
            </a:solidFill>
            <a:prstDash val="dash"/>
            <a:round/>
          </a:ln>
          <a:effectLst/>
          <a:extLst>
            <a:ext uri="{AF507438-7753-43E0-B8FC-AC1667EBCBE1}">
              <a14:hiddenEffects xmlns:a14="http://schemas.microsoft.com/office/drawing/2010/main">
                <a:effectLst>
                  <a:outerShdw blurRad="50800" dist="38100" dir="5400000" rotWithShape="0">
                    <a:srgbClr val="000000">
                      <a:alpha val="43137"/>
                    </a:srgbClr>
                  </a:outerShdw>
                </a:effectLst>
              </a14:hiddenEffects>
            </a:ext>
          </a:ex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4540658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8CDC9-FFDB-F43A-500B-A3823AA96D4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F244E20-B411-0A3B-1AFD-26A02E64166B}"/>
              </a:ext>
            </a:extLst>
          </p:cNvPr>
          <p:cNvSpPr/>
          <p:nvPr/>
        </p:nvSpPr>
        <p:spPr>
          <a:xfrm>
            <a:off x="191344" y="188640"/>
            <a:ext cx="902811" cy="52322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zh-CN" altLang="en-US" sz="2800" b="1" dirty="0">
                <a:solidFill>
                  <a:schemeClr val="bg1"/>
                </a:solidFill>
                <a:latin typeface="微软雅黑" pitchFamily="34" charset="-122"/>
                <a:ea typeface="微软雅黑" pitchFamily="34" charset="-122"/>
              </a:rPr>
              <a:t>总结</a:t>
            </a:r>
          </a:p>
        </p:txBody>
      </p:sp>
      <p:sp>
        <p:nvSpPr>
          <p:cNvPr id="10" name="矩形 9">
            <a:extLst>
              <a:ext uri="{FF2B5EF4-FFF2-40B4-BE49-F238E27FC236}">
                <a16:creationId xmlns:a16="http://schemas.microsoft.com/office/drawing/2014/main" id="{7F24FB33-AD36-EDBF-6F1F-CCEA6E82E951}"/>
              </a:ext>
            </a:extLst>
          </p:cNvPr>
          <p:cNvSpPr/>
          <p:nvPr/>
        </p:nvSpPr>
        <p:spPr>
          <a:xfrm>
            <a:off x="407368" y="7304072"/>
            <a:ext cx="11305256" cy="2677656"/>
          </a:xfrm>
          <a:prstGeom prst="rect">
            <a:avLst/>
          </a:prstGeom>
        </p:spPr>
        <p:txBody>
          <a:bodyPr wrap="square">
            <a:spAutoFit/>
          </a:bodyPr>
          <a:lstStyle/>
          <a:p>
            <a:pPr marL="285750" indent="-285750">
              <a:lnSpc>
                <a:spcPct val="150000"/>
              </a:lnSpc>
              <a:buFont typeface="Wingdings" pitchFamily="2" charset="2"/>
              <a:buChar char="Ø"/>
            </a:pPr>
            <a:r>
              <a:rPr lang="zh-CN" altLang="en-US" sz="1600" b="1" kern="100" dirty="0">
                <a:solidFill>
                  <a:schemeClr val="tx1"/>
                </a:solidFill>
                <a:latin typeface="微软雅黑" pitchFamily="34" charset="-122"/>
                <a:ea typeface="微软雅黑" pitchFamily="34" charset="-122"/>
                <a:cs typeface="Times New Roman" pitchFamily="18" charset="0"/>
              </a:rPr>
              <a:t>基础数据</a:t>
            </a:r>
            <a:r>
              <a:rPr lang="zh-CN" altLang="en-US" sz="1600" kern="100" dirty="0">
                <a:solidFill>
                  <a:schemeClr val="tx1"/>
                </a:solidFill>
                <a:latin typeface="微软雅黑" pitchFamily="34" charset="-122"/>
                <a:ea typeface="微软雅黑" pitchFamily="34" charset="-122"/>
                <a:cs typeface="Times New Roman" pitchFamily="18" charset="0"/>
              </a:rPr>
              <a:t>：</a:t>
            </a:r>
            <a:endParaRPr lang="en-US" altLang="zh-CN" sz="1600" kern="100" dirty="0">
              <a:solidFill>
                <a:schemeClr val="tx1"/>
              </a:solidFill>
              <a:latin typeface="微软雅黑" pitchFamily="34" charset="-122"/>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1600" b="1" kern="100" dirty="0">
                <a:solidFill>
                  <a:schemeClr val="tx1"/>
                </a:solidFill>
                <a:latin typeface="微软雅黑" pitchFamily="34" charset="-122"/>
                <a:ea typeface="微软雅黑" pitchFamily="34" charset="-122"/>
                <a:cs typeface="Times New Roman" pitchFamily="18" charset="0"/>
              </a:rPr>
              <a:t>生物力学数据</a:t>
            </a:r>
            <a:r>
              <a:rPr lang="zh-CN" altLang="en-US" sz="1600" kern="100" dirty="0">
                <a:solidFill>
                  <a:schemeClr val="tx1"/>
                </a:solidFill>
                <a:latin typeface="微软雅黑" pitchFamily="34" charset="-122"/>
                <a:ea typeface="微软雅黑" pitchFamily="34" charset="-122"/>
                <a:cs typeface="Times New Roman" pitchFamily="18" charset="0"/>
              </a:rPr>
              <a:t>：</a:t>
            </a:r>
            <a:endParaRPr lang="en-US" altLang="zh-CN" sz="1600" kern="100" dirty="0">
              <a:solidFill>
                <a:schemeClr val="tx1"/>
              </a:solidFill>
              <a:latin typeface="微软雅黑" pitchFamily="34" charset="-122"/>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1600" b="1" kern="100" dirty="0">
                <a:solidFill>
                  <a:schemeClr val="tx1"/>
                </a:solidFill>
                <a:latin typeface="微软雅黑" pitchFamily="34" charset="-122"/>
                <a:ea typeface="微软雅黑" pitchFamily="34" charset="-122"/>
                <a:cs typeface="Times New Roman" pitchFamily="18" charset="0"/>
              </a:rPr>
              <a:t>人体试穿</a:t>
            </a:r>
            <a:r>
              <a:rPr lang="zh-CN" altLang="en-US" sz="1600" kern="100" dirty="0">
                <a:solidFill>
                  <a:schemeClr val="tx1"/>
                </a:solidFill>
                <a:latin typeface="微软雅黑" pitchFamily="34" charset="-122"/>
                <a:ea typeface="微软雅黑" pitchFamily="34" charset="-122"/>
                <a:cs typeface="Times New Roman" pitchFamily="18" charset="0"/>
              </a:rPr>
              <a:t>：</a:t>
            </a:r>
            <a:endParaRPr lang="en-US" altLang="zh-CN" sz="1600" kern="100" dirty="0">
              <a:solidFill>
                <a:schemeClr val="tx1"/>
              </a:solidFill>
              <a:latin typeface="微软雅黑" pitchFamily="34" charset="-122"/>
              <a:ea typeface="微软雅黑" pitchFamily="34" charset="-122"/>
              <a:cs typeface="Times New Roman" pitchFamily="18" charset="0"/>
            </a:endParaRPr>
          </a:p>
          <a:p>
            <a:pPr marL="285750" indent="-285750">
              <a:lnSpc>
                <a:spcPct val="150000"/>
              </a:lnSpc>
              <a:buFont typeface="Wingdings" pitchFamily="2" charset="2"/>
              <a:buChar char="Ø"/>
            </a:pPr>
            <a:r>
              <a:rPr lang="zh-CN" altLang="en-US" sz="1600" b="1" kern="100" dirty="0">
                <a:solidFill>
                  <a:srgbClr val="FF0000"/>
                </a:solidFill>
                <a:latin typeface="微软雅黑" pitchFamily="34" charset="-122"/>
                <a:ea typeface="微软雅黑" pitchFamily="34" charset="-122"/>
                <a:cs typeface="Times New Roman" pitchFamily="18" charset="0"/>
              </a:rPr>
              <a:t>建议</a:t>
            </a:r>
            <a:r>
              <a:rPr lang="zh-CN" altLang="en-US" sz="1600" kern="100" dirty="0">
                <a:solidFill>
                  <a:schemeClr val="tx1"/>
                </a:solidFill>
                <a:latin typeface="微软雅黑" pitchFamily="34" charset="-122"/>
                <a:ea typeface="微软雅黑" pitchFamily="34" charset="-122"/>
                <a:cs typeface="Times New Roman" pitchFamily="18" charset="0"/>
              </a:rPr>
              <a:t>：</a:t>
            </a:r>
            <a:r>
              <a:rPr lang="zh-CN" altLang="en-US" sz="1600" dirty="0">
                <a:solidFill>
                  <a:schemeClr val="tx1"/>
                </a:solidFill>
                <a:latin typeface="微软雅黑" pitchFamily="34" charset="-122"/>
                <a:ea typeface="微软雅黑" pitchFamily="34" charset="-122"/>
              </a:rPr>
              <a:t>（</a:t>
            </a:r>
            <a:r>
              <a:rPr lang="en-US" altLang="zh-CN" sz="1600" dirty="0">
                <a:solidFill>
                  <a:schemeClr val="tx1"/>
                </a:solidFill>
                <a:latin typeface="微软雅黑" pitchFamily="34" charset="-122"/>
                <a:ea typeface="微软雅黑" pitchFamily="34" charset="-122"/>
              </a:rPr>
              <a:t>1</a:t>
            </a:r>
            <a:r>
              <a:rPr lang="zh-CN" altLang="en-US" sz="1600" dirty="0">
                <a:solidFill>
                  <a:schemeClr val="tx1"/>
                </a:solidFill>
                <a:latin typeface="微软雅黑" pitchFamily="34" charset="-122"/>
                <a:ea typeface="微软雅黑" pitchFamily="34" charset="-122"/>
              </a:rPr>
              <a:t>） 文字描述</a:t>
            </a:r>
            <a:endParaRPr lang="en-US" altLang="zh-CN" sz="1600" dirty="0">
              <a:solidFill>
                <a:schemeClr val="tx1"/>
              </a:solidFill>
              <a:latin typeface="微软雅黑" pitchFamily="34" charset="-122"/>
              <a:ea typeface="微软雅黑" pitchFamily="34" charset="-122"/>
            </a:endParaRPr>
          </a:p>
          <a:p>
            <a:pPr>
              <a:lnSpc>
                <a:spcPct val="150000"/>
              </a:lnSpc>
            </a:pPr>
            <a:r>
              <a:rPr lang="en-US" altLang="zh-CN" sz="1600" dirty="0">
                <a:solidFill>
                  <a:schemeClr val="tx1"/>
                </a:solidFill>
                <a:latin typeface="微软雅黑" pitchFamily="34" charset="-122"/>
                <a:ea typeface="微软雅黑" pitchFamily="34" charset="-122"/>
              </a:rPr>
              <a:t>               </a:t>
            </a:r>
            <a:r>
              <a:rPr lang="zh-CN" altLang="en-US" sz="1600" dirty="0">
                <a:solidFill>
                  <a:schemeClr val="tx1"/>
                </a:solidFill>
                <a:latin typeface="微软雅黑" pitchFamily="34" charset="-122"/>
                <a:ea typeface="微软雅黑" pitchFamily="34" charset="-122"/>
              </a:rPr>
              <a:t>（</a:t>
            </a:r>
            <a:r>
              <a:rPr lang="en-US" altLang="zh-CN" sz="1600" dirty="0">
                <a:solidFill>
                  <a:schemeClr val="tx1"/>
                </a:solidFill>
                <a:latin typeface="微软雅黑" pitchFamily="34" charset="-122"/>
                <a:ea typeface="微软雅黑" pitchFamily="34" charset="-122"/>
              </a:rPr>
              <a:t>2</a:t>
            </a:r>
            <a:r>
              <a:rPr lang="zh-CN" altLang="en-US" sz="1600" dirty="0">
                <a:solidFill>
                  <a:schemeClr val="tx1"/>
                </a:solidFill>
                <a:latin typeface="微软雅黑" pitchFamily="34" charset="-122"/>
                <a:ea typeface="微软雅黑" pitchFamily="34" charset="-122"/>
              </a:rPr>
              <a:t>）</a:t>
            </a:r>
            <a:endParaRPr lang="en-US" altLang="zh-CN" sz="1600" dirty="0">
              <a:solidFill>
                <a:schemeClr val="tx1"/>
              </a:solidFill>
              <a:latin typeface="微软雅黑" pitchFamily="34" charset="-122"/>
              <a:ea typeface="微软雅黑" pitchFamily="34" charset="-122"/>
            </a:endParaRPr>
          </a:p>
          <a:p>
            <a:pPr>
              <a:lnSpc>
                <a:spcPct val="150000"/>
              </a:lnSpc>
            </a:pPr>
            <a:r>
              <a:rPr lang="en-US" altLang="zh-CN" sz="1600" dirty="0">
                <a:solidFill>
                  <a:schemeClr val="tx1"/>
                </a:solidFill>
                <a:latin typeface="微软雅黑" pitchFamily="34" charset="-122"/>
                <a:ea typeface="微软雅黑" pitchFamily="34" charset="-122"/>
              </a:rPr>
              <a:t>               </a:t>
            </a:r>
            <a:r>
              <a:rPr lang="zh-CN" altLang="en-US" sz="1600" dirty="0">
                <a:solidFill>
                  <a:schemeClr val="tx1"/>
                </a:solidFill>
                <a:latin typeface="微软雅黑" pitchFamily="34" charset="-122"/>
                <a:ea typeface="微软雅黑" pitchFamily="34" charset="-122"/>
              </a:rPr>
              <a:t>（</a:t>
            </a:r>
            <a:r>
              <a:rPr lang="en-US" altLang="zh-CN" sz="1600" dirty="0">
                <a:solidFill>
                  <a:schemeClr val="tx1"/>
                </a:solidFill>
                <a:latin typeface="微软雅黑" pitchFamily="34" charset="-122"/>
                <a:ea typeface="微软雅黑" pitchFamily="34" charset="-122"/>
              </a:rPr>
              <a:t>3</a:t>
            </a:r>
            <a:r>
              <a:rPr lang="zh-CN" altLang="en-US" sz="1600" dirty="0">
                <a:solidFill>
                  <a:schemeClr val="tx1"/>
                </a:solidFill>
                <a:latin typeface="微软雅黑" pitchFamily="34" charset="-122"/>
                <a:ea typeface="微软雅黑" pitchFamily="34" charset="-122"/>
              </a:rPr>
              <a:t>）</a:t>
            </a:r>
            <a:endParaRPr lang="en-US" altLang="zh-CN" sz="1600" dirty="0">
              <a:solidFill>
                <a:schemeClr val="tx1"/>
              </a:solidFill>
              <a:latin typeface="微软雅黑" pitchFamily="34" charset="-122"/>
              <a:ea typeface="微软雅黑" pitchFamily="34" charset="-122"/>
            </a:endParaRPr>
          </a:p>
          <a:p>
            <a:pPr>
              <a:lnSpc>
                <a:spcPct val="150000"/>
              </a:lnSpc>
            </a:pPr>
            <a:r>
              <a:rPr lang="en-US" altLang="zh-CN" sz="1600" kern="100" dirty="0">
                <a:solidFill>
                  <a:schemeClr val="tx1"/>
                </a:solidFill>
                <a:latin typeface="微软雅黑" pitchFamily="34" charset="-122"/>
                <a:ea typeface="微软雅黑" pitchFamily="34" charset="-122"/>
                <a:cs typeface="Times New Roman" pitchFamily="18" charset="0"/>
              </a:rPr>
              <a:t>               </a:t>
            </a:r>
            <a:r>
              <a:rPr lang="zh-CN" altLang="en-US" sz="1600" kern="100" dirty="0">
                <a:solidFill>
                  <a:schemeClr val="tx1"/>
                </a:solidFill>
                <a:latin typeface="微软雅黑" pitchFamily="34" charset="-122"/>
                <a:ea typeface="微软雅黑" pitchFamily="34" charset="-122"/>
                <a:cs typeface="Times New Roman" pitchFamily="18" charset="0"/>
              </a:rPr>
              <a:t>（</a:t>
            </a:r>
            <a:r>
              <a:rPr lang="en-US" altLang="zh-CN" sz="1600" kern="100" dirty="0">
                <a:solidFill>
                  <a:schemeClr val="tx1"/>
                </a:solidFill>
                <a:latin typeface="微软雅黑" pitchFamily="34" charset="-122"/>
                <a:ea typeface="微软雅黑" pitchFamily="34" charset="-122"/>
                <a:cs typeface="Times New Roman" pitchFamily="18" charset="0"/>
              </a:rPr>
              <a:t>4</a:t>
            </a:r>
            <a:r>
              <a:rPr lang="zh-CN" altLang="en-US" sz="1600" kern="100" dirty="0">
                <a:solidFill>
                  <a:schemeClr val="tx1"/>
                </a:solidFill>
                <a:latin typeface="微软雅黑" pitchFamily="34" charset="-122"/>
                <a:ea typeface="微软雅黑" pitchFamily="34" charset="-122"/>
                <a:cs typeface="Times New Roman" pitchFamily="18" charset="0"/>
              </a:rPr>
              <a:t>）</a:t>
            </a:r>
            <a:endParaRPr lang="en-US" altLang="zh-CN" sz="1600" kern="100" dirty="0">
              <a:solidFill>
                <a:schemeClr val="tx1"/>
              </a:solidFill>
              <a:latin typeface="微软雅黑" pitchFamily="34" charset="-122"/>
              <a:ea typeface="微软雅黑" pitchFamily="34" charset="-122"/>
              <a:cs typeface="Times New Roman" pitchFamily="18" charset="0"/>
            </a:endParaRPr>
          </a:p>
        </p:txBody>
      </p:sp>
      <p:pic>
        <p:nvPicPr>
          <p:cNvPr id="3" name="图片 2">
            <a:extLst>
              <a:ext uri="{FF2B5EF4-FFF2-40B4-BE49-F238E27FC236}">
                <a16:creationId xmlns:a16="http://schemas.microsoft.com/office/drawing/2014/main" id="{6FAFDB84-915C-696E-8079-1AA3E96941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1130300"/>
            <a:ext cx="3238168" cy="1371600"/>
          </a:xfrm>
          <a:prstGeom prst="rect">
            <a:avLst/>
          </a:prstGeom>
        </p:spPr>
      </p:pic>
      <p:pic>
        <p:nvPicPr>
          <p:cNvPr id="4" name="图片 3">
            <a:extLst>
              <a:ext uri="{FF2B5EF4-FFF2-40B4-BE49-F238E27FC236}">
                <a16:creationId xmlns:a16="http://schemas.microsoft.com/office/drawing/2014/main" id="{F62C75A4-94BD-C1FB-FB43-549CB92E5602}"/>
              </a:ext>
            </a:extLst>
          </p:cNvPr>
          <p:cNvPicPr>
            <a:picLocks noChangeAspect="1"/>
          </p:cNvPicPr>
          <p:nvPr/>
        </p:nvPicPr>
        <p:blipFill>
          <a:blip r:embed="rId4"/>
          <a:stretch>
            <a:fillRect/>
          </a:stretch>
        </p:blipFill>
        <p:spPr>
          <a:xfrm>
            <a:off x="4793918" y="1130300"/>
            <a:ext cx="3021067" cy="1371600"/>
          </a:xfrm>
          <a:prstGeom prst="rect">
            <a:avLst/>
          </a:prstGeom>
        </p:spPr>
      </p:pic>
      <p:pic>
        <p:nvPicPr>
          <p:cNvPr id="5" name="图片 4">
            <a:extLst>
              <a:ext uri="{FF2B5EF4-FFF2-40B4-BE49-F238E27FC236}">
                <a16:creationId xmlns:a16="http://schemas.microsoft.com/office/drawing/2014/main" id="{DC72969A-D8F7-34F0-EB65-70FA71CCA694}"/>
              </a:ext>
            </a:extLst>
          </p:cNvPr>
          <p:cNvPicPr>
            <a:picLocks noChangeAspect="1"/>
          </p:cNvPicPr>
          <p:nvPr/>
        </p:nvPicPr>
        <p:blipFill>
          <a:blip r:embed="rId5"/>
          <a:stretch>
            <a:fillRect/>
          </a:stretch>
        </p:blipFill>
        <p:spPr>
          <a:xfrm>
            <a:off x="7846735" y="1130300"/>
            <a:ext cx="2884311" cy="1371600"/>
          </a:xfrm>
          <a:prstGeom prst="rect">
            <a:avLst/>
          </a:prstGeom>
        </p:spPr>
      </p:pic>
      <p:sp>
        <p:nvSpPr>
          <p:cNvPr id="7" name="文本框 6">
            <a:extLst>
              <a:ext uri="{FF2B5EF4-FFF2-40B4-BE49-F238E27FC236}">
                <a16:creationId xmlns:a16="http://schemas.microsoft.com/office/drawing/2014/main" id="{28A53D96-894A-7EEF-8CC1-415738750922}"/>
              </a:ext>
            </a:extLst>
          </p:cNvPr>
          <p:cNvSpPr txBox="1"/>
          <p:nvPr/>
        </p:nvSpPr>
        <p:spPr>
          <a:xfrm>
            <a:off x="647700" y="2603500"/>
            <a:ext cx="11455400" cy="3785650"/>
          </a:xfrm>
          <a:prstGeom prst="rect">
            <a:avLst/>
          </a:prstGeom>
          <a:solidFill>
            <a:scrgbClr r="0" g="0" b="0">
              <a:alpha val="0"/>
            </a:scrgbClr>
          </a:solid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a:lnSpc>
                <a:spcPct val="150000"/>
              </a:lnSpc>
              <a:buFont typeface="Wingdings" panose="05000000000000000000" pitchFamily="2" charset="2"/>
              <a:buChar char="n"/>
            </a:pP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优点</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1</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后跟缓震</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突出，减震</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G</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值低于</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与利刃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4V2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启动响应抓地力</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表现较强，总触地时间、第一峰值时间优于利刃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4V2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，横向摩擦系数处在非常安全范围。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FF0000"/>
                </a:solidFill>
                <a:effectLst/>
                <a:uFillTx/>
                <a:latin typeface="Arial" panose="020B0604020202020204" pitchFamily="34" charset="0"/>
                <a:ea typeface="微软雅黑" panose="020B0503020204020204" pitchFamily="34" charset="-122"/>
                <a:cs typeface="Arial"/>
                <a:sym typeface="Arial"/>
              </a:rPr>
              <a:t>抗扭转廓形稳定</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有一定基础，扭转力矩优于</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，前后掌宽度相对利刃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更宽。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缺点</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1</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轻量化一般</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，整体重量较利刃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偏重</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30.36g</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回弹性能偏弱</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，回弹率低于</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与利刃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4V2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3</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b="1" i="0" u="none" strike="noStrike" cap="none" spc="0" normalizeH="0" baseline="0" dirty="0">
                <a:ln>
                  <a:noFill/>
                </a:ln>
                <a:solidFill>
                  <a:srgbClr val="00B0F0"/>
                </a:solidFill>
                <a:effectLst/>
                <a:uFillTx/>
                <a:latin typeface="Arial" panose="020B0604020202020204" pitchFamily="34" charset="0"/>
                <a:ea typeface="微软雅黑" panose="020B0503020204020204" pitchFamily="34" charset="-122"/>
                <a:cs typeface="Arial"/>
                <a:sym typeface="Arial"/>
              </a:rPr>
              <a:t>前掌刚性不足整体刚性不及竞品</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，弯折力值低于</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FE2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与利刃</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4V2</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修改建议</a:t>
            </a:r>
            <a:r>
              <a:rPr kumimoji="0" lang="en-US" altLang="zh-CN"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
1</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、优先提升</a:t>
            </a:r>
            <a:r>
              <a:rPr kumimoji="0" lang="zh-CN" altLang="en-US" sz="1600" b="1"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回弹性能</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，在保持</a:t>
            </a:r>
            <a:r>
              <a:rPr kumimoji="0" lang="zh-CN" altLang="en-US" sz="1600" b="1"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缓震优势</a:t>
            </a:r>
            <a:r>
              <a:rPr kumimoji="0" lang="zh-CN" altLang="en-US" sz="1600" i="0" u="none" strike="noStrike" cap="none" spc="0" normalizeH="0" baseline="0" dirty="0">
                <a:ln>
                  <a:noFill/>
                </a:ln>
                <a:effectLst/>
                <a:uFillTx/>
                <a:latin typeface="Arial" panose="020B0604020202020204" pitchFamily="34" charset="0"/>
                <a:ea typeface="微软雅黑" panose="020B0503020204020204" pitchFamily="34" charset="-122"/>
                <a:cs typeface="Arial"/>
                <a:sym typeface="Arial"/>
              </a:rPr>
              <a:t>基础上优化后跟能量反馈。</a:t>
            </a:r>
          </a:p>
        </p:txBody>
      </p:sp>
    </p:spTree>
    <p:extLst>
      <p:ext uri="{BB962C8B-B14F-4D97-AF65-F5344CB8AC3E}">
        <p14:creationId xmlns:p14="http://schemas.microsoft.com/office/powerpoint/2010/main" val="228656055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CC29-EC9A-1952-EB49-281229579F5F}"/>
            </a:ext>
          </a:extLst>
        </p:cNvPr>
        <p:cNvGrpSpPr/>
        <p:nvPr/>
      </p:nvGrpSpPr>
      <p:grpSpPr>
        <a:xfrm>
          <a:off x="0" y="0"/>
          <a:ext cx="0" cy="0"/>
          <a:chOff x="0" y="0"/>
          <a:chExt cx="0" cy="0"/>
        </a:xfrm>
      </p:grpSpPr>
      <p:sp>
        <p:nvSpPr>
          <p:cNvPr id="643" name="矩形 259">
            <a:extLst>
              <a:ext uri="{FF2B5EF4-FFF2-40B4-BE49-F238E27FC236}">
                <a16:creationId xmlns:a16="http://schemas.microsoft.com/office/drawing/2014/main" id="{6779653C-B95A-CE5F-4E7C-C9D00FEDE37C}"/>
              </a:ext>
            </a:extLst>
          </p:cNvPr>
          <p:cNvSpPr txBox="1"/>
          <p:nvPr/>
        </p:nvSpPr>
        <p:spPr>
          <a:xfrm>
            <a:off x="904309" y="2569883"/>
            <a:ext cx="6479835" cy="923330"/>
          </a:xfrm>
          <a:prstGeom prst="rect">
            <a:avLst/>
          </a:prstGeom>
          <a:ln w="12700">
            <a:miter lim="400000"/>
          </a:ln>
        </p:spPr>
        <p:txBody>
          <a:bodyPr lIns="0" tIns="0" rIns="0" bIns="0">
            <a:spAutoFit/>
          </a:bodyPr>
          <a:lstStyle>
            <a:lvl1pPr>
              <a:spcBef>
                <a:spcPts val="1400"/>
              </a:spcBef>
              <a:defRPr sz="6000" b="1">
                <a:solidFill>
                  <a:srgbClr val="FFFFFF"/>
                </a:solidFill>
                <a:latin typeface="Avenir Next"/>
                <a:ea typeface="Avenir Next"/>
                <a:cs typeface="Avenir Next"/>
                <a:sym typeface="Avenir Next"/>
              </a:defRPr>
            </a:lvl1pPr>
          </a:lstStyle>
          <a:p>
            <a:r>
              <a:rPr dirty="0">
                <a:latin typeface="微软雅黑" pitchFamily="34" charset="-122"/>
                <a:ea typeface="微软雅黑" pitchFamily="34" charset="-122"/>
              </a:rPr>
              <a:t>THANK YOU</a:t>
            </a:r>
          </a:p>
        </p:txBody>
      </p:sp>
      <p:pic>
        <p:nvPicPr>
          <p:cNvPr id="645" name="Picture 3" descr="Picture 3">
            <a:extLst>
              <a:ext uri="{FF2B5EF4-FFF2-40B4-BE49-F238E27FC236}">
                <a16:creationId xmlns:a16="http://schemas.microsoft.com/office/drawing/2014/main" id="{DA325E87-22C8-DBD3-ADAD-A56643853B4D}"/>
              </a:ext>
            </a:extLst>
          </p:cNvPr>
          <p:cNvPicPr>
            <a:picLocks noChangeAspect="1"/>
          </p:cNvPicPr>
          <p:nvPr/>
        </p:nvPicPr>
        <p:blipFill>
          <a:blip r:embed="rId2" cstate="print"/>
          <a:stretch>
            <a:fillRect/>
          </a:stretch>
        </p:blipFill>
        <p:spPr>
          <a:xfrm>
            <a:off x="10583955" y="399810"/>
            <a:ext cx="1198866" cy="1126018"/>
          </a:xfrm>
          <a:prstGeom prst="rect">
            <a:avLst/>
          </a:prstGeom>
          <a:ln w="12700">
            <a:miter lim="400000"/>
            <a:headEnd/>
            <a:tailEnd/>
          </a:ln>
        </p:spPr>
      </p:pic>
      <p:sp>
        <p:nvSpPr>
          <p:cNvPr id="3" name="矩形 2">
            <a:extLst>
              <a:ext uri="{FF2B5EF4-FFF2-40B4-BE49-F238E27FC236}">
                <a16:creationId xmlns:a16="http://schemas.microsoft.com/office/drawing/2014/main" id="{0212BB30-E26C-0361-452E-8394BEF56D6B}"/>
              </a:ext>
            </a:extLst>
          </p:cNvPr>
          <p:cNvSpPr/>
          <p:nvPr/>
        </p:nvSpPr>
        <p:spPr>
          <a:xfrm>
            <a:off x="767080" y="5300980"/>
            <a:ext cx="3067685" cy="640080"/>
          </a:xfrm>
          <a:prstGeom prst="rect">
            <a:avLst/>
          </a:prstGeom>
        </p:spPr>
        <p:txBody>
          <a:bodyPr wrap="square">
            <a:spAutoFit/>
          </a:bodyPr>
          <a:lstStyle/>
          <a:p>
            <a:pPr algn="l">
              <a:lnSpc>
                <a:spcPct val="150000"/>
              </a:lnSpc>
            </a:pPr>
            <a:r>
              <a:rPr lang="zh-CN" altLang="en-US" sz="2400" b="1" dirty="0">
                <a:solidFill>
                  <a:schemeClr val="bg1"/>
                </a:solidFill>
                <a:latin typeface="微软雅黑" pitchFamily="34" charset="-122"/>
                <a:ea typeface="微软雅黑" pitchFamily="34" charset="-122"/>
              </a:rPr>
              <a:t>科技中心   </a:t>
            </a:r>
          </a:p>
        </p:txBody>
      </p:sp>
    </p:spTree>
    <p:extLst>
      <p:ext uri="{BB962C8B-B14F-4D97-AF65-F5344CB8AC3E}">
        <p14:creationId xmlns:p14="http://schemas.microsoft.com/office/powerpoint/2010/main" val="2225967891"/>
      </p:ext>
    </p:extLst>
  </p:cSld>
  <p:clrMapOvr>
    <a:masterClrMapping/>
  </p:clrMapOvr>
  <p:transition spd="med"/>
</p:sld>
</file>

<file path=ppt/theme/theme1.xml><?xml version="1.0" encoding="utf-8"?>
<a:theme xmlns:a="http://schemas.openxmlformats.org/drawingml/2006/main" name="1_包图主题2">
  <a:themeElements>
    <a:clrScheme name="包图主题2">
      <a:dk1>
        <a:srgbClr val="000000"/>
      </a:dk1>
      <a:lt1>
        <a:srgbClr val="FFFFFF"/>
      </a:lt1>
      <a:dk2>
        <a:srgbClr val="A7A7A7"/>
      </a:dk2>
      <a:lt2>
        <a:srgbClr val="535353"/>
      </a:lt2>
      <a:accent1>
        <a:srgbClr val="E53238"/>
      </a:accent1>
      <a:accent2>
        <a:srgbClr val="0064D2"/>
      </a:accent2>
      <a:accent3>
        <a:srgbClr val="801C1F"/>
      </a:accent3>
      <a:accent4>
        <a:srgbClr val="003876"/>
      </a:accent4>
      <a:accent5>
        <a:srgbClr val="621618"/>
      </a:accent5>
      <a:accent6>
        <a:srgbClr val="002B5A"/>
      </a:accent6>
      <a:hlink>
        <a:srgbClr val="0000FF"/>
      </a:hlink>
      <a:folHlink>
        <a:srgbClr val="FF00FF"/>
      </a:folHlink>
    </a:clrScheme>
    <a:fontScheme name="包图主题2">
      <a:majorFont>
        <a:latin typeface="等线"/>
        <a:ea typeface="等线"/>
        <a:cs typeface="等线"/>
      </a:majorFont>
      <a:minorFont>
        <a:latin typeface="Helvetica"/>
        <a:ea typeface="Helvetica"/>
        <a:cs typeface="Helvetica"/>
      </a:minorFont>
    </a:fontScheme>
    <a:fmtScheme name="包图主题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8100" cap="flat">
          <a:solidFill>
            <a:schemeClr val="accent1"/>
          </a:solidFill>
          <a:prstDash val="solid"/>
          <a:round/>
        </a:ln>
        <a:effectLst>
          <a:outerShdw blurRad="50800" dist="38100" dir="5400000" rotWithShape="0">
            <a:srgbClr val="000000">
              <a:alpha val="43137"/>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chemeClr val="accent1"/>
          </a:solidFill>
          <a:prstDash val="solid"/>
          <a:round/>
        </a:ln>
        <a:effectLst>
          <a:outerShdw blurRad="50800" dist="38100" dir="5400000" rotWithShape="0">
            <a:srgbClr val="000000">
              <a:alpha val="43137"/>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包图主题2">
  <a:themeElements>
    <a:clrScheme name="包图主题2">
      <a:dk1>
        <a:srgbClr val="000000"/>
      </a:dk1>
      <a:lt1>
        <a:srgbClr val="FFFFFF"/>
      </a:lt1>
      <a:dk2>
        <a:srgbClr val="A7A7A7"/>
      </a:dk2>
      <a:lt2>
        <a:srgbClr val="535353"/>
      </a:lt2>
      <a:accent1>
        <a:srgbClr val="E53238"/>
      </a:accent1>
      <a:accent2>
        <a:srgbClr val="0064D2"/>
      </a:accent2>
      <a:accent3>
        <a:srgbClr val="801C1F"/>
      </a:accent3>
      <a:accent4>
        <a:srgbClr val="003876"/>
      </a:accent4>
      <a:accent5>
        <a:srgbClr val="621618"/>
      </a:accent5>
      <a:accent6>
        <a:srgbClr val="002B5A"/>
      </a:accent6>
      <a:hlink>
        <a:srgbClr val="0000FF"/>
      </a:hlink>
      <a:folHlink>
        <a:srgbClr val="FF00FF"/>
      </a:folHlink>
    </a:clrScheme>
    <a:fontScheme name="包图主题2">
      <a:majorFont>
        <a:latin typeface="等线"/>
        <a:ea typeface="等线"/>
        <a:cs typeface="等线"/>
      </a:majorFont>
      <a:minorFont>
        <a:latin typeface="Helvetica"/>
        <a:ea typeface="Helvetica"/>
        <a:cs typeface="Helvetica"/>
      </a:minorFont>
    </a:fontScheme>
    <a:fmtScheme name="包图主题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8100" cap="flat">
          <a:solidFill>
            <a:schemeClr val="accent1"/>
          </a:solidFill>
          <a:prstDash val="solid"/>
          <a:round/>
        </a:ln>
        <a:effectLst>
          <a:outerShdw blurRad="50800" dist="38100" dir="5400000" rotWithShape="0">
            <a:srgbClr val="000000">
              <a:alpha val="43137"/>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chemeClr val="accent1"/>
          </a:solidFill>
          <a:prstDash val="solid"/>
          <a:round/>
        </a:ln>
        <a:effectLst>
          <a:outerShdw blurRad="50800" dist="38100" dir="5400000" rotWithShape="0">
            <a:srgbClr val="000000">
              <a:alpha val="43137"/>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1699</Words>
  <Application>Microsoft Office PowerPoint</Application>
  <PresentationFormat>宽屏</PresentationFormat>
  <Paragraphs>96</Paragraphs>
  <Slides>19</Slides>
  <Notes>17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等线</vt:lpstr>
      <vt:lpstr>微软雅黑</vt:lpstr>
      <vt:lpstr>Arial</vt:lpstr>
      <vt:lpstr>Wingdings</vt:lpstr>
      <vt:lpstr>1_包图主题2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K_OCEAN</dc:creator>
  <cp:lastModifiedBy>陈晶</cp:lastModifiedBy>
  <cp:revision>1086</cp:revision>
  <dcterms:created xsi:type="dcterms:W3CDTF">2019-03-25T05:53:00Z</dcterms:created>
  <dcterms:modified xsi:type="dcterms:W3CDTF">2026-06-15T02:23:08Z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2052-10.1.0.5740</vt:lpwstr>
  </property>
</Properties>
</file>