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376"/>
    <a:srgbClr val="DCB04B"/>
    <a:srgbClr val="1A1C20"/>
    <a:srgbClr val="F2F2F2"/>
    <a:srgbClr val="A6A6A6"/>
    <a:srgbClr val="FFC000"/>
    <a:srgbClr val="6C968B"/>
    <a:srgbClr val="46BDE7"/>
    <a:srgbClr val="385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5455" autoAdjust="0"/>
  </p:normalViewPr>
  <p:slideViewPr>
    <p:cSldViewPr snapToGrid="0">
      <p:cViewPr varScale="1">
        <p:scale>
          <a:sx n="112" d="100"/>
          <a:sy n="112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D:\Documents%20and%20Settings\xy29\Desktop\&#31726;&#29699;&#38795;&#35797;&#31359;&#21453;&#39304;_20250812144545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篮球鞋试穿反馈!$B$13:$B$19</c:f>
              <c:strCache>
                <c:ptCount val="7"/>
                <c:pt idx="0">
                  <c:v>抓地性</c:v>
                </c:pt>
                <c:pt idx="1">
                  <c:v>缓震性</c:v>
                </c:pt>
                <c:pt idx="2">
                  <c:v>包裹性</c:v>
                </c:pt>
                <c:pt idx="3">
                  <c:v>抗扭转性</c:v>
                </c:pt>
                <c:pt idx="4">
                  <c:v>重量</c:v>
                </c:pt>
                <c:pt idx="5">
                  <c:v>防侧翻性</c:v>
                </c:pt>
                <c:pt idx="6">
                  <c:v>耐久性</c:v>
                </c:pt>
              </c:strCache>
            </c:strRef>
          </c:cat>
          <c:val>
            <c:numRef>
              <c:f>篮球鞋试穿反馈!$C$13:$C$19</c:f>
              <c:numCache>
                <c:formatCode>General</c:formatCode>
                <c:ptCount val="7"/>
                <c:pt idx="0">
                  <c:v>7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24-4E07-8FC3-CCB368F3B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31379776"/>
        <c:axId val="231375616"/>
      </c:barChart>
      <c:catAx>
        <c:axId val="231379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1375616"/>
        <c:crosses val="autoZero"/>
        <c:auto val="1"/>
        <c:lblAlgn val="ctr"/>
        <c:lblOffset val="100"/>
        <c:noMultiLvlLbl val="0"/>
      </c:catAx>
      <c:valAx>
        <c:axId val="2313756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1379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20CF9-A20F-463D-9A66-6C44E8B29DBD}" type="datetimeFigureOut">
              <a:rPr lang="zh-CN" altLang="en-US" smtClean="0"/>
              <a:t>2026/2/9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7E47-7A88-49AF-9514-EBCEF63D2C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9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microsoft.com/office/2007/relationships/hdphoto" Target="../media/hdphoto1.wdp"/><Relationship Id="rId6" Type="http://schemas.openxmlformats.org/officeDocument/2006/relationships/image" Target="../media/image13.png"/><Relationship Id="rId7" Type="http://schemas.microsoft.com/office/2007/relationships/hdphoto" Target="../media/hdphoto2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microsoft.com/office/2007/relationships/hdphoto" Target="../media/hdphoto3.wdp"/><Relationship Id="rId5" Type="http://schemas.openxmlformats.org/officeDocument/2006/relationships/image" Target="../media/image12.png"/><Relationship Id="rId6" Type="http://schemas.microsoft.com/office/2007/relationships/hdphoto" Target="../media/hdphoto1.wdp"/><Relationship Id="rId7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microsoft.com/office/2007/relationships/hdphoto" Target="../media/hdphoto3.wdp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microsoft.com/office/2007/relationships/hdphoto" Target="../media/hdphoto2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锋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18" r="32792"/>
          <a:stretch/>
        </p:blipFill>
        <p:spPr>
          <a:xfrm rot="13839941">
            <a:off x="8267748" y="904743"/>
            <a:ext cx="1069397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1" t="14131" r="54230" b="64673"/>
          <a:stretch/>
        </p:blipFill>
        <p:spPr>
          <a:xfrm>
            <a:off x="1115872" y="2622666"/>
            <a:ext cx="878666" cy="329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4" name="直接箭头连接符 13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745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风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/>
          <a:srcRect l="32296" t="1361" r="1947" b="2744"/>
          <a:stretch/>
        </p:blipFill>
        <p:spPr>
          <a:xfrm rot="16200000">
            <a:off x="2666999" y="-2667001"/>
            <a:ext cx="6858001" cy="12192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2" name="直接箭头连接符 11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1" t="4336" r="6882" b="55627"/>
          <a:stretch/>
        </p:blipFill>
        <p:spPr>
          <a:xfrm>
            <a:off x="1207400" y="2476222"/>
            <a:ext cx="695610" cy="622388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磨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5"/>
            <a:ext cx="431472" cy="46574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587922" y="6611780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2" name="直接箭头连接符 11"/>
          <p:cNvCxnSpPr/>
          <p:nvPr userDrawn="1"/>
        </p:nvCxnSpPr>
        <p:spPr>
          <a:xfrm>
            <a:off x="11830026" y="6684862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 userDrawn="1"/>
        </p:nvSpPr>
        <p:spPr>
          <a:xfrm>
            <a:off x="11313538" y="6549112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2" t="51812" r="55809" b="19927"/>
          <a:stretch/>
        </p:blipFill>
        <p:spPr>
          <a:xfrm>
            <a:off x="1261852" y="2567751"/>
            <a:ext cx="658999" cy="43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7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战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42238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87" t="58504" r="8460" b="8524"/>
          <a:stretch/>
        </p:blipFill>
        <p:spPr>
          <a:xfrm>
            <a:off x="1248833" y="2519341"/>
            <a:ext cx="612744" cy="536151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3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9705"/>
          <a:stretch/>
        </p:blipFill>
        <p:spPr>
          <a:xfrm>
            <a:off x="0" y="-8791"/>
            <a:ext cx="12192000" cy="6858376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-17206"/>
            <a:ext cx="12192000" cy="6875206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50" y="2622666"/>
            <a:ext cx="994109" cy="3948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8" name="直接箭头连接符 7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1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毒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3415" t="7724" b="88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11313538" y="6549111"/>
            <a:ext cx="51648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0" t="26126" r="28031" b="16576"/>
          <a:stretch/>
        </p:blipFill>
        <p:spPr>
          <a:xfrm>
            <a:off x="1251075" y="2590576"/>
            <a:ext cx="608258" cy="45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角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5" name="矩形 24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4" name="直接连接符 3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37" name="直接连接符 36"/>
          <p:cNvCxnSpPr/>
          <p:nvPr userDrawn="1"/>
        </p:nvCxnSpPr>
        <p:spPr>
          <a:xfrm>
            <a:off x="4587922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游猎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猛攻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9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游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游猎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猛攻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rgbClr val="8E8E8E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1" name="矩形 20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3" name="矩形 22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5" name="矩形 34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6" name="矩形 35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7" name="矩形 36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8" name="矩形 37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1389602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63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猛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716823" y="4826978"/>
            <a:ext cx="0" cy="1433146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852854" y="4826978"/>
            <a:ext cx="10392507" cy="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4932485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7165731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9311054" y="4826977"/>
            <a:ext cx="0" cy="14328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>
            <a:off x="3264786" y="4826978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物性测试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止滑测试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5354507" y="4826978"/>
            <a:ext cx="14157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7838283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强度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场地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周期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9739644" y="4826978"/>
            <a:ext cx="12618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总结意见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问题点分析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修改点建议</a:t>
            </a: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715" y="146214"/>
            <a:ext cx="834118" cy="51422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831" y="217736"/>
            <a:ext cx="762497" cy="36234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990" y="85408"/>
            <a:ext cx="635107" cy="575029"/>
          </a:xfrm>
          <a:prstGeom prst="rect">
            <a:avLst/>
          </a:prstGeom>
        </p:spPr>
      </p:pic>
      <p:sp>
        <p:nvSpPr>
          <p:cNvPr id="25" name="矩形 24"/>
          <p:cNvSpPr/>
          <p:nvPr userDrawn="1"/>
        </p:nvSpPr>
        <p:spPr>
          <a:xfrm>
            <a:off x="2303378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2215455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7" name="矩形 26"/>
          <p:cNvSpPr/>
          <p:nvPr userDrawn="1"/>
        </p:nvSpPr>
        <p:spPr>
          <a:xfrm>
            <a:off x="451883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443090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787454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0" name="矩形 29"/>
          <p:cNvSpPr/>
          <p:nvPr userDrawn="1"/>
        </p:nvSpPr>
        <p:spPr>
          <a:xfrm>
            <a:off x="6699531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1" name="矩形 30"/>
          <p:cNvSpPr/>
          <p:nvPr userDrawn="1"/>
        </p:nvSpPr>
        <p:spPr>
          <a:xfrm>
            <a:off x="8932982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2" name="矩形 31"/>
          <p:cNvSpPr/>
          <p:nvPr userDrawn="1"/>
        </p:nvSpPr>
        <p:spPr>
          <a:xfrm>
            <a:off x="8845059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3" name="矩形 32"/>
          <p:cNvSpPr/>
          <p:nvPr userDrawn="1"/>
        </p:nvSpPr>
        <p:spPr>
          <a:xfrm>
            <a:off x="11153246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11065323" y="6128972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＞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2916125" y="741804"/>
            <a:ext cx="41497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/>
        </p:nvSpPr>
        <p:spPr>
          <a:xfrm>
            <a:off x="1389602" y="4826978"/>
            <a:ext cx="8002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矩阵背景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marL="0" algn="l" defTabSz="914400" rtl="0" eaLnBrk="1" latinLnBrk="0" hangingPunct="1">
              <a:lnSpc>
                <a:spcPct val="150000"/>
              </a:lnSpc>
            </a:pP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【</a:t>
            </a:r>
            <a:r>
              <a:rPr lang="zh-CN" altLang="en-US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游猎</a:t>
            </a:r>
            <a:r>
              <a:rPr lang="en-US" altLang="zh-CN" sz="1200" b="1" kern="1200" dirty="0">
                <a:solidFill>
                  <a:srgbClr val="8E8E8E"/>
                </a:solidFill>
                <a:latin typeface="Nirmala UI" panose="020B0502040204020203" pitchFamily="34" charset="0"/>
                <a:ea typeface="+mn-ea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猛攻</a:t>
            </a:r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</a:p>
          <a:p>
            <a:pPr algn="l">
              <a:lnSpc>
                <a:spcPct val="150000"/>
              </a:lnSpc>
            </a:pP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【</a:t>
            </a:r>
            <a:r>
              <a:rPr lang="zh-CN" altLang="en-US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角逐</a:t>
            </a:r>
            <a:r>
              <a:rPr lang="en-US" altLang="zh-CN" sz="1200" b="1" dirty="0">
                <a:solidFill>
                  <a:srgbClr val="8E8E8E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】</a:t>
            </a:r>
            <a:endParaRPr lang="zh-CN" altLang="en-US" sz="1200" b="1" dirty="0">
              <a:solidFill>
                <a:srgbClr val="8E8E8E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8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础参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3048000" y="334088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基础框架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：采用电子厚度计、精密电子称、游标卡尺等测量鞋款的基础信息。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物性测试：采用机械对鞋款的减震、回弹、弯折及抗扭性能进行测试。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止滑测试：采用人体止滑性能测试仪，对鞋底的临界滑动坡度进行测量。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3048000" y="2753545"/>
            <a:ext cx="2031326" cy="5873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基础参数测试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5" name="圆角矩形 14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384477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框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3" name="椭圆 12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702870" y="631782"/>
            <a:ext cx="1216176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86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物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66838" y="631782"/>
            <a:ext cx="1515115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21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止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12" name="椭圆 11"/>
          <p:cNvSpPr/>
          <p:nvPr userDrawn="1"/>
        </p:nvSpPr>
        <p:spPr>
          <a:xfrm>
            <a:off x="317840" y="2337032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/>
          <p:cNvSpPr/>
          <p:nvPr userDrawn="1"/>
        </p:nvSpPr>
        <p:spPr>
          <a:xfrm>
            <a:off x="317840" y="2337032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583575" y="354783"/>
            <a:ext cx="1483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Foundation frame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443778" y="354783"/>
            <a:ext cx="17540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Physical property test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5574889" y="354783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Anti-slip test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5694576" y="631782"/>
            <a:ext cx="864486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运动生物力学测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2753545"/>
            <a:ext cx="2646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运动生物力学测试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048000" y="334088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采用</a:t>
            </a:r>
            <a:r>
              <a:rPr lang="en-US" altLang="zh-CN" sz="1200" b="1" dirty="0" err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vicon</a:t>
            </a: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运动捕捉系统，对鞋款两大重要指标上进行分析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上篮阶段：触地时间所反映的响应速度、加载率所反映的缓冲效果。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侧切阶段：稳定角折射防侧翻、位移量反映帮面强度、摩擦系数所呈现的止滑效果。</a:t>
            </a:r>
          </a:p>
        </p:txBody>
      </p:sp>
      <p:sp>
        <p:nvSpPr>
          <p:cNvPr id="9" name="圆角矩形 8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</p:spTree>
    <p:extLst>
      <p:ext uri="{BB962C8B-B14F-4D97-AF65-F5344CB8AC3E}">
        <p14:creationId xmlns:p14="http://schemas.microsoft.com/office/powerpoint/2010/main" val="2606879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282706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282706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660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Lay up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2852234" y="354783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Cutting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702870" y="631782"/>
            <a:ext cx="3896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651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侧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282706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282706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6607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Lay up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2852234" y="354783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Cutting</a:t>
            </a:r>
            <a:endParaRPr lang="zh-CN" altLang="en-US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2986547" y="631782"/>
            <a:ext cx="433661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试穿评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3340885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选取若干名（基数）业余、专业、职业运动员进行鞋款的实际上脚试穿。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在规定的场地、周期、强度要求下，对鞋款进行真实体验评测。</a:t>
            </a:r>
          </a:p>
        </p:txBody>
      </p:sp>
      <p:sp>
        <p:nvSpPr>
          <p:cNvPr id="8" name="圆角矩形 7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3048000" y="2753545"/>
            <a:ext cx="14157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试穿评测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917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试穿评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22" name="椭圆 21"/>
          <p:cNvSpPr/>
          <p:nvPr userDrawn="1"/>
        </p:nvSpPr>
        <p:spPr>
          <a:xfrm>
            <a:off x="317840" y="3315381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 userDrawn="1"/>
        </p:nvSpPr>
        <p:spPr>
          <a:xfrm>
            <a:off x="317840" y="3315381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 userDrawn="1"/>
        </p:nvSpPr>
        <p:spPr>
          <a:xfrm>
            <a:off x="1583575" y="354783"/>
            <a:ext cx="1459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Fitting evaluation</a:t>
            </a:r>
          </a:p>
          <a:p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29" name="直接连接符 28"/>
          <p:cNvCxnSpPr/>
          <p:nvPr userDrawn="1"/>
        </p:nvCxnSpPr>
        <p:spPr>
          <a:xfrm>
            <a:off x="1702870" y="631782"/>
            <a:ext cx="11897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2" name="圆角矩形 31"/>
          <p:cNvSpPr/>
          <p:nvPr userDrawn="1"/>
        </p:nvSpPr>
        <p:spPr>
          <a:xfrm>
            <a:off x="5091062" y="436186"/>
            <a:ext cx="2153800" cy="29014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 userDrawn="1"/>
        </p:nvSpPr>
        <p:spPr>
          <a:xfrm>
            <a:off x="1524637" y="1080000"/>
            <a:ext cx="784189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raction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抓地</a:t>
            </a:r>
          </a:p>
        </p:txBody>
      </p:sp>
      <p:sp>
        <p:nvSpPr>
          <p:cNvPr id="34" name="矩形 33"/>
          <p:cNvSpPr/>
          <p:nvPr userDrawn="1"/>
        </p:nvSpPr>
        <p:spPr>
          <a:xfrm>
            <a:off x="1524637" y="2520000"/>
            <a:ext cx="906017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ockdwon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包裹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1520475" y="108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 userDrawn="1"/>
        </p:nvSpPr>
        <p:spPr>
          <a:xfrm>
            <a:off x="1524637" y="3960000"/>
            <a:ext cx="984564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C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ushioning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缓震</a:t>
            </a:r>
          </a:p>
        </p:txBody>
      </p:sp>
      <p:sp>
        <p:nvSpPr>
          <p:cNvPr id="38" name="矩形 37"/>
          <p:cNvSpPr/>
          <p:nvPr userDrawn="1"/>
        </p:nvSpPr>
        <p:spPr>
          <a:xfrm>
            <a:off x="10389693" y="3960000"/>
            <a:ext cx="126669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L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ateral Stability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防侧翻</a:t>
            </a:r>
          </a:p>
        </p:txBody>
      </p:sp>
      <p:sp>
        <p:nvSpPr>
          <p:cNvPr id="39" name="矩形 38"/>
          <p:cNvSpPr/>
          <p:nvPr userDrawn="1"/>
        </p:nvSpPr>
        <p:spPr>
          <a:xfrm>
            <a:off x="10896243" y="2520000"/>
            <a:ext cx="76014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W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eight</a:t>
            </a: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重量</a:t>
            </a:r>
          </a:p>
        </p:txBody>
      </p:sp>
      <p:sp>
        <p:nvSpPr>
          <p:cNvPr id="40" name="矩形 39"/>
          <p:cNvSpPr/>
          <p:nvPr userDrawn="1"/>
        </p:nvSpPr>
        <p:spPr>
          <a:xfrm>
            <a:off x="10747163" y="5400000"/>
            <a:ext cx="909223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D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urability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耐久</a:t>
            </a:r>
          </a:p>
        </p:txBody>
      </p:sp>
      <p:sp>
        <p:nvSpPr>
          <p:cNvPr id="41" name="矩形 40"/>
          <p:cNvSpPr/>
          <p:nvPr userDrawn="1"/>
        </p:nvSpPr>
        <p:spPr>
          <a:xfrm>
            <a:off x="10105997" y="1080000"/>
            <a:ext cx="155038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orsional</a:t>
            </a:r>
            <a:r>
              <a:rPr lang="zh-CN" altLang="en-US" sz="1600" dirty="0"/>
              <a:t> 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Support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 algn="r"/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抗扭</a:t>
            </a:r>
          </a:p>
        </p:txBody>
      </p:sp>
      <p:cxnSp>
        <p:nvCxnSpPr>
          <p:cNvPr id="42" name="直接连接符 41"/>
          <p:cNvCxnSpPr/>
          <p:nvPr userDrawn="1"/>
        </p:nvCxnSpPr>
        <p:spPr>
          <a:xfrm>
            <a:off x="1520475" y="252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520475" y="396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11656386" y="108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 userDrawn="1"/>
        </p:nvCxnSpPr>
        <p:spPr>
          <a:xfrm>
            <a:off x="11656386" y="252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>
            <a:off x="11656386" y="540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 userDrawn="1"/>
        </p:nvCxnSpPr>
        <p:spPr>
          <a:xfrm>
            <a:off x="11656386" y="3960000"/>
            <a:ext cx="0" cy="436723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5091062" y="381682"/>
            <a:ext cx="16417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Nirmala UI" panose="020B0502040204020203" pitchFamily="34" charset="0"/>
                <a:cs typeface="Nirmala UI" panose="020B0502040204020203" pitchFamily="34" charset="0"/>
              </a:rPr>
              <a:t>C</a:t>
            </a:r>
            <a:r>
              <a:rPr lang="zh-CN" altLang="en-US" sz="1200" b="1" dirty="0">
                <a:latin typeface="Nirmala UI" panose="020B0502040204020203" pitchFamily="34" charset="0"/>
                <a:cs typeface="Nirmala UI" panose="020B0502040204020203" pitchFamily="34" charset="0"/>
              </a:rPr>
              <a:t>omposite score ：</a:t>
            </a:r>
          </a:p>
        </p:txBody>
      </p:sp>
      <p:sp>
        <p:nvSpPr>
          <p:cNvPr id="49" name="矩形 48"/>
          <p:cNvSpPr/>
          <p:nvPr userDrawn="1"/>
        </p:nvSpPr>
        <p:spPr>
          <a:xfrm>
            <a:off x="6880271" y="436186"/>
            <a:ext cx="4106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/10</a:t>
            </a:r>
          </a:p>
        </p:txBody>
      </p:sp>
      <p:sp>
        <p:nvSpPr>
          <p:cNvPr id="51" name="矩形 50"/>
          <p:cNvSpPr/>
          <p:nvPr userDrawn="1"/>
        </p:nvSpPr>
        <p:spPr>
          <a:xfrm>
            <a:off x="1001485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休闲</a:t>
            </a:r>
          </a:p>
        </p:txBody>
      </p:sp>
      <p:sp>
        <p:nvSpPr>
          <p:cNvPr id="52" name="矩形 51"/>
          <p:cNvSpPr/>
          <p:nvPr userDrawn="1"/>
        </p:nvSpPr>
        <p:spPr>
          <a:xfrm>
            <a:off x="1170656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1518994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半场</a:t>
            </a:r>
          </a:p>
        </p:txBody>
      </p:sp>
      <p:sp>
        <p:nvSpPr>
          <p:cNvPr id="54" name="矩形 53"/>
          <p:cNvSpPr/>
          <p:nvPr userDrawn="1"/>
        </p:nvSpPr>
        <p:spPr>
          <a:xfrm>
            <a:off x="1688165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2036503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全场</a:t>
            </a:r>
          </a:p>
        </p:txBody>
      </p:sp>
      <p:sp>
        <p:nvSpPr>
          <p:cNvPr id="56" name="矩形 55"/>
          <p:cNvSpPr/>
          <p:nvPr userDrawn="1"/>
        </p:nvSpPr>
        <p:spPr>
          <a:xfrm>
            <a:off x="2205674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2554012" y="5882131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赛事</a:t>
            </a:r>
          </a:p>
        </p:txBody>
      </p:sp>
      <p:sp>
        <p:nvSpPr>
          <p:cNvPr id="58" name="矩形 57"/>
          <p:cNvSpPr/>
          <p:nvPr userDrawn="1"/>
        </p:nvSpPr>
        <p:spPr>
          <a:xfrm>
            <a:off x="2723183" y="5738131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899316" y="6512415"/>
            <a:ext cx="686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木地板</a:t>
            </a:r>
          </a:p>
        </p:txBody>
      </p:sp>
      <p:sp>
        <p:nvSpPr>
          <p:cNvPr id="60" name="矩形 59"/>
          <p:cNvSpPr/>
          <p:nvPr userDrawn="1"/>
        </p:nvSpPr>
        <p:spPr>
          <a:xfrm>
            <a:off x="1170656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1688165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05674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723183" y="6368415"/>
            <a:ext cx="144000" cy="144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1518994" y="6512415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塑胶</a:t>
            </a:r>
          </a:p>
        </p:txBody>
      </p:sp>
      <p:sp>
        <p:nvSpPr>
          <p:cNvPr id="65" name="矩形 64"/>
          <p:cNvSpPr/>
          <p:nvPr userDrawn="1"/>
        </p:nvSpPr>
        <p:spPr>
          <a:xfrm>
            <a:off x="2036503" y="6512414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方格</a:t>
            </a:r>
          </a:p>
        </p:txBody>
      </p:sp>
      <p:sp>
        <p:nvSpPr>
          <p:cNvPr id="66" name="矩形 65"/>
          <p:cNvSpPr/>
          <p:nvPr userDrawn="1"/>
        </p:nvSpPr>
        <p:spPr>
          <a:xfrm>
            <a:off x="2554012" y="6512413"/>
            <a:ext cx="5175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水泥</a:t>
            </a:r>
          </a:p>
        </p:txBody>
      </p:sp>
      <p:sp>
        <p:nvSpPr>
          <p:cNvPr id="67" name="上下箭头 66"/>
          <p:cNvSpPr/>
          <p:nvPr userDrawn="1"/>
        </p:nvSpPr>
        <p:spPr>
          <a:xfrm rot="16200000" flipH="1">
            <a:off x="1946368" y="5261129"/>
            <a:ext cx="135051" cy="1917529"/>
          </a:xfrm>
          <a:prstGeom prst="upDownArrow">
            <a:avLst/>
          </a:prstGeom>
          <a:gradFill>
            <a:gsLst>
              <a:gs pos="48000">
                <a:schemeClr val="accent1">
                  <a:lumMod val="5000"/>
                  <a:lumOff val="95000"/>
                </a:schemeClr>
              </a:gs>
              <a:gs pos="0">
                <a:srgbClr val="7030A0"/>
              </a:gs>
              <a:gs pos="100000">
                <a:srgbClr val="00B050"/>
              </a:gs>
            </a:gsLst>
            <a:lin ang="5400000" scaled="1"/>
          </a:gradFill>
          <a:ln w="38100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7129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试阿萨德穿评测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22" name="椭圆 21"/>
          <p:cNvSpPr/>
          <p:nvPr userDrawn="1"/>
        </p:nvSpPr>
        <p:spPr>
          <a:xfrm>
            <a:off x="317840" y="3315381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 userDrawn="1"/>
        </p:nvSpPr>
        <p:spPr>
          <a:xfrm>
            <a:off x="317840" y="3315381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25415" y="3677281"/>
            <a:ext cx="8764089" cy="0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 userDrawn="1"/>
        </p:nvCxnSpPr>
        <p:spPr>
          <a:xfrm>
            <a:off x="9889504" y="2570765"/>
            <a:ext cx="208823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 userDrawn="1"/>
        </p:nvCxnSpPr>
        <p:spPr>
          <a:xfrm>
            <a:off x="9889504" y="856856"/>
            <a:ext cx="0" cy="584076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 userDrawn="1"/>
        </p:nvCxnSpPr>
        <p:spPr>
          <a:xfrm>
            <a:off x="9889504" y="2963931"/>
            <a:ext cx="2088232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 userDrawn="1"/>
        </p:nvCxnSpPr>
        <p:spPr>
          <a:xfrm>
            <a:off x="1125415" y="6692830"/>
            <a:ext cx="10858546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 userDrawn="1"/>
        </p:nvCxnSpPr>
        <p:spPr>
          <a:xfrm>
            <a:off x="11977736" y="856856"/>
            <a:ext cx="0" cy="584076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 73"/>
          <p:cNvSpPr/>
          <p:nvPr userDrawn="1"/>
        </p:nvSpPr>
        <p:spPr>
          <a:xfrm>
            <a:off x="1125415" y="856857"/>
            <a:ext cx="2585355" cy="50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5" name="直接连接符 74"/>
          <p:cNvCxnSpPr/>
          <p:nvPr userDrawn="1"/>
        </p:nvCxnSpPr>
        <p:spPr>
          <a:xfrm>
            <a:off x="3710770" y="856856"/>
            <a:ext cx="0" cy="2009436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 userDrawn="1"/>
        </p:nvCxnSpPr>
        <p:spPr>
          <a:xfrm>
            <a:off x="1125415" y="856856"/>
            <a:ext cx="10858546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矩形 76"/>
          <p:cNvSpPr/>
          <p:nvPr userDrawn="1"/>
        </p:nvSpPr>
        <p:spPr>
          <a:xfrm>
            <a:off x="10028331" y="972493"/>
            <a:ext cx="1814907" cy="1471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8" name="图片 77"/>
          <p:cNvPicPr>
            <a:picLocks noChangeAspect="1"/>
          </p:cNvPicPr>
          <p:nvPr userDrawn="1"/>
        </p:nvPicPr>
        <p:blipFill rotWithShape="1">
          <a:blip r:embed="rId3"/>
          <a:srcRect b="22097"/>
          <a:stretch/>
        </p:blipFill>
        <p:spPr>
          <a:xfrm>
            <a:off x="9961778" y="2571790"/>
            <a:ext cx="1957501" cy="364841"/>
          </a:xfrm>
          <a:prstGeom prst="rect">
            <a:avLst/>
          </a:prstGeom>
        </p:spPr>
      </p:pic>
      <p:cxnSp>
        <p:nvCxnSpPr>
          <p:cNvPr id="79" name="直接连接符 78"/>
          <p:cNvCxnSpPr/>
          <p:nvPr userDrawn="1"/>
        </p:nvCxnSpPr>
        <p:spPr>
          <a:xfrm>
            <a:off x="1125415" y="3033346"/>
            <a:ext cx="0" cy="3664275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矩形 79"/>
          <p:cNvSpPr/>
          <p:nvPr userDrawn="1"/>
        </p:nvSpPr>
        <p:spPr>
          <a:xfrm>
            <a:off x="1583575" y="354783"/>
            <a:ext cx="1459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Fitting evaluation</a:t>
            </a:r>
          </a:p>
          <a:p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81" name="直接连接符 80"/>
          <p:cNvCxnSpPr/>
          <p:nvPr userDrawn="1"/>
        </p:nvCxnSpPr>
        <p:spPr>
          <a:xfrm>
            <a:off x="1702870" y="631782"/>
            <a:ext cx="118979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36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048000" y="3340885"/>
            <a:ext cx="6096000" cy="339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基于上述各项测试结果进行区块分析，输出相应调整、修改建议。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8" name="圆角矩形 7"/>
          <p:cNvSpPr/>
          <p:nvPr userDrawn="1"/>
        </p:nvSpPr>
        <p:spPr>
          <a:xfrm>
            <a:off x="8572500" y="4536831"/>
            <a:ext cx="967154" cy="290146"/>
          </a:xfrm>
          <a:prstGeom prst="roundRect">
            <a:avLst>
              <a:gd name="adj" fmla="val 50000"/>
            </a:avLst>
          </a:prstGeom>
          <a:solidFill>
            <a:srgbClr val="8E8E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83382" y="4475285"/>
            <a:ext cx="562975" cy="3349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Enter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3048000" y="2753545"/>
            <a:ext cx="800219" cy="5873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总结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896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52854" y="0"/>
            <a:ext cx="0" cy="6858000"/>
          </a:xfrm>
          <a:prstGeom prst="line">
            <a:avLst/>
          </a:prstGeom>
          <a:ln w="19050">
            <a:solidFill>
              <a:schemeClr val="bg1">
                <a:lumMod val="85000"/>
                <a:alpha val="43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1776841" y="398908"/>
            <a:ext cx="219807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11831609" y="470346"/>
            <a:ext cx="165039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7" name="椭圆 6"/>
          <p:cNvSpPr/>
          <p:nvPr userDrawn="1"/>
        </p:nvSpPr>
        <p:spPr>
          <a:xfrm>
            <a:off x="317840" y="3821644"/>
            <a:ext cx="262894" cy="262894"/>
          </a:xfrm>
          <a:prstGeom prst="ellipse">
            <a:avLst/>
          </a:prstGeom>
          <a:noFill/>
          <a:ln w="15240">
            <a:solidFill>
              <a:schemeClr val="bg1">
                <a:lumMod val="95000"/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 userDrawn="1"/>
        </p:nvSpPr>
        <p:spPr>
          <a:xfrm>
            <a:off x="317840" y="3821644"/>
            <a:ext cx="262894" cy="262894"/>
          </a:xfrm>
          <a:prstGeom prst="arc">
            <a:avLst>
              <a:gd name="adj1" fmla="val 16200000"/>
              <a:gd name="adj2" fmla="val 10194549"/>
            </a:avLst>
          </a:prstGeom>
          <a:noFill/>
          <a:ln w="254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6427" y="2445619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426427" y="294092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426427" y="343821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426427" y="3935507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583575" y="354783"/>
            <a:ext cx="7360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Sum up</a:t>
            </a:r>
            <a:endParaRPr lang="zh-CN" altLang="en-US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1702870" y="631782"/>
            <a:ext cx="468830" cy="0"/>
          </a:xfrm>
          <a:prstGeom prst="line">
            <a:avLst/>
          </a:prstGeom>
          <a:ln w="285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 userDrawn="1"/>
        </p:nvCxnSpPr>
        <p:spPr>
          <a:xfrm>
            <a:off x="439615" y="6478241"/>
            <a:ext cx="0" cy="219807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 userDrawn="1"/>
        </p:nvSpPr>
        <p:spPr>
          <a:xfrm rot="10800000">
            <a:off x="266490" y="6087749"/>
            <a:ext cx="346249" cy="390492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75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91" y="166034"/>
            <a:ext cx="431472" cy="465748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2714797" y="2467337"/>
            <a:ext cx="1617752" cy="7392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THANK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587922" y="6611779"/>
            <a:ext cx="23519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 QD SPORTS SCIENCE LABORATORY</a:t>
            </a:r>
            <a:endParaRPr lang="zh-CN" altLang="en-US" sz="10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cxnSp>
        <p:nvCxnSpPr>
          <p:cNvPr id="6" name="直接箭头连接符 5"/>
          <p:cNvCxnSpPr/>
          <p:nvPr userDrawn="1"/>
        </p:nvCxnSpPr>
        <p:spPr>
          <a:xfrm>
            <a:off x="11830026" y="6684861"/>
            <a:ext cx="25939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 userDrawn="1"/>
        </p:nvSpPr>
        <p:spPr>
          <a:xfrm>
            <a:off x="10555318" y="6549111"/>
            <a:ext cx="1274708" cy="25391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Back to page one</a:t>
            </a:r>
            <a:endParaRPr lang="zh-CN" altLang="en-US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1362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20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4" r:id="rId5"/>
    <p:sldLayoutId id="2147483669" r:id="rId6"/>
    <p:sldLayoutId id="2147483655" r:id="rId7"/>
    <p:sldLayoutId id="2147483653" r:id="rId8"/>
    <p:sldLayoutId id="2147483654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5" r:id="rId15"/>
    <p:sldLayoutId id="2147483666" r:id="rId16"/>
    <p:sldLayoutId id="2147483667" r:id="rId17"/>
    <p:sldLayoutId id="2147483668" r:id="rId18"/>
    <p:sldLayoutId id="2147483670" r:id="rId19"/>
    <p:sldLayoutId id="2147483661" r:id="rId20"/>
    <p:sldLayoutId id="2147483662" r:id="rId21"/>
    <p:sldLayoutId id="214748366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chart" Target="../charts/chart1.xml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9191" y="2883666"/>
            <a:ext cx="2380147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试穿人数：</a:t>
            </a:r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5</a:t>
            </a: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人（与</a:t>
            </a:r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5</a:t>
            </a: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代相同测试者）</a:t>
            </a:r>
            <a:endParaRPr lang="en-US" altLang="zh-CN" sz="105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测试者平均体重：</a:t>
            </a:r>
            <a:r>
              <a:rPr lang="en-US" altLang="zh-CN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67±5KG</a:t>
            </a:r>
          </a:p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测试者球场定位：后卫</a:t>
            </a:r>
          </a:p>
        </p:txBody>
      </p:sp>
      <p:sp>
        <p:nvSpPr>
          <p:cNvPr id="4" name="矩形 3"/>
          <p:cNvSpPr/>
          <p:nvPr/>
        </p:nvSpPr>
        <p:spPr>
          <a:xfrm>
            <a:off x="1451195" y="887933"/>
            <a:ext cx="1893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Nirmala UI" panose="020B0502040204020203" pitchFamily="34" charset="0"/>
                <a:cs typeface="Nirmala UI" panose="020B0502040204020203" pitchFamily="34" charset="0"/>
              </a:rPr>
              <a:t>风刃</a:t>
            </a:r>
            <a:r>
              <a:rPr lang="en-US" altLang="zh-CN" sz="1600" b="1" dirty="0">
                <a:latin typeface="Nirmala UI" panose="020B0502040204020203" pitchFamily="34" charset="0"/>
                <a:cs typeface="Nirmala UI" panose="020B0502040204020203" pitchFamily="34" charset="0"/>
              </a:rPr>
              <a:t>6PRO </a:t>
            </a:r>
            <a:r>
              <a:rPr lang="zh-CN" altLang="en-US" sz="1600" b="1" dirty="0">
                <a:latin typeface="Nirmala UI" panose="020B0502040204020203" pitchFamily="34" charset="0"/>
                <a:cs typeface="Nirmala UI" panose="020B0502040204020203" pitchFamily="34" charset="0"/>
              </a:rPr>
              <a:t>第一轮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460876" y="3703121"/>
            <a:ext cx="0" cy="2996617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19190" y="3735991"/>
            <a:ext cx="4341686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稳定性</a:t>
            </a: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鞋底中后段稳定性较差，尤其出现在后跟内侧</a:t>
            </a:r>
            <a:r>
              <a:rPr lang="zh-CN" altLang="en-US" sz="9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（</a:t>
            </a:r>
            <a:r>
              <a:rPr lang="en-US" altLang="zh-CN" sz="9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3/5</a:t>
            </a:r>
            <a:r>
              <a:rPr lang="zh-CN" altLang="en-US" sz="9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）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。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舒适性</a:t>
            </a: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鞋底：整体脚感十分硬、且后跟碳板位置偏后，在落地时有明显的震脚触感（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3/5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） 。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鞋面：脚部进入鞋身时有明显的卡脚背情况，同时鞋面鞋舌处开口材料较硬，舒适度低（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4/5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） 。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包裹性</a:t>
            </a: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前掌包裹始终没办法进行收紧，可能与鞋带孔的间距较小有关。同时后跟坐深较浅，会出现轻微的掉跟情况（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1/5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） 。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抓地性</a:t>
            </a:r>
            <a:r>
              <a:rPr lang="en-US" altLang="zh-CN" sz="1100" b="1" dirty="0">
                <a:solidFill>
                  <a:srgbClr val="DCB04B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在室内有灰的场地，会出现明显的打滑情况，尤其出现在快攻上篮的最后一步（</a:t>
            </a:r>
            <a:r>
              <a:rPr lang="en-US" altLang="zh-CN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3/5</a:t>
            </a:r>
            <a:r>
              <a:rPr lang="zh-CN" altLang="en-US" sz="11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） 。</a:t>
            </a:r>
            <a:endParaRPr lang="en-US" altLang="zh-CN" sz="11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210658" y="2642183"/>
            <a:ext cx="4908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latin typeface="Nirmala UI" panose="020B0502040204020203" pitchFamily="34" charset="0"/>
                <a:cs typeface="Nirmala UI" panose="020B0502040204020203" pitchFamily="34" charset="0"/>
              </a:rPr>
              <a:t>7.42</a:t>
            </a:r>
            <a:endParaRPr lang="zh-CN" altLang="en-US" sz="1200" b="1" dirty="0"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77611" y="1183281"/>
            <a:ext cx="7280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cs typeface="Nirmala UI" panose="020B0502040204020203" pitchFamily="34" charset="0"/>
              </a:rPr>
              <a:t>B</a:t>
            </a:r>
            <a:endParaRPr lang="zh-CN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31609" y="1256917"/>
            <a:ext cx="277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irmala UI" panose="020B0502040204020203" pitchFamily="34" charset="0"/>
                <a:cs typeface="Nirmala UI" panose="020B0502040204020203" pitchFamily="34" charset="0"/>
              </a:rPr>
              <a:t>-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330" y="3600490"/>
            <a:ext cx="254578" cy="2710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02" y="3600490"/>
            <a:ext cx="254578" cy="271002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10738602" y="3505693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重量</a:t>
            </a:r>
          </a:p>
        </p:txBody>
      </p:sp>
      <p:sp>
        <p:nvSpPr>
          <p:cNvPr id="30" name="矩形 29"/>
          <p:cNvSpPr/>
          <p:nvPr/>
        </p:nvSpPr>
        <p:spPr>
          <a:xfrm>
            <a:off x="11532853" y="3923724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缓震</a:t>
            </a:r>
          </a:p>
        </p:txBody>
      </p:sp>
      <p:sp>
        <p:nvSpPr>
          <p:cNvPr id="31" name="矩形 30"/>
          <p:cNvSpPr/>
          <p:nvPr/>
        </p:nvSpPr>
        <p:spPr>
          <a:xfrm>
            <a:off x="10750258" y="488639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包裹</a:t>
            </a:r>
          </a:p>
        </p:txBody>
      </p:sp>
      <p:sp>
        <p:nvSpPr>
          <p:cNvPr id="32" name="矩形 31"/>
          <p:cNvSpPr/>
          <p:nvPr/>
        </p:nvSpPr>
        <p:spPr>
          <a:xfrm>
            <a:off x="9974358" y="3878911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刚性</a:t>
            </a:r>
          </a:p>
        </p:txBody>
      </p:sp>
      <p:sp>
        <p:nvSpPr>
          <p:cNvPr id="33" name="矩形 32"/>
          <p:cNvSpPr/>
          <p:nvPr/>
        </p:nvSpPr>
        <p:spPr>
          <a:xfrm>
            <a:off x="9974358" y="451291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止滑</a:t>
            </a:r>
          </a:p>
        </p:txBody>
      </p:sp>
      <p:sp>
        <p:nvSpPr>
          <p:cNvPr id="34" name="矩形 33"/>
          <p:cNvSpPr/>
          <p:nvPr/>
        </p:nvSpPr>
        <p:spPr>
          <a:xfrm>
            <a:off x="11532853" y="4512918"/>
            <a:ext cx="3898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回弹</a:t>
            </a:r>
          </a:p>
        </p:txBody>
      </p:sp>
      <p:sp>
        <p:nvSpPr>
          <p:cNvPr id="35" name="矩形 34"/>
          <p:cNvSpPr/>
          <p:nvPr/>
        </p:nvSpPr>
        <p:spPr>
          <a:xfrm>
            <a:off x="10143545" y="5177491"/>
            <a:ext cx="112115" cy="112124"/>
          </a:xfrm>
          <a:prstGeom prst="rect">
            <a:avLst/>
          </a:prstGeom>
          <a:solidFill>
            <a:srgbClr val="DCB04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162651" y="5177491"/>
            <a:ext cx="112115" cy="11212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210551" y="5112369"/>
            <a:ext cx="657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风刃</a:t>
            </a:r>
            <a:r>
              <a:rPr lang="en-US" altLang="zh-CN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6PRO</a:t>
            </a:r>
            <a:endParaRPr lang="zh-CN" altLang="en-US" sz="8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1210658" y="5112369"/>
            <a:ext cx="6575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风刃</a:t>
            </a:r>
            <a:r>
              <a:rPr lang="en-US" altLang="zh-CN" sz="8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5PRO</a:t>
            </a:r>
            <a:endParaRPr lang="zh-CN" altLang="en-US" sz="8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t="17464" r="14283" b="23189"/>
          <a:stretch/>
        </p:blipFill>
        <p:spPr>
          <a:xfrm>
            <a:off x="1451195" y="1592337"/>
            <a:ext cx="2078049" cy="1015934"/>
          </a:xfrm>
          <a:prstGeom prst="rect">
            <a:avLst/>
          </a:prstGeom>
        </p:spPr>
      </p:pic>
      <p:graphicFrame>
        <p:nvGraphicFramePr>
          <p:cNvPr id="50" name="图表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503014"/>
              </p:ext>
            </p:extLst>
          </p:nvPr>
        </p:nvGraphicFramePr>
        <p:xfrm>
          <a:off x="3915990" y="1040168"/>
          <a:ext cx="4155892" cy="2417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882" y="1299502"/>
            <a:ext cx="1684503" cy="188896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495" y="5397999"/>
            <a:ext cx="689508" cy="34074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t="17464" r="14283" b="23189"/>
          <a:stretch/>
        </p:blipFill>
        <p:spPr>
          <a:xfrm>
            <a:off x="10087105" y="5399813"/>
            <a:ext cx="693270" cy="338931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9996503" y="5773293"/>
            <a:ext cx="18906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轻量化、刚性上有所提升，适配门槛相应会比上一代有所提高。</a:t>
            </a:r>
            <a:endParaRPr lang="en-US" altLang="zh-CN" sz="1200" b="1" dirty="0">
              <a:solidFill>
                <a:schemeClr val="bg1">
                  <a:lumMod val="95000"/>
                </a:schemeClr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9"/>
          <a:srcRect l="25241" r="22383"/>
          <a:stretch/>
        </p:blipFill>
        <p:spPr>
          <a:xfrm>
            <a:off x="10433740" y="3655320"/>
            <a:ext cx="1130040" cy="1294522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5516731" y="3735991"/>
            <a:ext cx="43416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外观</a:t>
            </a: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颜值高、外观造型有特点，期待出好看的配色。</a:t>
            </a:r>
            <a:endParaRPr lang="en-US" altLang="zh-CN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稳定性</a:t>
            </a: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前掌在做急停时的稳定性较好，足够宽。</a:t>
            </a:r>
            <a:endParaRPr lang="en-US" altLang="zh-CN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重量</a:t>
            </a: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轻量化相对较为优秀，跑动全场下来不会坠脚。</a:t>
            </a:r>
            <a:endParaRPr lang="en-US" altLang="zh-CN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【</a:t>
            </a:r>
            <a:r>
              <a:rPr lang="zh-CN" altLang="en-US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抓地</a:t>
            </a:r>
            <a:r>
              <a:rPr lang="en-US" altLang="zh-CN" sz="1200" b="1" dirty="0">
                <a:solidFill>
                  <a:srgbClr val="00B050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】</a:t>
            </a:r>
            <a:r>
              <a:rPr lang="zh-CN" altLang="en-US" sz="1200" b="1" dirty="0">
                <a:solidFill>
                  <a:schemeClr val="bg1"/>
                </a:solidFill>
                <a:latin typeface="Nirmala UI" panose="020B0502040204020203" pitchFamily="34" charset="0"/>
                <a:cs typeface="Nirmala UI" panose="020B0502040204020203" pitchFamily="34" charset="0"/>
                <a:sym typeface="Arial"/>
              </a:rPr>
              <a:t>在室外水泥场地上，抓地以及耐磨情况非常好，得益于其较粗的底花纹路。</a:t>
            </a:r>
            <a:endParaRPr lang="en-US" altLang="zh-CN" sz="1200" b="1" dirty="0">
              <a:solidFill>
                <a:schemeClr val="bg1"/>
              </a:solidFill>
              <a:latin typeface="Nirmala UI" panose="020B0502040204020203" pitchFamily="34" charset="0"/>
              <a:cs typeface="Nirmala UI" panose="020B0502040204020203" pitchFamily="34" charset="0"/>
              <a:sym typeface="Arial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9905480" y="2958625"/>
            <a:ext cx="2060097" cy="422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对比分析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227" y="5280417"/>
            <a:ext cx="2329695" cy="129858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9244155" y="3256782"/>
            <a:ext cx="1529397" cy="504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磨砺8 PRO</a:t>
            </a:r>
          </a:p>
        </p:txBody>
      </p:sp>
      <p:sp>
        <p:nvSpPr>
          <p:cNvPr id="3" name="矩形 2"/>
          <p:cNvSpPr/>
          <p:nvPr/>
        </p:nvSpPr>
        <p:spPr>
          <a:xfrm>
            <a:off x="2965867" y="2115554"/>
            <a:ext cx="2277207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5567" y="2115554"/>
            <a:ext cx="2277207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43075" y="2115554"/>
            <a:ext cx="2400300" cy="28010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5567" y="990195"/>
            <a:ext cx="98187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第一轮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65567" y="1485029"/>
            <a:ext cx="7077807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444798" y="990195"/>
            <a:ext cx="1521070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| 竞技&amp;训练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415760" y="1987180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405632" y="1679403"/>
            <a:ext cx="84006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t>5人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575695" y="1679403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405631" y="1679403"/>
            <a:ext cx="0" cy="3077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65566" y="1679403"/>
            <a:ext cx="0" cy="30777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65566" y="1679403"/>
            <a:ext cx="840065" cy="307777"/>
          </a:xfrm>
          <a:prstGeom prst="rect">
            <a:avLst/>
          </a:prstGeom>
          <a:gradFill>
            <a:gsLst>
              <a:gs pos="0">
                <a:srgbClr val="202122"/>
              </a:gs>
              <a:gs pos="91000">
                <a:schemeClr val="dk1">
                  <a:lumMod val="60000"/>
                  <a:lumOff val="40000"/>
                </a:schemeClr>
              </a:gs>
            </a:gsLst>
            <a:lin ang="162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t>2人</a:t>
            </a:r>
          </a:p>
        </p:txBody>
      </p:sp>
      <p:sp>
        <p:nvSpPr>
          <p:cNvPr id="16" name="矩形 15"/>
          <p:cNvSpPr/>
          <p:nvPr/>
        </p:nvSpPr>
        <p:spPr>
          <a:xfrm>
            <a:off x="2245695" y="1679403"/>
            <a:ext cx="84006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t>7人</a:t>
            </a:r>
          </a:p>
        </p:txBody>
      </p:sp>
      <p:sp>
        <p:nvSpPr>
          <p:cNvPr id="18" name="矩形 17"/>
          <p:cNvSpPr/>
          <p:nvPr/>
        </p:nvSpPr>
        <p:spPr>
          <a:xfrm>
            <a:off x="6094871" y="1074593"/>
            <a:ext cx="1548503" cy="346249"/>
          </a:xfrm>
          <a:prstGeom prst="rect">
            <a:avLst/>
          </a:prstGeom>
          <a:gradFill flip="none" rotWithShape="1">
            <a:gsLst>
              <a:gs pos="0">
                <a:srgbClr val="3A3932"/>
              </a:gs>
              <a:gs pos="48000">
                <a:srgbClr val="23231D"/>
              </a:gs>
              <a:gs pos="100000">
                <a:srgbClr val="202122"/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t>两周 - 2025.10</a:t>
            </a:r>
          </a:p>
        </p:txBody>
      </p:sp>
      <p:sp>
        <p:nvSpPr>
          <p:cNvPr id="19" name="文本框 18"/>
          <p:cNvSpPr txBox="1"/>
          <p:nvPr/>
        </p:nvSpPr>
        <p:spPr>
          <a:xfrm rot="5400000">
            <a:off x="7290333" y="1039968"/>
            <a:ext cx="290583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1375259" y="3042374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37171" y="3042374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55825" y="3042374"/>
            <a:ext cx="13790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58139" y="3042374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14775" y="3341313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75259" y="3341313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737171" y="3341313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00289" y="3341313"/>
            <a:ext cx="93445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58139" y="3341313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14775" y="3640252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75259" y="3640252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37171" y="3640252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205037" y="3635886"/>
            <a:ext cx="188697" cy="21758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58139" y="3640252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14775" y="3939191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75259" y="3939191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737171" y="3939191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300289" y="3940381"/>
            <a:ext cx="93445" cy="2132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58139" y="3939191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14775" y="4238130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375259" y="4238130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737171" y="4238130"/>
            <a:ext cx="296079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156343" y="4239320"/>
            <a:ext cx="237391" cy="2132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458139" y="4238130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14775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375259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737171" y="4537069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458139" y="4537069"/>
            <a:ext cx="296079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75695" y="3026467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抓地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75695" y="3325406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包裹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575695" y="3616392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重量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575695" y="3923288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缓震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575695" y="4222223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稳定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575695" y="4521162"/>
            <a:ext cx="439080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耐久</a:t>
            </a:r>
          </a:p>
        </p:txBody>
      </p:sp>
      <p:sp>
        <p:nvSpPr>
          <p:cNvPr id="55" name="矩形 54"/>
          <p:cNvSpPr/>
          <p:nvPr/>
        </p:nvSpPr>
        <p:spPr>
          <a:xfrm>
            <a:off x="1014775" y="3043640"/>
            <a:ext cx="296079" cy="214408"/>
          </a:xfrm>
          <a:prstGeom prst="rect">
            <a:avLst/>
          </a:prstGeom>
          <a:solidFill>
            <a:srgbClr val="EC5B0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52000" y="3016424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6.0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952000" y="3327289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5.0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952000" y="3626008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5.0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52000" y="3924891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5.0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52000" y="4222222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6.0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952000" y="4519092"/>
            <a:ext cx="428497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6.0</a:t>
            </a:r>
          </a:p>
        </p:txBody>
      </p:sp>
      <p:sp>
        <p:nvSpPr>
          <p:cNvPr id="66" name="矩形 65"/>
          <p:cNvSpPr/>
          <p:nvPr/>
        </p:nvSpPr>
        <p:spPr>
          <a:xfrm>
            <a:off x="565567" y="2113820"/>
            <a:ext cx="2277207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966722" y="2113820"/>
            <a:ext cx="2277207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65566" y="2113820"/>
            <a:ext cx="595446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平均分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65566" y="2216979"/>
            <a:ext cx="719977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5.5</a:t>
            </a:r>
          </a:p>
        </p:txBody>
      </p:sp>
      <p:sp>
        <p:nvSpPr>
          <p:cNvPr id="70" name="矩形 69"/>
          <p:cNvSpPr/>
          <p:nvPr/>
        </p:nvSpPr>
        <p:spPr>
          <a:xfrm>
            <a:off x="5243074" y="2113820"/>
            <a:ext cx="2399445" cy="84182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2245695" y="1987180"/>
            <a:ext cx="84006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3" t="14612" r="12813" b="18215"/>
          <a:stretch/>
        </p:blipFill>
        <p:spPr>
          <a:xfrm>
            <a:off x="8775455" y="2318339"/>
            <a:ext cx="2171700" cy="1005881"/>
          </a:xfrm>
          <a:prstGeom prst="rect">
            <a:avLst/>
          </a:prstGeom>
          <a:effectLst>
            <a:innerShdw blurRad="63500">
              <a:prstClr val="black"/>
            </a:innerShdw>
          </a:effectLst>
        </p:spPr>
      </p:pic>
      <p:sp>
        <p:nvSpPr>
          <p:cNvPr id="77" name="文本框 76"/>
          <p:cNvSpPr txBox="1"/>
          <p:nvPr/>
        </p:nvSpPr>
        <p:spPr>
          <a:xfrm>
            <a:off x="2964157" y="2113820"/>
            <a:ext cx="717684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性能评级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022555" y="2216979"/>
            <a:ext cx="719977" cy="658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D</a:t>
            </a:r>
          </a:p>
        </p:txBody>
      </p:sp>
      <p:sp>
        <p:nvSpPr>
          <p:cNvPr id="79" name="矩形 78"/>
          <p:cNvSpPr/>
          <p:nvPr/>
        </p:nvSpPr>
        <p:spPr>
          <a:xfrm>
            <a:off x="3274765" y="2270331"/>
            <a:ext cx="258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83" name="矩形 82"/>
          <p:cNvSpPr/>
          <p:nvPr/>
        </p:nvSpPr>
        <p:spPr>
          <a:xfrm>
            <a:off x="2097656" y="3042374"/>
            <a:ext cx="158170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097655" y="3341313"/>
            <a:ext cx="202634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94705" y="3635886"/>
            <a:ext cx="110332" cy="218774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092418" y="3939191"/>
            <a:ext cx="207872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095306" y="4238130"/>
            <a:ext cx="61038" cy="214408"/>
          </a:xfrm>
          <a:prstGeom prst="rect">
            <a:avLst/>
          </a:prstGeom>
          <a:solidFill>
            <a:srgbClr val="B14B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092419" y="4537069"/>
            <a:ext cx="302744" cy="2144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926411" y="3195803"/>
            <a:ext cx="4862934" cy="17543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r>
              <a:t>1.灵活性不足，笨重</a:t>
            </a:r>
          </a:p>
          <a:p>
            <a:r>
              <a:t>2.支撑不足，无抗扭转，易形变</a:t>
            </a:r>
          </a:p>
          <a:p>
            <a:r>
              <a:t>3.大拇指处，鞋面弯折不适，有异物感</a:t>
            </a:r>
          </a:p>
          <a:p>
            <a:r>
              <a:t>4.后跟易倒，不稳</a:t>
            </a:r>
          </a:p>
        </p:txBody>
      </p:sp>
      <p:sp>
        <p:nvSpPr>
          <p:cNvPr id="97" name="圆角矩形 96"/>
          <p:cNvSpPr/>
          <p:nvPr/>
        </p:nvSpPr>
        <p:spPr>
          <a:xfrm>
            <a:off x="9669496" y="3747892"/>
            <a:ext cx="618512" cy="22148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668058" y="3735523"/>
            <a:ext cx="6300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巭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  <a:sym typeface="Arial"/>
              </a:rPr>
              <a:t>Light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3093492" y="3221614"/>
            <a:ext cx="441306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2964156" y="2967041"/>
            <a:ext cx="886961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问题点反馈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78171" y="5039086"/>
            <a:ext cx="2164603" cy="8406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65566" y="5245128"/>
            <a:ext cx="2054542" cy="463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射手</a:t>
            </a:r>
          </a:p>
        </p:txBody>
      </p:sp>
      <p:sp>
        <p:nvSpPr>
          <p:cNvPr id="91" name="矩形 90"/>
          <p:cNvSpPr/>
          <p:nvPr/>
        </p:nvSpPr>
        <p:spPr>
          <a:xfrm>
            <a:off x="568159" y="5035353"/>
            <a:ext cx="2274616" cy="2911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65566" y="5072602"/>
            <a:ext cx="745288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球员适配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2964155" y="5039086"/>
            <a:ext cx="4678363" cy="8406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2960281" y="5027830"/>
            <a:ext cx="4682238" cy="2911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971229" y="5072602"/>
            <a:ext cx="879887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上脚优先级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3533339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训练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708041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接波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882743" y="5337424"/>
            <a:ext cx="879887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比赛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613293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66.7%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87995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66.7%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5962697" y="5549689"/>
            <a:ext cx="7199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0.00%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428" y="4344007"/>
            <a:ext cx="627498" cy="1240584"/>
          </a:xfrm>
          <a:prstGeom prst="rect">
            <a:avLst/>
          </a:prstGeom>
        </p:spPr>
      </p:pic>
      <p:sp>
        <p:nvSpPr>
          <p:cNvPr id="112" name="文本框 111"/>
          <p:cNvSpPr txBox="1"/>
          <p:nvPr/>
        </p:nvSpPr>
        <p:spPr>
          <a:xfrm>
            <a:off x="9249791" y="5625839"/>
            <a:ext cx="1565987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受试者体重：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70±2KG</a:t>
            </a:r>
          </a:p>
        </p:txBody>
      </p:sp>
      <p:sp>
        <p:nvSpPr>
          <p:cNvPr id="116" name="圆角矩形 115"/>
          <p:cNvSpPr/>
          <p:nvPr/>
        </p:nvSpPr>
        <p:spPr>
          <a:xfrm>
            <a:off x="11529785" y="6223025"/>
            <a:ext cx="487591" cy="230476"/>
          </a:xfrm>
          <a:prstGeom prst="roundRect">
            <a:avLst>
              <a:gd name="adj" fmla="val 33296"/>
            </a:avLst>
          </a:prstGeom>
          <a:solidFill>
            <a:srgbClr val="484A40"/>
          </a:solidFill>
          <a:ln w="9525">
            <a:solidFill>
              <a:srgbClr val="7F8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10632211" y="6222313"/>
            <a:ext cx="1017456" cy="2308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室外喷漆水泥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10724324" y="6222669"/>
            <a:ext cx="1293052" cy="230476"/>
          </a:xfrm>
          <a:prstGeom prst="roundRect">
            <a:avLst>
              <a:gd name="adj" fmla="val 33296"/>
            </a:avLst>
          </a:prstGeom>
          <a:noFill/>
          <a:ln w="9525">
            <a:solidFill>
              <a:srgbClr val="7F8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1470266" y="6222313"/>
            <a:ext cx="5928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1">
                <a:solidFill>
                  <a:schemeClr val="bg1">
                    <a:lumMod val="95000"/>
                  </a:schemeClr>
                </a:solidFill>
                <a:latin typeface="Nirmala UI" panose="020B0502040204020203" pitchFamily="34" charset="0"/>
                <a:cs typeface="Nirmala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Nirmala UI" panose="020B0502040204020203" pitchFamily="34" charset="0"/>
                <a:ea typeface="等线" panose="02010600030101010101" pitchFamily="2" charset="-122"/>
                <a:cs typeface="Nirmala UI" panose="020B0502040204020203" pitchFamily="34" charset="0"/>
              </a:rPr>
              <a:t>木地板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Nirmala UI" panose="020B0502040204020203" pitchFamily="34" charset="0"/>
              <a:ea typeface="等线" panose="02010600030101010101" pitchFamily="2" charset="-122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50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295</Words>
  <Application>Microsoft Office PowerPoint</Application>
  <PresentationFormat>宽屏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Nirmala UI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146</cp:revision>
  <dcterms:created xsi:type="dcterms:W3CDTF">2025-01-14T08:18:08Z</dcterms:created>
  <dcterms:modified xsi:type="dcterms:W3CDTF">2026-02-09T07:06:16Z</dcterms:modified>
</cp:coreProperties>
</file>