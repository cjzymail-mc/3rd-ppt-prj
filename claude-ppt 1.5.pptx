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7"/>
              <c:pt idx="0">
                <c:v>抓地性（Traction）</c:v>
              </c:pt>
              <c:pt idx="1">
                <c:v>重量&amp;透气性（Weight&amp;Ventilation）</c:v>
              </c:pt>
              <c:pt idx="2">
                <c:v>缓震性（Cushioning）</c:v>
              </c:pt>
              <c:pt idx="3">
                <c:v>包裹性（Lockdwon）</c:v>
              </c:pt>
              <c:pt idx="4">
                <c:v>抗扭转性（Torsional Support ）</c:v>
              </c:pt>
              <c:pt idx="5">
                <c:v>防侧翻性（Lateral Stability）</c:v>
              </c:pt>
              <c:pt idx="6">
                <c:v>耐久性（Durability）</c:v>
              </c:pt>
            </c:strLit>
          </c:cat>
          <c:val>
            <c:numLit>
              <c:formatCode>General</c:formatCode>
              <c:ptCount val="7"/>
              <c:pt idx="0">
                <c:v>4</c:v>
              </c:pt>
              <c:pt idx="1">
                <c:v>10</c:v>
              </c:pt>
              <c:pt idx="2">
                <c:v>5</c:v>
              </c:pt>
              <c:pt idx="3">
                <c:v>10</c:v>
              </c:pt>
              <c:pt idx="4">
                <c:v>10</c:v>
              </c:pt>
              <c:pt idx="5">
                <c:v>10</c:v>
              </c:pt>
              <c:pt idx="6">
                <c:v>10</c:v>
              </c:pt>
            </c:numLit>
          </c:val>
          <c:extLst>
            <c:ext xmlns:c16="http://schemas.microsoft.com/office/drawing/2014/chart" uri="{C3380CC4-5D6E-409C-BE32-E72D297353CC}">
              <c16:uniqueId val="{00000000-717A-4011-A90B-B56100D252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584554832"/>
        <c:axId val="584549424"/>
        <c:axId val="0"/>
      </c:bar3DChart>
      <c:catAx>
        <c:axId val="5845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549424"/>
        <c:crosses val="autoZero"/>
        <c:auto val="1"/>
        <c:lblAlgn val="ctr"/>
        <c:lblOffset val="100"/>
        <c:noMultiLvlLbl val="0"/>
      </c:catAx>
      <c:valAx>
        <c:axId val="584549424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554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B4A27A-804E-45CE-A6C5-83673BE7196A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B3DDB-C0CB-49AC-9374-51CBAB30A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576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7E194-F591-4967-BDE8-9E9553068FC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844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052AC9-D2A5-AE54-A9A7-711A2B0CD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DD37BC-A715-E3ED-3AC0-EA01C38F2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A82610-5FD4-498C-2E18-3489FD59C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7913-A0A9-4925-A138-A14021A5305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293D40-811B-8158-1C40-A59430846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DAFC6C-B665-F29D-5E99-0F767A052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A0A3-AD36-44E7-9C66-4B5735BAF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780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26CAC4-7F35-E93E-30DD-320D387FC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0348EE-44ED-60C6-DFC8-209987278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32B635-2F82-B58E-2338-8D2DE051F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7913-A0A9-4925-A138-A14021A5305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84D83F-03B1-8F8B-7F59-6F0F1DD7D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67A51D-AF77-7472-6A34-9913A8137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A0A3-AD36-44E7-9C66-4B5735BAF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054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2A719C-9E5D-0AE4-98BF-EAE387BD1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028C04-5272-AE3E-42AA-B4A9D83BC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F5F9D1-E6EC-FE53-C69E-EF2675329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7913-A0A9-4925-A138-A14021A5305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8C3753-0B89-79E8-0337-980314EC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E6D461-8C5F-C492-3A63-100FC064C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A0A3-AD36-44E7-9C66-4B5735BAF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413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408A08-AE42-5D93-D1FF-58EE1B3EB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A9CD25-4142-97F9-6BAC-BFFFC68285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CEA14B-AF66-4376-2E11-44E77D2A3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D1422F-5391-6B77-28C7-CF5048CBB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7913-A0A9-4925-A138-A14021A5305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19B190-DFE3-91FF-219E-805044790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5DD670-9952-3D27-72F9-945CD763F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A0A3-AD36-44E7-9C66-4B5735BAF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27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11B749-72B4-0628-22BE-CE3AEDCD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3A5425-8D1B-55C8-3B4F-9CE7EDF3B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C11BC0-16DA-5F09-4F72-1DF42964A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FCD9BB7-8712-550B-99D7-41ED6A7B43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0DB7B4-89F3-C795-A201-BB30177956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D09C0D8-0640-BA49-8194-19366A88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7913-A0A9-4925-A138-A14021A5305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1F4BC74-8161-A9C8-610E-78EFC4CAA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185D743-1AAC-DBCE-442A-FFBA648C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A0A3-AD36-44E7-9C66-4B5735BAF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133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BCCC9A-CDE6-D66F-2AB4-09D97976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53B5343-2279-2B44-962E-82879865B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7913-A0A9-4925-A138-A14021A5305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1F85D70-25B9-2604-8F46-D371B8992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FEB052-4A92-717E-339D-FDB6433F4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A0A3-AD36-44E7-9C66-4B5735BAF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418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4B7AEF-4157-F134-213D-06CBF70D6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7913-A0A9-4925-A138-A14021A5305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647EA44-C058-F752-746B-F4013DE19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AA80A7-B722-E8C9-5E91-B42B49C21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A0A3-AD36-44E7-9C66-4B5735BAF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866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69C8D-8ADB-AB49-A5E6-3E3224F5C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8D7BBF-A99E-BB74-3541-1F0AAA4C0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6B9FB0-5BC0-001F-320E-4F0092F3A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495604-A587-BA7B-8641-7954167FC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7913-A0A9-4925-A138-A14021A5305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971D35-72D0-17AB-97E5-5A106CAFD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B42E93-683E-4149-3F21-1FE3306D6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A0A3-AD36-44E7-9C66-4B5735BAF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90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482AAF-48EA-6A21-F0CD-F82B8E912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4940358-43D3-70FF-7651-BEFBACAFC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7E364E-A7C5-C8E6-B6B3-0543C90E26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CF8BBA-52D7-64D9-BB70-7E308051D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7913-A0A9-4925-A138-A14021A5305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23B2DB-B9C9-B1F3-9BCD-93F9002F6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EC07CA-CF2B-091A-1B2C-8C56D09F4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A0A3-AD36-44E7-9C66-4B5735BAF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15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458706-5338-F3AD-D96D-1038A7CC3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45C7EB-7F3C-4950-3AD9-DF2110D86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2845AA-5666-F4CF-0004-6E9B38F4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7913-A0A9-4925-A138-A14021A5305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9DE8BA-CC2C-E755-1876-15532740C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399698-5456-D077-88BC-FB9C0263C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A0A3-AD36-44E7-9C66-4B5735BAF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600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A31C0A2-6B74-3AF6-088F-6A160DD73A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3ADEE5-BDD9-FAD7-A13E-CC6EF5449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57CD44-CD86-31D1-C774-D018626A6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7913-A0A9-4925-A138-A14021A5305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868D2F-566D-AC23-46CA-01E7754F3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C5DDE-1C4C-0866-8C44-773B6ED35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A0A3-AD36-44E7-9C66-4B5735BAF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471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163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DBDDC7-BF03-2A10-5D56-599FB023E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D1603C-3072-156E-1D6B-3FFA09108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36334F-95CF-23AD-0CA0-F5283BA245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C7913-A0A9-4925-A138-A14021A53054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594B5C-1CAB-63A6-4F18-454FE65D8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862D4C-D60B-6B21-8996-0E6625DEA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EA0A3-AD36-44E7-9C66-4B5735BAF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88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2871-22AD-CD04-93E5-4F0D7DBE9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50DEA5D-1F8C-E6C7-F38E-3BF5E45B9769}"/>
              </a:ext>
            </a:extLst>
          </p:cNvPr>
          <p:cNvCxnSpPr/>
          <p:nvPr/>
        </p:nvCxnSpPr>
        <p:spPr>
          <a:xfrm>
            <a:off x="263352" y="2337973"/>
            <a:ext cx="0" cy="4365023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7C47286-FC69-D4E4-D583-85C7677B7966}"/>
              </a:ext>
            </a:extLst>
          </p:cNvPr>
          <p:cNvCxnSpPr/>
          <p:nvPr/>
        </p:nvCxnSpPr>
        <p:spPr>
          <a:xfrm>
            <a:off x="263352" y="6697621"/>
            <a:ext cx="1173730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5DD6B7A-B688-6DA9-176F-5A5DFEEA00EE}"/>
              </a:ext>
            </a:extLst>
          </p:cNvPr>
          <p:cNvCxnSpPr/>
          <p:nvPr/>
        </p:nvCxnSpPr>
        <p:spPr>
          <a:xfrm>
            <a:off x="11986765" y="2420888"/>
            <a:ext cx="0" cy="428210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12C4E460-3A6C-A0B8-A199-E88E7D56AE50}"/>
              </a:ext>
            </a:extLst>
          </p:cNvPr>
          <p:cNvSpPr/>
          <p:nvPr/>
        </p:nvSpPr>
        <p:spPr>
          <a:xfrm>
            <a:off x="9314885" y="314655"/>
            <a:ext cx="1843150" cy="147616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452091F-39DE-516E-A86F-659BE408A02D}"/>
              </a:ext>
            </a:extLst>
          </p:cNvPr>
          <p:cNvCxnSpPr/>
          <p:nvPr/>
        </p:nvCxnSpPr>
        <p:spPr>
          <a:xfrm>
            <a:off x="9192344" y="188640"/>
            <a:ext cx="0" cy="6508981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9D531F9-36DA-34FB-E12A-04412C063202}"/>
              </a:ext>
            </a:extLst>
          </p:cNvPr>
          <p:cNvCxnSpPr/>
          <p:nvPr/>
        </p:nvCxnSpPr>
        <p:spPr>
          <a:xfrm>
            <a:off x="263352" y="188640"/>
            <a:ext cx="1101722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BFC7A53-AA8B-B0EF-CF11-90B5207603D7}"/>
              </a:ext>
            </a:extLst>
          </p:cNvPr>
          <p:cNvCxnSpPr/>
          <p:nvPr/>
        </p:nvCxnSpPr>
        <p:spPr>
          <a:xfrm>
            <a:off x="263352" y="185339"/>
            <a:ext cx="0" cy="579365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F159957-409B-9120-31A3-90231868E118}"/>
              </a:ext>
            </a:extLst>
          </p:cNvPr>
          <p:cNvCxnSpPr/>
          <p:nvPr/>
        </p:nvCxnSpPr>
        <p:spPr>
          <a:xfrm flipV="1">
            <a:off x="9192344" y="2415514"/>
            <a:ext cx="2789094" cy="5374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1DB6164-BA5C-E2C5-92D3-A62FBD08B5D1}"/>
              </a:ext>
            </a:extLst>
          </p:cNvPr>
          <p:cNvCxnSpPr/>
          <p:nvPr/>
        </p:nvCxnSpPr>
        <p:spPr>
          <a:xfrm>
            <a:off x="11280576" y="188640"/>
            <a:ext cx="0" cy="223224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B44C807-C513-55F7-BB5A-5759370D75B2}"/>
              </a:ext>
            </a:extLst>
          </p:cNvPr>
          <p:cNvCxnSpPr/>
          <p:nvPr/>
        </p:nvCxnSpPr>
        <p:spPr>
          <a:xfrm>
            <a:off x="9192344" y="1916832"/>
            <a:ext cx="2088232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F35BB10F-EBCB-A4B1-E2DF-220535271FF7}"/>
              </a:ext>
            </a:extLst>
          </p:cNvPr>
          <p:cNvSpPr/>
          <p:nvPr/>
        </p:nvSpPr>
        <p:spPr>
          <a:xfrm>
            <a:off x="9230509" y="1893819"/>
            <a:ext cx="1974467" cy="4584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8.29/10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EB8835-406A-564B-1896-E2E725C2CB96}"/>
              </a:ext>
            </a:extLst>
          </p:cNvPr>
          <p:cNvSpPr/>
          <p:nvPr/>
        </p:nvSpPr>
        <p:spPr>
          <a:xfrm>
            <a:off x="9840416" y="44624"/>
            <a:ext cx="773897" cy="155670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72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  <a:endParaRPr lang="zh-CN" altLang="en-US" sz="7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48B9329-8CFE-4E4D-2103-764F17732125}"/>
              </a:ext>
            </a:extLst>
          </p:cNvPr>
          <p:cNvCxnSpPr/>
          <p:nvPr/>
        </p:nvCxnSpPr>
        <p:spPr>
          <a:xfrm>
            <a:off x="263352" y="3227063"/>
            <a:ext cx="8928992" cy="0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BE1BE92-E54B-4677-2142-4852FA892F8B}"/>
              </a:ext>
            </a:extLst>
          </p:cNvPr>
          <p:cNvSpPr/>
          <p:nvPr/>
        </p:nvSpPr>
        <p:spPr>
          <a:xfrm>
            <a:off x="311218" y="2337973"/>
            <a:ext cx="2704623" cy="85408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试穿人数：</a:t>
            </a:r>
            <a:r>
              <a:rPr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人
测试者平均体重：</a:t>
            </a:r>
            <a:r>
              <a:rPr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84.3KG
</a:t>
            </a:r>
            <a:r>
              <a:rPr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测试者球场定位：速度型后卫、突投结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FE8141-3EF8-DBB5-DC05-C376CE4943C0}"/>
              </a:ext>
            </a:extLst>
          </p:cNvPr>
          <p:cNvSpPr/>
          <p:nvPr/>
        </p:nvSpPr>
        <p:spPr>
          <a:xfrm>
            <a:off x="9196387" y="2415514"/>
            <a:ext cx="2785051" cy="32661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DE70494-1D94-5B53-200B-3831A13B19F9}"/>
              </a:ext>
            </a:extLst>
          </p:cNvPr>
          <p:cNvCxnSpPr/>
          <p:nvPr/>
        </p:nvCxnSpPr>
        <p:spPr>
          <a:xfrm>
            <a:off x="5692599" y="3284417"/>
            <a:ext cx="0" cy="3447692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0" name="图片 39">
            <a:extLst>
              <a:ext uri="{FF2B5EF4-FFF2-40B4-BE49-F238E27FC236}">
                <a16:creationId xmlns:a16="http://schemas.microsoft.com/office/drawing/2014/main" id="{C5758638-8F56-A657-1C99-5CCB8D6C370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28" b="24973"/>
          <a:stretch/>
        </p:blipFill>
        <p:spPr>
          <a:xfrm>
            <a:off x="278790" y="987483"/>
            <a:ext cx="2614510" cy="11277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2B42C03E-06F3-D01E-F474-736165E793C2}"/>
              </a:ext>
            </a:extLst>
          </p:cNvPr>
          <p:cNvSpPr/>
          <p:nvPr/>
        </p:nvSpPr>
        <p:spPr>
          <a:xfrm>
            <a:off x="263352" y="192792"/>
            <a:ext cx="2752489" cy="571912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58502D-576B-6C89-24AF-E760030EC50F}"/>
              </a:ext>
            </a:extLst>
          </p:cNvPr>
          <p:cNvSpPr txBox="1"/>
          <p:nvPr/>
        </p:nvSpPr>
        <p:spPr>
          <a:xfrm>
            <a:off x="188387" y="241588"/>
            <a:ext cx="3200492" cy="461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defTabSz="457200" hangingPunct="0"/>
            <a:r>
              <a:rPr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‘SUPER GRASS’</a:t>
            </a:r>
            <a:endParaRPr kumimoji="0" lang="zh-CN" altLang="en-US" sz="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楷体" panose="02010609060101010101" pitchFamily="49" charset="-122"/>
              <a:ea typeface="楷体" panose="02010609060101010101" pitchFamily="49" charset="-122"/>
              <a:sym typeface="Arial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1E37340-F6D0-F899-62FA-DA4731BEE932}"/>
              </a:ext>
            </a:extLst>
          </p:cNvPr>
          <p:cNvCxnSpPr/>
          <p:nvPr/>
        </p:nvCxnSpPr>
        <p:spPr>
          <a:xfrm>
            <a:off x="3015841" y="185339"/>
            <a:ext cx="0" cy="1812349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136896C7-0B6C-262C-802E-48BF59BAAEF2}"/>
              </a:ext>
            </a:extLst>
          </p:cNvPr>
          <p:cNvSpPr/>
          <p:nvPr/>
        </p:nvSpPr>
        <p:spPr>
          <a:xfrm>
            <a:off x="256585" y="3310258"/>
            <a:ext cx="5294413" cy="31393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抓地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舒适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】
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抓地与舒适相关反馈均有提及，但集中度不高（各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1/3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
当前数据更多体现为零散感受，尚未形成一致性结论，需结合更多样本进一步观察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6B25D678-3B68-D983-3D9D-A325506B9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0" y="3115693"/>
            <a:ext cx="379660" cy="404154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505BE928-C9B9-002F-6818-DB405601F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1111" y="3148091"/>
            <a:ext cx="379660" cy="404154"/>
          </a:xfrm>
          <a:prstGeom prst="rect">
            <a:avLst/>
          </a:prstGeom>
        </p:spPr>
      </p:pic>
      <p:sp>
        <p:nvSpPr>
          <p:cNvPr id="78" name="矩形 77">
            <a:extLst>
              <a:ext uri="{FF2B5EF4-FFF2-40B4-BE49-F238E27FC236}">
                <a16:creationId xmlns:a16="http://schemas.microsoft.com/office/drawing/2014/main" id="{98A7A975-90D3-C2F4-28A0-5B741523D152}"/>
              </a:ext>
            </a:extLst>
          </p:cNvPr>
          <p:cNvSpPr/>
          <p:nvPr/>
        </p:nvSpPr>
        <p:spPr>
          <a:xfrm>
            <a:off x="5725020" y="3310258"/>
            <a:ext cx="3484386" cy="286232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抓地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】
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抓地相关反馈有提及（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1/3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），当前样本下未体现出明显共性，需结合更多场景进一步观察。
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舒适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】
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舒适相关反馈有提及（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1/3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），整体感受较为分散，暂未形成一致性结论。</a:t>
            </a:r>
            <a:endParaRPr lang="en-US" altLang="zh-CN" sz="1200" b="1" dirty="0">
              <a:solidFill>
                <a:srgbClr val="1E7C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CFB63C-5BA7-CCAE-C088-64467DEF277C}"/>
              </a:ext>
            </a:extLst>
          </p:cNvPr>
          <p:cNvSpPr/>
          <p:nvPr/>
        </p:nvSpPr>
        <p:spPr>
          <a:xfrm>
            <a:off x="2409648" y="595529"/>
            <a:ext cx="6928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First round</a:t>
            </a:r>
            <a:endParaRPr lang="zh-CN" altLang="en-US" sz="8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19" name="图表 44">
            <a:extLst>
              <a:ext uri="{FF2B5EF4-FFF2-40B4-BE49-F238E27FC236}">
                <a16:creationId xmlns:a16="http://schemas.microsoft.com/office/drawing/2014/main" id="{C1BC75A2-27B3-3F68-EFE7-7569403389C6}"/>
              </a:ext>
            </a:extLst>
          </p:cNvPr>
          <p:cNvGraphicFramePr>
            <a:graphicFrameLocks/>
          </p:cNvGraphicFramePr>
          <p:nvPr/>
        </p:nvGraphicFramePr>
        <p:xfrm>
          <a:off x="3071664" y="290013"/>
          <a:ext cx="5934011" cy="2850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758356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楷体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陈晶</dc:creator>
  <cp:lastModifiedBy>陈晶</cp:lastModifiedBy>
  <cp:revision>1</cp:revision>
  <dcterms:created xsi:type="dcterms:W3CDTF">2026-03-19T05:12:01Z</dcterms:created>
  <dcterms:modified xsi:type="dcterms:W3CDTF">2026-03-19T05:12:08Z</dcterms:modified>
</cp:coreProperties>
</file>