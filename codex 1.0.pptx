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8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8"/>
              <c:pt idx="0">
                <c:v>抓地性（Traction）</c:v>
              </c:pt>
              <c:pt idx="1">
                <c:v>重量&amp;透气性（Weight&amp;Ventilation）</c:v>
              </c:pt>
              <c:pt idx="2">
                <c:v>试穿鞋款名称</c:v>
              </c:pt>
              <c:pt idx="3">
                <c:v>缓震性（Cushioning）</c:v>
              </c:pt>
              <c:pt idx="4">
                <c:v>包裹性（Lockdwon）</c:v>
              </c:pt>
              <c:pt idx="5">
                <c:v>抗扭转性（Torsional Support ）</c:v>
              </c:pt>
              <c:pt idx="6">
                <c:v>防侧翻性（Lateral Stability）</c:v>
              </c:pt>
              <c:pt idx="7">
                <c:v>耐久性（Durability）</c:v>
              </c:pt>
            </c:strLit>
          </c:cat>
          <c:val>
            <c:numLit>
              <c:formatCode>General</c:formatCode>
              <c:ptCount val="8"/>
              <c:pt idx="0">
                <c:v>7</c:v>
              </c:pt>
              <c:pt idx="1">
                <c:v>10</c:v>
              </c:pt>
              <c:pt idx="2">
                <c:v>10</c:v>
              </c:pt>
              <c:pt idx="3">
                <c:v>7.5</c:v>
              </c:pt>
              <c:pt idx="4">
                <c:v>10</c:v>
              </c:pt>
              <c:pt idx="5">
                <c:v>10</c:v>
              </c:pt>
              <c:pt idx="6">
                <c:v>10</c:v>
              </c:pt>
              <c:pt idx="7">
                <c:v>10</c:v>
              </c:pt>
            </c:numLit>
          </c:val>
          <c:extLst>
            <c:ext xmlns:c16="http://schemas.microsoft.com/office/drawing/2014/chart" uri="{C3380CC4-5D6E-409C-BE32-E72D297353CC}">
              <c16:uniqueId val="{00000000-717A-4011-A90B-B56100D252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584554832"/>
        <c:axId val="584549424"/>
        <c:axId val="0"/>
      </c:bar3DChart>
      <c:catAx>
        <c:axId val="584554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4549424"/>
        <c:crosses val="autoZero"/>
        <c:auto val="1"/>
        <c:lblAlgn val="ctr"/>
        <c:lblOffset val="100"/>
        <c:noMultiLvlLbl val="0"/>
      </c:catAx>
      <c:valAx>
        <c:axId val="584549424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4554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E31D9F-2434-4205-A602-D70271752B6C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E69FF-10C2-40B1-ABB5-26B749A54E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08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7E194-F591-4967-BDE8-9E9553068FC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844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564FB1-309F-5F16-6EB4-C5A0F0A45B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0F030F-02F0-BDC4-1A3A-2D1B83FE68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DC7B12-E427-064A-1F43-7B31EB826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F7681-760D-4BFB-9DF6-DFAAE4A4276F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F73188-F7D0-7AB5-A9E6-EE33C5149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DF9EC7-72C2-C007-D78A-B7742DC3E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C881-7027-4A56-954F-3160E0CBE5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591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8A577A-47F5-E6C9-A642-3E18BC791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BEEB39-E195-1C51-1571-B17EA0B0A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8A85BF-E3C9-0C02-DDDF-15B3DF5D7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F7681-760D-4BFB-9DF6-DFAAE4A4276F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9A4CEC-E126-1A6E-0C5F-FF7A196F1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07FF2D-27FE-36B7-A2E7-546901F1A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C881-7027-4A56-954F-3160E0CBE5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9547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7EEB06-FCB6-AD10-1AC1-A93E5F81F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4FAB45-D4FD-2F3C-3A39-D71E1339B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445255-230E-F6BC-DF6F-C5D2158A2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F7681-760D-4BFB-9DF6-DFAAE4A4276F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FA337D-9412-B834-5879-DAF4290A0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85303F-F9A8-B38A-204B-875468D33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C881-7027-4A56-954F-3160E0CBE5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222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09CA6A-6B04-9B3D-E985-77247DA7D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F69D3E-CC16-9C88-8EA2-C82D101FDA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447BC3-09A1-D3BD-AD81-DF126117D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EBA994-33C3-5338-8A4F-4982344D7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F7681-760D-4BFB-9DF6-DFAAE4A4276F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7863F8-53FD-C30D-2AFA-C56F623D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127363-F28C-333C-D152-116A17F1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C881-7027-4A56-954F-3160E0CBE5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5544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843E85-0464-A78C-3D8B-F2634683E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500B40-8BBC-79C3-0BDE-70795A742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2C56DB-6A24-50A3-B9A9-A55FD6B1D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8BAD125-EBDA-4E36-DE25-3E03532A78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AC6E4B1-B6A8-F934-1481-95AD3FEA64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9F8A032-1FD9-A105-6E16-ABFB33BF9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F7681-760D-4BFB-9DF6-DFAAE4A4276F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4AC6FB8-2FA9-65D1-42E4-E56CF9CF3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BD085AA-2526-E812-CD06-9F53F0511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C881-7027-4A56-954F-3160E0CBE5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6838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018F52-5C1B-0E05-60E6-F27789D6B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62B56A7-DAF7-C478-875F-3729CBC5B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F7681-760D-4BFB-9DF6-DFAAE4A4276F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153B036-97A7-0E41-FD38-FCB5B771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2B5942F-A56E-EBAC-6789-9B5364C13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C881-7027-4A56-954F-3160E0CBE5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692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21A14F9-489D-9C1B-3B58-3391C43BE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F7681-760D-4BFB-9DF6-DFAAE4A4276F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7972E46-23CA-1B35-7EB8-EEB63A10A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6D70BC-AE77-9B2A-9C16-C16082C28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C881-7027-4A56-954F-3160E0CBE5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870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75C0FA-08B6-F680-573A-AACDC2CC3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63B4FA-1922-A24D-AC8B-8FE396D92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C30919-EB03-2470-EAEE-2ABB2078F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08ED11-37C1-1D03-D066-EBF81572B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F7681-760D-4BFB-9DF6-DFAAE4A4276F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1ECAA2-9CBF-CBDD-A2AB-E9935D58C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DA67A1-D0D0-7483-5F4C-5EDFE1C78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C881-7027-4A56-954F-3160E0CBE5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283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B9806C-3B09-7395-1568-862E1B285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15DF934-2B02-D639-D4FF-F683D1CE38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D73CB4-F43B-1C85-68AA-2278FC3704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791B9C-81C9-C5FA-D74F-9B314A11C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F7681-760D-4BFB-9DF6-DFAAE4A4276F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E9D76E-323B-CB39-924C-65492211A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72257F-0CFE-E50D-CF00-9CBFB8B90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C881-7027-4A56-954F-3160E0CBE5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716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7C2811-9778-2B52-C991-18F8F5B79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1141909-F2FF-FADC-7615-3B675BCA6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33F75A-69F7-4174-D316-20386B44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F7681-760D-4BFB-9DF6-DFAAE4A4276F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F5552B-A5F2-6C87-CC08-0C0D7A47C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28DFD7-2325-DF92-63D8-A9A393F1D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C881-7027-4A56-954F-3160E0CBE5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501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A8C0E6-2571-1B49-E382-EA8E6AA9AC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AF0985A-0236-FA2C-4317-8F6E2C1CB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65771E-D958-BC2A-6615-0770B0D75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F7681-760D-4BFB-9DF6-DFAAE4A4276F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5FCAFE-1DB9-4BB3-2625-C60CCFE2A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E2E482-0839-C1D6-1E9B-5B9118764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AC881-7027-4A56-954F-3160E0CBE5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636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086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43200E7-E06D-E74B-69AC-A0CCDDA19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75F234-BEE5-A5E3-E4F7-1C1211218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0A39C4-0DD5-937B-22F7-ABAF835743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F7681-760D-4BFB-9DF6-DFAAE4A4276F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92A576-4F0F-907C-EB87-0DFD241D4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57C8F6-2BBD-8DA4-E3F0-055D95880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AC881-7027-4A56-954F-3160E0CBE5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616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92871-22AD-CD04-93E5-4F0D7DBE9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50DEA5D-1F8C-E6C7-F38E-3BF5E45B9769}"/>
              </a:ext>
            </a:extLst>
          </p:cNvPr>
          <p:cNvCxnSpPr/>
          <p:nvPr/>
        </p:nvCxnSpPr>
        <p:spPr>
          <a:xfrm>
            <a:off x="263352" y="2337973"/>
            <a:ext cx="0" cy="4365023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7C47286-FC69-D4E4-D583-85C7677B7966}"/>
              </a:ext>
            </a:extLst>
          </p:cNvPr>
          <p:cNvCxnSpPr/>
          <p:nvPr/>
        </p:nvCxnSpPr>
        <p:spPr>
          <a:xfrm>
            <a:off x="263352" y="6697621"/>
            <a:ext cx="1173730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5DD6B7A-B688-6DA9-176F-5A5DFEEA00EE}"/>
              </a:ext>
            </a:extLst>
          </p:cNvPr>
          <p:cNvCxnSpPr/>
          <p:nvPr/>
        </p:nvCxnSpPr>
        <p:spPr>
          <a:xfrm>
            <a:off x="11986765" y="2420888"/>
            <a:ext cx="0" cy="428210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12C4E460-3A6C-A0B8-A199-E88E7D56AE50}"/>
              </a:ext>
            </a:extLst>
          </p:cNvPr>
          <p:cNvSpPr/>
          <p:nvPr/>
        </p:nvSpPr>
        <p:spPr>
          <a:xfrm>
            <a:off x="9314885" y="314655"/>
            <a:ext cx="1843150" cy="147616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452091F-39DE-516E-A86F-659BE408A02D}"/>
              </a:ext>
            </a:extLst>
          </p:cNvPr>
          <p:cNvCxnSpPr/>
          <p:nvPr/>
        </p:nvCxnSpPr>
        <p:spPr>
          <a:xfrm>
            <a:off x="9192344" y="188640"/>
            <a:ext cx="0" cy="6508981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9D531F9-36DA-34FB-E12A-04412C063202}"/>
              </a:ext>
            </a:extLst>
          </p:cNvPr>
          <p:cNvCxnSpPr/>
          <p:nvPr/>
        </p:nvCxnSpPr>
        <p:spPr>
          <a:xfrm>
            <a:off x="263352" y="188640"/>
            <a:ext cx="1101722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BFC7A53-AA8B-B0EF-CF11-90B5207603D7}"/>
              </a:ext>
            </a:extLst>
          </p:cNvPr>
          <p:cNvCxnSpPr/>
          <p:nvPr/>
        </p:nvCxnSpPr>
        <p:spPr>
          <a:xfrm>
            <a:off x="263352" y="185339"/>
            <a:ext cx="0" cy="579365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F159957-409B-9120-31A3-90231868E118}"/>
              </a:ext>
            </a:extLst>
          </p:cNvPr>
          <p:cNvCxnSpPr/>
          <p:nvPr/>
        </p:nvCxnSpPr>
        <p:spPr>
          <a:xfrm flipV="1">
            <a:off x="9192344" y="2415514"/>
            <a:ext cx="2789094" cy="5374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1DB6164-BA5C-E2C5-92D3-A62FBD08B5D1}"/>
              </a:ext>
            </a:extLst>
          </p:cNvPr>
          <p:cNvCxnSpPr/>
          <p:nvPr/>
        </p:nvCxnSpPr>
        <p:spPr>
          <a:xfrm>
            <a:off x="11280576" y="188640"/>
            <a:ext cx="0" cy="223224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B44C807-C513-55F7-BB5A-5759370D75B2}"/>
              </a:ext>
            </a:extLst>
          </p:cNvPr>
          <p:cNvCxnSpPr/>
          <p:nvPr/>
        </p:nvCxnSpPr>
        <p:spPr>
          <a:xfrm>
            <a:off x="9192344" y="1916832"/>
            <a:ext cx="2088232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F35BB10F-EBCB-A4B1-E2DF-220535271FF7}"/>
              </a:ext>
            </a:extLst>
          </p:cNvPr>
          <p:cNvSpPr/>
          <p:nvPr/>
        </p:nvSpPr>
        <p:spPr>
          <a:xfrm>
            <a:off x="9230509" y="1893819"/>
            <a:ext cx="1974467" cy="4584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8.29/10</a:t>
            </a:r>
            <a:endParaRPr lang="zh-CN" alt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CEB8835-406A-564B-1896-E2E725C2CB96}"/>
              </a:ext>
            </a:extLst>
          </p:cNvPr>
          <p:cNvSpPr/>
          <p:nvPr/>
        </p:nvSpPr>
        <p:spPr>
          <a:xfrm>
            <a:off x="9840416" y="44624"/>
            <a:ext cx="773897" cy="155670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72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</a:t>
            </a:r>
            <a:endParaRPr lang="zh-CN" altLang="en-US" sz="7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48B9329-8CFE-4E4D-2103-764F17732125}"/>
              </a:ext>
            </a:extLst>
          </p:cNvPr>
          <p:cNvCxnSpPr/>
          <p:nvPr/>
        </p:nvCxnSpPr>
        <p:spPr>
          <a:xfrm>
            <a:off x="263352" y="3227063"/>
            <a:ext cx="8928992" cy="0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9BE1BE92-E54B-4677-2142-4852FA892F8B}"/>
              </a:ext>
            </a:extLst>
          </p:cNvPr>
          <p:cNvSpPr/>
          <p:nvPr/>
        </p:nvSpPr>
        <p:spPr>
          <a:xfrm>
            <a:off x="311218" y="2337973"/>
            <a:ext cx="2704623" cy="854080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rPr>
              <a:t>试穿人数：</a:t>
            </a:r>
            <a:r>
              <a:rPr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rPr>
              <a:t>人
测试者平均体重：</a:t>
            </a:r>
            <a:r>
              <a:rPr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44.7KG
</a:t>
            </a:r>
            <a:r>
              <a:rPr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rPr>
              <a:t>测试者球场定位：速度型后卫、突投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2FE8141-3EF8-DBB5-DC05-C376CE4943C0}"/>
              </a:ext>
            </a:extLst>
          </p:cNvPr>
          <p:cNvSpPr/>
          <p:nvPr/>
        </p:nvSpPr>
        <p:spPr>
          <a:xfrm>
            <a:off x="9196387" y="2415514"/>
            <a:ext cx="2785051" cy="32661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DE70494-1D94-5B53-200B-3831A13B19F9}"/>
              </a:ext>
            </a:extLst>
          </p:cNvPr>
          <p:cNvCxnSpPr/>
          <p:nvPr/>
        </p:nvCxnSpPr>
        <p:spPr>
          <a:xfrm>
            <a:off x="5692599" y="3284417"/>
            <a:ext cx="0" cy="3447692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0" name="图片 39">
            <a:extLst>
              <a:ext uri="{FF2B5EF4-FFF2-40B4-BE49-F238E27FC236}">
                <a16:creationId xmlns:a16="http://schemas.microsoft.com/office/drawing/2014/main" id="{C5758638-8F56-A657-1C99-5CCB8D6C370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28" b="24973"/>
          <a:stretch/>
        </p:blipFill>
        <p:spPr>
          <a:xfrm>
            <a:off x="278790" y="987483"/>
            <a:ext cx="2614510" cy="112771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2B42C03E-06F3-D01E-F474-736165E793C2}"/>
              </a:ext>
            </a:extLst>
          </p:cNvPr>
          <p:cNvSpPr/>
          <p:nvPr/>
        </p:nvSpPr>
        <p:spPr>
          <a:xfrm>
            <a:off x="263352" y="192792"/>
            <a:ext cx="2752489" cy="571912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58502D-576B-6C89-24AF-E760030EC50F}"/>
              </a:ext>
            </a:extLst>
          </p:cNvPr>
          <p:cNvSpPr txBox="1"/>
          <p:nvPr/>
        </p:nvSpPr>
        <p:spPr>
          <a:xfrm>
            <a:off x="188387" y="241588"/>
            <a:ext cx="3200492" cy="461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defTabSz="457200" hangingPunct="0"/>
            <a:r>
              <a:rPr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‘SUPER GRASS’</a:t>
            </a:r>
            <a:endParaRPr kumimoji="0" lang="zh-CN" altLang="en-US" sz="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楷体" panose="02010609060101010101" pitchFamily="49" charset="-122"/>
              <a:ea typeface="楷体" panose="02010609060101010101" pitchFamily="49" charset="-122"/>
              <a:sym typeface="Arial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11E37340-F6D0-F899-62FA-DA4731BEE932}"/>
              </a:ext>
            </a:extLst>
          </p:cNvPr>
          <p:cNvCxnSpPr/>
          <p:nvPr/>
        </p:nvCxnSpPr>
        <p:spPr>
          <a:xfrm>
            <a:off x="3015841" y="185339"/>
            <a:ext cx="0" cy="1812349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136896C7-0B6C-262C-802E-48BF59BAAEF2}"/>
              </a:ext>
            </a:extLst>
          </p:cNvPr>
          <p:cNvSpPr/>
          <p:nvPr/>
        </p:nvSpPr>
        <p:spPr>
          <a:xfrm>
            <a:off x="256585" y="3310258"/>
            <a:ext cx="5294413" cy="31393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核心感受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】
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抓地表现被提及较多（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4/21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），但同时存在鞋底容易吸灰、进而影响止滑稳定性的反馈
缓震与透气均有一定感知（各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3/21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），说明穿着过程中的脚感与散热表现具备一定存在感
舒适性有少量正向提及（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1/21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），整体反馈重心仍更集中在抓地、缓震与透气等基础性能层面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6B25D678-3B68-D983-3D9D-A325506B9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70" y="3115693"/>
            <a:ext cx="379660" cy="404154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505BE928-C9B9-002F-6818-DB405601F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1111" y="3148091"/>
            <a:ext cx="379660" cy="404154"/>
          </a:xfrm>
          <a:prstGeom prst="rect">
            <a:avLst/>
          </a:prstGeom>
        </p:spPr>
      </p:pic>
      <p:sp>
        <p:nvSpPr>
          <p:cNvPr id="78" name="矩形 77">
            <a:extLst>
              <a:ext uri="{FF2B5EF4-FFF2-40B4-BE49-F238E27FC236}">
                <a16:creationId xmlns:a16="http://schemas.microsoft.com/office/drawing/2014/main" id="{98A7A975-90D3-C2F4-28A0-5B741523D152}"/>
              </a:ext>
            </a:extLst>
          </p:cNvPr>
          <p:cNvSpPr/>
          <p:nvPr/>
        </p:nvSpPr>
        <p:spPr>
          <a:xfrm>
            <a:off x="5725020" y="3310258"/>
            <a:ext cx="3484386" cy="286232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核心感受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】
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抓地是被提及最多的性能点（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4/21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），说明使用过程中对底部表现的感知更为集中。
缓震、透气均有一定提及（各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3/21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），脚感反馈与散热表现均具备明确存在感。
舒适仅少量提及（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1/21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），整体讨论重点仍集中在抓地、缓震与透气等基础体验层面。</a:t>
            </a:r>
            <a:endParaRPr lang="en-US" altLang="zh-CN" sz="1200" b="1" dirty="0">
              <a:solidFill>
                <a:srgbClr val="1E7C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8CFB63C-5BA7-CCAE-C088-64467DEF277C}"/>
              </a:ext>
            </a:extLst>
          </p:cNvPr>
          <p:cNvSpPr/>
          <p:nvPr/>
        </p:nvSpPr>
        <p:spPr>
          <a:xfrm>
            <a:off x="2409648" y="595529"/>
            <a:ext cx="69281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8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First round</a:t>
            </a:r>
            <a:endParaRPr lang="zh-CN" altLang="en-US" sz="8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19" name="图表 44">
            <a:extLst>
              <a:ext uri="{FF2B5EF4-FFF2-40B4-BE49-F238E27FC236}">
                <a16:creationId xmlns:a16="http://schemas.microsoft.com/office/drawing/2014/main" id="{C1BC75A2-27B3-3F68-EFE7-7569403389C6}"/>
              </a:ext>
            </a:extLst>
          </p:cNvPr>
          <p:cNvGraphicFramePr>
            <a:graphicFrameLocks/>
          </p:cNvGraphicFramePr>
          <p:nvPr/>
        </p:nvGraphicFramePr>
        <p:xfrm>
          <a:off x="3071664" y="290013"/>
          <a:ext cx="5934011" cy="2850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758356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</Words>
  <Application>Microsoft Office PowerPoint</Application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楷体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陈晶</dc:creator>
  <cp:lastModifiedBy>陈晶</cp:lastModifiedBy>
  <cp:revision>1</cp:revision>
  <dcterms:created xsi:type="dcterms:W3CDTF">2026-03-11T08:14:02Z</dcterms:created>
  <dcterms:modified xsi:type="dcterms:W3CDTF">2026-03-11T08:14:10Z</dcterms:modified>
</cp:coreProperties>
</file>