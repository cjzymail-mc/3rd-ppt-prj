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640" r:id="rId3"/>
    <p:sldId id="810" r:id="rId4"/>
    <p:sldId id="870" r:id="rId5"/>
    <p:sldId id="878" r:id="rId6"/>
    <p:sldId id="932" r:id="rId7"/>
    <p:sldId id="939" r:id="rId8"/>
    <p:sldId id="940" r:id="rId9"/>
    <p:sldId id="946" r:id="rId10"/>
    <p:sldId id="936" r:id="rId11"/>
    <p:sldId id="866" r:id="rId12"/>
    <p:sldId id="947" r:id="rId13"/>
    <p:sldId id="948" r:id="rId14"/>
    <p:sldId id="950" r:id="rId15"/>
    <p:sldId id="966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pos="39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540"/>
    <a:srgbClr val="04B555"/>
    <a:srgbClr val="CACACA"/>
    <a:srgbClr val="C3E0FF"/>
    <a:srgbClr val="F5ADAF"/>
    <a:srgbClr val="E16776"/>
    <a:srgbClr val="E9BDDD"/>
    <a:srgbClr val="4BA1FF"/>
    <a:srgbClr val="6393BC"/>
    <a:srgbClr val="263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4" autoAdjust="0"/>
    <p:restoredTop sz="65688" autoAdjust="0"/>
  </p:normalViewPr>
  <p:slideViewPr>
    <p:cSldViewPr>
      <p:cViewPr varScale="1">
        <p:scale>
          <a:sx n="84" d="100"/>
          <a:sy n="84" d="100"/>
        </p:scale>
        <p:origin x="1704" y="78"/>
      </p:cViewPr>
      <p:guideLst>
        <p:guide orient="horz" pos="2024"/>
        <p:guide pos="3939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76199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 panose="02010600030101010101" charset="-122"/>
      </a:defRPr>
    </a:lvl1pPr>
    <a:lvl2pPr indent="228600" latinLnBrk="0">
      <a:defRPr sz="1200">
        <a:latin typeface="+mj-lt"/>
        <a:ea typeface="+mj-ea"/>
        <a:cs typeface="+mj-cs"/>
        <a:sym typeface="等线" panose="02010600030101010101" charset="-122"/>
      </a:defRPr>
    </a:lvl2pPr>
    <a:lvl3pPr indent="457200" latinLnBrk="0">
      <a:defRPr sz="1200">
        <a:latin typeface="+mj-lt"/>
        <a:ea typeface="+mj-ea"/>
        <a:cs typeface="+mj-cs"/>
        <a:sym typeface="等线" panose="02010600030101010101" charset="-122"/>
      </a:defRPr>
    </a:lvl3pPr>
    <a:lvl4pPr indent="685800" latinLnBrk="0">
      <a:defRPr sz="1200">
        <a:latin typeface="+mj-lt"/>
        <a:ea typeface="+mj-ea"/>
        <a:cs typeface="+mj-cs"/>
        <a:sym typeface="等线" panose="02010600030101010101" charset="-122"/>
      </a:defRPr>
    </a:lvl4pPr>
    <a:lvl5pPr indent="914400" latinLnBrk="0">
      <a:defRPr sz="1200">
        <a:latin typeface="+mj-lt"/>
        <a:ea typeface="+mj-ea"/>
        <a:cs typeface="+mj-cs"/>
        <a:sym typeface="等线" panose="02010600030101010101" charset="-122"/>
      </a:defRPr>
    </a:lvl5pPr>
    <a:lvl6pPr indent="1143000" latinLnBrk="0">
      <a:defRPr sz="1200">
        <a:latin typeface="+mj-lt"/>
        <a:ea typeface="+mj-ea"/>
        <a:cs typeface="+mj-cs"/>
        <a:sym typeface="等线" panose="02010600030101010101" charset="-122"/>
      </a:defRPr>
    </a:lvl6pPr>
    <a:lvl7pPr indent="1371600" latinLnBrk="0">
      <a:defRPr sz="1200">
        <a:latin typeface="+mj-lt"/>
        <a:ea typeface="+mj-ea"/>
        <a:cs typeface="+mj-cs"/>
        <a:sym typeface="等线" panose="02010600030101010101" charset="-122"/>
      </a:defRPr>
    </a:lvl7pPr>
    <a:lvl8pPr indent="1600200" latinLnBrk="0">
      <a:defRPr sz="1200">
        <a:latin typeface="+mj-lt"/>
        <a:ea typeface="+mj-ea"/>
        <a:cs typeface="+mj-cs"/>
        <a:sym typeface="等线" panose="02010600030101010101" charset="-122"/>
      </a:defRPr>
    </a:lvl8pPr>
    <a:lvl9pPr indent="1828800" latinLnBrk="0">
      <a:defRPr sz="1200">
        <a:latin typeface="+mj-lt"/>
        <a:ea typeface="+mj-ea"/>
        <a:cs typeface="+mj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aseline="0" dirty="0"/>
          </a:p>
        </p:txBody>
      </p:sp>
    </p:spTree>
    <p:extLst>
      <p:ext uri="{BB962C8B-B14F-4D97-AF65-F5344CB8AC3E}">
        <p14:creationId xmlns:p14="http://schemas.microsoft.com/office/powerpoint/2010/main" val="1302835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5257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5788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5686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2027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3120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跑鞋弯折范围：</a:t>
            </a:r>
            <a:r>
              <a:rPr lang="en-US" altLang="zh-CN" dirty="0"/>
              <a:t>5~40</a:t>
            </a:r>
            <a:r>
              <a:rPr lang="zh-CN" altLang="en-US" dirty="0"/>
              <a:t>，扭转范围：</a:t>
            </a:r>
            <a:r>
              <a:rPr lang="en-US" altLang="zh-CN" dirty="0"/>
              <a:t>0.5~8</a:t>
            </a:r>
            <a:r>
              <a:rPr lang="zh-CN" altLang="en-US" dirty="0"/>
              <a:t>，缓冲范围：</a:t>
            </a:r>
            <a:r>
              <a:rPr lang="en-US" altLang="zh-CN" dirty="0"/>
              <a:t>4~16</a:t>
            </a:r>
            <a:r>
              <a:rPr lang="zh-CN" altLang="en-US" dirty="0"/>
              <a:t>，回弹范围：</a:t>
            </a:r>
            <a:r>
              <a:rPr lang="en-US" altLang="zh-CN" dirty="0"/>
              <a:t>30~70</a:t>
            </a:r>
          </a:p>
          <a:p>
            <a:endParaRPr lang="en-US" altLang="zh-CN" dirty="0"/>
          </a:p>
          <a:p>
            <a:r>
              <a:rPr lang="zh-CN" altLang="en-US" dirty="0"/>
              <a:t>大致覆盖</a:t>
            </a:r>
            <a:r>
              <a:rPr lang="en-US" altLang="zh-CN" dirty="0"/>
              <a:t>80%</a:t>
            </a:r>
            <a:r>
              <a:rPr lang="zh-CN" altLang="en-US" dirty="0"/>
              <a:t>类型跑鞋的数据范围：弯折</a:t>
            </a:r>
            <a:r>
              <a:rPr lang="en-US" altLang="zh-CN" dirty="0"/>
              <a:t>11~28</a:t>
            </a:r>
            <a:r>
              <a:rPr lang="zh-CN" altLang="en-US" dirty="0"/>
              <a:t>，扭转</a:t>
            </a:r>
            <a:r>
              <a:rPr lang="en-US" altLang="zh-CN" dirty="0"/>
              <a:t>2~6</a:t>
            </a:r>
            <a:r>
              <a:rPr lang="zh-CN" altLang="en-US" dirty="0"/>
              <a:t>，缓冲：</a:t>
            </a:r>
            <a:r>
              <a:rPr lang="en-US" altLang="zh-CN" dirty="0"/>
              <a:t>6~12</a:t>
            </a:r>
            <a:r>
              <a:rPr lang="zh-CN" altLang="en-US" dirty="0"/>
              <a:t>，回弹</a:t>
            </a:r>
            <a:r>
              <a:rPr lang="en-US" altLang="zh-CN" dirty="0"/>
              <a:t>45~60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6445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跑鞋弯折范围：</a:t>
            </a:r>
            <a:r>
              <a:rPr lang="en-US" altLang="zh-CN" dirty="0"/>
              <a:t>5~40</a:t>
            </a:r>
            <a:r>
              <a:rPr lang="zh-CN" altLang="en-US" dirty="0"/>
              <a:t>，扭转范围：</a:t>
            </a:r>
            <a:r>
              <a:rPr lang="en-US" altLang="zh-CN" dirty="0"/>
              <a:t>0.5~8</a:t>
            </a:r>
            <a:r>
              <a:rPr lang="zh-CN" altLang="en-US" dirty="0"/>
              <a:t>，缓冲范围：</a:t>
            </a:r>
            <a:r>
              <a:rPr lang="en-US" altLang="zh-CN" dirty="0"/>
              <a:t>4~16</a:t>
            </a:r>
            <a:r>
              <a:rPr lang="zh-CN" altLang="en-US" dirty="0"/>
              <a:t>，回弹范围：</a:t>
            </a:r>
            <a:r>
              <a:rPr lang="en-US" altLang="zh-CN" dirty="0"/>
              <a:t>30~70</a:t>
            </a:r>
          </a:p>
          <a:p>
            <a:endParaRPr lang="en-US" altLang="zh-CN" dirty="0"/>
          </a:p>
          <a:p>
            <a:r>
              <a:rPr lang="zh-CN" altLang="en-US" dirty="0"/>
              <a:t>大致覆盖</a:t>
            </a:r>
            <a:r>
              <a:rPr lang="en-US" altLang="zh-CN" dirty="0"/>
              <a:t>80%</a:t>
            </a:r>
            <a:r>
              <a:rPr lang="zh-CN" altLang="en-US" dirty="0"/>
              <a:t>类型跑鞋的数据范围：弯折</a:t>
            </a:r>
            <a:r>
              <a:rPr lang="en-US" altLang="zh-CN" dirty="0"/>
              <a:t>11~28</a:t>
            </a:r>
            <a:r>
              <a:rPr lang="zh-CN" altLang="en-US" dirty="0"/>
              <a:t>，扭转</a:t>
            </a:r>
            <a:r>
              <a:rPr lang="en-US" altLang="zh-CN" dirty="0"/>
              <a:t>2~6</a:t>
            </a:r>
            <a:r>
              <a:rPr lang="zh-CN" altLang="en-US" dirty="0"/>
              <a:t>，缓冲：</a:t>
            </a:r>
            <a:r>
              <a:rPr lang="en-US" altLang="zh-CN" dirty="0"/>
              <a:t>6~12</a:t>
            </a:r>
            <a:r>
              <a:rPr lang="zh-CN" altLang="en-US" dirty="0"/>
              <a:t>，回弹</a:t>
            </a:r>
            <a:r>
              <a:rPr lang="en-US" altLang="zh-CN" dirty="0"/>
              <a:t>45~60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861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6283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步长重心振幅矩阵</a:t>
            </a:r>
            <a:r>
              <a:rPr lang="en-US" altLang="zh-CN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-</a:t>
            </a:r>
            <a:r>
              <a:rPr lang="zh-CN" altLang="en-US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跑步</a:t>
            </a:r>
            <a:r>
              <a:rPr lang="zh-CN" altLang="en-US" sz="800" dirty="0"/>
              <a:t> </a:t>
            </a:r>
            <a:endParaRPr lang="en-US" altLang="zh-CN" sz="800" dirty="0"/>
          </a:p>
          <a:p>
            <a:endParaRPr lang="de-DE" altLang="zh-CN" sz="700" dirty="0"/>
          </a:p>
          <a:p>
            <a:r>
              <a:rPr lang="de-DE" altLang="zh-CN" sz="700" dirty="0"/>
              <a:t>delt_l = 52.357142857142854</a:t>
            </a:r>
          </a:p>
          <a:p>
            <a:r>
              <a:rPr lang="de-DE" altLang="zh-CN" sz="700" dirty="0"/>
              <a:t>zero_l = (-7526.142857142857,415)</a:t>
            </a:r>
          </a:p>
          <a:p>
            <a:r>
              <a:rPr lang="de-DE" altLang="zh-CN" sz="700" dirty="0"/>
              <a:t>delt_t = -201.53846153846143</a:t>
            </a:r>
          </a:p>
          <a:p>
            <a:r>
              <a:rPr lang="de-DE" altLang="zh-CN" sz="700" dirty="0"/>
              <a:t>zero_t = (61,2118.230769230768)</a:t>
            </a:r>
            <a:endParaRPr lang="zh-CN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34179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重量厚度矩阵</a:t>
            </a:r>
            <a:r>
              <a:rPr lang="en-US" altLang="zh-CN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-</a:t>
            </a:r>
            <a:r>
              <a:rPr lang="zh-CN" altLang="en-US" sz="1200" b="0" i="0" u="none" strike="noStrike" dirty="0">
                <a:effectLst/>
                <a:latin typeface="+mj-lt"/>
                <a:ea typeface="+mj-ea"/>
                <a:cs typeface="+mj-cs"/>
                <a:sym typeface="等线" panose="02010600030101010101" charset="-122"/>
              </a:rPr>
              <a:t>跑步</a:t>
            </a:r>
            <a:r>
              <a:rPr lang="zh-CN" altLang="en-US" sz="800" dirty="0"/>
              <a:t> </a:t>
            </a:r>
            <a:endParaRPr lang="en-US" altLang="zh-CN" sz="800" dirty="0"/>
          </a:p>
          <a:p>
            <a:endParaRPr lang="de-DE" altLang="zh-CN" sz="700" dirty="0"/>
          </a:p>
          <a:p>
            <a:r>
              <a:rPr lang="de-DE" altLang="zh-CN" sz="700" dirty="0"/>
              <a:t>delt_l = -12.637931034482758</a:t>
            </a:r>
          </a:p>
          <a:p>
            <a:r>
              <a:rPr lang="de-DE" altLang="zh-CN" sz="700" dirty="0"/>
              <a:t>zero_l = (3024.7241379310344,415)</a:t>
            </a:r>
          </a:p>
          <a:p>
            <a:r>
              <a:rPr lang="de-DE" altLang="zh-CN" sz="700" dirty="0"/>
              <a:t>delt_t = -17.466666666666665</a:t>
            </a:r>
          </a:p>
          <a:p>
            <a:r>
              <a:rPr lang="de-DE" altLang="zh-CN" sz="700" dirty="0"/>
              <a:t>zero_t = (61,909.0)</a:t>
            </a:r>
          </a:p>
        </p:txBody>
      </p:sp>
    </p:spTree>
    <p:extLst>
      <p:ext uri="{BB962C8B-B14F-4D97-AF65-F5344CB8AC3E}">
        <p14:creationId xmlns:p14="http://schemas.microsoft.com/office/powerpoint/2010/main" val="997982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DCC48-DBB6-BEE3-3C06-0394F6AE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C8781A-C651-91C3-7F95-2366B1DC5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6FAEB4-486A-9EFE-9D6F-AB210350C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3080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11" name="Picture 2" descr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826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" name="Picture 2" descr="Picture 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175" y="18727"/>
            <a:ext cx="12188825" cy="6858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" name="直接连接符 3"/>
          <p:cNvSpPr/>
          <p:nvPr userDrawn="1"/>
        </p:nvSpPr>
        <p:spPr>
          <a:xfrm>
            <a:off x="918823" y="6006024"/>
            <a:ext cx="566497" cy="1"/>
          </a:xfrm>
          <a:prstGeom prst="line">
            <a:avLst/>
          </a:prstGeom>
          <a:ln w="28575">
            <a:solidFill>
              <a:srgbClr val="FAD6D7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6" name="Picture 3" descr="Picture 3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0583955" y="399810"/>
            <a:ext cx="1198866" cy="112601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4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sp>
        <p:nvSpPr>
          <p:cNvPr id="5" name="MH_Others_1"/>
          <p:cNvSpPr txBox="1"/>
          <p:nvPr userDrawn="1"/>
        </p:nvSpPr>
        <p:spPr>
          <a:xfrm>
            <a:off x="884526" y="2415447"/>
            <a:ext cx="2355376" cy="571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3200" b="1">
                <a:solidFill>
                  <a:schemeClr val="accent1"/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lvl1pPr>
          </a:lstStyle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latin typeface="微软雅黑" charset="-122"/>
                <a:ea typeface="微软雅黑" charset="-122"/>
                <a:cs typeface="微软雅黑" charset="-122"/>
                <a:sym typeface="微软雅黑" charset="-122"/>
              </a:rPr>
              <a:t>目 录</a:t>
            </a:r>
          </a:p>
        </p:txBody>
      </p:sp>
      <p:sp>
        <p:nvSpPr>
          <p:cNvPr id="6" name="MH_Others_2"/>
          <p:cNvSpPr txBox="1"/>
          <p:nvPr userDrawn="1"/>
        </p:nvSpPr>
        <p:spPr>
          <a:xfrm>
            <a:off x="855951" y="2912113"/>
            <a:ext cx="4252686" cy="85137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6000"/>
            </a:lvl1pPr>
          </a:lstStyle>
          <a:p>
            <a:r>
              <a:rPr dirty="0"/>
              <a:t>CONTENTS</a:t>
            </a:r>
          </a:p>
        </p:txBody>
      </p:sp>
      <p:grpSp>
        <p:nvGrpSpPr>
          <p:cNvPr id="11" name="组合 3"/>
          <p:cNvGrpSpPr/>
          <p:nvPr userDrawn="1"/>
        </p:nvGrpSpPr>
        <p:grpSpPr>
          <a:xfrm>
            <a:off x="5667186" y="1678674"/>
            <a:ext cx="656829" cy="3496573"/>
            <a:chOff x="0" y="0"/>
            <a:chExt cx="656827" cy="3496572"/>
          </a:xfrm>
        </p:grpSpPr>
        <p:grpSp>
          <p:nvGrpSpPr>
            <p:cNvPr id="12" name="组合 7"/>
            <p:cNvGrpSpPr/>
            <p:nvPr/>
          </p:nvGrpSpPr>
          <p:grpSpPr>
            <a:xfrm>
              <a:off x="16783" y="0"/>
              <a:ext cx="627413" cy="563272"/>
              <a:chOff x="0" y="0"/>
              <a:chExt cx="627411" cy="563271"/>
            </a:xfrm>
          </p:grpSpPr>
          <p:grpSp>
            <p:nvGrpSpPr>
              <p:cNvPr id="30" name="组合 6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32" name="梯形 5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33" name="任意多边形 2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31" name="矩形 19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1</a:t>
                </a:r>
              </a:p>
            </p:txBody>
          </p:sp>
        </p:grpSp>
        <p:grpSp>
          <p:nvGrpSpPr>
            <p:cNvPr id="13" name="组合 34"/>
            <p:cNvGrpSpPr/>
            <p:nvPr/>
          </p:nvGrpSpPr>
          <p:grpSpPr>
            <a:xfrm>
              <a:off x="29415" y="957725"/>
              <a:ext cx="627413" cy="563273"/>
              <a:chOff x="0" y="0"/>
              <a:chExt cx="627411" cy="563271"/>
            </a:xfrm>
          </p:grpSpPr>
          <p:grpSp>
            <p:nvGrpSpPr>
              <p:cNvPr id="24" name="组合 35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28" name="梯形 37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29" name="任意多边形 38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25" name="矩形 36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2</a:t>
                </a:r>
              </a:p>
            </p:txBody>
          </p:sp>
        </p:grpSp>
        <p:grpSp>
          <p:nvGrpSpPr>
            <p:cNvPr id="14" name="组合 46"/>
            <p:cNvGrpSpPr/>
            <p:nvPr/>
          </p:nvGrpSpPr>
          <p:grpSpPr>
            <a:xfrm>
              <a:off x="0" y="1934295"/>
              <a:ext cx="627412" cy="986426"/>
              <a:chOff x="0" y="0"/>
              <a:chExt cx="627411" cy="986425"/>
            </a:xfrm>
          </p:grpSpPr>
          <p:grpSp>
            <p:nvGrpSpPr>
              <p:cNvPr id="20" name="组合 47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22" name="梯形 49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23" name="任意多边形 50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21" name="矩形 48"/>
              <p:cNvSpPr txBox="1"/>
              <p:nvPr/>
            </p:nvSpPr>
            <p:spPr>
              <a:xfrm>
                <a:off x="0" y="14865"/>
                <a:ext cx="581034" cy="97156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3</a:t>
                </a:r>
              </a:p>
            </p:txBody>
          </p:sp>
        </p:grpSp>
        <p:grpSp>
          <p:nvGrpSpPr>
            <p:cNvPr id="15" name="组合 52"/>
            <p:cNvGrpSpPr/>
            <p:nvPr/>
          </p:nvGrpSpPr>
          <p:grpSpPr>
            <a:xfrm>
              <a:off x="4152" y="2933300"/>
              <a:ext cx="627413" cy="563273"/>
              <a:chOff x="0" y="0"/>
              <a:chExt cx="627411" cy="563271"/>
            </a:xfrm>
          </p:grpSpPr>
          <p:grpSp>
            <p:nvGrpSpPr>
              <p:cNvPr id="16" name="组合 53"/>
              <p:cNvGrpSpPr/>
              <p:nvPr/>
            </p:nvGrpSpPr>
            <p:grpSpPr>
              <a:xfrm>
                <a:off x="12631" y="0"/>
                <a:ext cx="614781" cy="563272"/>
                <a:chOff x="0" y="0"/>
                <a:chExt cx="614780" cy="563271"/>
              </a:xfrm>
            </p:grpSpPr>
            <p:sp>
              <p:nvSpPr>
                <p:cNvPr id="18" name="梯形 55"/>
                <p:cNvSpPr/>
                <p:nvPr/>
              </p:nvSpPr>
              <p:spPr>
                <a:xfrm rot="10800000">
                  <a:off x="141557" y="267554"/>
                  <a:ext cx="473224" cy="2957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5151" y="0"/>
                      </a:lnTo>
                      <a:lnTo>
                        <a:pt x="16449" y="0"/>
                      </a:ln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C1013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 dirty="0"/>
                </a:p>
              </p:txBody>
            </p:sp>
            <p:sp>
              <p:nvSpPr>
                <p:cNvPr id="19" name="任意多边形 56"/>
                <p:cNvSpPr/>
                <p:nvPr/>
              </p:nvSpPr>
              <p:spPr>
                <a:xfrm>
                  <a:off x="-1" y="-1"/>
                  <a:ext cx="527698" cy="5632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0629" y="21600"/>
                      </a:lnTo>
                      <a:lnTo>
                        <a:pt x="21600" y="204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2000">
                      <a:solidFill>
                        <a:srgbClr val="FFFFFF"/>
                      </a:solidFill>
                    </a:defRPr>
                  </a:pPr>
                  <a:endParaRPr sz="1800" dirty="0"/>
                </a:p>
              </p:txBody>
            </p:sp>
          </p:grpSp>
          <p:sp>
            <p:nvSpPr>
              <p:cNvPr id="17" name="矩形 54"/>
              <p:cNvSpPr txBox="1"/>
              <p:nvPr/>
            </p:nvSpPr>
            <p:spPr>
              <a:xfrm>
                <a:off x="0" y="14865"/>
                <a:ext cx="581034" cy="4862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spAutoFit/>
              </a:bodyPr>
              <a:lstStyle>
                <a:lvl1pPr algn="ctr">
                  <a:lnSpc>
                    <a:spcPct val="120000"/>
                  </a:lnSpc>
                  <a:defRPr sz="28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dirty="0"/>
                  <a:t>4</a:t>
                </a:r>
              </a:p>
            </p:txBody>
          </p:sp>
        </p:grpSp>
      </p:grpSp>
      <p:sp>
        <p:nvSpPr>
          <p:cNvPr id="34" name="直接连接符 63"/>
          <p:cNvSpPr/>
          <p:nvPr userDrawn="1"/>
        </p:nvSpPr>
        <p:spPr>
          <a:xfrm>
            <a:off x="889515" y="5521552"/>
            <a:ext cx="828676" cy="1"/>
          </a:xfrm>
          <a:prstGeom prst="line">
            <a:avLst/>
          </a:prstGeom>
          <a:ln w="28575">
            <a:solidFill>
              <a:srgbClr val="000000"/>
            </a:solidFill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49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0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1" name="文本框 50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2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3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4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5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6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7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1"/>
          <p:cNvSpPr txBox="1"/>
          <p:nvPr/>
        </p:nvSpPr>
        <p:spPr>
          <a:xfrm>
            <a:off x="4318000" y="2971799"/>
            <a:ext cx="3556000" cy="23533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1800" dirty="0"/>
              <a:t>ibaotu.com</a:t>
            </a:r>
          </a:p>
        </p:txBody>
      </p:sp>
      <p:pic>
        <p:nvPicPr>
          <p:cNvPr id="10" name="Picture 2" descr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矩形 23"/>
          <p:cNvSpPr/>
          <p:nvPr userDrawn="1"/>
        </p:nvSpPr>
        <p:spPr>
          <a:xfrm>
            <a:off x="1202795" y="1536895"/>
            <a:ext cx="9789584" cy="3771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698500" dist="215900" dir="5400000" rotWithShape="0">
              <a:srgbClr val="000000">
                <a:alpha val="14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2" name="文本框 7"/>
          <p:cNvSpPr txBox="1"/>
          <p:nvPr userDrawn="1"/>
        </p:nvSpPr>
        <p:spPr>
          <a:xfrm>
            <a:off x="1439290" y="1960453"/>
            <a:ext cx="3586878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dirty="0"/>
              <a:t>0</a:t>
            </a:r>
            <a:r>
              <a:rPr lang="en-US" dirty="0"/>
              <a:t>   </a:t>
            </a:r>
            <a:endParaRPr dirty="0"/>
          </a:p>
        </p:txBody>
      </p:sp>
      <p:sp>
        <p:nvSpPr>
          <p:cNvPr id="13" name="直接连接符 27"/>
          <p:cNvSpPr/>
          <p:nvPr userDrawn="1"/>
        </p:nvSpPr>
        <p:spPr>
          <a:xfrm>
            <a:off x="5759227" y="3600105"/>
            <a:ext cx="5233153" cy="1"/>
          </a:xfrm>
          <a:prstGeom prst="line">
            <a:avLst/>
          </a:prstGeom>
          <a:ln w="12700">
            <a:solidFill>
              <a:srgbClr val="BFBFBF"/>
            </a:solidFill>
          </a:ln>
        </p:spPr>
        <p:txBody>
          <a:bodyPr lIns="45719" rIns="45719"/>
          <a:lstStyle/>
          <a:p>
            <a:endParaRPr dirty="0"/>
          </a:p>
        </p:txBody>
      </p:sp>
      <p:pic>
        <p:nvPicPr>
          <p:cNvPr id="15" name="Picture 3" descr="C:\Users\Administrator\Desktop\战戟标（3V3标-01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63952" y="3789040"/>
            <a:ext cx="1368152" cy="437971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4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5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6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7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8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FC0C0-F3C1-46A6-B1E0-38A19114CB16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Administrator\Desktop\22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60829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72700" y="5200650"/>
            <a:ext cx="2019300" cy="1657350"/>
          </a:xfrm>
          <a:prstGeom prst="rect">
            <a:avLst/>
          </a:prstGeom>
        </p:spPr>
      </p:pic>
      <p:sp>
        <p:nvSpPr>
          <p:cNvPr id="5" name="文本框 11"/>
          <p:cNvSpPr txBox="1"/>
          <p:nvPr userDrawn="1"/>
        </p:nvSpPr>
        <p:spPr>
          <a:xfrm rot="19675288">
            <a:off x="340136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9" name="文本框 11"/>
          <p:cNvSpPr txBox="1"/>
          <p:nvPr userDrawn="1"/>
        </p:nvSpPr>
        <p:spPr>
          <a:xfrm rot="19675288">
            <a:off x="3321202" y="333320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0" name="文本框 11"/>
          <p:cNvSpPr txBox="1"/>
          <p:nvPr userDrawn="1"/>
        </p:nvSpPr>
        <p:spPr>
          <a:xfrm rot="19675288">
            <a:off x="6242638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1" name="文本框 11"/>
          <p:cNvSpPr txBox="1"/>
          <p:nvPr userDrawn="1"/>
        </p:nvSpPr>
        <p:spPr>
          <a:xfrm rot="19675288">
            <a:off x="9397217" y="333320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2" name="文本框 11"/>
          <p:cNvSpPr txBox="1"/>
          <p:nvPr userDrawn="1"/>
        </p:nvSpPr>
        <p:spPr>
          <a:xfrm rot="19675288">
            <a:off x="340136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3" name="文本框 11"/>
          <p:cNvSpPr txBox="1"/>
          <p:nvPr userDrawn="1"/>
        </p:nvSpPr>
        <p:spPr>
          <a:xfrm rot="19675288">
            <a:off x="3321202" y="1234935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4" name="文本框 11"/>
          <p:cNvSpPr txBox="1"/>
          <p:nvPr userDrawn="1"/>
        </p:nvSpPr>
        <p:spPr>
          <a:xfrm rot="19675288">
            <a:off x="6242638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5" name="文本框 11"/>
          <p:cNvSpPr txBox="1"/>
          <p:nvPr userDrawn="1"/>
        </p:nvSpPr>
        <p:spPr>
          <a:xfrm rot="19675288">
            <a:off x="9397217" y="1234934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6" name="文本框 11"/>
          <p:cNvSpPr txBox="1"/>
          <p:nvPr userDrawn="1"/>
        </p:nvSpPr>
        <p:spPr>
          <a:xfrm rot="19675288">
            <a:off x="340136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7" name="文本框 11"/>
          <p:cNvSpPr txBox="1"/>
          <p:nvPr userDrawn="1"/>
        </p:nvSpPr>
        <p:spPr>
          <a:xfrm rot="19675288">
            <a:off x="3321202" y="5457139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8" name="文本框 11"/>
          <p:cNvSpPr txBox="1"/>
          <p:nvPr userDrawn="1"/>
        </p:nvSpPr>
        <p:spPr>
          <a:xfrm rot="19675288">
            <a:off x="6242638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  <p:sp>
        <p:nvSpPr>
          <p:cNvPr id="19" name="文本框 11"/>
          <p:cNvSpPr txBox="1"/>
          <p:nvPr userDrawn="1"/>
        </p:nvSpPr>
        <p:spPr>
          <a:xfrm rot="19675288">
            <a:off x="9397217" y="5457138"/>
            <a:ext cx="2813412" cy="7386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QD Sports Science Laboratory</a:t>
            </a:r>
          </a:p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乔丹科学实验室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FC0C0-F3C1-46A6-B1E0-38A19114CB16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5744210"/>
            <a:ext cx="781050" cy="5619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193280" y="6308725"/>
            <a:ext cx="3067685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科技中心   运动表现研究部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9336" y="6309320"/>
            <a:ext cx="398438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报告编号：</a:t>
            </a:r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QD20250</a:t>
            </a:r>
            <a:r>
              <a:rPr 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352584" y="6306185"/>
            <a:ext cx="547370" cy="5016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sym typeface="+mn-ea"/>
              </a:rPr>
              <a:t>日期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5013176"/>
            <a:ext cx="1310546" cy="1008112"/>
          </a:xfrm>
          <a:prstGeom prst="rect">
            <a:avLst/>
          </a:prstGeom>
        </p:spPr>
      </p:pic>
      <p:sp>
        <p:nvSpPr>
          <p:cNvPr id="3" name="矩形 259"/>
          <p:cNvSpPr txBox="1"/>
          <p:nvPr/>
        </p:nvSpPr>
        <p:spPr>
          <a:xfrm>
            <a:off x="6672064" y="1556792"/>
            <a:ext cx="3528391" cy="61555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endParaRPr sz="40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00056" y="1582713"/>
            <a:ext cx="20070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背景</a:t>
            </a:r>
          </a:p>
        </p:txBody>
      </p:sp>
      <p:sp>
        <p:nvSpPr>
          <p:cNvPr id="5" name="矩形 4"/>
          <p:cNvSpPr/>
          <p:nvPr/>
        </p:nvSpPr>
        <p:spPr>
          <a:xfrm>
            <a:off x="6600056" y="2628201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基本测试</a:t>
            </a:r>
          </a:p>
        </p:txBody>
      </p:sp>
      <p:sp>
        <p:nvSpPr>
          <p:cNvPr id="7" name="矩形 6"/>
          <p:cNvSpPr/>
          <p:nvPr/>
        </p:nvSpPr>
        <p:spPr>
          <a:xfrm>
            <a:off x="6600056" y="4005064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实战测评</a:t>
            </a:r>
          </a:p>
        </p:txBody>
      </p:sp>
      <p:sp>
        <p:nvSpPr>
          <p:cNvPr id="8" name="矩形 7"/>
          <p:cNvSpPr/>
          <p:nvPr/>
        </p:nvSpPr>
        <p:spPr>
          <a:xfrm>
            <a:off x="6600056" y="3212976"/>
            <a:ext cx="3384376" cy="664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I   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基础物性测试</a:t>
            </a:r>
            <a:endParaRPr lang="en-US" altLang="zh-CN" sz="1400" b="1" dirty="0">
              <a:solidFill>
                <a:schemeClr val="tx2">
                  <a:lumMod val="75000"/>
                </a:schemeClr>
              </a:solidFill>
              <a:latin typeface="微软雅黑" charset="-122"/>
              <a:ea typeface="微软雅黑" charset="-122"/>
            </a:endParaRPr>
          </a:p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II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  生物力学 </a:t>
            </a:r>
            <a:r>
              <a:rPr lang="en-US" altLang="zh-CN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/ </a:t>
            </a:r>
            <a:r>
              <a:rPr lang="zh-CN" altLang="en-US" sz="1400" b="1" dirty="0">
                <a:solidFill>
                  <a:schemeClr val="tx2">
                    <a:lumMod val="75000"/>
                  </a:schemeClr>
                </a:solidFill>
                <a:latin typeface="微软雅黑" charset="-122"/>
                <a:ea typeface="微软雅黑" charset="-122"/>
              </a:rPr>
              <a:t>运动捕捉测试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912" y="3410744"/>
            <a:ext cx="1076325" cy="2486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28" y="3788757"/>
            <a:ext cx="1104900" cy="20955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600056" y="4932457"/>
            <a:ext cx="33843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总结</a:t>
            </a:r>
            <a:endParaRPr lang="en-US" altLang="zh-CN" sz="32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7"/>
          <p:cNvSpPr txBox="1"/>
          <p:nvPr/>
        </p:nvSpPr>
        <p:spPr>
          <a:xfrm>
            <a:off x="2829514" y="1931243"/>
            <a:ext cx="1490150" cy="3108543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96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1</a:t>
            </a:r>
            <a:endParaRPr dirty="0"/>
          </a:p>
        </p:txBody>
      </p:sp>
      <p:sp>
        <p:nvSpPr>
          <p:cNvPr id="3" name="矩形 259"/>
          <p:cNvSpPr txBox="1"/>
          <p:nvPr/>
        </p:nvSpPr>
        <p:spPr>
          <a:xfrm>
            <a:off x="5879976" y="2746850"/>
            <a:ext cx="4464496" cy="73866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ts val="1100"/>
              </a:spcBef>
              <a:defRPr sz="4800">
                <a:solidFill>
                  <a:srgbClr val="FFFFFF"/>
                </a:solidFill>
                <a:latin typeface="FZHei-B01S"/>
                <a:ea typeface="FZHei-B01S"/>
                <a:cs typeface="FZHei-B01S"/>
                <a:sym typeface="FZHei-B01S"/>
              </a:defRPr>
            </a:pPr>
            <a:r>
              <a:rPr lang="zh-CN" altLang="en-US" sz="48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项目背景</a:t>
            </a:r>
            <a:endParaRPr sz="4800" b="1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62961" y="113947"/>
            <a:ext cx="4809683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data】</a:t>
            </a:r>
            <a:endParaRPr lang="zh-CN" altLang="en-US" sz="1600" b="1" dirty="0">
              <a:solidFill>
                <a:srgbClr val="FFC00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312963" y="1107442"/>
            <a:ext cx="361928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93674" y="1107442"/>
            <a:ext cx="36192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63351" y="188640"/>
            <a:ext cx="4910542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减震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&amp;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回弹</a:t>
            </a:r>
          </a:p>
        </p:txBody>
      </p:sp>
      <p:cxnSp>
        <p:nvCxnSpPr>
          <p:cNvPr id="62" name="直接箭头连接符 61"/>
          <p:cNvCxnSpPr/>
          <p:nvPr/>
        </p:nvCxnSpPr>
        <p:spPr>
          <a:xfrm>
            <a:off x="479376" y="1000473"/>
            <a:ext cx="11233248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108739" y="5032921"/>
            <a:ext cx="723275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缓震性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776520" y="692696"/>
            <a:ext cx="723275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回弹性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>
            <a:off x="803151" y="921658"/>
            <a:ext cx="29306" cy="4615319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551384" y="759155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0</a:t>
            </a:r>
            <a:endParaRPr lang="zh-CN" altLang="en-US" sz="1200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1487488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2279576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3071664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935760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4727848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5591944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384032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7176120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8040216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8832304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52626" y="1648545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852626" y="2296617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852626" y="2944689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852626" y="3592761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861544" y="4221088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887097" y="4888905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1" name="矩形 100"/>
          <p:cNvSpPr/>
          <p:nvPr/>
        </p:nvSpPr>
        <p:spPr>
          <a:xfrm>
            <a:off x="126679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38%</a:t>
            </a:r>
            <a:endParaRPr lang="zh-CN" altLang="en-US" sz="1200" dirty="0"/>
          </a:p>
        </p:txBody>
      </p:sp>
      <p:cxnSp>
        <p:nvCxnSpPr>
          <p:cNvPr id="105" name="直接连接符 104"/>
          <p:cNvCxnSpPr/>
          <p:nvPr/>
        </p:nvCxnSpPr>
        <p:spPr>
          <a:xfrm>
            <a:off x="9696400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10488488" y="1036154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2003591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40%</a:t>
            </a:r>
            <a:endParaRPr lang="zh-CN" altLang="en-US" sz="1200" dirty="0"/>
          </a:p>
        </p:txBody>
      </p:sp>
      <p:sp>
        <p:nvSpPr>
          <p:cNvPr id="108" name="矩形 107"/>
          <p:cNvSpPr/>
          <p:nvPr/>
        </p:nvSpPr>
        <p:spPr>
          <a:xfrm>
            <a:off x="2831683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42%</a:t>
            </a:r>
            <a:endParaRPr lang="zh-CN" altLang="en-US" sz="1200" dirty="0"/>
          </a:p>
        </p:txBody>
      </p:sp>
      <p:sp>
        <p:nvSpPr>
          <p:cNvPr id="109" name="矩形 108"/>
          <p:cNvSpPr/>
          <p:nvPr/>
        </p:nvSpPr>
        <p:spPr>
          <a:xfrm>
            <a:off x="3659775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44%</a:t>
            </a:r>
            <a:endParaRPr lang="zh-CN" altLang="en-US" sz="1200" dirty="0"/>
          </a:p>
        </p:txBody>
      </p:sp>
      <p:sp>
        <p:nvSpPr>
          <p:cNvPr id="110" name="矩形 109"/>
          <p:cNvSpPr/>
          <p:nvPr/>
        </p:nvSpPr>
        <p:spPr>
          <a:xfrm>
            <a:off x="4469604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46%</a:t>
            </a:r>
            <a:endParaRPr lang="zh-CN" altLang="en-US" sz="1200" dirty="0"/>
          </a:p>
        </p:txBody>
      </p:sp>
      <p:sp>
        <p:nvSpPr>
          <p:cNvPr id="111" name="矩形 110"/>
          <p:cNvSpPr/>
          <p:nvPr/>
        </p:nvSpPr>
        <p:spPr>
          <a:xfrm>
            <a:off x="5366857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48%</a:t>
            </a:r>
            <a:endParaRPr lang="zh-CN" altLang="en-US" sz="1200" dirty="0"/>
          </a:p>
        </p:txBody>
      </p:sp>
      <p:sp>
        <p:nvSpPr>
          <p:cNvPr id="112" name="矩形 111"/>
          <p:cNvSpPr/>
          <p:nvPr/>
        </p:nvSpPr>
        <p:spPr>
          <a:xfrm>
            <a:off x="6159971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50%</a:t>
            </a:r>
            <a:endParaRPr lang="zh-CN" altLang="en-US" sz="1200" dirty="0"/>
          </a:p>
        </p:txBody>
      </p:sp>
      <p:sp>
        <p:nvSpPr>
          <p:cNvPr id="113" name="矩形 112"/>
          <p:cNvSpPr/>
          <p:nvPr/>
        </p:nvSpPr>
        <p:spPr>
          <a:xfrm>
            <a:off x="689676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52%</a:t>
            </a:r>
            <a:endParaRPr lang="zh-CN" altLang="en-US" sz="1200" dirty="0"/>
          </a:p>
        </p:txBody>
      </p:sp>
      <p:sp>
        <p:nvSpPr>
          <p:cNvPr id="114" name="矩形 113"/>
          <p:cNvSpPr/>
          <p:nvPr/>
        </p:nvSpPr>
        <p:spPr>
          <a:xfrm>
            <a:off x="7760895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54%</a:t>
            </a:r>
            <a:endParaRPr lang="zh-CN" altLang="en-US" sz="1200" dirty="0"/>
          </a:p>
        </p:txBody>
      </p:sp>
      <p:sp>
        <p:nvSpPr>
          <p:cNvPr id="115" name="矩形 114"/>
          <p:cNvSpPr/>
          <p:nvPr/>
        </p:nvSpPr>
        <p:spPr>
          <a:xfrm>
            <a:off x="8569665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56%</a:t>
            </a:r>
            <a:endParaRPr lang="zh-CN" altLang="en-US" sz="1200" dirty="0"/>
          </a:p>
        </p:txBody>
      </p:sp>
      <p:sp>
        <p:nvSpPr>
          <p:cNvPr id="116" name="矩形 115"/>
          <p:cNvSpPr/>
          <p:nvPr/>
        </p:nvSpPr>
        <p:spPr>
          <a:xfrm>
            <a:off x="9403239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58%</a:t>
            </a:r>
            <a:endParaRPr lang="zh-CN" altLang="en-US" sz="1200" dirty="0"/>
          </a:p>
        </p:txBody>
      </p:sp>
      <p:sp>
        <p:nvSpPr>
          <p:cNvPr id="118" name="矩形 117"/>
          <p:cNvSpPr/>
          <p:nvPr/>
        </p:nvSpPr>
        <p:spPr>
          <a:xfrm>
            <a:off x="560171" y="4720242"/>
            <a:ext cx="42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8</a:t>
            </a:r>
            <a:endParaRPr lang="zh-CN" altLang="en-US" sz="1200" dirty="0"/>
          </a:p>
        </p:txBody>
      </p:sp>
      <p:sp>
        <p:nvSpPr>
          <p:cNvPr id="119" name="矩形 118"/>
          <p:cNvSpPr/>
          <p:nvPr/>
        </p:nvSpPr>
        <p:spPr>
          <a:xfrm>
            <a:off x="688151" y="5542493"/>
            <a:ext cx="3016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G</a:t>
            </a:r>
            <a:endParaRPr lang="zh-CN" altLang="en-US" sz="1200" dirty="0"/>
          </a:p>
        </p:txBody>
      </p:sp>
      <p:sp>
        <p:nvSpPr>
          <p:cNvPr id="120" name="矩形 119"/>
          <p:cNvSpPr/>
          <p:nvPr/>
        </p:nvSpPr>
        <p:spPr>
          <a:xfrm>
            <a:off x="11735918" y="865526"/>
            <a:ext cx="3273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%</a:t>
            </a:r>
            <a:endParaRPr lang="zh-CN" altLang="en-US" sz="1200" dirty="0"/>
          </a:p>
        </p:txBody>
      </p:sp>
      <p:sp>
        <p:nvSpPr>
          <p:cNvPr id="121" name="矩形 120"/>
          <p:cNvSpPr/>
          <p:nvPr/>
        </p:nvSpPr>
        <p:spPr>
          <a:xfrm>
            <a:off x="560171" y="4102333"/>
            <a:ext cx="42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9</a:t>
            </a:r>
            <a:endParaRPr lang="zh-CN" altLang="en-US" sz="1200" dirty="0"/>
          </a:p>
        </p:txBody>
      </p:sp>
      <p:sp>
        <p:nvSpPr>
          <p:cNvPr id="122" name="矩形 121"/>
          <p:cNvSpPr/>
          <p:nvPr/>
        </p:nvSpPr>
        <p:spPr>
          <a:xfrm>
            <a:off x="470376" y="3471957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10</a:t>
            </a:r>
            <a:endParaRPr lang="zh-CN" altLang="en-US" sz="1200" dirty="0"/>
          </a:p>
        </p:txBody>
      </p:sp>
      <p:sp>
        <p:nvSpPr>
          <p:cNvPr id="123" name="矩形 122"/>
          <p:cNvSpPr/>
          <p:nvPr/>
        </p:nvSpPr>
        <p:spPr>
          <a:xfrm>
            <a:off x="470376" y="2823667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11</a:t>
            </a:r>
            <a:endParaRPr lang="zh-CN" altLang="en-US" sz="1200" dirty="0"/>
          </a:p>
        </p:txBody>
      </p:sp>
      <p:sp>
        <p:nvSpPr>
          <p:cNvPr id="124" name="矩形 123"/>
          <p:cNvSpPr/>
          <p:nvPr/>
        </p:nvSpPr>
        <p:spPr>
          <a:xfrm>
            <a:off x="470376" y="2184306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12</a:t>
            </a:r>
            <a:endParaRPr lang="zh-CN" altLang="en-US" sz="1200" dirty="0"/>
          </a:p>
        </p:txBody>
      </p:sp>
      <p:sp>
        <p:nvSpPr>
          <p:cNvPr id="125" name="矩形 124"/>
          <p:cNvSpPr/>
          <p:nvPr/>
        </p:nvSpPr>
        <p:spPr>
          <a:xfrm>
            <a:off x="470376" y="1515626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13</a:t>
            </a:r>
            <a:endParaRPr lang="zh-CN" altLang="en-US" sz="1200" dirty="0"/>
          </a:p>
        </p:txBody>
      </p:sp>
      <p:sp>
        <p:nvSpPr>
          <p:cNvPr id="126" name="矩形 125"/>
          <p:cNvSpPr/>
          <p:nvPr/>
        </p:nvSpPr>
        <p:spPr>
          <a:xfrm>
            <a:off x="923101" y="757413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127" name="矩形 126"/>
          <p:cNvSpPr/>
          <p:nvPr/>
        </p:nvSpPr>
        <p:spPr>
          <a:xfrm rot="16200000">
            <a:off x="489528" y="1184794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cxnSp>
        <p:nvCxnSpPr>
          <p:cNvPr id="140" name="直接连接符 139"/>
          <p:cNvCxnSpPr/>
          <p:nvPr/>
        </p:nvCxnSpPr>
        <p:spPr>
          <a:xfrm>
            <a:off x="5519936" y="1034412"/>
            <a:ext cx="0" cy="282141"/>
          </a:xfrm>
          <a:prstGeom prst="line">
            <a:avLst/>
          </a:prstGeom>
          <a:ln w="9525" cap="flat" cmpd="sng" algn="ctr">
            <a:solidFill>
              <a:schemeClr val="dk1">
                <a:alpha val="12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4" name="矩形 163"/>
          <p:cNvSpPr/>
          <p:nvPr/>
        </p:nvSpPr>
        <p:spPr>
          <a:xfrm>
            <a:off x="10217620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60%</a:t>
            </a:r>
            <a:endParaRPr lang="zh-CN" altLang="en-US" sz="1200" dirty="0"/>
          </a:p>
        </p:txBody>
      </p:sp>
      <p:sp>
        <p:nvSpPr>
          <p:cNvPr id="49" name="矩形 48"/>
          <p:cNvSpPr/>
          <p:nvPr/>
        </p:nvSpPr>
        <p:spPr>
          <a:xfrm>
            <a:off x="0" y="6999004"/>
            <a:ext cx="12192000" cy="103850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173564" y="7126797"/>
            <a:ext cx="2986408" cy="259604"/>
          </a:xfrm>
          <a:prstGeom prst="rect">
            <a:avLst/>
          </a:prstGeom>
          <a:solidFill>
            <a:srgbClr val="33CC33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442556" y="7494245"/>
            <a:ext cx="6533764" cy="259604"/>
          </a:xfrm>
          <a:prstGeom prst="rect">
            <a:avLst/>
          </a:prstGeom>
          <a:solidFill>
            <a:schemeClr val="accent2">
              <a:lumMod val="60000"/>
              <a:lumOff val="40000"/>
              <a:alpha val="4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63351" y="6999364"/>
            <a:ext cx="11665296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结合缓震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值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回弹率来看，锋刺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7pro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整体缓震与回弹上较优，仅次于且略低于锋刺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6pro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、驭帅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14boom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。仅从该项指标来看，可以初步得出，爆米花材料所提供的缓震、回弹效果运用在篮球鞋上略优于其他缓震材料。</a:t>
            </a:r>
            <a:endParaRPr lang="en-US" altLang="zh-CN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62961" y="113947"/>
            <a:ext cx="4809683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弯折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&amp;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扭转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488901" y="5365016"/>
            <a:ext cx="10836000" cy="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0055299" y="5370040"/>
            <a:ext cx="1082348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抗弯折性能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90439" y="4771046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30474" y="5339311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52" name="矩形 51"/>
          <p:cNvSpPr/>
          <p:nvPr/>
        </p:nvSpPr>
        <p:spPr>
          <a:xfrm>
            <a:off x="32505" y="1332153"/>
            <a:ext cx="723275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抗扭转</a:t>
            </a:r>
            <a:endParaRPr lang="en-US" altLang="zh-CN" sz="14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性能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1280576" y="5220811"/>
            <a:ext cx="776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88445" y="914379"/>
            <a:ext cx="10021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N*m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773875" y="1179474"/>
            <a:ext cx="0" cy="435600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右箭头 6"/>
          <p:cNvSpPr/>
          <p:nvPr/>
        </p:nvSpPr>
        <p:spPr>
          <a:xfrm>
            <a:off x="773875" y="4882877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右箭头 92"/>
          <p:cNvSpPr/>
          <p:nvPr/>
        </p:nvSpPr>
        <p:spPr>
          <a:xfrm>
            <a:off x="773875" y="4467054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右箭头 93"/>
          <p:cNvSpPr/>
          <p:nvPr/>
        </p:nvSpPr>
        <p:spPr>
          <a:xfrm>
            <a:off x="773875" y="4059197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右箭头 96"/>
          <p:cNvSpPr/>
          <p:nvPr/>
        </p:nvSpPr>
        <p:spPr>
          <a:xfrm>
            <a:off x="773875" y="3671949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右箭头 98"/>
          <p:cNvSpPr/>
          <p:nvPr/>
        </p:nvSpPr>
        <p:spPr>
          <a:xfrm>
            <a:off x="773875" y="3282394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右箭头 99"/>
          <p:cNvSpPr/>
          <p:nvPr/>
        </p:nvSpPr>
        <p:spPr>
          <a:xfrm>
            <a:off x="773875" y="2895146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右箭头 100"/>
          <p:cNvSpPr/>
          <p:nvPr/>
        </p:nvSpPr>
        <p:spPr>
          <a:xfrm>
            <a:off x="773875" y="2495178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右箭头 103"/>
          <p:cNvSpPr/>
          <p:nvPr/>
        </p:nvSpPr>
        <p:spPr>
          <a:xfrm>
            <a:off x="773875" y="2117455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右箭头 104"/>
          <p:cNvSpPr/>
          <p:nvPr/>
        </p:nvSpPr>
        <p:spPr>
          <a:xfrm>
            <a:off x="774188" y="1732457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495877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V="1">
            <a:off x="2046772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 flipV="1">
            <a:off x="254243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 flipV="1">
            <a:off x="3046495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 flipV="1">
            <a:off x="362255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 flipV="1">
            <a:off x="415519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flipV="1">
            <a:off x="4659246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 flipV="1">
            <a:off x="519721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 flipV="1">
            <a:off x="5773274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 flipV="1">
            <a:off x="627733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 flipV="1">
            <a:off x="6781386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 flipV="1">
            <a:off x="735745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 flipV="1">
            <a:off x="7861506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 flipV="1">
            <a:off x="834117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 flipV="1">
            <a:off x="8845235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 flipV="1">
            <a:off x="9349291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1308967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24" name="直接箭头连接符 123"/>
          <p:cNvCxnSpPr/>
          <p:nvPr/>
        </p:nvCxnSpPr>
        <p:spPr>
          <a:xfrm flipV="1">
            <a:off x="9806508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1876729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2353710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874633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3411123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3960621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4512154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4994977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5591779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18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6112702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19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694452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7204194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7720985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8211949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8702895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126742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90439" y="4374272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490439" y="3968692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490439" y="3581443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490439" y="3167458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8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499964" y="2785399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9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427559" y="2379537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427559" y="1988840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8" name="矩形 147"/>
          <p:cNvSpPr/>
          <p:nvPr/>
        </p:nvSpPr>
        <p:spPr>
          <a:xfrm rot="5400000">
            <a:off x="495238" y="4994461"/>
            <a:ext cx="3321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</a:t>
            </a:r>
            <a:endParaRPr lang="zh-CN" altLang="en-US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60014" y="6993572"/>
            <a:ext cx="12192000" cy="1038508"/>
            <a:chOff x="0" y="6957392"/>
            <a:chExt cx="12192000" cy="1038508"/>
          </a:xfrm>
        </p:grpSpPr>
        <p:sp>
          <p:nvSpPr>
            <p:cNvPr id="103" name="矩形 102"/>
            <p:cNvSpPr/>
            <p:nvPr/>
          </p:nvSpPr>
          <p:spPr>
            <a:xfrm>
              <a:off x="0" y="6957392"/>
              <a:ext cx="12192000" cy="1038508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609100" y="7538524"/>
              <a:ext cx="5003608" cy="25960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9804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3410258" y="7142709"/>
              <a:ext cx="4218968" cy="259604"/>
            </a:xfrm>
            <a:prstGeom prst="rect">
              <a:avLst/>
            </a:prstGeom>
            <a:solidFill>
              <a:srgbClr val="33CC33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矩形 156"/>
            <p:cNvSpPr/>
            <p:nvPr/>
          </p:nvSpPr>
          <p:spPr>
            <a:xfrm>
              <a:off x="192982" y="7032277"/>
              <a:ext cx="1166529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n"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结合弯折力值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扭转力矩来看，次轮测试锋刺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7pro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整体的刚性略弱于锋刺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，但当球鞋在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鞋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脚一体性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优秀的情况下，刚性偏弱也并非是坏事，虽整体推进力有所下降，但能在很大程度上降低驾驭门槛。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160" name="直接箭头连接符 159"/>
          <p:cNvCxnSpPr/>
          <p:nvPr/>
        </p:nvCxnSpPr>
        <p:spPr>
          <a:xfrm flipV="1">
            <a:off x="10382572" y="5268186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5" name="矩形 164"/>
          <p:cNvSpPr/>
          <p:nvPr/>
        </p:nvSpPr>
        <p:spPr>
          <a:xfrm>
            <a:off x="9620101" y="5417519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直接箭头连接符 59"/>
          <p:cNvCxnSpPr/>
          <p:nvPr/>
        </p:nvCxnSpPr>
        <p:spPr>
          <a:xfrm>
            <a:off x="823225" y="856457"/>
            <a:ext cx="0" cy="4680520"/>
          </a:xfrm>
          <a:prstGeom prst="straightConnector1">
            <a:avLst/>
          </a:prstGeom>
          <a:noFill/>
          <a:ln w="38100" cap="flat">
            <a:solidFill>
              <a:srgbClr val="D82540"/>
            </a:solidFill>
            <a:prstDash val="solid"/>
            <a:round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文本框 19"/>
          <p:cNvSpPr txBox="1"/>
          <p:nvPr/>
        </p:nvSpPr>
        <p:spPr>
          <a:xfrm>
            <a:off x="263351" y="188640"/>
            <a:ext cx="4910542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减震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&amp;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回弹</a:t>
            </a:r>
          </a:p>
        </p:txBody>
      </p:sp>
      <p:cxnSp>
        <p:nvCxnSpPr>
          <p:cNvPr id="62" name="直接箭头连接符 61"/>
          <p:cNvCxnSpPr/>
          <p:nvPr/>
        </p:nvCxnSpPr>
        <p:spPr>
          <a:xfrm>
            <a:off x="479376" y="1000473"/>
            <a:ext cx="11448000" cy="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108739" y="5032921"/>
            <a:ext cx="723275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缓震性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0989349" y="692696"/>
            <a:ext cx="723275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回弹性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51384" y="759155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0</a:t>
            </a:r>
            <a:endParaRPr lang="zh-CN" altLang="en-US" sz="1200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1487488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2127354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2756129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3409383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4099290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4724479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5363409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6046226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6714723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407937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52626" y="1648545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852626" y="2296617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852626" y="2944689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852626" y="3592761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861544" y="4221088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887097" y="4888905"/>
            <a:ext cx="72008" cy="0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1" name="矩形 100"/>
          <p:cNvSpPr/>
          <p:nvPr/>
        </p:nvSpPr>
        <p:spPr>
          <a:xfrm>
            <a:off x="126679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46%</a:t>
            </a:r>
            <a:endParaRPr lang="zh-CN" altLang="en-US" sz="1200" dirty="0"/>
          </a:p>
        </p:txBody>
      </p:sp>
      <p:cxnSp>
        <p:nvCxnSpPr>
          <p:cNvPr id="105" name="直接连接符 104"/>
          <p:cNvCxnSpPr/>
          <p:nvPr/>
        </p:nvCxnSpPr>
        <p:spPr>
          <a:xfrm>
            <a:off x="8094827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8804866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矩形 106"/>
          <p:cNvSpPr/>
          <p:nvPr/>
        </p:nvSpPr>
        <p:spPr>
          <a:xfrm>
            <a:off x="1878350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47%</a:t>
            </a:r>
            <a:endParaRPr lang="zh-CN" altLang="en-US" sz="1200" dirty="0"/>
          </a:p>
        </p:txBody>
      </p:sp>
      <p:sp>
        <p:nvSpPr>
          <p:cNvPr id="108" name="矩形 107"/>
          <p:cNvSpPr/>
          <p:nvPr/>
        </p:nvSpPr>
        <p:spPr>
          <a:xfrm>
            <a:off x="2516148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48%</a:t>
            </a:r>
            <a:endParaRPr lang="zh-CN" altLang="en-US" sz="1200" dirty="0"/>
          </a:p>
        </p:txBody>
      </p:sp>
      <p:sp>
        <p:nvSpPr>
          <p:cNvPr id="109" name="矩形 108"/>
          <p:cNvSpPr/>
          <p:nvPr/>
        </p:nvSpPr>
        <p:spPr>
          <a:xfrm>
            <a:off x="315394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49%</a:t>
            </a:r>
            <a:endParaRPr lang="zh-CN" altLang="en-US" sz="1200" dirty="0"/>
          </a:p>
        </p:txBody>
      </p:sp>
      <p:sp>
        <p:nvSpPr>
          <p:cNvPr id="110" name="矩形 109"/>
          <p:cNvSpPr/>
          <p:nvPr/>
        </p:nvSpPr>
        <p:spPr>
          <a:xfrm>
            <a:off x="384104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50%</a:t>
            </a:r>
            <a:endParaRPr lang="zh-CN" altLang="en-US" sz="1200" dirty="0"/>
          </a:p>
        </p:txBody>
      </p:sp>
      <p:sp>
        <p:nvSpPr>
          <p:cNvPr id="111" name="矩形 110"/>
          <p:cNvSpPr/>
          <p:nvPr/>
        </p:nvSpPr>
        <p:spPr>
          <a:xfrm>
            <a:off x="4499392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51%</a:t>
            </a:r>
            <a:endParaRPr lang="zh-CN" altLang="en-US" sz="1200" dirty="0"/>
          </a:p>
        </p:txBody>
      </p:sp>
      <p:sp>
        <p:nvSpPr>
          <p:cNvPr id="112" name="矩形 111"/>
          <p:cNvSpPr/>
          <p:nvPr/>
        </p:nvSpPr>
        <p:spPr>
          <a:xfrm>
            <a:off x="5139348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52%</a:t>
            </a:r>
            <a:endParaRPr lang="zh-CN" altLang="en-US" sz="1200" dirty="0"/>
          </a:p>
        </p:txBody>
      </p:sp>
      <p:sp>
        <p:nvSpPr>
          <p:cNvPr id="113" name="矩形 112"/>
          <p:cNvSpPr/>
          <p:nvPr/>
        </p:nvSpPr>
        <p:spPr>
          <a:xfrm>
            <a:off x="5807968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53%</a:t>
            </a:r>
            <a:endParaRPr lang="zh-CN" altLang="en-US" sz="1200" dirty="0"/>
          </a:p>
        </p:txBody>
      </p:sp>
      <p:sp>
        <p:nvSpPr>
          <p:cNvPr id="114" name="矩形 113"/>
          <p:cNvSpPr/>
          <p:nvPr/>
        </p:nvSpPr>
        <p:spPr>
          <a:xfrm>
            <a:off x="6455950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54%</a:t>
            </a:r>
            <a:endParaRPr lang="zh-CN" altLang="en-US" sz="1200" dirty="0"/>
          </a:p>
        </p:txBody>
      </p:sp>
      <p:sp>
        <p:nvSpPr>
          <p:cNvPr id="115" name="矩形 114"/>
          <p:cNvSpPr/>
          <p:nvPr/>
        </p:nvSpPr>
        <p:spPr>
          <a:xfrm>
            <a:off x="716584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55%</a:t>
            </a:r>
            <a:endParaRPr lang="zh-CN" altLang="en-US" sz="1200" dirty="0"/>
          </a:p>
        </p:txBody>
      </p:sp>
      <p:sp>
        <p:nvSpPr>
          <p:cNvPr id="116" name="矩形 115"/>
          <p:cNvSpPr/>
          <p:nvPr/>
        </p:nvSpPr>
        <p:spPr>
          <a:xfrm>
            <a:off x="7832488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56%</a:t>
            </a:r>
            <a:endParaRPr lang="zh-CN" altLang="en-US" sz="1200" dirty="0"/>
          </a:p>
        </p:txBody>
      </p:sp>
      <p:sp>
        <p:nvSpPr>
          <p:cNvPr id="118" name="矩形 117"/>
          <p:cNvSpPr/>
          <p:nvPr/>
        </p:nvSpPr>
        <p:spPr>
          <a:xfrm>
            <a:off x="560171" y="4720242"/>
            <a:ext cx="42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6</a:t>
            </a:r>
            <a:endParaRPr lang="zh-CN" altLang="en-US" sz="1200" dirty="0"/>
          </a:p>
        </p:txBody>
      </p:sp>
      <p:sp>
        <p:nvSpPr>
          <p:cNvPr id="119" name="矩形 118"/>
          <p:cNvSpPr/>
          <p:nvPr/>
        </p:nvSpPr>
        <p:spPr>
          <a:xfrm>
            <a:off x="688151" y="5542493"/>
            <a:ext cx="3016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G</a:t>
            </a:r>
            <a:endParaRPr lang="zh-CN" altLang="en-US" sz="1200" dirty="0"/>
          </a:p>
        </p:txBody>
      </p:sp>
      <p:sp>
        <p:nvSpPr>
          <p:cNvPr id="120" name="矩形 119"/>
          <p:cNvSpPr/>
          <p:nvPr/>
        </p:nvSpPr>
        <p:spPr>
          <a:xfrm>
            <a:off x="11879072" y="865526"/>
            <a:ext cx="3273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%</a:t>
            </a:r>
            <a:endParaRPr lang="zh-CN" altLang="en-US" sz="1200" dirty="0"/>
          </a:p>
        </p:txBody>
      </p:sp>
      <p:sp>
        <p:nvSpPr>
          <p:cNvPr id="121" name="矩形 120"/>
          <p:cNvSpPr/>
          <p:nvPr/>
        </p:nvSpPr>
        <p:spPr>
          <a:xfrm>
            <a:off x="560171" y="4102333"/>
            <a:ext cx="42966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7</a:t>
            </a:r>
            <a:endParaRPr lang="zh-CN" altLang="en-US" sz="1200" dirty="0"/>
          </a:p>
        </p:txBody>
      </p:sp>
      <p:sp>
        <p:nvSpPr>
          <p:cNvPr id="122" name="矩形 121"/>
          <p:cNvSpPr/>
          <p:nvPr/>
        </p:nvSpPr>
        <p:spPr>
          <a:xfrm>
            <a:off x="532020" y="3471957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8</a:t>
            </a:r>
            <a:endParaRPr lang="zh-CN" altLang="en-US" sz="1200" dirty="0"/>
          </a:p>
        </p:txBody>
      </p:sp>
      <p:sp>
        <p:nvSpPr>
          <p:cNvPr id="123" name="矩形 122"/>
          <p:cNvSpPr/>
          <p:nvPr/>
        </p:nvSpPr>
        <p:spPr>
          <a:xfrm>
            <a:off x="511472" y="2823667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9</a:t>
            </a:r>
            <a:endParaRPr lang="zh-CN" altLang="en-US" sz="1200" dirty="0"/>
          </a:p>
        </p:txBody>
      </p:sp>
      <p:sp>
        <p:nvSpPr>
          <p:cNvPr id="124" name="矩形 123"/>
          <p:cNvSpPr/>
          <p:nvPr/>
        </p:nvSpPr>
        <p:spPr>
          <a:xfrm>
            <a:off x="448464" y="2184306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10</a:t>
            </a:r>
            <a:endParaRPr lang="zh-CN" altLang="en-US" sz="1200" dirty="0"/>
          </a:p>
        </p:txBody>
      </p:sp>
      <p:sp>
        <p:nvSpPr>
          <p:cNvPr id="125" name="矩形 124"/>
          <p:cNvSpPr/>
          <p:nvPr/>
        </p:nvSpPr>
        <p:spPr>
          <a:xfrm>
            <a:off x="449828" y="1515626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11</a:t>
            </a:r>
            <a:endParaRPr lang="zh-CN" altLang="en-US" sz="1200" dirty="0"/>
          </a:p>
        </p:txBody>
      </p:sp>
      <p:sp>
        <p:nvSpPr>
          <p:cNvPr id="126" name="矩形 125"/>
          <p:cNvSpPr/>
          <p:nvPr/>
        </p:nvSpPr>
        <p:spPr>
          <a:xfrm>
            <a:off x="923101" y="757413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127" name="矩形 126"/>
          <p:cNvSpPr/>
          <p:nvPr/>
        </p:nvSpPr>
        <p:spPr>
          <a:xfrm rot="16200000">
            <a:off x="489528" y="1184794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164" name="矩形 163"/>
          <p:cNvSpPr/>
          <p:nvPr/>
        </p:nvSpPr>
        <p:spPr>
          <a:xfrm>
            <a:off x="855454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57%</a:t>
            </a:r>
            <a:endParaRPr lang="zh-CN" altLang="en-US" sz="1200" dirty="0"/>
          </a:p>
        </p:txBody>
      </p:sp>
      <p:sp>
        <p:nvSpPr>
          <p:cNvPr id="49" name="矩形 48"/>
          <p:cNvSpPr/>
          <p:nvPr/>
        </p:nvSpPr>
        <p:spPr>
          <a:xfrm>
            <a:off x="0" y="6999004"/>
            <a:ext cx="12192000" cy="103850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173564" y="7126797"/>
            <a:ext cx="2986408" cy="259604"/>
          </a:xfrm>
          <a:prstGeom prst="rect">
            <a:avLst/>
          </a:prstGeom>
          <a:solidFill>
            <a:srgbClr val="33CC33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442556" y="7494245"/>
            <a:ext cx="6533764" cy="259604"/>
          </a:xfrm>
          <a:prstGeom prst="rect">
            <a:avLst/>
          </a:prstGeom>
          <a:solidFill>
            <a:schemeClr val="accent2">
              <a:lumMod val="60000"/>
              <a:lumOff val="40000"/>
              <a:alpha val="4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63351" y="6999364"/>
            <a:ext cx="11665296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结合缓震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G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值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回弹率来看，锋刺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7pro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整体缓震与回弹上较优，仅次于且略低于锋刺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6pro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、驭帅</a:t>
            </a:r>
            <a:r>
              <a: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14boom</a:t>
            </a:r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。仅从该项指标来看，可以初步得出，爆米花材料所提供的缓震、回弹效果运用在篮球鞋上略优于其他缓震材料。</a:t>
            </a:r>
            <a:endParaRPr lang="en-US" altLang="zh-CN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3" name="直接连接符 52"/>
          <p:cNvCxnSpPr/>
          <p:nvPr/>
        </p:nvCxnSpPr>
        <p:spPr>
          <a:xfrm>
            <a:off x="9437704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10065318" y="103447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10735554" y="1043025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11352584" y="1060358"/>
            <a:ext cx="0" cy="72008"/>
          </a:xfrm>
          <a:prstGeom prst="line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9231372" y="739852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58%</a:t>
            </a:r>
            <a:endParaRPr lang="zh-CN" altLang="en-US" sz="1200" dirty="0"/>
          </a:p>
        </p:txBody>
      </p:sp>
      <p:sp>
        <p:nvSpPr>
          <p:cNvPr id="58" name="矩形 57"/>
          <p:cNvSpPr/>
          <p:nvPr/>
        </p:nvSpPr>
        <p:spPr>
          <a:xfrm>
            <a:off x="9879444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59%</a:t>
            </a:r>
            <a:endParaRPr lang="zh-CN" altLang="en-US" sz="1200" dirty="0"/>
          </a:p>
        </p:txBody>
      </p:sp>
      <p:sp>
        <p:nvSpPr>
          <p:cNvPr id="59" name="矩形 58"/>
          <p:cNvSpPr/>
          <p:nvPr/>
        </p:nvSpPr>
        <p:spPr>
          <a:xfrm>
            <a:off x="10476056" y="727027"/>
            <a:ext cx="5164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60%</a:t>
            </a:r>
            <a:endParaRPr lang="zh-CN" altLang="en-US" sz="1200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62961" y="113947"/>
            <a:ext cx="4809683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弯折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&amp;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扭转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488901" y="5365016"/>
            <a:ext cx="10836000" cy="0"/>
          </a:xfrm>
          <a:prstGeom prst="straightConnector1">
            <a:avLst/>
          </a:prstGeom>
          <a:ln>
            <a:solidFill>
              <a:schemeClr val="accent6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0055299" y="5370040"/>
            <a:ext cx="1082348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抗弯折性能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90439" y="4822416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30474" y="5339311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52" name="矩形 51"/>
          <p:cNvSpPr/>
          <p:nvPr/>
        </p:nvSpPr>
        <p:spPr>
          <a:xfrm>
            <a:off x="32505" y="1332153"/>
            <a:ext cx="723275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抗扭转</a:t>
            </a:r>
            <a:endParaRPr lang="en-US" altLang="zh-CN" sz="14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性能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1280576" y="5220811"/>
            <a:ext cx="776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88445" y="914379"/>
            <a:ext cx="10021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N*m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773875" y="1200022"/>
            <a:ext cx="0" cy="4356000"/>
          </a:xfrm>
          <a:prstGeom prst="straightConnector1">
            <a:avLst/>
          </a:prstGeom>
          <a:ln>
            <a:solidFill>
              <a:srgbClr val="D82540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右箭头 6"/>
          <p:cNvSpPr/>
          <p:nvPr/>
        </p:nvSpPr>
        <p:spPr>
          <a:xfrm>
            <a:off x="773875" y="4934247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右箭头 92"/>
          <p:cNvSpPr/>
          <p:nvPr/>
        </p:nvSpPr>
        <p:spPr>
          <a:xfrm>
            <a:off x="773875" y="4497876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右箭头 93"/>
          <p:cNvSpPr/>
          <p:nvPr/>
        </p:nvSpPr>
        <p:spPr>
          <a:xfrm>
            <a:off x="773875" y="4069471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右箭头 96"/>
          <p:cNvSpPr/>
          <p:nvPr/>
        </p:nvSpPr>
        <p:spPr>
          <a:xfrm>
            <a:off x="773875" y="3651401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右箭头 98"/>
          <p:cNvSpPr/>
          <p:nvPr/>
        </p:nvSpPr>
        <p:spPr>
          <a:xfrm>
            <a:off x="773875" y="3241298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右箭头 99"/>
          <p:cNvSpPr/>
          <p:nvPr/>
        </p:nvSpPr>
        <p:spPr>
          <a:xfrm>
            <a:off x="773875" y="2823228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右箭头 100"/>
          <p:cNvSpPr/>
          <p:nvPr/>
        </p:nvSpPr>
        <p:spPr>
          <a:xfrm>
            <a:off x="773875" y="2423260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右箭头 103"/>
          <p:cNvSpPr/>
          <p:nvPr/>
        </p:nvSpPr>
        <p:spPr>
          <a:xfrm>
            <a:off x="773875" y="2014715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495877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V="1">
            <a:off x="2046772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 flipV="1">
            <a:off x="254243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 flipV="1">
            <a:off x="3077317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 flipV="1">
            <a:off x="362255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 flipV="1">
            <a:off x="415519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flipV="1">
            <a:off x="4679794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 flipV="1">
            <a:off x="519721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 flipV="1">
            <a:off x="5742452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/>
          <p:nvPr/>
        </p:nvCxnSpPr>
        <p:spPr>
          <a:xfrm flipV="1">
            <a:off x="6277330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 flipV="1">
            <a:off x="6812208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 flipV="1">
            <a:off x="7347176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 flipV="1">
            <a:off x="7851232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 flipV="1">
            <a:off x="8330905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 flipV="1">
            <a:off x="8834961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 flipV="1">
            <a:off x="9318469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/>
          <p:nvPr/>
        </p:nvCxnSpPr>
        <p:spPr>
          <a:xfrm flipV="1">
            <a:off x="9806508" y="5262993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1874009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2362630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2905455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3426363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3968241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4509842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5010217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18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5560957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19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6112702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6620604" y="540712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7171060" y="5421143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7677522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8158718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8662774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9132502" y="5426864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90439" y="4405094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490439" y="3978966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3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2" name="矩形 141"/>
          <p:cNvSpPr/>
          <p:nvPr/>
        </p:nvSpPr>
        <p:spPr>
          <a:xfrm>
            <a:off x="490439" y="3560895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490439" y="3126362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5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499964" y="2713481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488164" y="2307619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488164" y="1906648"/>
            <a:ext cx="2792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8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8" name="矩形 147"/>
          <p:cNvSpPr/>
          <p:nvPr/>
        </p:nvSpPr>
        <p:spPr>
          <a:xfrm rot="5400000">
            <a:off x="495238" y="5035557"/>
            <a:ext cx="3321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</a:t>
            </a:r>
            <a:endParaRPr lang="zh-CN" altLang="en-US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60014" y="6993572"/>
            <a:ext cx="12192000" cy="1038508"/>
            <a:chOff x="0" y="6957392"/>
            <a:chExt cx="12192000" cy="1038508"/>
          </a:xfrm>
        </p:grpSpPr>
        <p:sp>
          <p:nvSpPr>
            <p:cNvPr id="103" name="矩形 102"/>
            <p:cNvSpPr/>
            <p:nvPr/>
          </p:nvSpPr>
          <p:spPr>
            <a:xfrm>
              <a:off x="0" y="6957392"/>
              <a:ext cx="12192000" cy="1038508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609100" y="7538524"/>
              <a:ext cx="5003608" cy="25960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9804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3410258" y="7142709"/>
              <a:ext cx="4218968" cy="259604"/>
            </a:xfrm>
            <a:prstGeom prst="rect">
              <a:avLst/>
            </a:prstGeom>
            <a:solidFill>
              <a:srgbClr val="33CC33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矩形 156"/>
            <p:cNvSpPr/>
            <p:nvPr/>
          </p:nvSpPr>
          <p:spPr>
            <a:xfrm>
              <a:off x="192982" y="7032277"/>
              <a:ext cx="1166529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n"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结合弯折力值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扭转力矩来看，次轮测试锋刺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7pro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整体的刚性略弱于锋刺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，但当球鞋在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鞋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脚一体性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优秀的情况下，刚性偏弱也并非是坏事，虽整体推进力有所下降，但能在很大程度上降低驾驭门槛。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160" name="直接箭头连接符 159"/>
          <p:cNvCxnSpPr/>
          <p:nvPr/>
        </p:nvCxnSpPr>
        <p:spPr>
          <a:xfrm flipV="1">
            <a:off x="10331202" y="5268186"/>
            <a:ext cx="0" cy="8854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5" name="矩形 164"/>
          <p:cNvSpPr/>
          <p:nvPr/>
        </p:nvSpPr>
        <p:spPr>
          <a:xfrm>
            <a:off x="9627721" y="5417519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27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右箭头 69"/>
          <p:cNvSpPr/>
          <p:nvPr/>
        </p:nvSpPr>
        <p:spPr>
          <a:xfrm>
            <a:off x="773875" y="1610785"/>
            <a:ext cx="45719" cy="45719"/>
          </a:xfrm>
          <a:prstGeom prst="rightArrow">
            <a:avLst/>
          </a:prstGeom>
          <a:ln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1238495" y="5421143"/>
            <a:ext cx="5207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11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1344" y="188640"/>
            <a:ext cx="902811" cy="5232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</a:p>
        </p:txBody>
      </p:sp>
      <p:sp>
        <p:nvSpPr>
          <p:cNvPr id="10" name="矩形 9"/>
          <p:cNvSpPr/>
          <p:nvPr/>
        </p:nvSpPr>
        <p:spPr>
          <a:xfrm>
            <a:off x="407368" y="7304072"/>
            <a:ext cx="1130525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基础数据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生物力学数据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人体试穿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1600" b="1" kern="1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建议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 文字描述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1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               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endParaRPr lang="en-US" altLang="zh-CN" sz="1600" kern="1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矩形 259"/>
          <p:cNvSpPr txBox="1"/>
          <p:nvPr/>
        </p:nvSpPr>
        <p:spPr>
          <a:xfrm>
            <a:off x="904309" y="2569883"/>
            <a:ext cx="6479835" cy="9233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spcBef>
                <a:spcPts val="1400"/>
              </a:spcBef>
              <a:defRPr sz="6000" b="1"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r>
              <a:rPr dirty="0">
                <a:latin typeface="微软雅黑" pitchFamily="34" charset="-122"/>
                <a:ea typeface="微软雅黑" pitchFamily="34" charset="-122"/>
              </a:rPr>
              <a:t>THANK YOU</a:t>
            </a:r>
          </a:p>
        </p:txBody>
      </p:sp>
      <p:pic>
        <p:nvPicPr>
          <p:cNvPr id="645" name="Picture 3" descr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83955" y="399810"/>
            <a:ext cx="1198866" cy="112601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767080" y="5300980"/>
            <a:ext cx="3067685" cy="64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科技中心   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62961" y="113947"/>
            <a:ext cx="5890189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 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步长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&amp; 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垂直重心振幅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488901" y="5365016"/>
            <a:ext cx="10836000" cy="0"/>
          </a:xfrm>
          <a:prstGeom prst="straightConnector1">
            <a:avLst/>
          </a:prstGeom>
          <a:ln>
            <a:solidFill>
              <a:schemeClr val="accent6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930474" y="5339311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63" name="矩形 62"/>
          <p:cNvSpPr/>
          <p:nvPr/>
        </p:nvSpPr>
        <p:spPr>
          <a:xfrm>
            <a:off x="11280576" y="5220811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cm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88445" y="914379"/>
            <a:ext cx="8771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cm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773875" y="1200022"/>
            <a:ext cx="0" cy="4356000"/>
          </a:xfrm>
          <a:prstGeom prst="straightConnector1">
            <a:avLst/>
          </a:prstGeom>
          <a:ln>
            <a:solidFill>
              <a:srgbClr val="D82540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 rot="5400000">
            <a:off x="495238" y="5035557"/>
            <a:ext cx="3321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</a:t>
            </a:r>
            <a:endParaRPr lang="zh-CN" altLang="en-US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60014" y="6993572"/>
            <a:ext cx="12192000" cy="1038508"/>
            <a:chOff x="0" y="6957392"/>
            <a:chExt cx="12192000" cy="1038508"/>
          </a:xfrm>
        </p:grpSpPr>
        <p:sp>
          <p:nvSpPr>
            <p:cNvPr id="103" name="矩形 102"/>
            <p:cNvSpPr/>
            <p:nvPr/>
          </p:nvSpPr>
          <p:spPr>
            <a:xfrm>
              <a:off x="0" y="6957392"/>
              <a:ext cx="12192000" cy="1038508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609100" y="7538524"/>
              <a:ext cx="5003608" cy="25960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9804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3410258" y="7142709"/>
              <a:ext cx="4218968" cy="259604"/>
            </a:xfrm>
            <a:prstGeom prst="rect">
              <a:avLst/>
            </a:prstGeom>
            <a:solidFill>
              <a:srgbClr val="33CC33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矩形 156"/>
            <p:cNvSpPr/>
            <p:nvPr/>
          </p:nvSpPr>
          <p:spPr>
            <a:xfrm>
              <a:off x="192982" y="7032277"/>
              <a:ext cx="1166529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n"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结合弯折力值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扭转力矩来看，次轮测试锋刺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7pro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整体的刚性略弱于锋刺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，但当球鞋在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鞋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脚一体性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优秀的情况下，刚性偏弱也并非是坏事，虽整体推进力有所下降，但能在很大程度上降低驾驭门槛。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" name="等腰三角形 3"/>
          <p:cNvSpPr/>
          <p:nvPr/>
        </p:nvSpPr>
        <p:spPr>
          <a:xfrm>
            <a:off x="149860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等腰三角形 92"/>
          <p:cNvSpPr/>
          <p:nvPr/>
        </p:nvSpPr>
        <p:spPr>
          <a:xfrm>
            <a:off x="149860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282700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146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97" name="等腰三角形 96"/>
          <p:cNvSpPr/>
          <p:nvPr/>
        </p:nvSpPr>
        <p:spPr>
          <a:xfrm>
            <a:off x="2163536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1947636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147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00" name="等腰三角形 99"/>
          <p:cNvSpPr/>
          <p:nvPr/>
        </p:nvSpPr>
        <p:spPr>
          <a:xfrm>
            <a:off x="2828471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612571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148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04" name="等腰三角形 103"/>
          <p:cNvSpPr/>
          <p:nvPr/>
        </p:nvSpPr>
        <p:spPr>
          <a:xfrm>
            <a:off x="3493407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3277507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149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08" name="等腰三角形 107"/>
          <p:cNvSpPr/>
          <p:nvPr/>
        </p:nvSpPr>
        <p:spPr>
          <a:xfrm>
            <a:off x="4158343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942443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11" name="等腰三角形 110"/>
          <p:cNvSpPr/>
          <p:nvPr/>
        </p:nvSpPr>
        <p:spPr>
          <a:xfrm>
            <a:off x="482327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4607378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151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13" name="等腰三角形 112"/>
          <p:cNvSpPr/>
          <p:nvPr/>
        </p:nvSpPr>
        <p:spPr>
          <a:xfrm>
            <a:off x="5488214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5272314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15" name="等腰三角形 114"/>
          <p:cNvSpPr/>
          <p:nvPr/>
        </p:nvSpPr>
        <p:spPr>
          <a:xfrm>
            <a:off x="615315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5937250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153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17" name="等腰三角形 116"/>
          <p:cNvSpPr/>
          <p:nvPr/>
        </p:nvSpPr>
        <p:spPr>
          <a:xfrm>
            <a:off x="6818085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6602185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19" name="等腰三角形 118"/>
          <p:cNvSpPr/>
          <p:nvPr/>
        </p:nvSpPr>
        <p:spPr>
          <a:xfrm>
            <a:off x="7483022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7267122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155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21" name="等腰三角形 120"/>
          <p:cNvSpPr/>
          <p:nvPr/>
        </p:nvSpPr>
        <p:spPr>
          <a:xfrm>
            <a:off x="8147957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7932057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24" name="等腰三角形 123"/>
          <p:cNvSpPr/>
          <p:nvPr/>
        </p:nvSpPr>
        <p:spPr>
          <a:xfrm>
            <a:off x="8812893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8596993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26" name="等腰三角形 125"/>
          <p:cNvSpPr/>
          <p:nvPr/>
        </p:nvSpPr>
        <p:spPr>
          <a:xfrm>
            <a:off x="947782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9261928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28" name="等腰三角形 127"/>
          <p:cNvSpPr/>
          <p:nvPr/>
        </p:nvSpPr>
        <p:spPr>
          <a:xfrm>
            <a:off x="10142765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9926865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159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30" name="等腰三角形 129"/>
          <p:cNvSpPr/>
          <p:nvPr/>
        </p:nvSpPr>
        <p:spPr>
          <a:xfrm>
            <a:off x="1080770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10591800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160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774700" y="4889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等腰三角形 131"/>
          <p:cNvSpPr/>
          <p:nvPr/>
        </p:nvSpPr>
        <p:spPr>
          <a:xfrm rot="5400000">
            <a:off x="774700" y="4889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330200" y="4762500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8.6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34" name="等腰三角形 133"/>
          <p:cNvSpPr/>
          <p:nvPr/>
        </p:nvSpPr>
        <p:spPr>
          <a:xfrm rot="5400000">
            <a:off x="774700" y="4633546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330200" y="4506546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8.7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36" name="等腰三角形 135"/>
          <p:cNvSpPr/>
          <p:nvPr/>
        </p:nvSpPr>
        <p:spPr>
          <a:xfrm rot="5400000">
            <a:off x="774700" y="4377592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330200" y="4250592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8.8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38" name="等腰三角形 137"/>
          <p:cNvSpPr/>
          <p:nvPr/>
        </p:nvSpPr>
        <p:spPr>
          <a:xfrm rot="5400000">
            <a:off x="774700" y="4121638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330200" y="3994638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8.9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40" name="等腰三角形 139"/>
          <p:cNvSpPr/>
          <p:nvPr/>
        </p:nvSpPr>
        <p:spPr>
          <a:xfrm rot="5400000">
            <a:off x="774700" y="3865685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330200" y="3738685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42" name="等腰三角形 141"/>
          <p:cNvSpPr/>
          <p:nvPr/>
        </p:nvSpPr>
        <p:spPr>
          <a:xfrm rot="5400000">
            <a:off x="774700" y="3609731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30200" y="3482731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9.1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44" name="等腰三角形 143"/>
          <p:cNvSpPr/>
          <p:nvPr/>
        </p:nvSpPr>
        <p:spPr>
          <a:xfrm rot="5400000">
            <a:off x="774700" y="3353777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330200" y="3226777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46" name="等腰三角形 145"/>
          <p:cNvSpPr/>
          <p:nvPr/>
        </p:nvSpPr>
        <p:spPr>
          <a:xfrm rot="5400000">
            <a:off x="774700" y="3097823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330200" y="2970823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9.3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65" name="等腰三角形 164"/>
          <p:cNvSpPr/>
          <p:nvPr/>
        </p:nvSpPr>
        <p:spPr>
          <a:xfrm rot="5400000">
            <a:off x="774700" y="2841869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330200" y="2714869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83" name="等腰三角形 182"/>
          <p:cNvSpPr/>
          <p:nvPr/>
        </p:nvSpPr>
        <p:spPr>
          <a:xfrm rot="5400000">
            <a:off x="774700" y="2585915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330200" y="2458915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9.5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85" name="等腰三角形 184"/>
          <p:cNvSpPr/>
          <p:nvPr/>
        </p:nvSpPr>
        <p:spPr>
          <a:xfrm rot="5400000">
            <a:off x="774700" y="2329961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330200" y="2202961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87" name="等腰三角形 186"/>
          <p:cNvSpPr/>
          <p:nvPr/>
        </p:nvSpPr>
        <p:spPr>
          <a:xfrm rot="5400000">
            <a:off x="774700" y="2074008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330200" y="1947008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89" name="等腰三角形 188"/>
          <p:cNvSpPr/>
          <p:nvPr/>
        </p:nvSpPr>
        <p:spPr>
          <a:xfrm rot="5400000">
            <a:off x="774700" y="1818054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330200" y="1691054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91" name="等腰三角形 190"/>
          <p:cNvSpPr/>
          <p:nvPr/>
        </p:nvSpPr>
        <p:spPr>
          <a:xfrm rot="5400000">
            <a:off x="774700" y="15621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330200" y="1435100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9.9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391168" y="5376331"/>
            <a:ext cx="792000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步长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-9951" y="1332153"/>
            <a:ext cx="800219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垂直重心</a:t>
            </a:r>
            <a:endParaRPr lang="en-US" altLang="zh-CN" sz="12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振幅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262961" y="113947"/>
            <a:ext cx="5890189" cy="40011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chemeClr val="bg1"/>
                </a:solidFill>
                <a:latin typeface="微软雅黑" charset="-122"/>
                <a:ea typeface="微软雅黑" charset="-122"/>
                <a:sym typeface="+mn-ea"/>
              </a:rPr>
              <a:t>测试数据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【</a:t>
            </a:r>
            <a:r>
              <a:rPr lang="en-US" altLang="zh-CN" b="1" dirty="0"/>
              <a:t>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</a:rPr>
              <a:t>essential data </a:t>
            </a:r>
            <a:r>
              <a:rPr lang="en-US" altLang="zh-CN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】--- </a:t>
            </a:r>
            <a:r>
              <a:rPr lang="zh-CN" altLang="en-US" sz="1600" b="1" dirty="0">
                <a:solidFill>
                  <a:srgbClr val="FFC000"/>
                </a:solidFill>
                <a:latin typeface="微软雅黑" charset="-122"/>
                <a:ea typeface="微软雅黑" charset="-122"/>
                <a:sym typeface="+mn-ea"/>
              </a:rPr>
              <a:t>厚度与重量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488901" y="5365016"/>
            <a:ext cx="10836000" cy="0"/>
          </a:xfrm>
          <a:prstGeom prst="straightConnector1">
            <a:avLst/>
          </a:prstGeom>
          <a:ln>
            <a:solidFill>
              <a:schemeClr val="accent6">
                <a:lumMod val="75000"/>
                <a:lumOff val="25000"/>
              </a:schemeClr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930474" y="5339311"/>
            <a:ext cx="375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….</a:t>
            </a:r>
            <a:endParaRPr lang="zh-CN" altLang="en-US" sz="1200" dirty="0"/>
          </a:p>
        </p:txBody>
      </p:sp>
      <p:sp>
        <p:nvSpPr>
          <p:cNvPr id="63" name="矩形 62"/>
          <p:cNvSpPr/>
          <p:nvPr/>
        </p:nvSpPr>
        <p:spPr>
          <a:xfrm>
            <a:off x="11280576" y="5220811"/>
            <a:ext cx="7489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g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88445" y="914379"/>
            <a:ext cx="9476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单位：</a:t>
            </a:r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mm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/>
          <p:cNvCxnSpPr/>
          <p:nvPr/>
        </p:nvCxnSpPr>
        <p:spPr>
          <a:xfrm flipV="1">
            <a:off x="773875" y="1200022"/>
            <a:ext cx="0" cy="4356000"/>
          </a:xfrm>
          <a:prstGeom prst="straightConnector1">
            <a:avLst/>
          </a:prstGeom>
          <a:ln>
            <a:solidFill>
              <a:srgbClr val="D82540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 rot="5400000">
            <a:off x="495238" y="5035557"/>
            <a:ext cx="3321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…</a:t>
            </a:r>
            <a:endParaRPr lang="zh-CN" altLang="en-US" sz="1200" dirty="0"/>
          </a:p>
        </p:txBody>
      </p:sp>
      <p:grpSp>
        <p:nvGrpSpPr>
          <p:cNvPr id="2" name="组合 1"/>
          <p:cNvGrpSpPr/>
          <p:nvPr/>
        </p:nvGrpSpPr>
        <p:grpSpPr>
          <a:xfrm>
            <a:off x="60014" y="6993572"/>
            <a:ext cx="12192000" cy="1038508"/>
            <a:chOff x="0" y="6957392"/>
            <a:chExt cx="12192000" cy="1038508"/>
          </a:xfrm>
        </p:grpSpPr>
        <p:sp>
          <p:nvSpPr>
            <p:cNvPr id="103" name="矩形 102"/>
            <p:cNvSpPr/>
            <p:nvPr/>
          </p:nvSpPr>
          <p:spPr>
            <a:xfrm>
              <a:off x="0" y="6957392"/>
              <a:ext cx="12192000" cy="1038508"/>
            </a:xfrm>
            <a:prstGeom prst="rect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2609100" y="7538524"/>
              <a:ext cx="5003608" cy="259604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9804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矩形 108"/>
            <p:cNvSpPr/>
            <p:nvPr/>
          </p:nvSpPr>
          <p:spPr>
            <a:xfrm>
              <a:off x="3410258" y="7142709"/>
              <a:ext cx="4218968" cy="259604"/>
            </a:xfrm>
            <a:prstGeom prst="rect">
              <a:avLst/>
            </a:prstGeom>
            <a:solidFill>
              <a:srgbClr val="33CC33">
                <a:alpha val="49804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矩形 156"/>
            <p:cNvSpPr/>
            <p:nvPr/>
          </p:nvSpPr>
          <p:spPr>
            <a:xfrm>
              <a:off x="192982" y="7032277"/>
              <a:ext cx="1166529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itchFamily="2" charset="2"/>
                <a:buChar char="n"/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结合弯折力值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扭转力矩来看，次轮测试锋刺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7pro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整体的刚性略弱于锋刺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6pro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，但当球鞋在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鞋</a:t>
              </a:r>
              <a:r>
                <a:rPr lang="en-US" altLang="zh-CN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-</a:t>
              </a:r>
              <a:r>
                <a:rPr lang="zh-CN" altLang="en-US" sz="1600" b="1" u="sng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脚一体性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优秀的情况下，刚性偏弱也并非是坏事，虽整体推进力有所下降，但能在很大程度上降低驾驭门槛。</a:t>
              </a:r>
              <a:endParaRPr lang="en-US" altLang="zh-CN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2" name="矩形 51"/>
          <p:cNvSpPr/>
          <p:nvPr/>
        </p:nvSpPr>
        <p:spPr>
          <a:xfrm>
            <a:off x="235099" y="1332153"/>
            <a:ext cx="543739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鞋底</a:t>
            </a:r>
            <a:endParaRPr lang="en-US" altLang="zh-CN" sz="1400" b="1" dirty="0">
              <a:solidFill>
                <a:schemeClr val="bg1"/>
              </a:solidFill>
              <a:latin typeface="微软雅黑" charset="-122"/>
              <a:ea typeface="微软雅黑" charset="-122"/>
            </a:endParaRP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厚度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" name="等腰三角形 2"/>
          <p:cNvSpPr/>
          <p:nvPr/>
        </p:nvSpPr>
        <p:spPr>
          <a:xfrm>
            <a:off x="149860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等腰三角形 78"/>
          <p:cNvSpPr/>
          <p:nvPr/>
        </p:nvSpPr>
        <p:spPr>
          <a:xfrm>
            <a:off x="149860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282700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230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81" name="等腰三角形 80"/>
          <p:cNvSpPr/>
          <p:nvPr/>
        </p:nvSpPr>
        <p:spPr>
          <a:xfrm>
            <a:off x="1980105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764205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227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83" name="等腰三角形 82"/>
          <p:cNvSpPr/>
          <p:nvPr/>
        </p:nvSpPr>
        <p:spPr>
          <a:xfrm>
            <a:off x="2461610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245710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224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85" name="等腰三角形 84"/>
          <p:cNvSpPr/>
          <p:nvPr/>
        </p:nvSpPr>
        <p:spPr>
          <a:xfrm>
            <a:off x="2943116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727216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221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87" name="等腰三角形 86"/>
          <p:cNvSpPr/>
          <p:nvPr/>
        </p:nvSpPr>
        <p:spPr>
          <a:xfrm>
            <a:off x="3424621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208721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218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90" name="等腰三角形 89"/>
          <p:cNvSpPr/>
          <p:nvPr/>
        </p:nvSpPr>
        <p:spPr>
          <a:xfrm>
            <a:off x="3906126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690226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215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92" name="等腰三角形 91"/>
          <p:cNvSpPr/>
          <p:nvPr/>
        </p:nvSpPr>
        <p:spPr>
          <a:xfrm>
            <a:off x="4387631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4171731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212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96" name="等腰三角形 95"/>
          <p:cNvSpPr/>
          <p:nvPr/>
        </p:nvSpPr>
        <p:spPr>
          <a:xfrm>
            <a:off x="4869136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653236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209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02" name="等腰三角形 101"/>
          <p:cNvSpPr/>
          <p:nvPr/>
        </p:nvSpPr>
        <p:spPr>
          <a:xfrm>
            <a:off x="5350641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134741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206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23" name="等腰三角形 122"/>
          <p:cNvSpPr/>
          <p:nvPr/>
        </p:nvSpPr>
        <p:spPr>
          <a:xfrm>
            <a:off x="5832147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616247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203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49" name="等腰三角形 148"/>
          <p:cNvSpPr/>
          <p:nvPr/>
        </p:nvSpPr>
        <p:spPr>
          <a:xfrm>
            <a:off x="6313652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6097752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200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51" name="等腰三角形 150"/>
          <p:cNvSpPr/>
          <p:nvPr/>
        </p:nvSpPr>
        <p:spPr>
          <a:xfrm>
            <a:off x="6795157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6579257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197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53" name="等腰三角形 152"/>
          <p:cNvSpPr/>
          <p:nvPr/>
        </p:nvSpPr>
        <p:spPr>
          <a:xfrm>
            <a:off x="7276662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7060762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194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55" name="等腰三角形 154"/>
          <p:cNvSpPr/>
          <p:nvPr/>
        </p:nvSpPr>
        <p:spPr>
          <a:xfrm>
            <a:off x="775816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7542268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191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58" name="等腰三角形 157"/>
          <p:cNvSpPr/>
          <p:nvPr/>
        </p:nvSpPr>
        <p:spPr>
          <a:xfrm>
            <a:off x="8239672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8023772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188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61" name="等腰三角形 160"/>
          <p:cNvSpPr/>
          <p:nvPr/>
        </p:nvSpPr>
        <p:spPr>
          <a:xfrm>
            <a:off x="872117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8505278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185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63" name="等腰三角形 162"/>
          <p:cNvSpPr/>
          <p:nvPr/>
        </p:nvSpPr>
        <p:spPr>
          <a:xfrm>
            <a:off x="9202682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8986782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182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66" name="等腰三角形 165"/>
          <p:cNvSpPr/>
          <p:nvPr/>
        </p:nvSpPr>
        <p:spPr>
          <a:xfrm>
            <a:off x="968418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9468288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179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68" name="等腰三角形 167"/>
          <p:cNvSpPr/>
          <p:nvPr/>
        </p:nvSpPr>
        <p:spPr>
          <a:xfrm>
            <a:off x="10165693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9949793" y="5384800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176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70" name="等腰三角形 169"/>
          <p:cNvSpPr/>
          <p:nvPr/>
        </p:nvSpPr>
        <p:spPr>
          <a:xfrm>
            <a:off x="10647198" y="5270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10431298" y="5400254"/>
            <a:ext cx="526948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 dirty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173</a:t>
            </a:r>
            <a:endParaRPr kumimoji="0" lang="zh-CN" altLang="en-US" sz="1200" b="1" i="0" u="none" strike="noStrike" cap="none" spc="0" normalizeH="0" baseline="0" dirty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774700" y="4889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等腰三角形 171"/>
          <p:cNvSpPr/>
          <p:nvPr/>
        </p:nvSpPr>
        <p:spPr>
          <a:xfrm rot="5400000">
            <a:off x="774700" y="488950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330200" y="4762500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30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74" name="等腰三角形 173"/>
          <p:cNvSpPr/>
          <p:nvPr/>
        </p:nvSpPr>
        <p:spPr>
          <a:xfrm rot="5400000">
            <a:off x="774700" y="4445847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330200" y="4318847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32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76" name="等腰三角形 175"/>
          <p:cNvSpPr/>
          <p:nvPr/>
        </p:nvSpPr>
        <p:spPr>
          <a:xfrm rot="5400000">
            <a:off x="774700" y="4002193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330200" y="3875193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34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78" name="等腰三角形 177"/>
          <p:cNvSpPr/>
          <p:nvPr/>
        </p:nvSpPr>
        <p:spPr>
          <a:xfrm rot="5400000">
            <a:off x="774700" y="355854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330200" y="3431540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36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80" name="等腰三角形 179"/>
          <p:cNvSpPr/>
          <p:nvPr/>
        </p:nvSpPr>
        <p:spPr>
          <a:xfrm rot="5400000">
            <a:off x="774700" y="3114887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330200" y="2987887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38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94" name="等腰三角形 193"/>
          <p:cNvSpPr/>
          <p:nvPr/>
        </p:nvSpPr>
        <p:spPr>
          <a:xfrm rot="5400000">
            <a:off x="774700" y="2671233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330200" y="2544233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40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96" name="等腰三角形 195"/>
          <p:cNvSpPr/>
          <p:nvPr/>
        </p:nvSpPr>
        <p:spPr>
          <a:xfrm rot="5400000">
            <a:off x="774700" y="2227580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330200" y="2100580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42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198" name="等腰三角形 197"/>
          <p:cNvSpPr/>
          <p:nvPr/>
        </p:nvSpPr>
        <p:spPr>
          <a:xfrm rot="5400000">
            <a:off x="774700" y="1783927"/>
            <a:ext cx="114300" cy="114300"/>
          </a:xfrm>
          <a:prstGeom prst="triangle">
            <a:avLst/>
          </a:prstGeom>
          <a:solidFill>
            <a:srgbClr val="000000"/>
          </a:solidFill>
          <a:ln w="38100" cap="flat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prstDash val="solid"/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50800" dist="38100" dir="5400000" rotWithShape="0">
                    <a:srgbClr val="000000">
                      <a:alpha val="43137"/>
                    </a:srgbClr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330200" y="1733546"/>
            <a:ext cx="469900" cy="369330"/>
          </a:xfrm>
          <a:prstGeom prst="rect">
            <a:avLst/>
          </a:prstGeom>
          <a:solidFill>
            <a:scrgbClr r="0" g="0" b="0">
              <a:alpha val="0"/>
            </a:sc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1" i="0" u="none" strike="noStrike" cap="none" spc="0" normalizeH="0" baseline="0">
                <a:ln>
                  <a:noFill/>
                </a:ln>
                <a:effectLst/>
                <a:uFillTx/>
                <a:latin typeface="Arial" pitchFamily="34" charset="0"/>
                <a:ea typeface="微软雅黑" pitchFamily="34" charset="-122"/>
                <a:cs typeface="Arial"/>
                <a:sym typeface="Arial"/>
              </a:rPr>
              <a:t>44</a:t>
            </a:r>
            <a:endParaRPr kumimoji="0" lang="zh-CN" altLang="en-US" sz="1200" b="1" i="0" u="none" strike="noStrike" cap="none" spc="0" normalizeH="0" baseline="0">
              <a:ln>
                <a:noFill/>
              </a:ln>
              <a:effectLst/>
              <a:uFillTx/>
              <a:latin typeface="Arial" pitchFamily="34" charset="0"/>
              <a:ea typeface="微软雅黑" pitchFamily="34" charset="-122"/>
              <a:cs typeface="Arial"/>
              <a:sym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515298" y="5376331"/>
            <a:ext cx="543739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charset="-122"/>
                <a:ea typeface="微软雅黑" charset="-122"/>
              </a:rPr>
              <a:t>重量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5" name="图片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9B2C9E-A068-AFF8-8ECC-84E106305DF8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70582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1857-89CF-8C2F-E2E6-E828579B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960AF60-2CE0-F6E2-D970-2B2D3F330A45}"/>
              </a:ext>
            </a:extLst>
          </p:cNvPr>
          <p:cNvSpPr/>
          <p:nvPr/>
        </p:nvSpPr>
        <p:spPr>
          <a:xfrm>
            <a:off x="191344" y="188640"/>
            <a:ext cx="902811" cy="5232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1888636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53238"/>
      </a:accent1>
      <a:accent2>
        <a:srgbClr val="0064D2"/>
      </a:accent2>
      <a:accent3>
        <a:srgbClr val="801C1F"/>
      </a:accent3>
      <a:accent4>
        <a:srgbClr val="003876"/>
      </a:accent4>
      <a:accent5>
        <a:srgbClr val="621618"/>
      </a:accent5>
      <a:accent6>
        <a:srgbClr val="002B5A"/>
      </a:accent6>
      <a:hlink>
        <a:srgbClr val="0000FF"/>
      </a:hlink>
      <a:folHlink>
        <a:srgbClr val="FF00FF"/>
      </a:folHlink>
    </a:clrScheme>
    <a:fontScheme name="包图主题2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911</Words>
  <Application>Microsoft Office PowerPoint</Application>
  <PresentationFormat>宽屏</PresentationFormat>
  <Paragraphs>242</Paragraphs>
  <Slides>15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微软雅黑</vt:lpstr>
      <vt:lpstr>Arial</vt:lpstr>
      <vt:lpstr>Wingdings</vt:lpstr>
      <vt:lpstr>1_包图主题2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K_OCEAN</dc:creator>
  <cp:lastModifiedBy>陈晶</cp:lastModifiedBy>
  <cp:revision>1075</cp:revision>
  <dcterms:created xsi:type="dcterms:W3CDTF">2019-03-25T05:53:00Z</dcterms:created>
  <dcterms:modified xsi:type="dcterms:W3CDTF">2026-04-15T02:08:30Z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2052-10.1.0.5740</vt:lpwstr>
  </property>
</Properties>
</file>