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7"/>
  </p:notesMasterIdLst>
  <p:sldIdLst>
    <p:sldId id="256" r:id="rId2"/>
    <p:sldId id="640" r:id="rId3"/>
    <p:sldId id="810" r:id="rId4"/>
    <p:sldId id="870" r:id="rId5"/>
    <p:sldId id="878" r:id="rId6"/>
    <p:sldId id="932" r:id="rId7"/>
    <p:sldId id="939" r:id="rId8"/>
    <p:sldId id="940" r:id="rId9"/>
    <p:sldId id="946" r:id="rId10"/>
    <p:sldId id="936" r:id="rId11"/>
    <p:sldId id="866" r:id="rId12"/>
    <p:sldId id="947" r:id="rId13"/>
    <p:sldId id="948" r:id="rId14"/>
    <p:sldId id="941" r:id="rId15"/>
    <p:sldId id="949" r:id="rId16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1pPr>
    <a:lvl2pPr marL="0" marR="0" indent="457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2pPr>
    <a:lvl3pPr marL="0" marR="0" indent="914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3pPr>
    <a:lvl4pPr marL="0" marR="0" indent="1371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4pPr>
    <a:lvl5pPr marL="0" marR="0" indent="18288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5pPr>
    <a:lvl6pPr marL="0" marR="0" indent="22860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6pPr>
    <a:lvl7pPr marL="0" marR="0" indent="2743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7pPr>
    <a:lvl8pPr marL="0" marR="0" indent="3200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8pPr>
    <a:lvl9pPr marL="0" marR="0" indent="3657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024">
          <p15:clr>
            <a:srgbClr val="A4A3A4"/>
          </p15:clr>
        </p15:guide>
        <p15:guide id="2" pos="3939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82540"/>
    <a:srgbClr val="04B555"/>
    <a:srgbClr val="CACACA"/>
    <a:srgbClr val="C3E0FF"/>
    <a:srgbClr val="F5ADAF"/>
    <a:srgbClr val="E16776"/>
    <a:srgbClr val="E9BDDD"/>
    <a:srgbClr val="4BA1FF"/>
    <a:srgbClr val="6393BC"/>
    <a:srgbClr val="263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80" autoAdjust="0"/>
    <p:restoredTop sz="65688" autoAdjust="0"/>
  </p:normalViewPr>
  <p:slideViewPr>
    <p:cSldViewPr>
      <p:cViewPr varScale="1">
        <p:scale>
          <a:sx n="84" d="100"/>
          <a:sy n="84" d="100"/>
        </p:scale>
        <p:origin x="1830" y="78"/>
      </p:cViewPr>
      <p:guideLst>
        <p:guide orient="horz" pos="2024"/>
        <p:guide pos="3939"/>
      </p:guideLst>
    </p:cSldViewPr>
  </p:slideViewPr>
  <p:notesTextViewPr>
    <p:cViewPr>
      <p:scale>
        <a:sx n="75" d="100"/>
        <a:sy n="7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D:\Documents%20and%20Settings\xy29\Desktop\&#12304;2023&#24180;4&#26376;21&#26085;&#38155;&#21050;7pro&#27979;&#35797;&#25253;&#21578;&#12305;\20230317&#38155;&#21050;7Pro&#12289;&#23545;&#27604;&#25968;&#25454;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spPr>
            <a:solidFill>
              <a:schemeClr val="tx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horzOverflow="overflow" vert="horz" wrap="square" lIns="38100" tIns="19050" rIns="38100" bIns="19050" anchor="ctr" anchorCtr="1">
                <a:spAutoFit/>
              </a:bodyPr>
              <a:lstStyle/>
              <a:p>
                <a:pPr>
                  <a:defRPr lang="zh-CN" sz="90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微软雅黑" pitchFamily="34" charset="-122"/>
                    <a:ea typeface="微软雅黑" pitchFamily="34" charset="-122"/>
                    <a:cs typeface="+mn-cs"/>
                  </a:defRPr>
                </a:pPr>
                <a:endParaRPr lang="zh-CN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Sheet1!$B$22:$H$22</c:f>
              <c:strCache>
                <c:ptCount val="7"/>
                <c:pt idx="0">
                  <c:v>抓地性（Traction）</c:v>
                </c:pt>
                <c:pt idx="1">
                  <c:v>耐久性（Durability）</c:v>
                </c:pt>
                <c:pt idx="2">
                  <c:v>重量&amp;透气性（Weight&amp;Ventilation）</c:v>
                </c:pt>
                <c:pt idx="3">
                  <c:v>缓震性（Cushioning）</c:v>
                </c:pt>
                <c:pt idx="4">
                  <c:v>防侧翻性（Lateral Stability）</c:v>
                </c:pt>
                <c:pt idx="5">
                  <c:v>抗扭转性（Torsional Support ）</c:v>
                </c:pt>
                <c:pt idx="6">
                  <c:v>包裹性（Lockdwon）</c:v>
                </c:pt>
              </c:strCache>
            </c:strRef>
          </c:cat>
          <c:val>
            <c:numRef>
              <c:f>Sheet1!$B$23:$H$23</c:f>
              <c:numCache>
                <c:formatCode>General</c:formatCode>
                <c:ptCount val="7"/>
                <c:pt idx="0">
                  <c:v>8.6</c:v>
                </c:pt>
                <c:pt idx="1">
                  <c:v>8.6</c:v>
                </c:pt>
                <c:pt idx="2">
                  <c:v>8.4</c:v>
                </c:pt>
                <c:pt idx="3">
                  <c:v>8.1999999999999993</c:v>
                </c:pt>
                <c:pt idx="4">
                  <c:v>7</c:v>
                </c:pt>
                <c:pt idx="5">
                  <c:v>6.6</c:v>
                </c:pt>
                <c:pt idx="6">
                  <c:v>5.6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C27-4657-87D0-05A6EEB07D7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205361536"/>
        <c:axId val="205362096"/>
      </c:barChart>
      <c:catAx>
        <c:axId val="205361536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horzOverflow="overflow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itchFamily="34" charset="-122"/>
                <a:ea typeface="微软雅黑" pitchFamily="34" charset="-122"/>
                <a:cs typeface="+mn-cs"/>
              </a:defRPr>
            </a:pPr>
            <a:endParaRPr lang="zh-CN"/>
          </a:p>
        </c:txPr>
        <c:crossAx val="205362096"/>
        <c:crosses val="autoZero"/>
        <c:auto val="1"/>
        <c:lblAlgn val="ctr"/>
        <c:lblOffset val="100"/>
        <c:tickMarkSkip val="1"/>
        <c:noMultiLvlLbl val="0"/>
      </c:catAx>
      <c:valAx>
        <c:axId val="205362096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horzOverflow="overflow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itchFamily="34" charset="-122"/>
                <a:ea typeface="微软雅黑" pitchFamily="34" charset="-122"/>
                <a:cs typeface="+mn-cs"/>
              </a:defRPr>
            </a:pPr>
            <a:endParaRPr lang="zh-CN"/>
          </a:p>
        </c:txPr>
        <c:crossAx val="20536153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 rot="0" spcFirstLastPara="0" vertOverflow="ellipsis" horzOverflow="overflow" vert="horz" wrap="square" anchor="ctr" anchorCtr="1"/>
    <a:lstStyle/>
    <a:p>
      <a:pPr>
        <a:defRPr lang="zh-CN"/>
      </a:pPr>
      <a:endParaRPr lang="zh-CN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Shape 6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 dirty="0"/>
          </a:p>
        </p:txBody>
      </p:sp>
      <p:sp>
        <p:nvSpPr>
          <p:cNvPr id="62" name="Shape 62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825761992"/>
      </p:ext>
    </p:extLst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j-lt"/>
        <a:ea typeface="+mj-ea"/>
        <a:cs typeface="+mj-cs"/>
        <a:sym typeface="等线" panose="02010600030101010101" charset="-122"/>
      </a:defRPr>
    </a:lvl1pPr>
    <a:lvl2pPr indent="228600" latinLnBrk="0">
      <a:defRPr sz="1200">
        <a:latin typeface="+mj-lt"/>
        <a:ea typeface="+mj-ea"/>
        <a:cs typeface="+mj-cs"/>
        <a:sym typeface="等线" panose="02010600030101010101" charset="-122"/>
      </a:defRPr>
    </a:lvl2pPr>
    <a:lvl3pPr indent="457200" latinLnBrk="0">
      <a:defRPr sz="1200">
        <a:latin typeface="+mj-lt"/>
        <a:ea typeface="+mj-ea"/>
        <a:cs typeface="+mj-cs"/>
        <a:sym typeface="等线" panose="02010600030101010101" charset="-122"/>
      </a:defRPr>
    </a:lvl3pPr>
    <a:lvl4pPr indent="685800" latinLnBrk="0">
      <a:defRPr sz="1200">
        <a:latin typeface="+mj-lt"/>
        <a:ea typeface="+mj-ea"/>
        <a:cs typeface="+mj-cs"/>
        <a:sym typeface="等线" panose="02010600030101010101" charset="-122"/>
      </a:defRPr>
    </a:lvl4pPr>
    <a:lvl5pPr indent="914400" latinLnBrk="0">
      <a:defRPr sz="1200">
        <a:latin typeface="+mj-lt"/>
        <a:ea typeface="+mj-ea"/>
        <a:cs typeface="+mj-cs"/>
        <a:sym typeface="等线" panose="02010600030101010101" charset="-122"/>
      </a:defRPr>
    </a:lvl5pPr>
    <a:lvl6pPr indent="1143000" latinLnBrk="0">
      <a:defRPr sz="1200">
        <a:latin typeface="+mj-lt"/>
        <a:ea typeface="+mj-ea"/>
        <a:cs typeface="+mj-cs"/>
        <a:sym typeface="等线" panose="02010600030101010101" charset="-122"/>
      </a:defRPr>
    </a:lvl6pPr>
    <a:lvl7pPr indent="1371600" latinLnBrk="0">
      <a:defRPr sz="1200">
        <a:latin typeface="+mj-lt"/>
        <a:ea typeface="+mj-ea"/>
        <a:cs typeface="+mj-cs"/>
        <a:sym typeface="等线" panose="02010600030101010101" charset="-122"/>
      </a:defRPr>
    </a:lvl7pPr>
    <a:lvl8pPr indent="1600200" latinLnBrk="0">
      <a:defRPr sz="1200">
        <a:latin typeface="+mj-lt"/>
        <a:ea typeface="+mj-ea"/>
        <a:cs typeface="+mj-cs"/>
        <a:sym typeface="等线" panose="02010600030101010101" charset="-122"/>
      </a:defRPr>
    </a:lvl8pPr>
    <a:lvl9pPr indent="1828800" latinLnBrk="0">
      <a:defRPr sz="1200">
        <a:latin typeface="+mj-lt"/>
        <a:ea typeface="+mj-ea"/>
        <a:cs typeface="+mj-cs"/>
        <a:sym typeface="等线" panose="02010600030101010101" charset="-122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baseline="0" dirty="0"/>
          </a:p>
        </p:txBody>
      </p:sp>
    </p:spTree>
    <p:extLst>
      <p:ext uri="{BB962C8B-B14F-4D97-AF65-F5344CB8AC3E}">
        <p14:creationId xmlns:p14="http://schemas.microsoft.com/office/powerpoint/2010/main" val="130283507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7752579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70578850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1568607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87202754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05312065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跑鞋弯折范围：</a:t>
            </a:r>
            <a:r>
              <a:rPr lang="en-US" altLang="zh-CN" dirty="0"/>
              <a:t>5~40</a:t>
            </a:r>
            <a:r>
              <a:rPr lang="zh-CN" altLang="en-US" dirty="0"/>
              <a:t>，扭转范围：</a:t>
            </a:r>
            <a:r>
              <a:rPr lang="en-US" altLang="zh-CN" dirty="0"/>
              <a:t>0.5~8</a:t>
            </a:r>
            <a:r>
              <a:rPr lang="zh-CN" altLang="en-US" dirty="0"/>
              <a:t>，缓冲范围：</a:t>
            </a:r>
            <a:r>
              <a:rPr lang="en-US" altLang="zh-CN" dirty="0"/>
              <a:t>4~16</a:t>
            </a:r>
            <a:r>
              <a:rPr lang="zh-CN" altLang="en-US" dirty="0"/>
              <a:t>，回弹范围：</a:t>
            </a:r>
            <a:r>
              <a:rPr lang="en-US" altLang="zh-CN" dirty="0"/>
              <a:t>30~70</a:t>
            </a:r>
          </a:p>
          <a:p>
            <a:endParaRPr lang="en-US" altLang="zh-CN" dirty="0"/>
          </a:p>
          <a:p>
            <a:r>
              <a:rPr lang="zh-CN" altLang="en-US" dirty="0"/>
              <a:t>大致覆盖</a:t>
            </a:r>
            <a:r>
              <a:rPr lang="en-US" altLang="zh-CN" dirty="0"/>
              <a:t>80%</a:t>
            </a:r>
            <a:r>
              <a:rPr lang="zh-CN" altLang="en-US" dirty="0"/>
              <a:t>类型跑鞋的数据范围：弯折</a:t>
            </a:r>
            <a:r>
              <a:rPr lang="en-US" altLang="zh-CN" dirty="0"/>
              <a:t>11~28</a:t>
            </a:r>
            <a:r>
              <a:rPr lang="zh-CN" altLang="en-US" dirty="0"/>
              <a:t>，扭转</a:t>
            </a:r>
            <a:r>
              <a:rPr lang="en-US" altLang="zh-CN" dirty="0"/>
              <a:t>2~6</a:t>
            </a:r>
            <a:r>
              <a:rPr lang="zh-CN" altLang="en-US" dirty="0"/>
              <a:t>，缓冲：</a:t>
            </a:r>
            <a:r>
              <a:rPr lang="en-US" altLang="zh-CN" dirty="0"/>
              <a:t>6~12</a:t>
            </a:r>
            <a:r>
              <a:rPr lang="zh-CN" altLang="en-US" dirty="0"/>
              <a:t>，回弹</a:t>
            </a:r>
            <a:r>
              <a:rPr lang="en-US" altLang="zh-CN" dirty="0"/>
              <a:t>45~60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4564456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跑鞋弯折范围：</a:t>
            </a:r>
            <a:r>
              <a:rPr lang="en-US" altLang="zh-CN" dirty="0"/>
              <a:t>5~40</a:t>
            </a:r>
            <a:r>
              <a:rPr lang="zh-CN" altLang="en-US" dirty="0"/>
              <a:t>，扭转范围：</a:t>
            </a:r>
            <a:r>
              <a:rPr lang="en-US" altLang="zh-CN" dirty="0"/>
              <a:t>0.5~8</a:t>
            </a:r>
            <a:r>
              <a:rPr lang="zh-CN" altLang="en-US" dirty="0"/>
              <a:t>，缓冲范围：</a:t>
            </a:r>
            <a:r>
              <a:rPr lang="en-US" altLang="zh-CN" dirty="0"/>
              <a:t>4~16</a:t>
            </a:r>
            <a:r>
              <a:rPr lang="zh-CN" altLang="en-US" dirty="0"/>
              <a:t>，回弹范围：</a:t>
            </a:r>
            <a:r>
              <a:rPr lang="en-US" altLang="zh-CN" dirty="0"/>
              <a:t>30~70</a:t>
            </a:r>
          </a:p>
          <a:p>
            <a:endParaRPr lang="en-US" altLang="zh-CN" dirty="0"/>
          </a:p>
          <a:p>
            <a:r>
              <a:rPr lang="zh-CN" altLang="en-US" dirty="0"/>
              <a:t>大致覆盖</a:t>
            </a:r>
            <a:r>
              <a:rPr lang="en-US" altLang="zh-CN" dirty="0"/>
              <a:t>80%</a:t>
            </a:r>
            <a:r>
              <a:rPr lang="zh-CN" altLang="en-US" dirty="0"/>
              <a:t>类型跑鞋的数据范围：弯折</a:t>
            </a:r>
            <a:r>
              <a:rPr lang="en-US" altLang="zh-CN" dirty="0"/>
              <a:t>11~28</a:t>
            </a:r>
            <a:r>
              <a:rPr lang="zh-CN" altLang="en-US" dirty="0"/>
              <a:t>，扭转</a:t>
            </a:r>
            <a:r>
              <a:rPr lang="en-US" altLang="zh-CN" dirty="0"/>
              <a:t>2~6</a:t>
            </a:r>
            <a:r>
              <a:rPr lang="zh-CN" altLang="en-US" dirty="0"/>
              <a:t>，缓冲：</a:t>
            </a:r>
            <a:r>
              <a:rPr lang="en-US" altLang="zh-CN" dirty="0"/>
              <a:t>6~12</a:t>
            </a:r>
            <a:r>
              <a:rPr lang="zh-CN" altLang="en-US" dirty="0"/>
              <a:t>，回弹</a:t>
            </a:r>
            <a:r>
              <a:rPr lang="en-US" altLang="zh-CN" dirty="0"/>
              <a:t>45~60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63686198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25628344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b="0" i="0" u="none" strike="noStrike" dirty="0">
                <a:effectLst/>
                <a:latin typeface="+mj-lt"/>
                <a:ea typeface="+mj-ea"/>
                <a:cs typeface="+mj-cs"/>
                <a:sym typeface="等线" panose="02010600030101010101" charset="-122"/>
              </a:rPr>
              <a:t>步长重心振幅矩阵</a:t>
            </a:r>
            <a:r>
              <a:rPr lang="en-US" altLang="zh-CN" sz="1200" b="0" i="0" u="none" strike="noStrike" dirty="0">
                <a:effectLst/>
                <a:latin typeface="+mj-lt"/>
                <a:ea typeface="+mj-ea"/>
                <a:cs typeface="+mj-cs"/>
                <a:sym typeface="等线" panose="02010600030101010101" charset="-122"/>
              </a:rPr>
              <a:t>-</a:t>
            </a:r>
            <a:r>
              <a:rPr lang="zh-CN" altLang="en-US" sz="1200" b="0" i="0" u="none" strike="noStrike" dirty="0">
                <a:effectLst/>
                <a:latin typeface="+mj-lt"/>
                <a:ea typeface="+mj-ea"/>
                <a:cs typeface="+mj-cs"/>
                <a:sym typeface="等线" panose="02010600030101010101" charset="-122"/>
              </a:rPr>
              <a:t>跑步</a:t>
            </a:r>
            <a:r>
              <a:rPr lang="zh-CN" altLang="en-US" sz="800" dirty="0"/>
              <a:t> </a:t>
            </a:r>
            <a:endParaRPr lang="en-US" altLang="zh-CN" sz="800" dirty="0"/>
          </a:p>
          <a:p>
            <a:endParaRPr lang="de-DE" altLang="zh-CN" sz="700" dirty="0"/>
          </a:p>
          <a:p>
            <a:r>
              <a:rPr lang="de-DE" altLang="zh-CN" sz="700" dirty="0"/>
              <a:t>delt_l = 52.357142857142854</a:t>
            </a:r>
          </a:p>
          <a:p>
            <a:r>
              <a:rPr lang="de-DE" altLang="zh-CN" sz="700" dirty="0"/>
              <a:t>zero_l = (-7526.142857142857,415)</a:t>
            </a:r>
          </a:p>
          <a:p>
            <a:r>
              <a:rPr lang="de-DE" altLang="zh-CN" sz="700" dirty="0"/>
              <a:t>delt_t = -201.53846153846143</a:t>
            </a:r>
          </a:p>
          <a:p>
            <a:r>
              <a:rPr lang="de-DE" altLang="zh-CN" sz="700" dirty="0"/>
              <a:t>zero_t = (61,2118.230769230768)</a:t>
            </a:r>
            <a:endParaRPr lang="zh-CN" altLang="en-US" sz="700" dirty="0"/>
          </a:p>
        </p:txBody>
      </p:sp>
    </p:spTree>
    <p:extLst>
      <p:ext uri="{BB962C8B-B14F-4D97-AF65-F5344CB8AC3E}">
        <p14:creationId xmlns:p14="http://schemas.microsoft.com/office/powerpoint/2010/main" val="133417988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b="0" i="0" u="none" strike="noStrike" dirty="0">
                <a:effectLst/>
                <a:latin typeface="+mj-lt"/>
                <a:ea typeface="+mj-ea"/>
                <a:cs typeface="+mj-cs"/>
                <a:sym typeface="等线" panose="02010600030101010101" charset="-122"/>
              </a:rPr>
              <a:t>重量厚度矩阵</a:t>
            </a:r>
            <a:r>
              <a:rPr lang="en-US" altLang="zh-CN" sz="1200" b="0" i="0" u="none" strike="noStrike" dirty="0">
                <a:effectLst/>
                <a:latin typeface="+mj-lt"/>
                <a:ea typeface="+mj-ea"/>
                <a:cs typeface="+mj-cs"/>
                <a:sym typeface="等线" panose="02010600030101010101" charset="-122"/>
              </a:rPr>
              <a:t>-</a:t>
            </a:r>
            <a:r>
              <a:rPr lang="zh-CN" altLang="en-US" sz="1200" b="0" i="0" u="none" strike="noStrike" dirty="0">
                <a:effectLst/>
                <a:latin typeface="+mj-lt"/>
                <a:ea typeface="+mj-ea"/>
                <a:cs typeface="+mj-cs"/>
                <a:sym typeface="等线" panose="02010600030101010101" charset="-122"/>
              </a:rPr>
              <a:t>跑步</a:t>
            </a:r>
            <a:r>
              <a:rPr lang="zh-CN" altLang="en-US" sz="800" dirty="0"/>
              <a:t> </a:t>
            </a:r>
            <a:endParaRPr lang="en-US" altLang="zh-CN" sz="800" dirty="0"/>
          </a:p>
          <a:p>
            <a:endParaRPr lang="de-DE" altLang="zh-CN" sz="700" dirty="0"/>
          </a:p>
          <a:p>
            <a:r>
              <a:rPr lang="de-DE" altLang="zh-CN" sz="700" dirty="0"/>
              <a:t>delt_l = -12.637931034482758</a:t>
            </a:r>
          </a:p>
          <a:p>
            <a:r>
              <a:rPr lang="de-DE" altLang="zh-CN" sz="700" dirty="0"/>
              <a:t>zero_l = (3024.7241379310344,415)</a:t>
            </a:r>
          </a:p>
          <a:p>
            <a:r>
              <a:rPr lang="de-DE" altLang="zh-CN" sz="700" dirty="0"/>
              <a:t>delt_t = -17.466666666666665</a:t>
            </a:r>
          </a:p>
          <a:p>
            <a:r>
              <a:rPr lang="de-DE" altLang="zh-CN" sz="700" dirty="0"/>
              <a:t>zero_t = (61,909.0)</a:t>
            </a:r>
          </a:p>
        </p:txBody>
      </p:sp>
    </p:spTree>
    <p:extLst>
      <p:ext uri="{BB962C8B-B14F-4D97-AF65-F5344CB8AC3E}">
        <p14:creationId xmlns:p14="http://schemas.microsoft.com/office/powerpoint/2010/main" val="99798260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4361568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37943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文本框 1"/>
          <p:cNvSpPr txBox="1"/>
          <p:nvPr/>
        </p:nvSpPr>
        <p:spPr>
          <a:xfrm>
            <a:off x="4318000" y="2971799"/>
            <a:ext cx="3556000" cy="235333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/>
          <a:p>
            <a:pPr>
              <a:defRPr sz="300">
                <a:solidFill>
                  <a:srgbClr val="FFFFFF">
                    <a:alpha val="0"/>
                  </a:srgbClr>
                </a:solidFill>
                <a:latin typeface="微软雅黑" charset="-122"/>
                <a:ea typeface="微软雅黑" charset="-122"/>
                <a:cs typeface="微软雅黑" charset="-122"/>
                <a:sym typeface="微软雅黑" charset="-122"/>
              </a:defRPr>
            </a:pPr>
            <a:r>
              <a:rPr sz="1800" dirty="0"/>
              <a:t>感谢您下载包图网平台上提供的PPT作品，为了您和包图网以及原创作者的利益，请勿复制、传播、销售，否则将承担法律责任！包图网将对作品进行维权，按照传播下载次数进行十倍的索取赔偿！</a:t>
            </a:r>
          </a:p>
          <a:p>
            <a:pPr>
              <a:defRPr sz="600">
                <a:solidFill>
                  <a:srgbClr val="FFFFFF">
                    <a:alpha val="0"/>
                  </a:srgbClr>
                </a:solidFill>
                <a:latin typeface="微软雅黑" charset="-122"/>
                <a:ea typeface="微软雅黑" charset="-122"/>
                <a:cs typeface="微软雅黑" charset="-122"/>
                <a:sym typeface="微软雅黑" charset="-122"/>
              </a:defRPr>
            </a:pPr>
            <a:r>
              <a:rPr sz="1800" dirty="0"/>
              <a:t>ibaotu.com</a:t>
            </a:r>
          </a:p>
        </p:txBody>
      </p:sp>
      <p:pic>
        <p:nvPicPr>
          <p:cNvPr id="11" name="Picture 2" descr="Picture 2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88826" cy="685800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2" name="Picture 2" descr="Picture 2"/>
          <p:cNvPicPr>
            <a:picLocks noChangeAspect="1"/>
          </p:cNvPicPr>
          <p:nvPr userDrawn="1"/>
        </p:nvPicPr>
        <p:blipFill>
          <a:blip r:embed="rId3" cstate="print"/>
          <a:stretch>
            <a:fillRect/>
          </a:stretch>
        </p:blipFill>
        <p:spPr>
          <a:xfrm>
            <a:off x="3175" y="18727"/>
            <a:ext cx="12188825" cy="68580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13" name="直接连接符 3"/>
          <p:cNvSpPr/>
          <p:nvPr userDrawn="1"/>
        </p:nvSpPr>
        <p:spPr>
          <a:xfrm>
            <a:off x="918823" y="6006024"/>
            <a:ext cx="566497" cy="1"/>
          </a:xfrm>
          <a:prstGeom prst="line">
            <a:avLst/>
          </a:prstGeom>
          <a:ln w="28575">
            <a:solidFill>
              <a:srgbClr val="FAD6D7"/>
            </a:solidFill>
          </a:ln>
        </p:spPr>
        <p:txBody>
          <a:bodyPr lIns="45719" rIns="45719"/>
          <a:lstStyle/>
          <a:p>
            <a:endParaRPr dirty="0"/>
          </a:p>
        </p:txBody>
      </p:sp>
      <p:pic>
        <p:nvPicPr>
          <p:cNvPr id="16" name="Picture 3" descr="Picture 3"/>
          <p:cNvPicPr>
            <a:picLocks noChangeAspect="1"/>
          </p:cNvPicPr>
          <p:nvPr userDrawn="1"/>
        </p:nvPicPr>
        <p:blipFill>
          <a:blip r:embed="rId4" cstate="print"/>
          <a:stretch>
            <a:fillRect/>
          </a:stretch>
        </p:blipFill>
        <p:spPr>
          <a:xfrm>
            <a:off x="10583955" y="399810"/>
            <a:ext cx="1198866" cy="1126018"/>
          </a:xfrm>
          <a:prstGeom prst="rect">
            <a:avLst/>
          </a:prstGeom>
          <a:ln w="12700">
            <a:miter lim="400000"/>
            <a:headEnd/>
            <a:tailEnd/>
          </a:ln>
        </p:spPr>
      </p:pic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文本框 1"/>
          <p:cNvSpPr txBox="1"/>
          <p:nvPr/>
        </p:nvSpPr>
        <p:spPr>
          <a:xfrm>
            <a:off x="4318000" y="2971799"/>
            <a:ext cx="3556000" cy="235333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/>
          <a:p>
            <a:pPr>
              <a:defRPr sz="300">
                <a:solidFill>
                  <a:srgbClr val="FFFFFF">
                    <a:alpha val="0"/>
                  </a:srgbClr>
                </a:solidFill>
                <a:latin typeface="微软雅黑" charset="-122"/>
                <a:ea typeface="微软雅黑" charset="-122"/>
                <a:cs typeface="微软雅黑" charset="-122"/>
                <a:sym typeface="微软雅黑" charset="-122"/>
              </a:defRPr>
            </a:pPr>
            <a:r>
              <a:rPr sz="1800" dirty="0"/>
              <a:t>感谢您下载包图网平台上提供的PPT作品，为了您和包图网以及原创作者的利益，请勿复制、传播、销售，否则将承担法律责任！包图网将对作品进行维权，按照传播下载次数进行十倍的索取赔偿！</a:t>
            </a:r>
          </a:p>
          <a:p>
            <a:pPr>
              <a:defRPr sz="600">
                <a:solidFill>
                  <a:srgbClr val="FFFFFF">
                    <a:alpha val="0"/>
                  </a:srgbClr>
                </a:solidFill>
                <a:latin typeface="微软雅黑" charset="-122"/>
                <a:ea typeface="微软雅黑" charset="-122"/>
                <a:cs typeface="微软雅黑" charset="-122"/>
                <a:sym typeface="微软雅黑" charset="-122"/>
              </a:defRPr>
            </a:pPr>
            <a:r>
              <a:rPr sz="1800" dirty="0"/>
              <a:t>ibaotu.com</a:t>
            </a:r>
          </a:p>
        </p:txBody>
      </p:sp>
      <p:pic>
        <p:nvPicPr>
          <p:cNvPr id="4" name="Picture 4" descr="C:\Users\Administrator\Desktop\222.jpg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-1"/>
            <a:ext cx="12192000" cy="6860829"/>
          </a:xfrm>
          <a:prstGeom prst="rect">
            <a:avLst/>
          </a:prstGeom>
          <a:noFill/>
        </p:spPr>
      </p:pic>
      <p:sp>
        <p:nvSpPr>
          <p:cNvPr id="5" name="MH_Others_1"/>
          <p:cNvSpPr txBox="1"/>
          <p:nvPr userDrawn="1"/>
        </p:nvSpPr>
        <p:spPr>
          <a:xfrm>
            <a:off x="884526" y="2415447"/>
            <a:ext cx="2355376" cy="5715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spAutoFit/>
          </a:bodyPr>
          <a:lstStyle>
            <a:lvl1pPr>
              <a:defRPr sz="3200" b="1">
                <a:solidFill>
                  <a:schemeClr val="accent1"/>
                </a:solidFill>
                <a:latin typeface="微软雅黑" charset="-122"/>
                <a:ea typeface="微软雅黑" charset="-122"/>
                <a:cs typeface="微软雅黑" charset="-122"/>
                <a:sym typeface="微软雅黑" charset="-122"/>
              </a:defRPr>
            </a:lvl1pPr>
          </a:lstStyle>
          <a:p>
            <a:pPr>
              <a:defRPr>
                <a:latin typeface="Arial"/>
                <a:ea typeface="Arial"/>
                <a:cs typeface="Arial"/>
                <a:sym typeface="Arial"/>
              </a:defRPr>
            </a:pPr>
            <a:r>
              <a:rPr dirty="0">
                <a:latin typeface="微软雅黑" charset="-122"/>
                <a:ea typeface="微软雅黑" charset="-122"/>
                <a:cs typeface="微软雅黑" charset="-122"/>
                <a:sym typeface="微软雅黑" charset="-122"/>
              </a:rPr>
              <a:t>目 录</a:t>
            </a:r>
          </a:p>
        </p:txBody>
      </p:sp>
      <p:sp>
        <p:nvSpPr>
          <p:cNvPr id="6" name="MH_Others_2"/>
          <p:cNvSpPr txBox="1"/>
          <p:nvPr userDrawn="1"/>
        </p:nvSpPr>
        <p:spPr>
          <a:xfrm>
            <a:off x="855951" y="2912113"/>
            <a:ext cx="4252686" cy="851372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>
              <a:defRPr sz="6000"/>
            </a:lvl1pPr>
          </a:lstStyle>
          <a:p>
            <a:r>
              <a:rPr dirty="0"/>
              <a:t>CONTENTS</a:t>
            </a:r>
          </a:p>
        </p:txBody>
      </p:sp>
      <p:grpSp>
        <p:nvGrpSpPr>
          <p:cNvPr id="11" name="组合 3"/>
          <p:cNvGrpSpPr/>
          <p:nvPr userDrawn="1"/>
        </p:nvGrpSpPr>
        <p:grpSpPr>
          <a:xfrm>
            <a:off x="5667186" y="1678674"/>
            <a:ext cx="656829" cy="3496573"/>
            <a:chOff x="0" y="0"/>
            <a:chExt cx="656827" cy="3496572"/>
          </a:xfrm>
        </p:grpSpPr>
        <p:grpSp>
          <p:nvGrpSpPr>
            <p:cNvPr id="12" name="组合 7"/>
            <p:cNvGrpSpPr/>
            <p:nvPr/>
          </p:nvGrpSpPr>
          <p:grpSpPr>
            <a:xfrm>
              <a:off x="16783" y="0"/>
              <a:ext cx="627413" cy="563272"/>
              <a:chOff x="0" y="0"/>
              <a:chExt cx="627411" cy="563271"/>
            </a:xfrm>
          </p:grpSpPr>
          <p:grpSp>
            <p:nvGrpSpPr>
              <p:cNvPr id="30" name="组合 6"/>
              <p:cNvGrpSpPr/>
              <p:nvPr/>
            </p:nvGrpSpPr>
            <p:grpSpPr>
              <a:xfrm>
                <a:off x="12631" y="0"/>
                <a:ext cx="614781" cy="563272"/>
                <a:chOff x="0" y="0"/>
                <a:chExt cx="614780" cy="563271"/>
              </a:xfrm>
            </p:grpSpPr>
            <p:sp>
              <p:nvSpPr>
                <p:cNvPr id="32" name="梯形 5"/>
                <p:cNvSpPr/>
                <p:nvPr/>
              </p:nvSpPr>
              <p:spPr>
                <a:xfrm rot="10800000">
                  <a:off x="141557" y="267554"/>
                  <a:ext cx="473224" cy="295718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21600"/>
                      </a:moveTo>
                      <a:lnTo>
                        <a:pt x="5151" y="0"/>
                      </a:lnTo>
                      <a:lnTo>
                        <a:pt x="16449" y="0"/>
                      </a:lnTo>
                      <a:lnTo>
                        <a:pt x="21600" y="21600"/>
                      </a:lnTo>
                      <a:close/>
                    </a:path>
                  </a:pathLst>
                </a:custGeom>
                <a:solidFill>
                  <a:srgbClr val="7C1013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>
                      <a:solidFill>
                        <a:srgbClr val="FFFFFF"/>
                      </a:solidFill>
                    </a:defRPr>
                  </a:pPr>
                  <a:endParaRPr dirty="0"/>
                </a:p>
              </p:txBody>
            </p:sp>
            <p:sp>
              <p:nvSpPr>
                <p:cNvPr id="33" name="任意多边形 2"/>
                <p:cNvSpPr/>
                <p:nvPr/>
              </p:nvSpPr>
              <p:spPr>
                <a:xfrm>
                  <a:off x="-1" y="-1"/>
                  <a:ext cx="527698" cy="56327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lnTo>
                        <a:pt x="0" y="21600"/>
                      </a:lnTo>
                      <a:lnTo>
                        <a:pt x="20629" y="21600"/>
                      </a:lnTo>
                      <a:lnTo>
                        <a:pt x="21600" y="2046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 sz="2000">
                      <a:solidFill>
                        <a:srgbClr val="FFFFFF"/>
                      </a:solidFill>
                    </a:defRPr>
                  </a:pPr>
                  <a:endParaRPr sz="1800" dirty="0"/>
                </a:p>
              </p:txBody>
            </p:sp>
          </p:grpSp>
          <p:sp>
            <p:nvSpPr>
              <p:cNvPr id="31" name="矩形 19"/>
              <p:cNvSpPr txBox="1"/>
              <p:nvPr/>
            </p:nvSpPr>
            <p:spPr>
              <a:xfrm>
                <a:off x="0" y="14865"/>
                <a:ext cx="581034" cy="48620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t">
                <a:spAutoFit/>
              </a:bodyPr>
              <a:lstStyle>
                <a:lvl1pPr algn="ctr">
                  <a:lnSpc>
                    <a:spcPct val="120000"/>
                  </a:lnSpc>
                  <a:defRPr sz="2800" b="1">
                    <a:solidFill>
                      <a:srgbClr val="FFFFFF"/>
                    </a:solidFill>
                  </a:defRPr>
                </a:lvl1pPr>
              </a:lstStyle>
              <a:p>
                <a:r>
                  <a:rPr dirty="0"/>
                  <a:t>1</a:t>
                </a:r>
              </a:p>
            </p:txBody>
          </p:sp>
        </p:grpSp>
        <p:grpSp>
          <p:nvGrpSpPr>
            <p:cNvPr id="13" name="组合 34"/>
            <p:cNvGrpSpPr/>
            <p:nvPr/>
          </p:nvGrpSpPr>
          <p:grpSpPr>
            <a:xfrm>
              <a:off x="29415" y="957725"/>
              <a:ext cx="627413" cy="563273"/>
              <a:chOff x="0" y="0"/>
              <a:chExt cx="627411" cy="563271"/>
            </a:xfrm>
          </p:grpSpPr>
          <p:grpSp>
            <p:nvGrpSpPr>
              <p:cNvPr id="24" name="组合 35"/>
              <p:cNvGrpSpPr/>
              <p:nvPr/>
            </p:nvGrpSpPr>
            <p:grpSpPr>
              <a:xfrm>
                <a:off x="12631" y="0"/>
                <a:ext cx="614781" cy="563272"/>
                <a:chOff x="0" y="0"/>
                <a:chExt cx="614780" cy="563271"/>
              </a:xfrm>
            </p:grpSpPr>
            <p:sp>
              <p:nvSpPr>
                <p:cNvPr id="28" name="梯形 37"/>
                <p:cNvSpPr/>
                <p:nvPr/>
              </p:nvSpPr>
              <p:spPr>
                <a:xfrm rot="10800000">
                  <a:off x="141557" y="267554"/>
                  <a:ext cx="473224" cy="295718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21600"/>
                      </a:moveTo>
                      <a:lnTo>
                        <a:pt x="5151" y="0"/>
                      </a:lnTo>
                      <a:lnTo>
                        <a:pt x="16449" y="0"/>
                      </a:lnTo>
                      <a:lnTo>
                        <a:pt x="21600" y="21600"/>
                      </a:lnTo>
                      <a:close/>
                    </a:path>
                  </a:pathLst>
                </a:custGeom>
                <a:solidFill>
                  <a:srgbClr val="7C1013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>
                      <a:solidFill>
                        <a:srgbClr val="FFFFFF"/>
                      </a:solidFill>
                    </a:defRPr>
                  </a:pPr>
                  <a:endParaRPr dirty="0"/>
                </a:p>
              </p:txBody>
            </p:sp>
            <p:sp>
              <p:nvSpPr>
                <p:cNvPr id="29" name="任意多边形 38"/>
                <p:cNvSpPr/>
                <p:nvPr/>
              </p:nvSpPr>
              <p:spPr>
                <a:xfrm>
                  <a:off x="-1" y="-1"/>
                  <a:ext cx="527698" cy="56327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lnTo>
                        <a:pt x="0" y="21600"/>
                      </a:lnTo>
                      <a:lnTo>
                        <a:pt x="20629" y="21600"/>
                      </a:lnTo>
                      <a:lnTo>
                        <a:pt x="21600" y="2046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 sz="2000">
                      <a:solidFill>
                        <a:srgbClr val="FFFFFF"/>
                      </a:solidFill>
                    </a:defRPr>
                  </a:pPr>
                  <a:endParaRPr sz="1800" dirty="0"/>
                </a:p>
              </p:txBody>
            </p:sp>
          </p:grpSp>
          <p:sp>
            <p:nvSpPr>
              <p:cNvPr id="25" name="矩形 36"/>
              <p:cNvSpPr txBox="1"/>
              <p:nvPr/>
            </p:nvSpPr>
            <p:spPr>
              <a:xfrm>
                <a:off x="0" y="14865"/>
                <a:ext cx="581034" cy="48620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t">
                <a:spAutoFit/>
              </a:bodyPr>
              <a:lstStyle>
                <a:lvl1pPr algn="ctr">
                  <a:lnSpc>
                    <a:spcPct val="120000"/>
                  </a:lnSpc>
                  <a:defRPr sz="2800" b="1">
                    <a:solidFill>
                      <a:srgbClr val="FFFFFF"/>
                    </a:solidFill>
                  </a:defRPr>
                </a:lvl1pPr>
              </a:lstStyle>
              <a:p>
                <a:r>
                  <a:rPr dirty="0"/>
                  <a:t>2</a:t>
                </a:r>
              </a:p>
            </p:txBody>
          </p:sp>
        </p:grpSp>
        <p:grpSp>
          <p:nvGrpSpPr>
            <p:cNvPr id="14" name="组合 46"/>
            <p:cNvGrpSpPr/>
            <p:nvPr/>
          </p:nvGrpSpPr>
          <p:grpSpPr>
            <a:xfrm>
              <a:off x="0" y="1934295"/>
              <a:ext cx="627412" cy="986426"/>
              <a:chOff x="0" y="0"/>
              <a:chExt cx="627411" cy="986425"/>
            </a:xfrm>
          </p:grpSpPr>
          <p:grpSp>
            <p:nvGrpSpPr>
              <p:cNvPr id="20" name="组合 47"/>
              <p:cNvGrpSpPr/>
              <p:nvPr/>
            </p:nvGrpSpPr>
            <p:grpSpPr>
              <a:xfrm>
                <a:off x="12631" y="0"/>
                <a:ext cx="614781" cy="563272"/>
                <a:chOff x="0" y="0"/>
                <a:chExt cx="614780" cy="563271"/>
              </a:xfrm>
            </p:grpSpPr>
            <p:sp>
              <p:nvSpPr>
                <p:cNvPr id="22" name="梯形 49"/>
                <p:cNvSpPr/>
                <p:nvPr/>
              </p:nvSpPr>
              <p:spPr>
                <a:xfrm rot="10800000">
                  <a:off x="141557" y="267554"/>
                  <a:ext cx="473224" cy="295718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21600"/>
                      </a:moveTo>
                      <a:lnTo>
                        <a:pt x="5151" y="0"/>
                      </a:lnTo>
                      <a:lnTo>
                        <a:pt x="16449" y="0"/>
                      </a:lnTo>
                      <a:lnTo>
                        <a:pt x="21600" y="21600"/>
                      </a:lnTo>
                      <a:close/>
                    </a:path>
                  </a:pathLst>
                </a:custGeom>
                <a:solidFill>
                  <a:srgbClr val="7C1013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>
                      <a:solidFill>
                        <a:srgbClr val="FFFFFF"/>
                      </a:solidFill>
                    </a:defRPr>
                  </a:pPr>
                  <a:endParaRPr dirty="0"/>
                </a:p>
              </p:txBody>
            </p:sp>
            <p:sp>
              <p:nvSpPr>
                <p:cNvPr id="23" name="任意多边形 50"/>
                <p:cNvSpPr/>
                <p:nvPr/>
              </p:nvSpPr>
              <p:spPr>
                <a:xfrm>
                  <a:off x="-1" y="-1"/>
                  <a:ext cx="527698" cy="56327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lnTo>
                        <a:pt x="0" y="21600"/>
                      </a:lnTo>
                      <a:lnTo>
                        <a:pt x="20629" y="21600"/>
                      </a:lnTo>
                      <a:lnTo>
                        <a:pt x="21600" y="2046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 sz="2000">
                      <a:solidFill>
                        <a:srgbClr val="FFFFFF"/>
                      </a:solidFill>
                    </a:defRPr>
                  </a:pPr>
                  <a:endParaRPr sz="1800" dirty="0"/>
                </a:p>
              </p:txBody>
            </p:sp>
          </p:grpSp>
          <p:sp>
            <p:nvSpPr>
              <p:cNvPr id="21" name="矩形 48"/>
              <p:cNvSpPr txBox="1"/>
              <p:nvPr/>
            </p:nvSpPr>
            <p:spPr>
              <a:xfrm>
                <a:off x="0" y="14865"/>
                <a:ext cx="581034" cy="97156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t">
                <a:spAutoFit/>
              </a:bodyPr>
              <a:lstStyle>
                <a:lvl1pPr algn="ctr">
                  <a:lnSpc>
                    <a:spcPct val="120000"/>
                  </a:lnSpc>
                  <a:defRPr sz="2800" b="1">
                    <a:solidFill>
                      <a:srgbClr val="FFFFFF"/>
                    </a:solidFill>
                  </a:defRPr>
                </a:lvl1pPr>
              </a:lstStyle>
              <a:p>
                <a:r>
                  <a:rPr dirty="0"/>
                  <a:t>3</a:t>
                </a:r>
              </a:p>
            </p:txBody>
          </p:sp>
        </p:grpSp>
        <p:grpSp>
          <p:nvGrpSpPr>
            <p:cNvPr id="15" name="组合 52"/>
            <p:cNvGrpSpPr/>
            <p:nvPr/>
          </p:nvGrpSpPr>
          <p:grpSpPr>
            <a:xfrm>
              <a:off x="4152" y="2933300"/>
              <a:ext cx="627413" cy="563273"/>
              <a:chOff x="0" y="0"/>
              <a:chExt cx="627411" cy="563271"/>
            </a:xfrm>
          </p:grpSpPr>
          <p:grpSp>
            <p:nvGrpSpPr>
              <p:cNvPr id="16" name="组合 53"/>
              <p:cNvGrpSpPr/>
              <p:nvPr/>
            </p:nvGrpSpPr>
            <p:grpSpPr>
              <a:xfrm>
                <a:off x="12631" y="0"/>
                <a:ext cx="614781" cy="563272"/>
                <a:chOff x="0" y="0"/>
                <a:chExt cx="614780" cy="563271"/>
              </a:xfrm>
            </p:grpSpPr>
            <p:sp>
              <p:nvSpPr>
                <p:cNvPr id="18" name="梯形 55"/>
                <p:cNvSpPr/>
                <p:nvPr/>
              </p:nvSpPr>
              <p:spPr>
                <a:xfrm rot="10800000">
                  <a:off x="141557" y="267554"/>
                  <a:ext cx="473224" cy="295718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21600"/>
                      </a:moveTo>
                      <a:lnTo>
                        <a:pt x="5151" y="0"/>
                      </a:lnTo>
                      <a:lnTo>
                        <a:pt x="16449" y="0"/>
                      </a:lnTo>
                      <a:lnTo>
                        <a:pt x="21600" y="21600"/>
                      </a:lnTo>
                      <a:close/>
                    </a:path>
                  </a:pathLst>
                </a:custGeom>
                <a:solidFill>
                  <a:srgbClr val="7C1013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>
                      <a:solidFill>
                        <a:srgbClr val="FFFFFF"/>
                      </a:solidFill>
                    </a:defRPr>
                  </a:pPr>
                  <a:endParaRPr dirty="0"/>
                </a:p>
              </p:txBody>
            </p:sp>
            <p:sp>
              <p:nvSpPr>
                <p:cNvPr id="19" name="任意多边形 56"/>
                <p:cNvSpPr/>
                <p:nvPr/>
              </p:nvSpPr>
              <p:spPr>
                <a:xfrm>
                  <a:off x="-1" y="-1"/>
                  <a:ext cx="527698" cy="56327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lnTo>
                        <a:pt x="0" y="21600"/>
                      </a:lnTo>
                      <a:lnTo>
                        <a:pt x="20629" y="21600"/>
                      </a:lnTo>
                      <a:lnTo>
                        <a:pt x="21600" y="2046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 sz="2000">
                      <a:solidFill>
                        <a:srgbClr val="FFFFFF"/>
                      </a:solidFill>
                    </a:defRPr>
                  </a:pPr>
                  <a:endParaRPr sz="1800" dirty="0"/>
                </a:p>
              </p:txBody>
            </p:sp>
          </p:grpSp>
          <p:sp>
            <p:nvSpPr>
              <p:cNvPr id="17" name="矩形 54"/>
              <p:cNvSpPr txBox="1"/>
              <p:nvPr/>
            </p:nvSpPr>
            <p:spPr>
              <a:xfrm>
                <a:off x="0" y="14865"/>
                <a:ext cx="581034" cy="48620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t">
                <a:spAutoFit/>
              </a:bodyPr>
              <a:lstStyle>
                <a:lvl1pPr algn="ctr">
                  <a:lnSpc>
                    <a:spcPct val="120000"/>
                  </a:lnSpc>
                  <a:defRPr sz="2800" b="1">
                    <a:solidFill>
                      <a:srgbClr val="FFFFFF"/>
                    </a:solidFill>
                  </a:defRPr>
                </a:lvl1pPr>
              </a:lstStyle>
              <a:p>
                <a:r>
                  <a:rPr dirty="0"/>
                  <a:t>4</a:t>
                </a:r>
              </a:p>
            </p:txBody>
          </p:sp>
        </p:grpSp>
      </p:grpSp>
      <p:sp>
        <p:nvSpPr>
          <p:cNvPr id="34" name="直接连接符 63"/>
          <p:cNvSpPr/>
          <p:nvPr userDrawn="1"/>
        </p:nvSpPr>
        <p:spPr>
          <a:xfrm>
            <a:off x="889515" y="5521552"/>
            <a:ext cx="828676" cy="1"/>
          </a:xfrm>
          <a:prstGeom prst="line">
            <a:avLst/>
          </a:prstGeom>
          <a:ln w="28575">
            <a:solidFill>
              <a:srgbClr val="000000"/>
            </a:solidFill>
          </a:ln>
        </p:spPr>
        <p:txBody>
          <a:bodyPr lIns="45719" rIns="45719"/>
          <a:lstStyle/>
          <a:p>
            <a:endParaRPr dirty="0"/>
          </a:p>
        </p:txBody>
      </p:sp>
      <p:sp>
        <p:nvSpPr>
          <p:cNvPr id="49" name="文本框 11"/>
          <p:cNvSpPr txBox="1"/>
          <p:nvPr userDrawn="1"/>
        </p:nvSpPr>
        <p:spPr>
          <a:xfrm rot="19675288">
            <a:off x="6242638" y="3333204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50" name="文本框 11"/>
          <p:cNvSpPr txBox="1"/>
          <p:nvPr userDrawn="1"/>
        </p:nvSpPr>
        <p:spPr>
          <a:xfrm rot="19675288">
            <a:off x="9397217" y="3333204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51" name="文本框 50"/>
          <p:cNvSpPr txBox="1"/>
          <p:nvPr userDrawn="1"/>
        </p:nvSpPr>
        <p:spPr>
          <a:xfrm rot="19675288">
            <a:off x="340136" y="1234935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52" name="文本框 11"/>
          <p:cNvSpPr txBox="1"/>
          <p:nvPr userDrawn="1"/>
        </p:nvSpPr>
        <p:spPr>
          <a:xfrm rot="19675288">
            <a:off x="3321202" y="1234935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53" name="文本框 11"/>
          <p:cNvSpPr txBox="1"/>
          <p:nvPr userDrawn="1"/>
        </p:nvSpPr>
        <p:spPr>
          <a:xfrm rot="19675288">
            <a:off x="6242638" y="1234934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54" name="文本框 11"/>
          <p:cNvSpPr txBox="1"/>
          <p:nvPr userDrawn="1"/>
        </p:nvSpPr>
        <p:spPr>
          <a:xfrm rot="19675288">
            <a:off x="9397217" y="1234934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55" name="文本框 11"/>
          <p:cNvSpPr txBox="1"/>
          <p:nvPr userDrawn="1"/>
        </p:nvSpPr>
        <p:spPr>
          <a:xfrm rot="19675288">
            <a:off x="340136" y="5457139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56" name="文本框 11"/>
          <p:cNvSpPr txBox="1"/>
          <p:nvPr userDrawn="1"/>
        </p:nvSpPr>
        <p:spPr>
          <a:xfrm rot="19675288">
            <a:off x="3321202" y="5457139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57" name="文本框 11"/>
          <p:cNvSpPr txBox="1"/>
          <p:nvPr userDrawn="1"/>
        </p:nvSpPr>
        <p:spPr>
          <a:xfrm rot="19675288">
            <a:off x="6242638" y="5457138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_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文本框 1"/>
          <p:cNvSpPr txBox="1"/>
          <p:nvPr/>
        </p:nvSpPr>
        <p:spPr>
          <a:xfrm>
            <a:off x="4318000" y="2971799"/>
            <a:ext cx="3556000" cy="235333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/>
          <a:p>
            <a:pPr>
              <a:defRPr sz="300">
                <a:solidFill>
                  <a:srgbClr val="FFFFFF">
                    <a:alpha val="0"/>
                  </a:srgbClr>
                </a:solidFill>
                <a:latin typeface="微软雅黑" charset="-122"/>
                <a:ea typeface="微软雅黑" charset="-122"/>
                <a:cs typeface="微软雅黑" charset="-122"/>
                <a:sym typeface="微软雅黑" charset="-122"/>
              </a:defRPr>
            </a:pPr>
            <a:r>
              <a:rPr sz="1800" dirty="0"/>
              <a:t>感谢您下载包图网平台上提供的PPT作品，为了您和包图网以及原创作者的利益，请勿复制、传播、销售，否则将承担法律责任！包图网将对作品进行维权，按照传播下载次数进行十倍的索取赔偿！</a:t>
            </a:r>
          </a:p>
          <a:p>
            <a:pPr>
              <a:defRPr sz="600">
                <a:solidFill>
                  <a:srgbClr val="FFFFFF">
                    <a:alpha val="0"/>
                  </a:srgbClr>
                </a:solidFill>
                <a:latin typeface="微软雅黑" charset="-122"/>
                <a:ea typeface="微软雅黑" charset="-122"/>
                <a:cs typeface="微软雅黑" charset="-122"/>
                <a:sym typeface="微软雅黑" charset="-122"/>
              </a:defRPr>
            </a:pPr>
            <a:r>
              <a:rPr sz="1800" dirty="0"/>
              <a:t>ibaotu.com</a:t>
            </a:r>
          </a:p>
        </p:txBody>
      </p:sp>
      <p:pic>
        <p:nvPicPr>
          <p:cNvPr id="10" name="Picture 2" descr="Picture 2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3175" y="0"/>
            <a:ext cx="12188825" cy="685800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11" name="矩形 23"/>
          <p:cNvSpPr/>
          <p:nvPr userDrawn="1"/>
        </p:nvSpPr>
        <p:spPr>
          <a:xfrm>
            <a:off x="1202795" y="1536895"/>
            <a:ext cx="9789584" cy="377190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698500" dist="215900" dir="5400000" rotWithShape="0">
              <a:srgbClr val="000000">
                <a:alpha val="14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12" name="文本框 7"/>
          <p:cNvSpPr txBox="1"/>
          <p:nvPr userDrawn="1"/>
        </p:nvSpPr>
        <p:spPr>
          <a:xfrm>
            <a:off x="1439290" y="1960453"/>
            <a:ext cx="3586878" cy="3108543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>
            <a:spAutoFit/>
          </a:bodyPr>
          <a:lstStyle>
            <a:lvl1pPr algn="ctr">
              <a:defRPr sz="19600" b="1">
                <a:solidFill>
                  <a:schemeClr val="accent1"/>
                </a:solidFill>
              </a:defRPr>
            </a:lvl1pPr>
          </a:lstStyle>
          <a:p>
            <a:r>
              <a:rPr dirty="0"/>
              <a:t>0</a:t>
            </a:r>
            <a:r>
              <a:rPr lang="en-US" dirty="0"/>
              <a:t>   </a:t>
            </a:r>
            <a:endParaRPr dirty="0"/>
          </a:p>
        </p:txBody>
      </p:sp>
      <p:sp>
        <p:nvSpPr>
          <p:cNvPr id="13" name="直接连接符 27"/>
          <p:cNvSpPr/>
          <p:nvPr userDrawn="1"/>
        </p:nvSpPr>
        <p:spPr>
          <a:xfrm>
            <a:off x="5759227" y="3600105"/>
            <a:ext cx="5233153" cy="1"/>
          </a:xfrm>
          <a:prstGeom prst="line">
            <a:avLst/>
          </a:prstGeom>
          <a:ln w="12700">
            <a:solidFill>
              <a:srgbClr val="BFBFBF"/>
            </a:solidFill>
          </a:ln>
        </p:spPr>
        <p:txBody>
          <a:bodyPr lIns="45719" rIns="45719"/>
          <a:lstStyle/>
          <a:p>
            <a:endParaRPr dirty="0"/>
          </a:p>
        </p:txBody>
      </p:sp>
      <p:pic>
        <p:nvPicPr>
          <p:cNvPr id="15" name="Picture 3" descr="C:\Users\Administrator\Desktop\战戟标（3V3标-01.png"/>
          <p:cNvPicPr>
            <a:picLocks noChangeAspect="1" noChangeArrowheads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663952" y="3789040"/>
            <a:ext cx="1368152" cy="437971"/>
          </a:xfrm>
          <a:prstGeom prst="rect">
            <a:avLst/>
          </a:prstGeom>
          <a:noFill/>
        </p:spPr>
      </p:pic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8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4" descr="C:\Users\Administrator\Desktop\222.jpg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-1"/>
            <a:ext cx="12192000" cy="6860829"/>
          </a:xfrm>
          <a:prstGeom prst="rect">
            <a:avLst/>
          </a:prstGeom>
          <a:noFill/>
        </p:spPr>
      </p:pic>
      <p:pic>
        <p:nvPicPr>
          <p:cNvPr id="2" name="图片 1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172700" y="5200650"/>
            <a:ext cx="2019300" cy="1657350"/>
          </a:xfrm>
          <a:prstGeom prst="rect">
            <a:avLst/>
          </a:prstGeom>
        </p:spPr>
      </p:pic>
      <p:sp>
        <p:nvSpPr>
          <p:cNvPr id="4" name="文本框 11"/>
          <p:cNvSpPr txBox="1"/>
          <p:nvPr userDrawn="1"/>
        </p:nvSpPr>
        <p:spPr>
          <a:xfrm rot="19675288">
            <a:off x="340136" y="3333205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5" name="文本框 11"/>
          <p:cNvSpPr txBox="1"/>
          <p:nvPr userDrawn="1"/>
        </p:nvSpPr>
        <p:spPr>
          <a:xfrm rot="19675288">
            <a:off x="3321202" y="3333205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6" name="文本框 11"/>
          <p:cNvSpPr txBox="1"/>
          <p:nvPr userDrawn="1"/>
        </p:nvSpPr>
        <p:spPr>
          <a:xfrm rot="19675288">
            <a:off x="6242638" y="3333204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7" name="文本框 11"/>
          <p:cNvSpPr txBox="1"/>
          <p:nvPr userDrawn="1"/>
        </p:nvSpPr>
        <p:spPr>
          <a:xfrm rot="19675288">
            <a:off x="9397217" y="3333204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9" name="文本框 8"/>
          <p:cNvSpPr txBox="1"/>
          <p:nvPr userDrawn="1"/>
        </p:nvSpPr>
        <p:spPr>
          <a:xfrm rot="19675288">
            <a:off x="340136" y="1234935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0" name="文本框 11"/>
          <p:cNvSpPr txBox="1"/>
          <p:nvPr userDrawn="1"/>
        </p:nvSpPr>
        <p:spPr>
          <a:xfrm rot="19675288">
            <a:off x="3321202" y="1234935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1" name="文本框 11"/>
          <p:cNvSpPr txBox="1"/>
          <p:nvPr userDrawn="1"/>
        </p:nvSpPr>
        <p:spPr>
          <a:xfrm rot="19675288">
            <a:off x="6242638" y="1234934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2" name="文本框 11"/>
          <p:cNvSpPr txBox="1"/>
          <p:nvPr userDrawn="1"/>
        </p:nvSpPr>
        <p:spPr>
          <a:xfrm rot="19675288">
            <a:off x="9397217" y="1234934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3" name="文本框 11"/>
          <p:cNvSpPr txBox="1"/>
          <p:nvPr userDrawn="1"/>
        </p:nvSpPr>
        <p:spPr>
          <a:xfrm rot="19675288">
            <a:off x="340136" y="5457139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4" name="文本框 11"/>
          <p:cNvSpPr txBox="1"/>
          <p:nvPr userDrawn="1"/>
        </p:nvSpPr>
        <p:spPr>
          <a:xfrm rot="19675288">
            <a:off x="3321202" y="5457139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5" name="文本框 11"/>
          <p:cNvSpPr txBox="1"/>
          <p:nvPr userDrawn="1"/>
        </p:nvSpPr>
        <p:spPr>
          <a:xfrm rot="19675288">
            <a:off x="6242638" y="5457138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6" name="文本框 11"/>
          <p:cNvSpPr txBox="1"/>
          <p:nvPr userDrawn="1"/>
        </p:nvSpPr>
        <p:spPr>
          <a:xfrm rot="19675288">
            <a:off x="9397217" y="5457138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FC0C0-F3C1-46A6-B1E0-38A19114CB16}" type="datetimeFigureOut">
              <a:rPr lang="zh-CN" altLang="en-US" smtClean="0"/>
              <a:t>2025/5/27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7D9BB5D0-35E4-459D-AEF3-FE4D7C45CC1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9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4" descr="C:\Users\Administrator\Desktop\222.jpg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-1"/>
            <a:ext cx="12192000" cy="6860829"/>
          </a:xfrm>
          <a:prstGeom prst="rect">
            <a:avLst/>
          </a:prstGeom>
          <a:noFill/>
        </p:spPr>
      </p:pic>
      <p:pic>
        <p:nvPicPr>
          <p:cNvPr id="2" name="图片 1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172700" y="5200650"/>
            <a:ext cx="2019300" cy="1657350"/>
          </a:xfrm>
          <a:prstGeom prst="rect">
            <a:avLst/>
          </a:prstGeom>
        </p:spPr>
      </p:pic>
      <p:sp>
        <p:nvSpPr>
          <p:cNvPr id="5" name="文本框 11"/>
          <p:cNvSpPr txBox="1"/>
          <p:nvPr userDrawn="1"/>
        </p:nvSpPr>
        <p:spPr>
          <a:xfrm rot="19675288">
            <a:off x="340136" y="3333205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9" name="文本框 11"/>
          <p:cNvSpPr txBox="1"/>
          <p:nvPr userDrawn="1"/>
        </p:nvSpPr>
        <p:spPr>
          <a:xfrm rot="19675288">
            <a:off x="3321202" y="3333205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0" name="文本框 11"/>
          <p:cNvSpPr txBox="1"/>
          <p:nvPr userDrawn="1"/>
        </p:nvSpPr>
        <p:spPr>
          <a:xfrm rot="19675288">
            <a:off x="6242638" y="3333204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1" name="文本框 11"/>
          <p:cNvSpPr txBox="1"/>
          <p:nvPr userDrawn="1"/>
        </p:nvSpPr>
        <p:spPr>
          <a:xfrm rot="19675288">
            <a:off x="9397217" y="3333204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2" name="文本框 11"/>
          <p:cNvSpPr txBox="1"/>
          <p:nvPr userDrawn="1"/>
        </p:nvSpPr>
        <p:spPr>
          <a:xfrm rot="19675288">
            <a:off x="340136" y="1234935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3" name="文本框 11"/>
          <p:cNvSpPr txBox="1"/>
          <p:nvPr userDrawn="1"/>
        </p:nvSpPr>
        <p:spPr>
          <a:xfrm rot="19675288">
            <a:off x="3321202" y="1234935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4" name="文本框 11"/>
          <p:cNvSpPr txBox="1"/>
          <p:nvPr userDrawn="1"/>
        </p:nvSpPr>
        <p:spPr>
          <a:xfrm rot="19675288">
            <a:off x="6242638" y="1234934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5" name="文本框 11"/>
          <p:cNvSpPr txBox="1"/>
          <p:nvPr userDrawn="1"/>
        </p:nvSpPr>
        <p:spPr>
          <a:xfrm rot="19675288">
            <a:off x="9397217" y="1234934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6" name="文本框 11"/>
          <p:cNvSpPr txBox="1"/>
          <p:nvPr userDrawn="1"/>
        </p:nvSpPr>
        <p:spPr>
          <a:xfrm rot="19675288">
            <a:off x="340136" y="5457139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7" name="文本框 11"/>
          <p:cNvSpPr txBox="1"/>
          <p:nvPr userDrawn="1"/>
        </p:nvSpPr>
        <p:spPr>
          <a:xfrm rot="19675288">
            <a:off x="3321202" y="5457139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8" name="文本框 11"/>
          <p:cNvSpPr txBox="1"/>
          <p:nvPr userDrawn="1"/>
        </p:nvSpPr>
        <p:spPr>
          <a:xfrm rot="19675288">
            <a:off x="6242638" y="5457138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9" name="文本框 11"/>
          <p:cNvSpPr txBox="1"/>
          <p:nvPr userDrawn="1"/>
        </p:nvSpPr>
        <p:spPr>
          <a:xfrm rot="19675288">
            <a:off x="9397217" y="5457138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占位符 4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6" name="文本占位符 5"/>
          <p:cNvSpPr>
            <a:spLocks noGrp="1"/>
          </p:cNvSpPr>
          <p:nvPr>
            <p:ph type="body" idx="1"/>
          </p:nvPr>
        </p:nvSpPr>
        <p:spPr>
          <a:xfrm>
            <a:off x="609600" y="1600200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2"/>
          </p:nvPr>
        </p:nvSpPr>
        <p:spPr>
          <a:xfrm>
            <a:off x="609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1DFC0C0-F3C1-46A6-B1E0-38A19114CB16}" type="datetimeFigureOut">
              <a:rPr lang="zh-CN" altLang="en-US" smtClean="0"/>
              <a:t>2025/5/27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3"/>
          </p:nvPr>
        </p:nvSpPr>
        <p:spPr>
          <a:xfrm>
            <a:off x="4165600" y="6356350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ransition spd="med"/>
  <p:txStyles>
    <p:titleStyle>
      <a:lvl1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1pPr>
      <a:lvl2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2pPr>
      <a:lvl3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3pPr>
      <a:lvl4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4pPr>
      <a:lvl5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5pPr>
      <a:lvl6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6pPr>
      <a:lvl7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7pPr>
      <a:lvl8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8pPr>
      <a:lvl9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9pPr>
    </p:titleStyle>
    <p:bodyStyle>
      <a:lvl1pPr marL="228600" marR="0" indent="-228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1pPr>
      <a:lvl2pPr marL="723900" marR="0" indent="-2667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2pPr>
      <a:lvl3pPr marL="1234440" marR="0" indent="-32004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3pPr>
      <a:lvl4pPr marL="1727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4pPr>
      <a:lvl5pPr marL="21844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5pPr>
      <a:lvl6pPr marL="26416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6pPr>
      <a:lvl7pPr marL="30988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7pPr>
      <a:lvl8pPr marL="35560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8pPr>
      <a:lvl9pPr marL="4013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457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914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1371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18288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22860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2743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3200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3657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chart" Target="../charts/char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1424" y="5744210"/>
            <a:ext cx="781050" cy="561975"/>
          </a:xfrm>
          <a:prstGeom prst="rect">
            <a:avLst/>
          </a:prstGeom>
        </p:spPr>
      </p:pic>
      <p:sp>
        <p:nvSpPr>
          <p:cNvPr id="3" name="矩形 2"/>
          <p:cNvSpPr/>
          <p:nvPr/>
        </p:nvSpPr>
        <p:spPr>
          <a:xfrm>
            <a:off x="7193280" y="6308725"/>
            <a:ext cx="3067685" cy="5029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科技中心   运动表现研究部</a:t>
            </a:r>
            <a:r>
              <a:rPr lang="en-US" altLang="zh-CN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     </a:t>
            </a:r>
            <a:endParaRPr lang="zh-CN" altLang="en-US" dirty="0">
              <a:solidFill>
                <a:schemeClr val="bg1"/>
              </a:solidFill>
            </a:endParaRPr>
          </a:p>
        </p:txBody>
      </p:sp>
      <p:sp>
        <p:nvSpPr>
          <p:cNvPr id="6" name="矩形 5"/>
          <p:cNvSpPr/>
          <p:nvPr/>
        </p:nvSpPr>
        <p:spPr>
          <a:xfrm>
            <a:off x="119336" y="6309320"/>
            <a:ext cx="3984380" cy="4584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报告编号：</a:t>
            </a:r>
            <a:r>
              <a:rPr lang="en-US" altLang="zh-CN" b="1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QD20250</a:t>
            </a:r>
            <a:r>
              <a:rPr lang="en-US" b="1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XXX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11352584" y="6306185"/>
            <a:ext cx="547370" cy="50165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none" lIns="45719" tIns="45719" rIns="45719" bIns="45719" numCol="1" spcCol="38100" rtlCol="0" anchor="t" forceAA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  <a:sym typeface="+mn-ea"/>
              </a:rPr>
              <a:t>日期</a:t>
            </a:r>
            <a:endParaRPr kumimoji="0" lang="zh-CN" altLang="en-US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7408" y="5013176"/>
            <a:ext cx="1310546" cy="1008112"/>
          </a:xfrm>
          <a:prstGeom prst="rect">
            <a:avLst/>
          </a:prstGeom>
        </p:spPr>
      </p:pic>
      <p:sp>
        <p:nvSpPr>
          <p:cNvPr id="3" name="矩形 259"/>
          <p:cNvSpPr txBox="1"/>
          <p:nvPr/>
        </p:nvSpPr>
        <p:spPr>
          <a:xfrm>
            <a:off x="6672064" y="1556792"/>
            <a:ext cx="3528391" cy="615553"/>
          </a:xfrm>
          <a:prstGeom prst="rect">
            <a:avLst/>
          </a:prstGeom>
          <a:ln w="12700">
            <a:miter lim="400000"/>
          </a:ln>
        </p:spPr>
        <p:txBody>
          <a:bodyPr wrap="square" lIns="0" tIns="0" rIns="0" bIns="0">
            <a:spAutoFit/>
          </a:bodyPr>
          <a:lstStyle/>
          <a:p>
            <a:pPr>
              <a:spcBef>
                <a:spcPts val="1100"/>
              </a:spcBef>
              <a:defRPr sz="4800">
                <a:solidFill>
                  <a:srgbClr val="FFFFFF"/>
                </a:solidFill>
                <a:latin typeface="FZHei-B01S"/>
                <a:ea typeface="FZHei-B01S"/>
                <a:cs typeface="FZHei-B01S"/>
                <a:sym typeface="FZHei-B01S"/>
              </a:defRPr>
            </a:pPr>
            <a:endParaRPr sz="4000" b="1" dirty="0">
              <a:solidFill>
                <a:schemeClr val="tx1"/>
              </a:solidFill>
              <a:latin typeface="微软雅黑" charset="-122"/>
              <a:ea typeface="微软雅黑" charset="-122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6600056" y="1582713"/>
            <a:ext cx="2007056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defRPr sz="4800">
                <a:solidFill>
                  <a:srgbClr val="FFFFFF"/>
                </a:solidFill>
                <a:latin typeface="FZHei-B01S"/>
                <a:ea typeface="FZHei-B01S"/>
                <a:cs typeface="FZHei-B01S"/>
                <a:sym typeface="FZHei-B01S"/>
              </a:defRPr>
            </a:pPr>
            <a:r>
              <a:rPr lang="zh-CN" altLang="en-US" sz="3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背景</a:t>
            </a:r>
          </a:p>
        </p:txBody>
      </p:sp>
      <p:sp>
        <p:nvSpPr>
          <p:cNvPr id="5" name="矩形 4"/>
          <p:cNvSpPr/>
          <p:nvPr/>
        </p:nvSpPr>
        <p:spPr>
          <a:xfrm>
            <a:off x="6600056" y="2628201"/>
            <a:ext cx="3384376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defRPr sz="4800">
                <a:solidFill>
                  <a:srgbClr val="FFFFFF"/>
                </a:solidFill>
                <a:latin typeface="FZHei-B01S"/>
                <a:ea typeface="FZHei-B01S"/>
                <a:cs typeface="FZHei-B01S"/>
                <a:sym typeface="FZHei-B01S"/>
              </a:defRPr>
            </a:pPr>
            <a:r>
              <a:rPr lang="zh-CN" altLang="en-US" sz="3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基本测试</a:t>
            </a:r>
          </a:p>
        </p:txBody>
      </p:sp>
      <p:sp>
        <p:nvSpPr>
          <p:cNvPr id="7" name="矩形 6"/>
          <p:cNvSpPr/>
          <p:nvPr/>
        </p:nvSpPr>
        <p:spPr>
          <a:xfrm>
            <a:off x="6600056" y="4005064"/>
            <a:ext cx="3384376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defRPr sz="4800">
                <a:solidFill>
                  <a:srgbClr val="FFFFFF"/>
                </a:solidFill>
                <a:latin typeface="FZHei-B01S"/>
                <a:ea typeface="FZHei-B01S"/>
                <a:cs typeface="FZHei-B01S"/>
                <a:sym typeface="FZHei-B01S"/>
              </a:defRPr>
            </a:pPr>
            <a:r>
              <a:rPr lang="zh-CN" altLang="en-US" sz="3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实战测评</a:t>
            </a:r>
          </a:p>
        </p:txBody>
      </p:sp>
      <p:sp>
        <p:nvSpPr>
          <p:cNvPr id="8" name="矩形 7"/>
          <p:cNvSpPr/>
          <p:nvPr/>
        </p:nvSpPr>
        <p:spPr>
          <a:xfrm>
            <a:off x="6600056" y="3212976"/>
            <a:ext cx="3384376" cy="6642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defRPr sz="4800">
                <a:solidFill>
                  <a:srgbClr val="FFFFFF"/>
                </a:solidFill>
                <a:latin typeface="FZHei-B01S"/>
                <a:ea typeface="FZHei-B01S"/>
                <a:cs typeface="FZHei-B01S"/>
                <a:sym typeface="FZHei-B01S"/>
              </a:defRPr>
            </a:pPr>
            <a:r>
              <a:rPr lang="en-US" altLang="zh-CN" sz="1400" b="1" dirty="0">
                <a:solidFill>
                  <a:schemeClr val="tx2">
                    <a:lumMod val="75000"/>
                  </a:schemeClr>
                </a:solidFill>
                <a:latin typeface="微软雅黑" charset="-122"/>
                <a:ea typeface="微软雅黑" charset="-122"/>
              </a:rPr>
              <a:t>I   </a:t>
            </a:r>
            <a:r>
              <a:rPr lang="zh-CN" altLang="en-US" sz="1400" b="1" dirty="0">
                <a:solidFill>
                  <a:schemeClr val="tx2">
                    <a:lumMod val="75000"/>
                  </a:schemeClr>
                </a:solidFill>
                <a:latin typeface="微软雅黑" charset="-122"/>
                <a:ea typeface="微软雅黑" charset="-122"/>
              </a:rPr>
              <a:t>基础物性测试</a:t>
            </a:r>
            <a:endParaRPr lang="en-US" altLang="zh-CN" sz="1400" b="1" dirty="0">
              <a:solidFill>
                <a:schemeClr val="tx2">
                  <a:lumMod val="75000"/>
                </a:schemeClr>
              </a:solidFill>
              <a:latin typeface="微软雅黑" charset="-122"/>
              <a:ea typeface="微软雅黑" charset="-122"/>
            </a:endParaRPr>
          </a:p>
          <a:p>
            <a:pPr>
              <a:spcBef>
                <a:spcPts val="1100"/>
              </a:spcBef>
              <a:defRPr sz="4800">
                <a:solidFill>
                  <a:srgbClr val="FFFFFF"/>
                </a:solidFill>
                <a:latin typeface="FZHei-B01S"/>
                <a:ea typeface="FZHei-B01S"/>
                <a:cs typeface="FZHei-B01S"/>
                <a:sym typeface="FZHei-B01S"/>
              </a:defRPr>
            </a:pPr>
            <a:r>
              <a:rPr lang="en-US" altLang="zh-CN" sz="1400" b="1" dirty="0">
                <a:solidFill>
                  <a:schemeClr val="tx2">
                    <a:lumMod val="75000"/>
                  </a:schemeClr>
                </a:solidFill>
                <a:latin typeface="微软雅黑" charset="-122"/>
                <a:ea typeface="微软雅黑" charset="-122"/>
              </a:rPr>
              <a:t>II</a:t>
            </a:r>
            <a:r>
              <a:rPr lang="zh-CN" altLang="en-US" sz="1400" b="1" dirty="0">
                <a:solidFill>
                  <a:schemeClr val="tx2">
                    <a:lumMod val="75000"/>
                  </a:schemeClr>
                </a:solidFill>
                <a:latin typeface="微软雅黑" charset="-122"/>
                <a:ea typeface="微软雅黑" charset="-122"/>
              </a:rPr>
              <a:t>  生物力学 </a:t>
            </a:r>
            <a:r>
              <a:rPr lang="en-US" altLang="zh-CN" sz="1400" b="1" dirty="0">
                <a:solidFill>
                  <a:schemeClr val="tx2">
                    <a:lumMod val="75000"/>
                  </a:schemeClr>
                </a:solidFill>
                <a:latin typeface="微软雅黑" charset="-122"/>
                <a:ea typeface="微软雅黑" charset="-122"/>
              </a:rPr>
              <a:t>/ </a:t>
            </a:r>
            <a:r>
              <a:rPr lang="zh-CN" altLang="en-US" sz="1400" b="1" dirty="0">
                <a:solidFill>
                  <a:schemeClr val="tx2">
                    <a:lumMod val="75000"/>
                  </a:schemeClr>
                </a:solidFill>
                <a:latin typeface="微软雅黑" charset="-122"/>
                <a:ea typeface="微软雅黑" charset="-122"/>
              </a:rPr>
              <a:t>运动捕捉测试</a:t>
            </a:r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912" y="3410744"/>
            <a:ext cx="1076325" cy="2486025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47928" y="3788757"/>
            <a:ext cx="1104900" cy="2095500"/>
          </a:xfrm>
          <a:prstGeom prst="rect">
            <a:avLst/>
          </a:prstGeom>
        </p:spPr>
      </p:pic>
      <p:sp>
        <p:nvSpPr>
          <p:cNvPr id="10" name="矩形 9"/>
          <p:cNvSpPr/>
          <p:nvPr/>
        </p:nvSpPr>
        <p:spPr>
          <a:xfrm>
            <a:off x="6600056" y="4932457"/>
            <a:ext cx="3384376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defRPr sz="4800">
                <a:solidFill>
                  <a:srgbClr val="FFFFFF"/>
                </a:solidFill>
                <a:latin typeface="FZHei-B01S"/>
                <a:ea typeface="FZHei-B01S"/>
                <a:cs typeface="FZHei-B01S"/>
                <a:sym typeface="FZHei-B01S"/>
              </a:defRPr>
            </a:pPr>
            <a:r>
              <a:rPr lang="zh-CN" altLang="en-US" sz="3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总结</a:t>
            </a:r>
            <a:endParaRPr lang="en-US" altLang="zh-CN" sz="3200" b="1" dirty="0">
              <a:solidFill>
                <a:schemeClr val="tx1"/>
              </a:solidFill>
              <a:latin typeface="微软雅黑" charset="-122"/>
              <a:ea typeface="微软雅黑" charset="-122"/>
            </a:endParaRPr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文本框 7"/>
          <p:cNvSpPr txBox="1"/>
          <p:nvPr/>
        </p:nvSpPr>
        <p:spPr>
          <a:xfrm>
            <a:off x="2829514" y="1931243"/>
            <a:ext cx="1490150" cy="3108543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>
            <a:spAutoFit/>
          </a:bodyPr>
          <a:lstStyle>
            <a:lvl1pPr algn="ctr">
              <a:defRPr sz="19600" b="1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1</a:t>
            </a:r>
            <a:endParaRPr dirty="0"/>
          </a:p>
        </p:txBody>
      </p:sp>
      <p:sp>
        <p:nvSpPr>
          <p:cNvPr id="3" name="矩形 259"/>
          <p:cNvSpPr txBox="1"/>
          <p:nvPr/>
        </p:nvSpPr>
        <p:spPr>
          <a:xfrm>
            <a:off x="5879976" y="2746850"/>
            <a:ext cx="4464496" cy="738664"/>
          </a:xfrm>
          <a:prstGeom prst="rect">
            <a:avLst/>
          </a:prstGeom>
          <a:ln w="12700">
            <a:miter lim="400000"/>
          </a:ln>
        </p:spPr>
        <p:txBody>
          <a:bodyPr wrap="square" lIns="0" tIns="0" rIns="0" bIns="0">
            <a:spAutoFit/>
          </a:bodyPr>
          <a:lstStyle/>
          <a:p>
            <a:pPr>
              <a:spcBef>
                <a:spcPts val="1100"/>
              </a:spcBef>
              <a:defRPr sz="4800">
                <a:solidFill>
                  <a:srgbClr val="FFFFFF"/>
                </a:solidFill>
                <a:latin typeface="FZHei-B01S"/>
                <a:ea typeface="FZHei-B01S"/>
                <a:cs typeface="FZHei-B01S"/>
                <a:sym typeface="FZHei-B01S"/>
              </a:defRPr>
            </a:pPr>
            <a:r>
              <a:rPr lang="zh-CN" altLang="en-US" sz="48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项目背景</a:t>
            </a:r>
            <a:endParaRPr sz="4800" b="1" dirty="0">
              <a:solidFill>
                <a:schemeClr val="tx1"/>
              </a:solidFill>
              <a:latin typeface="微软雅黑" charset="-122"/>
              <a:ea typeface="微软雅黑" charset="-122"/>
            </a:endParaRPr>
          </a:p>
        </p:txBody>
      </p:sp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262961" y="113947"/>
            <a:ext cx="4809683" cy="40011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t">
            <a:spAutoFit/>
          </a:bodyPr>
          <a:lstStyle/>
          <a:p>
            <a:pPr marL="342900" indent="-342900">
              <a:buFont typeface="Wingdings" pitchFamily="2" charset="2"/>
              <a:buChar char="Ø"/>
            </a:pPr>
            <a:r>
              <a:rPr lang="zh-CN" altLang="en-US" sz="2000" b="1" dirty="0">
                <a:solidFill>
                  <a:schemeClr val="bg1"/>
                </a:solidFill>
                <a:latin typeface="微软雅黑" charset="-122"/>
                <a:ea typeface="微软雅黑" charset="-122"/>
                <a:sym typeface="+mn-ea"/>
              </a:rPr>
              <a:t>测试数据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【</a:t>
            </a:r>
            <a:r>
              <a:rPr lang="en-US" altLang="zh-CN" b="1" dirty="0"/>
              <a:t>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</a:rPr>
              <a:t>essential data】</a:t>
            </a:r>
            <a:endParaRPr lang="zh-CN" altLang="en-US" sz="1600" b="1" dirty="0">
              <a:solidFill>
                <a:srgbClr val="FFC000"/>
              </a:solidFill>
              <a:latin typeface="微软雅黑" charset="-122"/>
              <a:ea typeface="微软雅黑" charset="-122"/>
              <a:sym typeface="+mn-ea"/>
            </a:endParaRPr>
          </a:p>
        </p:txBody>
      </p:sp>
      <p:cxnSp>
        <p:nvCxnSpPr>
          <p:cNvPr id="5" name="直接连接符 4"/>
          <p:cNvCxnSpPr/>
          <p:nvPr/>
        </p:nvCxnSpPr>
        <p:spPr>
          <a:xfrm>
            <a:off x="4312963" y="1107442"/>
            <a:ext cx="3619289" cy="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" name="直接连接符 5"/>
          <p:cNvCxnSpPr/>
          <p:nvPr/>
        </p:nvCxnSpPr>
        <p:spPr>
          <a:xfrm>
            <a:off x="693674" y="1107442"/>
            <a:ext cx="3619289" cy="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文本框 19"/>
          <p:cNvSpPr txBox="1"/>
          <p:nvPr/>
        </p:nvSpPr>
        <p:spPr>
          <a:xfrm>
            <a:off x="263351" y="188640"/>
            <a:ext cx="4910542" cy="40011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t">
            <a:spAutoFit/>
          </a:bodyPr>
          <a:lstStyle/>
          <a:p>
            <a:pPr marL="342900" indent="-342900">
              <a:buFont typeface="Wingdings" pitchFamily="2" charset="2"/>
              <a:buChar char="Ø"/>
            </a:pPr>
            <a:r>
              <a:rPr lang="zh-CN" altLang="en-US" sz="2000" b="1" dirty="0">
                <a:solidFill>
                  <a:schemeClr val="bg1"/>
                </a:solidFill>
                <a:latin typeface="微软雅黑" charset="-122"/>
                <a:ea typeface="微软雅黑" charset="-122"/>
                <a:sym typeface="+mn-ea"/>
              </a:rPr>
              <a:t>测试数据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【</a:t>
            </a:r>
            <a:r>
              <a:rPr lang="en-US" altLang="zh-CN" b="1" dirty="0"/>
              <a:t>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</a:rPr>
              <a:t>essential data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】---</a:t>
            </a:r>
            <a:r>
              <a:rPr lang="zh-CN" altLang="en-US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减震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&amp;</a:t>
            </a:r>
            <a:r>
              <a:rPr lang="zh-CN" altLang="en-US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回弹</a:t>
            </a:r>
          </a:p>
        </p:txBody>
      </p:sp>
      <p:cxnSp>
        <p:nvCxnSpPr>
          <p:cNvPr id="62" name="直接箭头连接符 61"/>
          <p:cNvCxnSpPr/>
          <p:nvPr/>
        </p:nvCxnSpPr>
        <p:spPr>
          <a:xfrm>
            <a:off x="479376" y="1000473"/>
            <a:ext cx="11233248" cy="0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65" name="矩形 64"/>
          <p:cNvSpPr/>
          <p:nvPr/>
        </p:nvSpPr>
        <p:spPr>
          <a:xfrm>
            <a:off x="108739" y="5032921"/>
            <a:ext cx="723275" cy="30777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缓震性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10776520" y="692696"/>
            <a:ext cx="723275" cy="30777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回弹性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cxnSp>
        <p:nvCxnSpPr>
          <p:cNvPr id="68" name="直接箭头连接符 67"/>
          <p:cNvCxnSpPr/>
          <p:nvPr/>
        </p:nvCxnSpPr>
        <p:spPr>
          <a:xfrm>
            <a:off x="803151" y="921658"/>
            <a:ext cx="29306" cy="4615319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0" name="矩形 69"/>
          <p:cNvSpPr/>
          <p:nvPr/>
        </p:nvSpPr>
        <p:spPr>
          <a:xfrm>
            <a:off x="551384" y="759155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0</a:t>
            </a:r>
            <a:endParaRPr lang="zh-CN" altLang="en-US" sz="1200" dirty="0"/>
          </a:p>
        </p:txBody>
      </p:sp>
      <p:cxnSp>
        <p:nvCxnSpPr>
          <p:cNvPr id="13" name="直接连接符 12"/>
          <p:cNvCxnSpPr/>
          <p:nvPr/>
        </p:nvCxnSpPr>
        <p:spPr>
          <a:xfrm>
            <a:off x="1487488" y="1036154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直接连接符 74"/>
          <p:cNvCxnSpPr/>
          <p:nvPr/>
        </p:nvCxnSpPr>
        <p:spPr>
          <a:xfrm>
            <a:off x="2279576" y="1036154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6" name="直接连接符 75"/>
          <p:cNvCxnSpPr/>
          <p:nvPr/>
        </p:nvCxnSpPr>
        <p:spPr>
          <a:xfrm>
            <a:off x="3071664" y="1036154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7" name="直接连接符 76"/>
          <p:cNvCxnSpPr/>
          <p:nvPr/>
        </p:nvCxnSpPr>
        <p:spPr>
          <a:xfrm>
            <a:off x="3935760" y="1036154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3" name="直接连接符 82"/>
          <p:cNvCxnSpPr/>
          <p:nvPr/>
        </p:nvCxnSpPr>
        <p:spPr>
          <a:xfrm>
            <a:off x="4727848" y="1036154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4" name="直接连接符 83"/>
          <p:cNvCxnSpPr/>
          <p:nvPr/>
        </p:nvCxnSpPr>
        <p:spPr>
          <a:xfrm>
            <a:off x="5591944" y="1036154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5" name="直接连接符 84"/>
          <p:cNvCxnSpPr/>
          <p:nvPr/>
        </p:nvCxnSpPr>
        <p:spPr>
          <a:xfrm>
            <a:off x="6384032" y="1036154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6" name="直接连接符 85"/>
          <p:cNvCxnSpPr/>
          <p:nvPr/>
        </p:nvCxnSpPr>
        <p:spPr>
          <a:xfrm>
            <a:off x="7176120" y="1036154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7" name="直接连接符 86"/>
          <p:cNvCxnSpPr/>
          <p:nvPr/>
        </p:nvCxnSpPr>
        <p:spPr>
          <a:xfrm>
            <a:off x="8040216" y="1036154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9" name="直接连接符 88"/>
          <p:cNvCxnSpPr/>
          <p:nvPr/>
        </p:nvCxnSpPr>
        <p:spPr>
          <a:xfrm>
            <a:off x="8832304" y="1036154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/>
          <p:cNvCxnSpPr/>
          <p:nvPr/>
        </p:nvCxnSpPr>
        <p:spPr>
          <a:xfrm>
            <a:off x="852626" y="1648545"/>
            <a:ext cx="72008" cy="0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3" name="直接连接符 92"/>
          <p:cNvCxnSpPr/>
          <p:nvPr/>
        </p:nvCxnSpPr>
        <p:spPr>
          <a:xfrm>
            <a:off x="852626" y="2296617"/>
            <a:ext cx="72008" cy="0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4" name="直接连接符 93"/>
          <p:cNvCxnSpPr/>
          <p:nvPr/>
        </p:nvCxnSpPr>
        <p:spPr>
          <a:xfrm>
            <a:off x="852626" y="2944689"/>
            <a:ext cx="72008" cy="0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5" name="直接连接符 94"/>
          <p:cNvCxnSpPr/>
          <p:nvPr/>
        </p:nvCxnSpPr>
        <p:spPr>
          <a:xfrm>
            <a:off x="852626" y="3592761"/>
            <a:ext cx="72008" cy="0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9" name="直接连接符 98"/>
          <p:cNvCxnSpPr/>
          <p:nvPr/>
        </p:nvCxnSpPr>
        <p:spPr>
          <a:xfrm>
            <a:off x="861544" y="4221088"/>
            <a:ext cx="72008" cy="0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0" name="直接连接符 99"/>
          <p:cNvCxnSpPr/>
          <p:nvPr/>
        </p:nvCxnSpPr>
        <p:spPr>
          <a:xfrm>
            <a:off x="887097" y="4888905"/>
            <a:ext cx="72008" cy="0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01" name="矩形 100"/>
          <p:cNvSpPr/>
          <p:nvPr/>
        </p:nvSpPr>
        <p:spPr>
          <a:xfrm>
            <a:off x="1266796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38%</a:t>
            </a:r>
            <a:endParaRPr lang="zh-CN" altLang="en-US" sz="1200" dirty="0"/>
          </a:p>
        </p:txBody>
      </p:sp>
      <p:cxnSp>
        <p:nvCxnSpPr>
          <p:cNvPr id="105" name="直接连接符 104"/>
          <p:cNvCxnSpPr/>
          <p:nvPr/>
        </p:nvCxnSpPr>
        <p:spPr>
          <a:xfrm>
            <a:off x="9696400" y="1036154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6" name="直接连接符 105"/>
          <p:cNvCxnSpPr/>
          <p:nvPr/>
        </p:nvCxnSpPr>
        <p:spPr>
          <a:xfrm>
            <a:off x="10488488" y="1036154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07" name="矩形 106"/>
          <p:cNvSpPr/>
          <p:nvPr/>
        </p:nvSpPr>
        <p:spPr>
          <a:xfrm>
            <a:off x="2003591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40%</a:t>
            </a:r>
            <a:endParaRPr lang="zh-CN" altLang="en-US" sz="1200" dirty="0"/>
          </a:p>
        </p:txBody>
      </p:sp>
      <p:sp>
        <p:nvSpPr>
          <p:cNvPr id="108" name="矩形 107"/>
          <p:cNvSpPr/>
          <p:nvPr/>
        </p:nvSpPr>
        <p:spPr>
          <a:xfrm>
            <a:off x="2831683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42%</a:t>
            </a:r>
            <a:endParaRPr lang="zh-CN" altLang="en-US" sz="1200" dirty="0"/>
          </a:p>
        </p:txBody>
      </p:sp>
      <p:sp>
        <p:nvSpPr>
          <p:cNvPr id="109" name="矩形 108"/>
          <p:cNvSpPr/>
          <p:nvPr/>
        </p:nvSpPr>
        <p:spPr>
          <a:xfrm>
            <a:off x="3659775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44%</a:t>
            </a:r>
            <a:endParaRPr lang="zh-CN" altLang="en-US" sz="1200" dirty="0"/>
          </a:p>
        </p:txBody>
      </p:sp>
      <p:sp>
        <p:nvSpPr>
          <p:cNvPr id="110" name="矩形 109"/>
          <p:cNvSpPr/>
          <p:nvPr/>
        </p:nvSpPr>
        <p:spPr>
          <a:xfrm>
            <a:off x="4469604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46%</a:t>
            </a:r>
            <a:endParaRPr lang="zh-CN" altLang="en-US" sz="1200" dirty="0"/>
          </a:p>
        </p:txBody>
      </p:sp>
      <p:sp>
        <p:nvSpPr>
          <p:cNvPr id="111" name="矩形 110"/>
          <p:cNvSpPr/>
          <p:nvPr/>
        </p:nvSpPr>
        <p:spPr>
          <a:xfrm>
            <a:off x="5366857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48%</a:t>
            </a:r>
            <a:endParaRPr lang="zh-CN" altLang="en-US" sz="1200" dirty="0"/>
          </a:p>
        </p:txBody>
      </p:sp>
      <p:sp>
        <p:nvSpPr>
          <p:cNvPr id="112" name="矩形 111"/>
          <p:cNvSpPr/>
          <p:nvPr/>
        </p:nvSpPr>
        <p:spPr>
          <a:xfrm>
            <a:off x="6159971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50%</a:t>
            </a:r>
            <a:endParaRPr lang="zh-CN" altLang="en-US" sz="1200" dirty="0"/>
          </a:p>
        </p:txBody>
      </p:sp>
      <p:sp>
        <p:nvSpPr>
          <p:cNvPr id="113" name="矩形 112"/>
          <p:cNvSpPr/>
          <p:nvPr/>
        </p:nvSpPr>
        <p:spPr>
          <a:xfrm>
            <a:off x="6896766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52%</a:t>
            </a:r>
            <a:endParaRPr lang="zh-CN" altLang="en-US" sz="1200" dirty="0"/>
          </a:p>
        </p:txBody>
      </p:sp>
      <p:sp>
        <p:nvSpPr>
          <p:cNvPr id="114" name="矩形 113"/>
          <p:cNvSpPr/>
          <p:nvPr/>
        </p:nvSpPr>
        <p:spPr>
          <a:xfrm>
            <a:off x="7760895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54%</a:t>
            </a:r>
            <a:endParaRPr lang="zh-CN" altLang="en-US" sz="1200" dirty="0"/>
          </a:p>
        </p:txBody>
      </p:sp>
      <p:sp>
        <p:nvSpPr>
          <p:cNvPr id="115" name="矩形 114"/>
          <p:cNvSpPr/>
          <p:nvPr/>
        </p:nvSpPr>
        <p:spPr>
          <a:xfrm>
            <a:off x="8569665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56%</a:t>
            </a:r>
            <a:endParaRPr lang="zh-CN" altLang="en-US" sz="1200" dirty="0"/>
          </a:p>
        </p:txBody>
      </p:sp>
      <p:sp>
        <p:nvSpPr>
          <p:cNvPr id="116" name="矩形 115"/>
          <p:cNvSpPr/>
          <p:nvPr/>
        </p:nvSpPr>
        <p:spPr>
          <a:xfrm>
            <a:off x="9403239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58%</a:t>
            </a:r>
            <a:endParaRPr lang="zh-CN" altLang="en-US" sz="1200" dirty="0"/>
          </a:p>
        </p:txBody>
      </p:sp>
      <p:sp>
        <p:nvSpPr>
          <p:cNvPr id="118" name="矩形 117"/>
          <p:cNvSpPr/>
          <p:nvPr/>
        </p:nvSpPr>
        <p:spPr>
          <a:xfrm>
            <a:off x="560171" y="4720242"/>
            <a:ext cx="429665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8</a:t>
            </a:r>
            <a:endParaRPr lang="zh-CN" altLang="en-US" sz="1200" dirty="0"/>
          </a:p>
        </p:txBody>
      </p:sp>
      <p:sp>
        <p:nvSpPr>
          <p:cNvPr id="119" name="矩形 118"/>
          <p:cNvSpPr/>
          <p:nvPr/>
        </p:nvSpPr>
        <p:spPr>
          <a:xfrm>
            <a:off x="688151" y="5542493"/>
            <a:ext cx="301686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G</a:t>
            </a:r>
            <a:endParaRPr lang="zh-CN" altLang="en-US" sz="1200" dirty="0"/>
          </a:p>
        </p:txBody>
      </p:sp>
      <p:sp>
        <p:nvSpPr>
          <p:cNvPr id="120" name="矩形 119"/>
          <p:cNvSpPr/>
          <p:nvPr/>
        </p:nvSpPr>
        <p:spPr>
          <a:xfrm>
            <a:off x="11735918" y="865526"/>
            <a:ext cx="32733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%</a:t>
            </a:r>
            <a:endParaRPr lang="zh-CN" altLang="en-US" sz="1200" dirty="0"/>
          </a:p>
        </p:txBody>
      </p:sp>
      <p:sp>
        <p:nvSpPr>
          <p:cNvPr id="121" name="矩形 120"/>
          <p:cNvSpPr/>
          <p:nvPr/>
        </p:nvSpPr>
        <p:spPr>
          <a:xfrm>
            <a:off x="560171" y="4102333"/>
            <a:ext cx="429665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9</a:t>
            </a:r>
            <a:endParaRPr lang="zh-CN" altLang="en-US" sz="1200" dirty="0"/>
          </a:p>
        </p:txBody>
      </p:sp>
      <p:sp>
        <p:nvSpPr>
          <p:cNvPr id="122" name="矩形 121"/>
          <p:cNvSpPr/>
          <p:nvPr/>
        </p:nvSpPr>
        <p:spPr>
          <a:xfrm>
            <a:off x="470376" y="3471957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10</a:t>
            </a:r>
            <a:endParaRPr lang="zh-CN" altLang="en-US" sz="1200" dirty="0"/>
          </a:p>
        </p:txBody>
      </p:sp>
      <p:sp>
        <p:nvSpPr>
          <p:cNvPr id="123" name="矩形 122"/>
          <p:cNvSpPr/>
          <p:nvPr/>
        </p:nvSpPr>
        <p:spPr>
          <a:xfrm>
            <a:off x="470376" y="2823667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11</a:t>
            </a:r>
            <a:endParaRPr lang="zh-CN" altLang="en-US" sz="1200" dirty="0"/>
          </a:p>
        </p:txBody>
      </p:sp>
      <p:sp>
        <p:nvSpPr>
          <p:cNvPr id="124" name="矩形 123"/>
          <p:cNvSpPr/>
          <p:nvPr/>
        </p:nvSpPr>
        <p:spPr>
          <a:xfrm>
            <a:off x="470376" y="2184306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12</a:t>
            </a:r>
            <a:endParaRPr lang="zh-CN" altLang="en-US" sz="1200" dirty="0"/>
          </a:p>
        </p:txBody>
      </p:sp>
      <p:sp>
        <p:nvSpPr>
          <p:cNvPr id="125" name="矩形 124"/>
          <p:cNvSpPr/>
          <p:nvPr/>
        </p:nvSpPr>
        <p:spPr>
          <a:xfrm>
            <a:off x="470376" y="1515626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13</a:t>
            </a:r>
            <a:endParaRPr lang="zh-CN" altLang="en-US" sz="1200" dirty="0"/>
          </a:p>
        </p:txBody>
      </p:sp>
      <p:sp>
        <p:nvSpPr>
          <p:cNvPr id="126" name="矩形 125"/>
          <p:cNvSpPr/>
          <p:nvPr/>
        </p:nvSpPr>
        <p:spPr>
          <a:xfrm>
            <a:off x="923101" y="757413"/>
            <a:ext cx="37542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….</a:t>
            </a:r>
            <a:endParaRPr lang="zh-CN" altLang="en-US" sz="1200" dirty="0"/>
          </a:p>
        </p:txBody>
      </p:sp>
      <p:sp>
        <p:nvSpPr>
          <p:cNvPr id="127" name="矩形 126"/>
          <p:cNvSpPr/>
          <p:nvPr/>
        </p:nvSpPr>
        <p:spPr>
          <a:xfrm rot="16200000">
            <a:off x="489528" y="1184794"/>
            <a:ext cx="37542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….</a:t>
            </a:r>
            <a:endParaRPr lang="zh-CN" altLang="en-US" sz="1200" dirty="0"/>
          </a:p>
        </p:txBody>
      </p:sp>
      <p:cxnSp>
        <p:nvCxnSpPr>
          <p:cNvPr id="140" name="直接连接符 139"/>
          <p:cNvCxnSpPr/>
          <p:nvPr/>
        </p:nvCxnSpPr>
        <p:spPr>
          <a:xfrm>
            <a:off x="5519936" y="1034412"/>
            <a:ext cx="0" cy="282141"/>
          </a:xfrm>
          <a:prstGeom prst="line">
            <a:avLst/>
          </a:prstGeom>
          <a:ln w="9525" cap="flat" cmpd="sng" algn="ctr">
            <a:solidFill>
              <a:schemeClr val="dk1">
                <a:alpha val="12000"/>
              </a:schemeClr>
            </a:solidFill>
            <a:prstDash val="dash"/>
            <a:round/>
            <a:headEnd type="none" w="med" len="med"/>
            <a:tailEnd type="none" w="med" len="med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64" name="矩形 163"/>
          <p:cNvSpPr/>
          <p:nvPr/>
        </p:nvSpPr>
        <p:spPr>
          <a:xfrm>
            <a:off x="10217620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60%</a:t>
            </a:r>
            <a:endParaRPr lang="zh-CN" altLang="en-US" sz="1200" dirty="0"/>
          </a:p>
        </p:txBody>
      </p:sp>
      <p:sp>
        <p:nvSpPr>
          <p:cNvPr id="49" name="矩形 48"/>
          <p:cNvSpPr/>
          <p:nvPr/>
        </p:nvSpPr>
        <p:spPr>
          <a:xfrm>
            <a:off x="0" y="6999004"/>
            <a:ext cx="12192000" cy="1038508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" name="矩形 49"/>
          <p:cNvSpPr/>
          <p:nvPr/>
        </p:nvSpPr>
        <p:spPr>
          <a:xfrm>
            <a:off x="3173564" y="7126797"/>
            <a:ext cx="2986408" cy="259604"/>
          </a:xfrm>
          <a:prstGeom prst="rect">
            <a:avLst/>
          </a:prstGeom>
          <a:solidFill>
            <a:srgbClr val="33CC33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" name="矩形 50"/>
          <p:cNvSpPr/>
          <p:nvPr/>
        </p:nvSpPr>
        <p:spPr>
          <a:xfrm>
            <a:off x="2442556" y="7494245"/>
            <a:ext cx="6533764" cy="259604"/>
          </a:xfrm>
          <a:prstGeom prst="rect">
            <a:avLst/>
          </a:prstGeom>
          <a:solidFill>
            <a:schemeClr val="accent2">
              <a:lumMod val="60000"/>
              <a:lumOff val="40000"/>
              <a:alpha val="49804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矩形 51"/>
          <p:cNvSpPr/>
          <p:nvPr/>
        </p:nvSpPr>
        <p:spPr>
          <a:xfrm>
            <a:off x="263351" y="6999364"/>
            <a:ext cx="11665296" cy="7875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itchFamily="2" charset="2"/>
              <a:buChar char="n"/>
            </a:pPr>
            <a:r>
              <a:rPr lang="zh-CN" altLang="en-US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结合缓震</a:t>
            </a:r>
            <a:r>
              <a: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G</a:t>
            </a:r>
            <a:r>
              <a:rPr lang="zh-CN" altLang="en-US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值</a:t>
            </a:r>
            <a:r>
              <a: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&amp;</a:t>
            </a:r>
            <a:r>
              <a:rPr lang="zh-CN" altLang="en-US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回弹率来看，锋刺</a:t>
            </a:r>
            <a:r>
              <a: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7pro</a:t>
            </a:r>
            <a:r>
              <a:rPr lang="zh-CN" altLang="en-US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整体缓震与回弹上较优，仅次于且略低于锋刺</a:t>
            </a:r>
            <a:r>
              <a: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6pro</a:t>
            </a:r>
            <a:r>
              <a:rPr lang="zh-CN" altLang="en-US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、驭帅</a:t>
            </a:r>
            <a:r>
              <a: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14boom</a:t>
            </a:r>
            <a:r>
              <a:rPr lang="zh-CN" altLang="en-US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。仅从该项指标来看，可以初步得出，爆米花材料所提供的缓震、回弹效果运用在篮球鞋上略优于其他缓震材料。</a:t>
            </a:r>
            <a:endParaRPr lang="en-US" altLang="zh-CN" sz="1600" b="1" dirty="0">
              <a:solidFill>
                <a:schemeClr val="bg1"/>
              </a:solidFill>
              <a:latin typeface="微软雅黑" pitchFamily="34" charset="-122"/>
              <a:ea typeface="微软雅黑" pitchFamily="34" charset="-122"/>
            </a:endParaRPr>
          </a:p>
        </p:txBody>
      </p:sp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文本框 19"/>
          <p:cNvSpPr txBox="1"/>
          <p:nvPr/>
        </p:nvSpPr>
        <p:spPr>
          <a:xfrm>
            <a:off x="262961" y="113947"/>
            <a:ext cx="4809683" cy="40011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t">
            <a:spAutoFit/>
          </a:bodyPr>
          <a:lstStyle/>
          <a:p>
            <a:pPr marL="342900" indent="-342900">
              <a:buFont typeface="Wingdings" pitchFamily="2" charset="2"/>
              <a:buChar char="Ø"/>
            </a:pPr>
            <a:r>
              <a:rPr lang="zh-CN" altLang="en-US" sz="2000" b="1" dirty="0">
                <a:solidFill>
                  <a:schemeClr val="bg1"/>
                </a:solidFill>
                <a:latin typeface="微软雅黑" charset="-122"/>
                <a:ea typeface="微软雅黑" charset="-122"/>
                <a:sym typeface="+mn-ea"/>
              </a:rPr>
              <a:t>测试数据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【</a:t>
            </a:r>
            <a:r>
              <a:rPr lang="en-US" altLang="zh-CN" b="1" dirty="0"/>
              <a:t>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</a:rPr>
              <a:t>essential data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】---</a:t>
            </a:r>
            <a:r>
              <a:rPr lang="zh-CN" altLang="en-US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弯折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&amp;</a:t>
            </a:r>
            <a:r>
              <a:rPr lang="zh-CN" altLang="en-US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扭转</a:t>
            </a:r>
          </a:p>
        </p:txBody>
      </p:sp>
      <p:cxnSp>
        <p:nvCxnSpPr>
          <p:cNvPr id="22" name="直接箭头连接符 21"/>
          <p:cNvCxnSpPr/>
          <p:nvPr/>
        </p:nvCxnSpPr>
        <p:spPr>
          <a:xfrm>
            <a:off x="488901" y="5365016"/>
            <a:ext cx="10836000" cy="0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矩形 22"/>
          <p:cNvSpPr/>
          <p:nvPr/>
        </p:nvSpPr>
        <p:spPr>
          <a:xfrm>
            <a:off x="10055299" y="5370040"/>
            <a:ext cx="1082348" cy="30777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抗弯折性能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sp>
        <p:nvSpPr>
          <p:cNvPr id="41" name="矩形 40"/>
          <p:cNvSpPr/>
          <p:nvPr/>
        </p:nvSpPr>
        <p:spPr>
          <a:xfrm>
            <a:off x="490439" y="4771046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4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51" name="矩形 50"/>
          <p:cNvSpPr/>
          <p:nvPr/>
        </p:nvSpPr>
        <p:spPr>
          <a:xfrm>
            <a:off x="930474" y="5339311"/>
            <a:ext cx="37542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….</a:t>
            </a:r>
            <a:endParaRPr lang="zh-CN" altLang="en-US" sz="1200" dirty="0"/>
          </a:p>
        </p:txBody>
      </p:sp>
      <p:sp>
        <p:nvSpPr>
          <p:cNvPr id="52" name="矩形 51"/>
          <p:cNvSpPr/>
          <p:nvPr/>
        </p:nvSpPr>
        <p:spPr>
          <a:xfrm>
            <a:off x="32505" y="1332153"/>
            <a:ext cx="723275" cy="52322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pPr algn="ctr"/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抗扭转</a:t>
            </a:r>
            <a:endParaRPr lang="en-US" altLang="zh-CN" sz="1400" b="1" dirty="0">
              <a:solidFill>
                <a:schemeClr val="bg1"/>
              </a:solidFill>
              <a:latin typeface="微软雅黑" charset="-122"/>
              <a:ea typeface="微软雅黑" charset="-122"/>
            </a:endParaRPr>
          </a:p>
          <a:p>
            <a:pPr algn="ctr"/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性能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sp>
        <p:nvSpPr>
          <p:cNvPr id="63" name="矩形 62"/>
          <p:cNvSpPr/>
          <p:nvPr/>
        </p:nvSpPr>
        <p:spPr>
          <a:xfrm>
            <a:off x="11280576" y="5220811"/>
            <a:ext cx="77617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单位：</a:t>
            </a:r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N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64" name="矩形 63"/>
          <p:cNvSpPr/>
          <p:nvPr/>
        </p:nvSpPr>
        <p:spPr>
          <a:xfrm>
            <a:off x="688445" y="914379"/>
            <a:ext cx="100219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单位：</a:t>
            </a:r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N*m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89" name="直接箭头连接符 88"/>
          <p:cNvCxnSpPr/>
          <p:nvPr/>
        </p:nvCxnSpPr>
        <p:spPr>
          <a:xfrm flipV="1">
            <a:off x="773875" y="1179474"/>
            <a:ext cx="0" cy="4356000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" name="右箭头 6"/>
          <p:cNvSpPr/>
          <p:nvPr/>
        </p:nvSpPr>
        <p:spPr>
          <a:xfrm>
            <a:off x="773875" y="4882877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右箭头 92"/>
          <p:cNvSpPr/>
          <p:nvPr/>
        </p:nvSpPr>
        <p:spPr>
          <a:xfrm>
            <a:off x="773875" y="4467054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右箭头 93"/>
          <p:cNvSpPr/>
          <p:nvPr/>
        </p:nvSpPr>
        <p:spPr>
          <a:xfrm>
            <a:off x="773875" y="4059197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右箭头 96"/>
          <p:cNvSpPr/>
          <p:nvPr/>
        </p:nvSpPr>
        <p:spPr>
          <a:xfrm>
            <a:off x="773875" y="3671949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右箭头 98"/>
          <p:cNvSpPr/>
          <p:nvPr/>
        </p:nvSpPr>
        <p:spPr>
          <a:xfrm>
            <a:off x="773875" y="3282394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右箭头 99"/>
          <p:cNvSpPr/>
          <p:nvPr/>
        </p:nvSpPr>
        <p:spPr>
          <a:xfrm>
            <a:off x="773875" y="2895146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右箭头 100"/>
          <p:cNvSpPr/>
          <p:nvPr/>
        </p:nvSpPr>
        <p:spPr>
          <a:xfrm>
            <a:off x="773875" y="2495178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右箭头 103"/>
          <p:cNvSpPr/>
          <p:nvPr/>
        </p:nvSpPr>
        <p:spPr>
          <a:xfrm>
            <a:off x="773875" y="2117455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右箭头 104"/>
          <p:cNvSpPr/>
          <p:nvPr/>
        </p:nvSpPr>
        <p:spPr>
          <a:xfrm>
            <a:off x="774188" y="1732457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" name="直接箭头连接符 8"/>
          <p:cNvCxnSpPr/>
          <p:nvPr/>
        </p:nvCxnSpPr>
        <p:spPr>
          <a:xfrm flipV="1">
            <a:off x="1495877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7" name="直接箭头连接符 106"/>
          <p:cNvCxnSpPr/>
          <p:nvPr/>
        </p:nvCxnSpPr>
        <p:spPr>
          <a:xfrm flipV="1">
            <a:off x="2046772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8" name="直接箭头连接符 107"/>
          <p:cNvCxnSpPr/>
          <p:nvPr/>
        </p:nvCxnSpPr>
        <p:spPr>
          <a:xfrm flipV="1">
            <a:off x="2542439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0" name="直接箭头连接符 109"/>
          <p:cNvCxnSpPr/>
          <p:nvPr/>
        </p:nvCxnSpPr>
        <p:spPr>
          <a:xfrm flipV="1">
            <a:off x="3046495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1" name="直接箭头连接符 110"/>
          <p:cNvCxnSpPr/>
          <p:nvPr/>
        </p:nvCxnSpPr>
        <p:spPr>
          <a:xfrm flipV="1">
            <a:off x="3622559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2" name="直接箭头连接符 111"/>
          <p:cNvCxnSpPr/>
          <p:nvPr/>
        </p:nvCxnSpPr>
        <p:spPr>
          <a:xfrm flipV="1">
            <a:off x="4155190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3" name="直接箭头连接符 112"/>
          <p:cNvCxnSpPr/>
          <p:nvPr/>
        </p:nvCxnSpPr>
        <p:spPr>
          <a:xfrm flipV="1">
            <a:off x="4659246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4" name="直接箭头连接符 113"/>
          <p:cNvCxnSpPr/>
          <p:nvPr/>
        </p:nvCxnSpPr>
        <p:spPr>
          <a:xfrm flipV="1">
            <a:off x="5197210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5" name="直接箭头连接符 114"/>
          <p:cNvCxnSpPr/>
          <p:nvPr/>
        </p:nvCxnSpPr>
        <p:spPr>
          <a:xfrm flipV="1">
            <a:off x="5773274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6" name="直接箭头连接符 115"/>
          <p:cNvCxnSpPr/>
          <p:nvPr/>
        </p:nvCxnSpPr>
        <p:spPr>
          <a:xfrm flipV="1">
            <a:off x="6277330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7" name="直接箭头连接符 116"/>
          <p:cNvCxnSpPr/>
          <p:nvPr/>
        </p:nvCxnSpPr>
        <p:spPr>
          <a:xfrm flipV="1">
            <a:off x="6781386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8" name="直接箭头连接符 117"/>
          <p:cNvCxnSpPr/>
          <p:nvPr/>
        </p:nvCxnSpPr>
        <p:spPr>
          <a:xfrm flipV="1">
            <a:off x="7357450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9" name="直接箭头连接符 118"/>
          <p:cNvCxnSpPr/>
          <p:nvPr/>
        </p:nvCxnSpPr>
        <p:spPr>
          <a:xfrm flipV="1">
            <a:off x="7861506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0" name="直接箭头连接符 119"/>
          <p:cNvCxnSpPr/>
          <p:nvPr/>
        </p:nvCxnSpPr>
        <p:spPr>
          <a:xfrm flipV="1">
            <a:off x="8341179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1" name="直接箭头连接符 120"/>
          <p:cNvCxnSpPr/>
          <p:nvPr/>
        </p:nvCxnSpPr>
        <p:spPr>
          <a:xfrm flipV="1">
            <a:off x="8845235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2" name="直接箭头连接符 121"/>
          <p:cNvCxnSpPr/>
          <p:nvPr/>
        </p:nvCxnSpPr>
        <p:spPr>
          <a:xfrm flipV="1">
            <a:off x="9349291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23" name="矩形 122"/>
          <p:cNvSpPr/>
          <p:nvPr/>
        </p:nvSpPr>
        <p:spPr>
          <a:xfrm>
            <a:off x="1308967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10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124" name="直接箭头连接符 123"/>
          <p:cNvCxnSpPr/>
          <p:nvPr/>
        </p:nvCxnSpPr>
        <p:spPr>
          <a:xfrm flipV="1">
            <a:off x="9806508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25" name="矩形 124"/>
          <p:cNvSpPr/>
          <p:nvPr/>
        </p:nvSpPr>
        <p:spPr>
          <a:xfrm>
            <a:off x="1876729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11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26" name="矩形 125"/>
          <p:cNvSpPr/>
          <p:nvPr/>
        </p:nvSpPr>
        <p:spPr>
          <a:xfrm>
            <a:off x="2353710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12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27" name="矩形 126"/>
          <p:cNvSpPr/>
          <p:nvPr/>
        </p:nvSpPr>
        <p:spPr>
          <a:xfrm>
            <a:off x="2874633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13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28" name="矩形 127"/>
          <p:cNvSpPr/>
          <p:nvPr/>
        </p:nvSpPr>
        <p:spPr>
          <a:xfrm>
            <a:off x="3411123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14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29" name="矩形 128"/>
          <p:cNvSpPr/>
          <p:nvPr/>
        </p:nvSpPr>
        <p:spPr>
          <a:xfrm>
            <a:off x="3960621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15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0" name="矩形 129"/>
          <p:cNvSpPr/>
          <p:nvPr/>
        </p:nvSpPr>
        <p:spPr>
          <a:xfrm>
            <a:off x="4512154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16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1" name="矩形 130"/>
          <p:cNvSpPr/>
          <p:nvPr/>
        </p:nvSpPr>
        <p:spPr>
          <a:xfrm>
            <a:off x="4994977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17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2" name="矩形 131"/>
          <p:cNvSpPr/>
          <p:nvPr/>
        </p:nvSpPr>
        <p:spPr>
          <a:xfrm>
            <a:off x="5591779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18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3" name="矩形 132"/>
          <p:cNvSpPr/>
          <p:nvPr/>
        </p:nvSpPr>
        <p:spPr>
          <a:xfrm>
            <a:off x="6112702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19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4" name="矩形 133"/>
          <p:cNvSpPr/>
          <p:nvPr/>
        </p:nvSpPr>
        <p:spPr>
          <a:xfrm>
            <a:off x="6694452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20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5" name="矩形 134"/>
          <p:cNvSpPr/>
          <p:nvPr/>
        </p:nvSpPr>
        <p:spPr>
          <a:xfrm>
            <a:off x="7204194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21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6" name="矩形 135"/>
          <p:cNvSpPr/>
          <p:nvPr/>
        </p:nvSpPr>
        <p:spPr>
          <a:xfrm>
            <a:off x="7720985" y="5426864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22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7" name="矩形 136"/>
          <p:cNvSpPr/>
          <p:nvPr/>
        </p:nvSpPr>
        <p:spPr>
          <a:xfrm>
            <a:off x="8211949" y="5426864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23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8" name="矩形 137"/>
          <p:cNvSpPr/>
          <p:nvPr/>
        </p:nvSpPr>
        <p:spPr>
          <a:xfrm>
            <a:off x="8702895" y="5426864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24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9" name="矩形 138"/>
          <p:cNvSpPr/>
          <p:nvPr/>
        </p:nvSpPr>
        <p:spPr>
          <a:xfrm>
            <a:off x="9126742" y="5426864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25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0" name="矩形 139"/>
          <p:cNvSpPr/>
          <p:nvPr/>
        </p:nvSpPr>
        <p:spPr>
          <a:xfrm>
            <a:off x="490439" y="4374272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1" name="矩形 140"/>
          <p:cNvSpPr/>
          <p:nvPr/>
        </p:nvSpPr>
        <p:spPr>
          <a:xfrm>
            <a:off x="490439" y="3968692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6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2" name="矩形 141"/>
          <p:cNvSpPr/>
          <p:nvPr/>
        </p:nvSpPr>
        <p:spPr>
          <a:xfrm>
            <a:off x="490439" y="3581443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7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3" name="矩形 142"/>
          <p:cNvSpPr/>
          <p:nvPr/>
        </p:nvSpPr>
        <p:spPr>
          <a:xfrm>
            <a:off x="490439" y="3167458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8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4" name="矩形 143"/>
          <p:cNvSpPr/>
          <p:nvPr/>
        </p:nvSpPr>
        <p:spPr>
          <a:xfrm>
            <a:off x="499964" y="2785399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9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5" name="矩形 144"/>
          <p:cNvSpPr/>
          <p:nvPr/>
        </p:nvSpPr>
        <p:spPr>
          <a:xfrm>
            <a:off x="427559" y="2379537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10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6" name="矩形 145"/>
          <p:cNvSpPr/>
          <p:nvPr/>
        </p:nvSpPr>
        <p:spPr>
          <a:xfrm>
            <a:off x="427559" y="1988840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11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8" name="矩形 147"/>
          <p:cNvSpPr/>
          <p:nvPr/>
        </p:nvSpPr>
        <p:spPr>
          <a:xfrm rot="5400000">
            <a:off x="495238" y="4994461"/>
            <a:ext cx="332142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…</a:t>
            </a:r>
            <a:endParaRPr lang="zh-CN" altLang="en-US" sz="1200" dirty="0"/>
          </a:p>
        </p:txBody>
      </p:sp>
      <p:grpSp>
        <p:nvGrpSpPr>
          <p:cNvPr id="2" name="组合 1"/>
          <p:cNvGrpSpPr/>
          <p:nvPr/>
        </p:nvGrpSpPr>
        <p:grpSpPr>
          <a:xfrm>
            <a:off x="60014" y="6993572"/>
            <a:ext cx="12192000" cy="1038508"/>
            <a:chOff x="0" y="6957392"/>
            <a:chExt cx="12192000" cy="1038508"/>
          </a:xfrm>
        </p:grpSpPr>
        <p:sp>
          <p:nvSpPr>
            <p:cNvPr id="103" name="矩形 102"/>
            <p:cNvSpPr/>
            <p:nvPr/>
          </p:nvSpPr>
          <p:spPr>
            <a:xfrm>
              <a:off x="0" y="6957392"/>
              <a:ext cx="12192000" cy="1038508"/>
            </a:xfrm>
            <a:prstGeom prst="rect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矩形 105"/>
            <p:cNvSpPr/>
            <p:nvPr/>
          </p:nvSpPr>
          <p:spPr>
            <a:xfrm>
              <a:off x="2609100" y="7538524"/>
              <a:ext cx="5003608" cy="259604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49804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" name="矩形 108"/>
            <p:cNvSpPr/>
            <p:nvPr/>
          </p:nvSpPr>
          <p:spPr>
            <a:xfrm>
              <a:off x="3410258" y="7142709"/>
              <a:ext cx="4218968" cy="259604"/>
            </a:xfrm>
            <a:prstGeom prst="rect">
              <a:avLst/>
            </a:prstGeom>
            <a:solidFill>
              <a:srgbClr val="33CC33">
                <a:alpha val="49804"/>
              </a:srgb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" name="矩形 156"/>
            <p:cNvSpPr/>
            <p:nvPr/>
          </p:nvSpPr>
          <p:spPr>
            <a:xfrm>
              <a:off x="192982" y="7032277"/>
              <a:ext cx="11665296" cy="83099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Wingdings" pitchFamily="2" charset="2"/>
                <a:buChar char="n"/>
              </a:pP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结合弯折力值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&amp;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扭转力矩来看，次轮测试锋刺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7pro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整体的刚性略弱于锋刺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6pro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，但当球鞋在</a:t>
              </a:r>
              <a:r>
                <a:rPr lang="zh-CN" altLang="en-US" sz="1600" b="1" u="sng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鞋</a:t>
              </a:r>
              <a:r>
                <a:rPr lang="en-US" altLang="zh-CN" sz="1600" b="1" u="sng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-</a:t>
              </a:r>
              <a:r>
                <a:rPr lang="zh-CN" altLang="en-US" sz="1600" b="1" u="sng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脚一体性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优秀的情况下，刚性偏弱也并非是坏事，虽整体推进力有所下降，但能在很大程度上降低驾驭门槛。</a:t>
              </a:r>
              <a:endPara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</p:grpSp>
      <p:cxnSp>
        <p:nvCxnSpPr>
          <p:cNvPr id="160" name="直接箭头连接符 159"/>
          <p:cNvCxnSpPr/>
          <p:nvPr/>
        </p:nvCxnSpPr>
        <p:spPr>
          <a:xfrm flipV="1">
            <a:off x="10382572" y="5268186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5" name="矩形 164"/>
          <p:cNvSpPr/>
          <p:nvPr/>
        </p:nvSpPr>
        <p:spPr>
          <a:xfrm>
            <a:off x="9620101" y="5417519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26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0" name="直接箭头连接符 59"/>
          <p:cNvCxnSpPr/>
          <p:nvPr/>
        </p:nvCxnSpPr>
        <p:spPr>
          <a:xfrm>
            <a:off x="823225" y="856457"/>
            <a:ext cx="0" cy="4680520"/>
          </a:xfrm>
          <a:prstGeom prst="straightConnector1">
            <a:avLst/>
          </a:prstGeom>
          <a:noFill/>
          <a:ln w="38100" cap="flat">
            <a:solidFill>
              <a:srgbClr val="D82540"/>
            </a:solidFill>
            <a:prstDash val="solid"/>
            <a:round/>
            <a:tailEnd type="triangle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20" name="文本框 19"/>
          <p:cNvSpPr txBox="1"/>
          <p:nvPr/>
        </p:nvSpPr>
        <p:spPr>
          <a:xfrm>
            <a:off x="263351" y="188640"/>
            <a:ext cx="4910542" cy="40011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t">
            <a:spAutoFit/>
          </a:bodyPr>
          <a:lstStyle/>
          <a:p>
            <a:pPr marL="342900" indent="-342900">
              <a:buFont typeface="Wingdings" pitchFamily="2" charset="2"/>
              <a:buChar char="Ø"/>
            </a:pPr>
            <a:r>
              <a:rPr lang="zh-CN" altLang="en-US" sz="2000" b="1" dirty="0">
                <a:solidFill>
                  <a:schemeClr val="bg1"/>
                </a:solidFill>
                <a:latin typeface="微软雅黑" charset="-122"/>
                <a:ea typeface="微软雅黑" charset="-122"/>
                <a:sym typeface="+mn-ea"/>
              </a:rPr>
              <a:t>测试数据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【</a:t>
            </a:r>
            <a:r>
              <a:rPr lang="en-US" altLang="zh-CN" b="1" dirty="0"/>
              <a:t>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</a:rPr>
              <a:t>essential data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】---</a:t>
            </a:r>
            <a:r>
              <a:rPr lang="zh-CN" altLang="en-US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减震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&amp;</a:t>
            </a:r>
            <a:r>
              <a:rPr lang="zh-CN" altLang="en-US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回弹</a:t>
            </a:r>
          </a:p>
        </p:txBody>
      </p:sp>
      <p:cxnSp>
        <p:nvCxnSpPr>
          <p:cNvPr id="62" name="直接箭头连接符 61"/>
          <p:cNvCxnSpPr/>
          <p:nvPr/>
        </p:nvCxnSpPr>
        <p:spPr>
          <a:xfrm>
            <a:off x="479376" y="1000473"/>
            <a:ext cx="11448000" cy="0"/>
          </a:xfrm>
          <a:prstGeom prst="straightConnector1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65" name="矩形 64"/>
          <p:cNvSpPr/>
          <p:nvPr/>
        </p:nvSpPr>
        <p:spPr>
          <a:xfrm>
            <a:off x="108739" y="5032921"/>
            <a:ext cx="723275" cy="30777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缓震性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10989349" y="692696"/>
            <a:ext cx="723275" cy="30777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回弹性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sp>
        <p:nvSpPr>
          <p:cNvPr id="70" name="矩形 69"/>
          <p:cNvSpPr/>
          <p:nvPr/>
        </p:nvSpPr>
        <p:spPr>
          <a:xfrm>
            <a:off x="551384" y="759155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0</a:t>
            </a:r>
            <a:endParaRPr lang="zh-CN" altLang="en-US" sz="1200" dirty="0"/>
          </a:p>
        </p:txBody>
      </p:sp>
      <p:cxnSp>
        <p:nvCxnSpPr>
          <p:cNvPr id="13" name="直接连接符 12"/>
          <p:cNvCxnSpPr/>
          <p:nvPr/>
        </p:nvCxnSpPr>
        <p:spPr>
          <a:xfrm>
            <a:off x="1487488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直接连接符 74"/>
          <p:cNvCxnSpPr/>
          <p:nvPr/>
        </p:nvCxnSpPr>
        <p:spPr>
          <a:xfrm>
            <a:off x="2127354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6" name="直接连接符 75"/>
          <p:cNvCxnSpPr/>
          <p:nvPr/>
        </p:nvCxnSpPr>
        <p:spPr>
          <a:xfrm>
            <a:off x="2756129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7" name="直接连接符 76"/>
          <p:cNvCxnSpPr/>
          <p:nvPr/>
        </p:nvCxnSpPr>
        <p:spPr>
          <a:xfrm>
            <a:off x="3409383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3" name="直接连接符 82"/>
          <p:cNvCxnSpPr/>
          <p:nvPr/>
        </p:nvCxnSpPr>
        <p:spPr>
          <a:xfrm>
            <a:off x="4099290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4" name="直接连接符 83"/>
          <p:cNvCxnSpPr/>
          <p:nvPr/>
        </p:nvCxnSpPr>
        <p:spPr>
          <a:xfrm>
            <a:off x="4724479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5" name="直接连接符 84"/>
          <p:cNvCxnSpPr/>
          <p:nvPr/>
        </p:nvCxnSpPr>
        <p:spPr>
          <a:xfrm>
            <a:off x="5363409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6" name="直接连接符 85"/>
          <p:cNvCxnSpPr/>
          <p:nvPr/>
        </p:nvCxnSpPr>
        <p:spPr>
          <a:xfrm>
            <a:off x="6046226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7" name="直接连接符 86"/>
          <p:cNvCxnSpPr/>
          <p:nvPr/>
        </p:nvCxnSpPr>
        <p:spPr>
          <a:xfrm>
            <a:off x="6714723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9" name="直接连接符 88"/>
          <p:cNvCxnSpPr/>
          <p:nvPr/>
        </p:nvCxnSpPr>
        <p:spPr>
          <a:xfrm>
            <a:off x="7407937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/>
          <p:cNvCxnSpPr/>
          <p:nvPr/>
        </p:nvCxnSpPr>
        <p:spPr>
          <a:xfrm>
            <a:off x="852626" y="1648545"/>
            <a:ext cx="72008" cy="0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3" name="直接连接符 92"/>
          <p:cNvCxnSpPr/>
          <p:nvPr/>
        </p:nvCxnSpPr>
        <p:spPr>
          <a:xfrm>
            <a:off x="852626" y="2296617"/>
            <a:ext cx="72008" cy="0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4" name="直接连接符 93"/>
          <p:cNvCxnSpPr/>
          <p:nvPr/>
        </p:nvCxnSpPr>
        <p:spPr>
          <a:xfrm>
            <a:off x="852626" y="2944689"/>
            <a:ext cx="72008" cy="0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5" name="直接连接符 94"/>
          <p:cNvCxnSpPr/>
          <p:nvPr/>
        </p:nvCxnSpPr>
        <p:spPr>
          <a:xfrm>
            <a:off x="852626" y="3592761"/>
            <a:ext cx="72008" cy="0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9" name="直接连接符 98"/>
          <p:cNvCxnSpPr/>
          <p:nvPr/>
        </p:nvCxnSpPr>
        <p:spPr>
          <a:xfrm>
            <a:off x="861544" y="4221088"/>
            <a:ext cx="72008" cy="0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0" name="直接连接符 99"/>
          <p:cNvCxnSpPr/>
          <p:nvPr/>
        </p:nvCxnSpPr>
        <p:spPr>
          <a:xfrm>
            <a:off x="887097" y="4888905"/>
            <a:ext cx="72008" cy="0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01" name="矩形 100"/>
          <p:cNvSpPr/>
          <p:nvPr/>
        </p:nvSpPr>
        <p:spPr>
          <a:xfrm>
            <a:off x="1266796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46%</a:t>
            </a:r>
            <a:endParaRPr lang="zh-CN" altLang="en-US" sz="1200" dirty="0"/>
          </a:p>
        </p:txBody>
      </p:sp>
      <p:cxnSp>
        <p:nvCxnSpPr>
          <p:cNvPr id="105" name="直接连接符 104"/>
          <p:cNvCxnSpPr/>
          <p:nvPr/>
        </p:nvCxnSpPr>
        <p:spPr>
          <a:xfrm>
            <a:off x="8094827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6" name="直接连接符 105"/>
          <p:cNvCxnSpPr/>
          <p:nvPr/>
        </p:nvCxnSpPr>
        <p:spPr>
          <a:xfrm>
            <a:off x="8804866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07" name="矩形 106"/>
          <p:cNvSpPr/>
          <p:nvPr/>
        </p:nvSpPr>
        <p:spPr>
          <a:xfrm>
            <a:off x="1878350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47%</a:t>
            </a:r>
            <a:endParaRPr lang="zh-CN" altLang="en-US" sz="1200" dirty="0"/>
          </a:p>
        </p:txBody>
      </p:sp>
      <p:sp>
        <p:nvSpPr>
          <p:cNvPr id="108" name="矩形 107"/>
          <p:cNvSpPr/>
          <p:nvPr/>
        </p:nvSpPr>
        <p:spPr>
          <a:xfrm>
            <a:off x="2516148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48%</a:t>
            </a:r>
            <a:endParaRPr lang="zh-CN" altLang="en-US" sz="1200" dirty="0"/>
          </a:p>
        </p:txBody>
      </p:sp>
      <p:sp>
        <p:nvSpPr>
          <p:cNvPr id="109" name="矩形 108"/>
          <p:cNvSpPr/>
          <p:nvPr/>
        </p:nvSpPr>
        <p:spPr>
          <a:xfrm>
            <a:off x="3153946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49%</a:t>
            </a:r>
            <a:endParaRPr lang="zh-CN" altLang="en-US" sz="1200" dirty="0"/>
          </a:p>
        </p:txBody>
      </p:sp>
      <p:sp>
        <p:nvSpPr>
          <p:cNvPr id="110" name="矩形 109"/>
          <p:cNvSpPr/>
          <p:nvPr/>
        </p:nvSpPr>
        <p:spPr>
          <a:xfrm>
            <a:off x="3841046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50%</a:t>
            </a:r>
            <a:endParaRPr lang="zh-CN" altLang="en-US" sz="1200" dirty="0"/>
          </a:p>
        </p:txBody>
      </p:sp>
      <p:sp>
        <p:nvSpPr>
          <p:cNvPr id="111" name="矩形 110"/>
          <p:cNvSpPr/>
          <p:nvPr/>
        </p:nvSpPr>
        <p:spPr>
          <a:xfrm>
            <a:off x="4499392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51%</a:t>
            </a:r>
            <a:endParaRPr lang="zh-CN" altLang="en-US" sz="1200" dirty="0"/>
          </a:p>
        </p:txBody>
      </p:sp>
      <p:sp>
        <p:nvSpPr>
          <p:cNvPr id="112" name="矩形 111"/>
          <p:cNvSpPr/>
          <p:nvPr/>
        </p:nvSpPr>
        <p:spPr>
          <a:xfrm>
            <a:off x="5139348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52%</a:t>
            </a:r>
            <a:endParaRPr lang="zh-CN" altLang="en-US" sz="1200" dirty="0"/>
          </a:p>
        </p:txBody>
      </p:sp>
      <p:sp>
        <p:nvSpPr>
          <p:cNvPr id="113" name="矩形 112"/>
          <p:cNvSpPr/>
          <p:nvPr/>
        </p:nvSpPr>
        <p:spPr>
          <a:xfrm>
            <a:off x="5807968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53%</a:t>
            </a:r>
            <a:endParaRPr lang="zh-CN" altLang="en-US" sz="1200" dirty="0"/>
          </a:p>
        </p:txBody>
      </p:sp>
      <p:sp>
        <p:nvSpPr>
          <p:cNvPr id="114" name="矩形 113"/>
          <p:cNvSpPr/>
          <p:nvPr/>
        </p:nvSpPr>
        <p:spPr>
          <a:xfrm>
            <a:off x="6455950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54%</a:t>
            </a:r>
            <a:endParaRPr lang="zh-CN" altLang="en-US" sz="1200" dirty="0"/>
          </a:p>
        </p:txBody>
      </p:sp>
      <p:sp>
        <p:nvSpPr>
          <p:cNvPr id="115" name="矩形 114"/>
          <p:cNvSpPr/>
          <p:nvPr/>
        </p:nvSpPr>
        <p:spPr>
          <a:xfrm>
            <a:off x="7165846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55%</a:t>
            </a:r>
            <a:endParaRPr lang="zh-CN" altLang="en-US" sz="1200" dirty="0"/>
          </a:p>
        </p:txBody>
      </p:sp>
      <p:sp>
        <p:nvSpPr>
          <p:cNvPr id="116" name="矩形 115"/>
          <p:cNvSpPr/>
          <p:nvPr/>
        </p:nvSpPr>
        <p:spPr>
          <a:xfrm>
            <a:off x="7832488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56%</a:t>
            </a:r>
            <a:endParaRPr lang="zh-CN" altLang="en-US" sz="1200" dirty="0"/>
          </a:p>
        </p:txBody>
      </p:sp>
      <p:sp>
        <p:nvSpPr>
          <p:cNvPr id="118" name="矩形 117"/>
          <p:cNvSpPr/>
          <p:nvPr/>
        </p:nvSpPr>
        <p:spPr>
          <a:xfrm>
            <a:off x="560171" y="4720242"/>
            <a:ext cx="429665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6</a:t>
            </a:r>
            <a:endParaRPr lang="zh-CN" altLang="en-US" sz="1200" dirty="0"/>
          </a:p>
        </p:txBody>
      </p:sp>
      <p:sp>
        <p:nvSpPr>
          <p:cNvPr id="119" name="矩形 118"/>
          <p:cNvSpPr/>
          <p:nvPr/>
        </p:nvSpPr>
        <p:spPr>
          <a:xfrm>
            <a:off x="688151" y="5542493"/>
            <a:ext cx="301686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G</a:t>
            </a:r>
            <a:endParaRPr lang="zh-CN" altLang="en-US" sz="1200" dirty="0"/>
          </a:p>
        </p:txBody>
      </p:sp>
      <p:sp>
        <p:nvSpPr>
          <p:cNvPr id="120" name="矩形 119"/>
          <p:cNvSpPr/>
          <p:nvPr/>
        </p:nvSpPr>
        <p:spPr>
          <a:xfrm>
            <a:off x="11879072" y="865526"/>
            <a:ext cx="32733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%</a:t>
            </a:r>
            <a:endParaRPr lang="zh-CN" altLang="en-US" sz="1200" dirty="0"/>
          </a:p>
        </p:txBody>
      </p:sp>
      <p:sp>
        <p:nvSpPr>
          <p:cNvPr id="121" name="矩形 120"/>
          <p:cNvSpPr/>
          <p:nvPr/>
        </p:nvSpPr>
        <p:spPr>
          <a:xfrm>
            <a:off x="560171" y="4102333"/>
            <a:ext cx="429665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7</a:t>
            </a:r>
            <a:endParaRPr lang="zh-CN" altLang="en-US" sz="1200" dirty="0"/>
          </a:p>
        </p:txBody>
      </p:sp>
      <p:sp>
        <p:nvSpPr>
          <p:cNvPr id="122" name="矩形 121"/>
          <p:cNvSpPr/>
          <p:nvPr/>
        </p:nvSpPr>
        <p:spPr>
          <a:xfrm>
            <a:off x="532020" y="3471957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8</a:t>
            </a:r>
            <a:endParaRPr lang="zh-CN" altLang="en-US" sz="1200" dirty="0"/>
          </a:p>
        </p:txBody>
      </p:sp>
      <p:sp>
        <p:nvSpPr>
          <p:cNvPr id="123" name="矩形 122"/>
          <p:cNvSpPr/>
          <p:nvPr/>
        </p:nvSpPr>
        <p:spPr>
          <a:xfrm>
            <a:off x="511472" y="2823667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9</a:t>
            </a:r>
            <a:endParaRPr lang="zh-CN" altLang="en-US" sz="1200" dirty="0"/>
          </a:p>
        </p:txBody>
      </p:sp>
      <p:sp>
        <p:nvSpPr>
          <p:cNvPr id="124" name="矩形 123"/>
          <p:cNvSpPr/>
          <p:nvPr/>
        </p:nvSpPr>
        <p:spPr>
          <a:xfrm>
            <a:off x="448464" y="2184306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10</a:t>
            </a:r>
            <a:endParaRPr lang="zh-CN" altLang="en-US" sz="1200" dirty="0"/>
          </a:p>
        </p:txBody>
      </p:sp>
      <p:sp>
        <p:nvSpPr>
          <p:cNvPr id="125" name="矩形 124"/>
          <p:cNvSpPr/>
          <p:nvPr/>
        </p:nvSpPr>
        <p:spPr>
          <a:xfrm>
            <a:off x="449828" y="1515626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11</a:t>
            </a:r>
            <a:endParaRPr lang="zh-CN" altLang="en-US" sz="1200" dirty="0"/>
          </a:p>
        </p:txBody>
      </p:sp>
      <p:sp>
        <p:nvSpPr>
          <p:cNvPr id="126" name="矩形 125"/>
          <p:cNvSpPr/>
          <p:nvPr/>
        </p:nvSpPr>
        <p:spPr>
          <a:xfrm>
            <a:off x="923101" y="757413"/>
            <a:ext cx="37542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….</a:t>
            </a:r>
            <a:endParaRPr lang="zh-CN" altLang="en-US" sz="1200" dirty="0"/>
          </a:p>
        </p:txBody>
      </p:sp>
      <p:sp>
        <p:nvSpPr>
          <p:cNvPr id="127" name="矩形 126"/>
          <p:cNvSpPr/>
          <p:nvPr/>
        </p:nvSpPr>
        <p:spPr>
          <a:xfrm rot="16200000">
            <a:off x="489528" y="1184794"/>
            <a:ext cx="37542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….</a:t>
            </a:r>
            <a:endParaRPr lang="zh-CN" altLang="en-US" sz="1200" dirty="0"/>
          </a:p>
        </p:txBody>
      </p:sp>
      <p:sp>
        <p:nvSpPr>
          <p:cNvPr id="164" name="矩形 163"/>
          <p:cNvSpPr/>
          <p:nvPr/>
        </p:nvSpPr>
        <p:spPr>
          <a:xfrm>
            <a:off x="8554546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57%</a:t>
            </a:r>
            <a:endParaRPr lang="zh-CN" altLang="en-US" sz="1200" dirty="0"/>
          </a:p>
        </p:txBody>
      </p:sp>
      <p:sp>
        <p:nvSpPr>
          <p:cNvPr id="49" name="矩形 48"/>
          <p:cNvSpPr/>
          <p:nvPr/>
        </p:nvSpPr>
        <p:spPr>
          <a:xfrm>
            <a:off x="0" y="6999004"/>
            <a:ext cx="12192000" cy="1038508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" name="矩形 49"/>
          <p:cNvSpPr/>
          <p:nvPr/>
        </p:nvSpPr>
        <p:spPr>
          <a:xfrm>
            <a:off x="3173564" y="7126797"/>
            <a:ext cx="2986408" cy="259604"/>
          </a:xfrm>
          <a:prstGeom prst="rect">
            <a:avLst/>
          </a:prstGeom>
          <a:solidFill>
            <a:srgbClr val="33CC33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" name="矩形 50"/>
          <p:cNvSpPr/>
          <p:nvPr/>
        </p:nvSpPr>
        <p:spPr>
          <a:xfrm>
            <a:off x="2442556" y="7494245"/>
            <a:ext cx="6533764" cy="259604"/>
          </a:xfrm>
          <a:prstGeom prst="rect">
            <a:avLst/>
          </a:prstGeom>
          <a:solidFill>
            <a:schemeClr val="accent2">
              <a:lumMod val="60000"/>
              <a:lumOff val="40000"/>
              <a:alpha val="49804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矩形 51"/>
          <p:cNvSpPr/>
          <p:nvPr/>
        </p:nvSpPr>
        <p:spPr>
          <a:xfrm>
            <a:off x="263351" y="6999364"/>
            <a:ext cx="11665296" cy="7875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itchFamily="2" charset="2"/>
              <a:buChar char="n"/>
            </a:pPr>
            <a:r>
              <a:rPr lang="zh-CN" altLang="en-US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结合缓震</a:t>
            </a:r>
            <a:r>
              <a: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G</a:t>
            </a:r>
            <a:r>
              <a:rPr lang="zh-CN" altLang="en-US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值</a:t>
            </a:r>
            <a:r>
              <a: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&amp;</a:t>
            </a:r>
            <a:r>
              <a:rPr lang="zh-CN" altLang="en-US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回弹率来看，锋刺</a:t>
            </a:r>
            <a:r>
              <a: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7pro</a:t>
            </a:r>
            <a:r>
              <a:rPr lang="zh-CN" altLang="en-US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整体缓震与回弹上较优，仅次于且略低于锋刺</a:t>
            </a:r>
            <a:r>
              <a: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6pro</a:t>
            </a:r>
            <a:r>
              <a:rPr lang="zh-CN" altLang="en-US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、驭帅</a:t>
            </a:r>
            <a:r>
              <a: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14boom</a:t>
            </a:r>
            <a:r>
              <a:rPr lang="zh-CN" altLang="en-US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。仅从该项指标来看，可以初步得出，爆米花材料所提供的缓震、回弹效果运用在篮球鞋上略优于其他缓震材料。</a:t>
            </a:r>
            <a:endParaRPr lang="en-US" altLang="zh-CN" sz="1600" b="1" dirty="0">
              <a:solidFill>
                <a:schemeClr val="bg1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cxnSp>
        <p:nvCxnSpPr>
          <p:cNvPr id="53" name="直接连接符 52"/>
          <p:cNvCxnSpPr/>
          <p:nvPr/>
        </p:nvCxnSpPr>
        <p:spPr>
          <a:xfrm>
            <a:off x="9437704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/>
          <p:cNvCxnSpPr/>
          <p:nvPr/>
        </p:nvCxnSpPr>
        <p:spPr>
          <a:xfrm>
            <a:off x="10065318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5" name="直接连接符 54"/>
          <p:cNvCxnSpPr/>
          <p:nvPr/>
        </p:nvCxnSpPr>
        <p:spPr>
          <a:xfrm>
            <a:off x="10735554" y="104302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6" name="直接连接符 55"/>
          <p:cNvCxnSpPr/>
          <p:nvPr/>
        </p:nvCxnSpPr>
        <p:spPr>
          <a:xfrm>
            <a:off x="11352584" y="1060358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7" name="矩形 56"/>
          <p:cNvSpPr/>
          <p:nvPr/>
        </p:nvSpPr>
        <p:spPr>
          <a:xfrm>
            <a:off x="9231372" y="739852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58%</a:t>
            </a:r>
            <a:endParaRPr lang="zh-CN" altLang="en-US" sz="1200" dirty="0"/>
          </a:p>
        </p:txBody>
      </p:sp>
      <p:sp>
        <p:nvSpPr>
          <p:cNvPr id="58" name="矩形 57"/>
          <p:cNvSpPr/>
          <p:nvPr/>
        </p:nvSpPr>
        <p:spPr>
          <a:xfrm>
            <a:off x="9879444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59%</a:t>
            </a:r>
            <a:endParaRPr lang="zh-CN" altLang="en-US" sz="1200" dirty="0"/>
          </a:p>
        </p:txBody>
      </p:sp>
      <p:sp>
        <p:nvSpPr>
          <p:cNvPr id="59" name="矩形 58"/>
          <p:cNvSpPr/>
          <p:nvPr/>
        </p:nvSpPr>
        <p:spPr>
          <a:xfrm>
            <a:off x="10476056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60%</a:t>
            </a:r>
            <a:endParaRPr lang="zh-CN" altLang="en-US" sz="1200" dirty="0"/>
          </a:p>
        </p:txBody>
      </p:sp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文本框 19"/>
          <p:cNvSpPr txBox="1"/>
          <p:nvPr/>
        </p:nvSpPr>
        <p:spPr>
          <a:xfrm>
            <a:off x="262961" y="113947"/>
            <a:ext cx="4809683" cy="40011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t">
            <a:spAutoFit/>
          </a:bodyPr>
          <a:lstStyle/>
          <a:p>
            <a:pPr marL="342900" indent="-342900">
              <a:buFont typeface="Wingdings" pitchFamily="2" charset="2"/>
              <a:buChar char="Ø"/>
            </a:pPr>
            <a:r>
              <a:rPr lang="zh-CN" altLang="en-US" sz="2000" b="1" dirty="0">
                <a:solidFill>
                  <a:schemeClr val="bg1"/>
                </a:solidFill>
                <a:latin typeface="微软雅黑" charset="-122"/>
                <a:ea typeface="微软雅黑" charset="-122"/>
                <a:sym typeface="+mn-ea"/>
              </a:rPr>
              <a:t>测试数据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【</a:t>
            </a:r>
            <a:r>
              <a:rPr lang="en-US" altLang="zh-CN" b="1" dirty="0"/>
              <a:t>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</a:rPr>
              <a:t>essential data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】---</a:t>
            </a:r>
            <a:r>
              <a:rPr lang="zh-CN" altLang="en-US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弯折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&amp;</a:t>
            </a:r>
            <a:r>
              <a:rPr lang="zh-CN" altLang="en-US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扭转</a:t>
            </a:r>
          </a:p>
        </p:txBody>
      </p:sp>
      <p:cxnSp>
        <p:nvCxnSpPr>
          <p:cNvPr id="22" name="直接箭头连接符 21"/>
          <p:cNvCxnSpPr/>
          <p:nvPr/>
        </p:nvCxnSpPr>
        <p:spPr>
          <a:xfrm>
            <a:off x="488901" y="5365016"/>
            <a:ext cx="10836000" cy="0"/>
          </a:xfrm>
          <a:prstGeom prst="straightConnector1">
            <a:avLst/>
          </a:prstGeom>
          <a:ln>
            <a:solidFill>
              <a:schemeClr val="accent6">
                <a:lumMod val="75000"/>
                <a:lumOff val="25000"/>
              </a:schemeClr>
            </a:solidFill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矩形 22"/>
          <p:cNvSpPr/>
          <p:nvPr/>
        </p:nvSpPr>
        <p:spPr>
          <a:xfrm>
            <a:off x="10055299" y="5370040"/>
            <a:ext cx="1082348" cy="30777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抗弯折性能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sp>
        <p:nvSpPr>
          <p:cNvPr id="41" name="矩形 40"/>
          <p:cNvSpPr/>
          <p:nvPr/>
        </p:nvSpPr>
        <p:spPr>
          <a:xfrm>
            <a:off x="490439" y="4822416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51" name="矩形 50"/>
          <p:cNvSpPr/>
          <p:nvPr/>
        </p:nvSpPr>
        <p:spPr>
          <a:xfrm>
            <a:off x="930474" y="5339311"/>
            <a:ext cx="37542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….</a:t>
            </a:r>
            <a:endParaRPr lang="zh-CN" altLang="en-US" sz="1200" dirty="0"/>
          </a:p>
        </p:txBody>
      </p:sp>
      <p:sp>
        <p:nvSpPr>
          <p:cNvPr id="52" name="矩形 51"/>
          <p:cNvSpPr/>
          <p:nvPr/>
        </p:nvSpPr>
        <p:spPr>
          <a:xfrm>
            <a:off x="32505" y="1332153"/>
            <a:ext cx="723275" cy="52322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pPr algn="ctr"/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抗扭转</a:t>
            </a:r>
            <a:endParaRPr lang="en-US" altLang="zh-CN" sz="1400" b="1" dirty="0">
              <a:solidFill>
                <a:schemeClr val="bg1"/>
              </a:solidFill>
              <a:latin typeface="微软雅黑" charset="-122"/>
              <a:ea typeface="微软雅黑" charset="-122"/>
            </a:endParaRPr>
          </a:p>
          <a:p>
            <a:pPr algn="ctr"/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性能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sp>
        <p:nvSpPr>
          <p:cNvPr id="63" name="矩形 62"/>
          <p:cNvSpPr/>
          <p:nvPr/>
        </p:nvSpPr>
        <p:spPr>
          <a:xfrm>
            <a:off x="11280576" y="5220811"/>
            <a:ext cx="77617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单位：</a:t>
            </a:r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N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64" name="矩形 63"/>
          <p:cNvSpPr/>
          <p:nvPr/>
        </p:nvSpPr>
        <p:spPr>
          <a:xfrm>
            <a:off x="688445" y="914379"/>
            <a:ext cx="100219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单位：</a:t>
            </a:r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N*m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89" name="直接箭头连接符 88"/>
          <p:cNvCxnSpPr/>
          <p:nvPr/>
        </p:nvCxnSpPr>
        <p:spPr>
          <a:xfrm flipV="1">
            <a:off x="773875" y="1200022"/>
            <a:ext cx="0" cy="4356000"/>
          </a:xfrm>
          <a:prstGeom prst="straightConnector1">
            <a:avLst/>
          </a:prstGeom>
          <a:ln>
            <a:solidFill>
              <a:srgbClr val="D82540"/>
            </a:solidFill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" name="右箭头 6"/>
          <p:cNvSpPr/>
          <p:nvPr/>
        </p:nvSpPr>
        <p:spPr>
          <a:xfrm>
            <a:off x="773875" y="4934247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右箭头 92"/>
          <p:cNvSpPr/>
          <p:nvPr/>
        </p:nvSpPr>
        <p:spPr>
          <a:xfrm>
            <a:off x="773875" y="4497876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右箭头 93"/>
          <p:cNvSpPr/>
          <p:nvPr/>
        </p:nvSpPr>
        <p:spPr>
          <a:xfrm>
            <a:off x="773875" y="4069471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右箭头 96"/>
          <p:cNvSpPr/>
          <p:nvPr/>
        </p:nvSpPr>
        <p:spPr>
          <a:xfrm>
            <a:off x="773875" y="3651401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右箭头 98"/>
          <p:cNvSpPr/>
          <p:nvPr/>
        </p:nvSpPr>
        <p:spPr>
          <a:xfrm>
            <a:off x="773875" y="3241298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右箭头 99"/>
          <p:cNvSpPr/>
          <p:nvPr/>
        </p:nvSpPr>
        <p:spPr>
          <a:xfrm>
            <a:off x="773875" y="2823228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右箭头 100"/>
          <p:cNvSpPr/>
          <p:nvPr/>
        </p:nvSpPr>
        <p:spPr>
          <a:xfrm>
            <a:off x="773875" y="2423260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右箭头 103"/>
          <p:cNvSpPr/>
          <p:nvPr/>
        </p:nvSpPr>
        <p:spPr>
          <a:xfrm>
            <a:off x="773875" y="2014715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" name="直接箭头连接符 8"/>
          <p:cNvCxnSpPr/>
          <p:nvPr/>
        </p:nvCxnSpPr>
        <p:spPr>
          <a:xfrm flipV="1">
            <a:off x="1495877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7" name="直接箭头连接符 106"/>
          <p:cNvCxnSpPr/>
          <p:nvPr/>
        </p:nvCxnSpPr>
        <p:spPr>
          <a:xfrm flipV="1">
            <a:off x="2046772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8" name="直接箭头连接符 107"/>
          <p:cNvCxnSpPr/>
          <p:nvPr/>
        </p:nvCxnSpPr>
        <p:spPr>
          <a:xfrm flipV="1">
            <a:off x="2542439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0" name="直接箭头连接符 109"/>
          <p:cNvCxnSpPr/>
          <p:nvPr/>
        </p:nvCxnSpPr>
        <p:spPr>
          <a:xfrm flipV="1">
            <a:off x="3077317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1" name="直接箭头连接符 110"/>
          <p:cNvCxnSpPr/>
          <p:nvPr/>
        </p:nvCxnSpPr>
        <p:spPr>
          <a:xfrm flipV="1">
            <a:off x="3622559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2" name="直接箭头连接符 111"/>
          <p:cNvCxnSpPr/>
          <p:nvPr/>
        </p:nvCxnSpPr>
        <p:spPr>
          <a:xfrm flipV="1">
            <a:off x="4155190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3" name="直接箭头连接符 112"/>
          <p:cNvCxnSpPr/>
          <p:nvPr/>
        </p:nvCxnSpPr>
        <p:spPr>
          <a:xfrm flipV="1">
            <a:off x="4679794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4" name="直接箭头连接符 113"/>
          <p:cNvCxnSpPr/>
          <p:nvPr/>
        </p:nvCxnSpPr>
        <p:spPr>
          <a:xfrm flipV="1">
            <a:off x="5197210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5" name="直接箭头连接符 114"/>
          <p:cNvCxnSpPr/>
          <p:nvPr/>
        </p:nvCxnSpPr>
        <p:spPr>
          <a:xfrm flipV="1">
            <a:off x="5742452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6" name="直接箭头连接符 115"/>
          <p:cNvCxnSpPr/>
          <p:nvPr/>
        </p:nvCxnSpPr>
        <p:spPr>
          <a:xfrm flipV="1">
            <a:off x="6277330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7" name="直接箭头连接符 116"/>
          <p:cNvCxnSpPr/>
          <p:nvPr/>
        </p:nvCxnSpPr>
        <p:spPr>
          <a:xfrm flipV="1">
            <a:off x="6812208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8" name="直接箭头连接符 117"/>
          <p:cNvCxnSpPr/>
          <p:nvPr/>
        </p:nvCxnSpPr>
        <p:spPr>
          <a:xfrm flipV="1">
            <a:off x="7347176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9" name="直接箭头连接符 118"/>
          <p:cNvCxnSpPr/>
          <p:nvPr/>
        </p:nvCxnSpPr>
        <p:spPr>
          <a:xfrm flipV="1">
            <a:off x="7851232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0" name="直接箭头连接符 119"/>
          <p:cNvCxnSpPr/>
          <p:nvPr/>
        </p:nvCxnSpPr>
        <p:spPr>
          <a:xfrm flipV="1">
            <a:off x="8330905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1" name="直接箭头连接符 120"/>
          <p:cNvCxnSpPr/>
          <p:nvPr/>
        </p:nvCxnSpPr>
        <p:spPr>
          <a:xfrm flipV="1">
            <a:off x="8834961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2" name="直接箭头连接符 121"/>
          <p:cNvCxnSpPr/>
          <p:nvPr/>
        </p:nvCxnSpPr>
        <p:spPr>
          <a:xfrm flipV="1">
            <a:off x="9318469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4" name="直接箭头连接符 123"/>
          <p:cNvCxnSpPr/>
          <p:nvPr/>
        </p:nvCxnSpPr>
        <p:spPr>
          <a:xfrm flipV="1">
            <a:off x="9806508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25" name="矩形 124"/>
          <p:cNvSpPr/>
          <p:nvPr/>
        </p:nvSpPr>
        <p:spPr>
          <a:xfrm>
            <a:off x="1874009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12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26" name="矩形 125"/>
          <p:cNvSpPr/>
          <p:nvPr/>
        </p:nvSpPr>
        <p:spPr>
          <a:xfrm>
            <a:off x="2362630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13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27" name="矩形 126"/>
          <p:cNvSpPr/>
          <p:nvPr/>
        </p:nvSpPr>
        <p:spPr>
          <a:xfrm>
            <a:off x="2905455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14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28" name="矩形 127"/>
          <p:cNvSpPr/>
          <p:nvPr/>
        </p:nvSpPr>
        <p:spPr>
          <a:xfrm>
            <a:off x="3426363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15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29" name="矩形 128"/>
          <p:cNvSpPr/>
          <p:nvPr/>
        </p:nvSpPr>
        <p:spPr>
          <a:xfrm>
            <a:off x="3968241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16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0" name="矩形 129"/>
          <p:cNvSpPr/>
          <p:nvPr/>
        </p:nvSpPr>
        <p:spPr>
          <a:xfrm>
            <a:off x="4509842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17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1" name="矩形 130"/>
          <p:cNvSpPr/>
          <p:nvPr/>
        </p:nvSpPr>
        <p:spPr>
          <a:xfrm>
            <a:off x="5010217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18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2" name="矩形 131"/>
          <p:cNvSpPr/>
          <p:nvPr/>
        </p:nvSpPr>
        <p:spPr>
          <a:xfrm>
            <a:off x="5560957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19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3" name="矩形 132"/>
          <p:cNvSpPr/>
          <p:nvPr/>
        </p:nvSpPr>
        <p:spPr>
          <a:xfrm>
            <a:off x="6112702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20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4" name="矩形 133"/>
          <p:cNvSpPr/>
          <p:nvPr/>
        </p:nvSpPr>
        <p:spPr>
          <a:xfrm>
            <a:off x="6620604" y="5407124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21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5" name="矩形 134"/>
          <p:cNvSpPr/>
          <p:nvPr/>
        </p:nvSpPr>
        <p:spPr>
          <a:xfrm>
            <a:off x="7171060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22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6" name="矩形 135"/>
          <p:cNvSpPr/>
          <p:nvPr/>
        </p:nvSpPr>
        <p:spPr>
          <a:xfrm>
            <a:off x="7677522" y="5426864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23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7" name="矩形 136"/>
          <p:cNvSpPr/>
          <p:nvPr/>
        </p:nvSpPr>
        <p:spPr>
          <a:xfrm>
            <a:off x="8158718" y="5426864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24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8" name="矩形 137"/>
          <p:cNvSpPr/>
          <p:nvPr/>
        </p:nvSpPr>
        <p:spPr>
          <a:xfrm>
            <a:off x="8662774" y="5426864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25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9" name="矩形 138"/>
          <p:cNvSpPr/>
          <p:nvPr/>
        </p:nvSpPr>
        <p:spPr>
          <a:xfrm>
            <a:off x="9132502" y="5426864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26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0" name="矩形 139"/>
          <p:cNvSpPr/>
          <p:nvPr/>
        </p:nvSpPr>
        <p:spPr>
          <a:xfrm>
            <a:off x="490439" y="4405094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1" name="矩形 140"/>
          <p:cNvSpPr/>
          <p:nvPr/>
        </p:nvSpPr>
        <p:spPr>
          <a:xfrm>
            <a:off x="490439" y="3978966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3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2" name="矩形 141"/>
          <p:cNvSpPr/>
          <p:nvPr/>
        </p:nvSpPr>
        <p:spPr>
          <a:xfrm>
            <a:off x="490439" y="3560895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4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3" name="矩形 142"/>
          <p:cNvSpPr/>
          <p:nvPr/>
        </p:nvSpPr>
        <p:spPr>
          <a:xfrm>
            <a:off x="490439" y="3126362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4" name="矩形 143"/>
          <p:cNvSpPr/>
          <p:nvPr/>
        </p:nvSpPr>
        <p:spPr>
          <a:xfrm>
            <a:off x="499964" y="2713481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6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5" name="矩形 144"/>
          <p:cNvSpPr/>
          <p:nvPr/>
        </p:nvSpPr>
        <p:spPr>
          <a:xfrm>
            <a:off x="488164" y="2307619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7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6" name="矩形 145"/>
          <p:cNvSpPr/>
          <p:nvPr/>
        </p:nvSpPr>
        <p:spPr>
          <a:xfrm>
            <a:off x="488164" y="1906648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8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8" name="矩形 147"/>
          <p:cNvSpPr/>
          <p:nvPr/>
        </p:nvSpPr>
        <p:spPr>
          <a:xfrm rot="5400000">
            <a:off x="495238" y="5035557"/>
            <a:ext cx="332142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…</a:t>
            </a:r>
            <a:endParaRPr lang="zh-CN" altLang="en-US" sz="1200" dirty="0"/>
          </a:p>
        </p:txBody>
      </p:sp>
      <p:grpSp>
        <p:nvGrpSpPr>
          <p:cNvPr id="2" name="组合 1"/>
          <p:cNvGrpSpPr/>
          <p:nvPr/>
        </p:nvGrpSpPr>
        <p:grpSpPr>
          <a:xfrm>
            <a:off x="60014" y="6993572"/>
            <a:ext cx="12192000" cy="1038508"/>
            <a:chOff x="0" y="6957392"/>
            <a:chExt cx="12192000" cy="1038508"/>
          </a:xfrm>
        </p:grpSpPr>
        <p:sp>
          <p:nvSpPr>
            <p:cNvPr id="103" name="矩形 102"/>
            <p:cNvSpPr/>
            <p:nvPr/>
          </p:nvSpPr>
          <p:spPr>
            <a:xfrm>
              <a:off x="0" y="6957392"/>
              <a:ext cx="12192000" cy="1038508"/>
            </a:xfrm>
            <a:prstGeom prst="rect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矩形 105"/>
            <p:cNvSpPr/>
            <p:nvPr/>
          </p:nvSpPr>
          <p:spPr>
            <a:xfrm>
              <a:off x="2609100" y="7538524"/>
              <a:ext cx="5003608" cy="259604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49804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" name="矩形 108"/>
            <p:cNvSpPr/>
            <p:nvPr/>
          </p:nvSpPr>
          <p:spPr>
            <a:xfrm>
              <a:off x="3410258" y="7142709"/>
              <a:ext cx="4218968" cy="259604"/>
            </a:xfrm>
            <a:prstGeom prst="rect">
              <a:avLst/>
            </a:prstGeom>
            <a:solidFill>
              <a:srgbClr val="33CC33">
                <a:alpha val="49804"/>
              </a:srgb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" name="矩形 156"/>
            <p:cNvSpPr/>
            <p:nvPr/>
          </p:nvSpPr>
          <p:spPr>
            <a:xfrm>
              <a:off x="192982" y="7032277"/>
              <a:ext cx="11665296" cy="83099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Wingdings" pitchFamily="2" charset="2"/>
                <a:buChar char="n"/>
              </a:pP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结合弯折力值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&amp;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扭转力矩来看，次轮测试锋刺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7pro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整体的刚性略弱于锋刺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6pro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，但当球鞋在</a:t>
              </a:r>
              <a:r>
                <a:rPr lang="zh-CN" altLang="en-US" sz="1600" b="1" u="sng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鞋</a:t>
              </a:r>
              <a:r>
                <a:rPr lang="en-US" altLang="zh-CN" sz="1600" b="1" u="sng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-</a:t>
              </a:r>
              <a:r>
                <a:rPr lang="zh-CN" altLang="en-US" sz="1600" b="1" u="sng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脚一体性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优秀的情况下，刚性偏弱也并非是坏事，虽整体推进力有所下降，但能在很大程度上降低驾驭门槛。</a:t>
              </a:r>
              <a:endPara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</p:grpSp>
      <p:cxnSp>
        <p:nvCxnSpPr>
          <p:cNvPr id="160" name="直接箭头连接符 159"/>
          <p:cNvCxnSpPr/>
          <p:nvPr/>
        </p:nvCxnSpPr>
        <p:spPr>
          <a:xfrm flipV="1">
            <a:off x="10331202" y="5268186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5" name="矩形 164"/>
          <p:cNvSpPr/>
          <p:nvPr/>
        </p:nvSpPr>
        <p:spPr>
          <a:xfrm>
            <a:off x="9627721" y="5417519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27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70" name="右箭头 69"/>
          <p:cNvSpPr/>
          <p:nvPr/>
        </p:nvSpPr>
        <p:spPr>
          <a:xfrm>
            <a:off x="773875" y="1610785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" name="矩形 68"/>
          <p:cNvSpPr/>
          <p:nvPr/>
        </p:nvSpPr>
        <p:spPr>
          <a:xfrm>
            <a:off x="1238495" y="5421143"/>
            <a:ext cx="52070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11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191344" y="188640"/>
            <a:ext cx="902811" cy="52322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zh-CN" altLang="en-US" sz="28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总结</a:t>
            </a:r>
          </a:p>
        </p:txBody>
      </p:sp>
      <p:sp>
        <p:nvSpPr>
          <p:cNvPr id="10" name="矩形 9"/>
          <p:cNvSpPr/>
          <p:nvPr/>
        </p:nvSpPr>
        <p:spPr>
          <a:xfrm>
            <a:off x="407368" y="7304072"/>
            <a:ext cx="11305256" cy="26776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itchFamily="2" charset="2"/>
              <a:buChar char="Ø"/>
            </a:pPr>
            <a:r>
              <a:rPr lang="zh-CN" altLang="en-US" sz="1600" b="1" kern="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基础数据</a:t>
            </a:r>
            <a:r>
              <a:rPr lang="zh-CN" altLang="en-US" sz="1600" kern="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：</a:t>
            </a:r>
            <a:endParaRPr lang="en-US" altLang="zh-CN" sz="1600" kern="100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  <a:cs typeface="Times New Roman" pitchFamily="18" charset="0"/>
            </a:endParaRPr>
          </a:p>
          <a:p>
            <a:pPr marL="285750" indent="-285750">
              <a:lnSpc>
                <a:spcPct val="150000"/>
              </a:lnSpc>
              <a:buFont typeface="Wingdings" pitchFamily="2" charset="2"/>
              <a:buChar char="Ø"/>
            </a:pPr>
            <a:r>
              <a:rPr lang="zh-CN" altLang="en-US" sz="1600" b="1" kern="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生物力学数据</a:t>
            </a:r>
            <a:r>
              <a:rPr lang="zh-CN" altLang="en-US" sz="1600" kern="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：</a:t>
            </a:r>
            <a:endParaRPr lang="en-US" altLang="zh-CN" sz="1600" kern="100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  <a:cs typeface="Times New Roman" pitchFamily="18" charset="0"/>
            </a:endParaRPr>
          </a:p>
          <a:p>
            <a:pPr marL="285750" indent="-285750">
              <a:lnSpc>
                <a:spcPct val="150000"/>
              </a:lnSpc>
              <a:buFont typeface="Wingdings" pitchFamily="2" charset="2"/>
              <a:buChar char="Ø"/>
            </a:pPr>
            <a:r>
              <a:rPr lang="zh-CN" altLang="en-US" sz="1600" b="1" kern="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人体试穿</a:t>
            </a:r>
            <a:r>
              <a:rPr lang="zh-CN" altLang="en-US" sz="1600" kern="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：</a:t>
            </a:r>
            <a:endParaRPr lang="en-US" altLang="zh-CN" sz="1600" kern="100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  <a:cs typeface="Times New Roman" pitchFamily="18" charset="0"/>
            </a:endParaRPr>
          </a:p>
          <a:p>
            <a:pPr marL="285750" indent="-285750">
              <a:lnSpc>
                <a:spcPct val="150000"/>
              </a:lnSpc>
              <a:buFont typeface="Wingdings" pitchFamily="2" charset="2"/>
              <a:buChar char="Ø"/>
            </a:pPr>
            <a:r>
              <a:rPr lang="zh-CN" altLang="en-US" sz="1600" b="1" kern="100" dirty="0">
                <a:solidFill>
                  <a:srgbClr val="FF0000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建议</a:t>
            </a:r>
            <a:r>
              <a:rPr lang="zh-CN" altLang="en-US" sz="1600" kern="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：</a:t>
            </a:r>
            <a:r>
              <a:rPr lang="zh-CN" altLang="en-US" sz="16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（</a:t>
            </a:r>
            <a:r>
              <a:rPr lang="en-US" altLang="zh-CN" sz="16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1</a:t>
            </a:r>
            <a:r>
              <a:rPr lang="zh-CN" altLang="en-US" sz="16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） 文字描述</a:t>
            </a:r>
            <a:endParaRPr lang="en-US" altLang="zh-CN" sz="1600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16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               </a:t>
            </a:r>
            <a:r>
              <a:rPr lang="zh-CN" altLang="en-US" sz="16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（</a:t>
            </a:r>
            <a:r>
              <a:rPr lang="en-US" altLang="zh-CN" sz="16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2</a:t>
            </a:r>
            <a:r>
              <a:rPr lang="zh-CN" altLang="en-US" sz="16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）</a:t>
            </a:r>
            <a:endParaRPr lang="en-US" altLang="zh-CN" sz="1600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16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               </a:t>
            </a:r>
            <a:r>
              <a:rPr lang="zh-CN" altLang="en-US" sz="16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（</a:t>
            </a:r>
            <a:r>
              <a:rPr lang="en-US" altLang="zh-CN" sz="16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3</a:t>
            </a:r>
            <a:r>
              <a:rPr lang="zh-CN" altLang="en-US" sz="16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）</a:t>
            </a:r>
            <a:endParaRPr lang="en-US" altLang="zh-CN" sz="1600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1600" kern="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               </a:t>
            </a:r>
            <a:r>
              <a:rPr lang="zh-CN" altLang="en-US" sz="1600" kern="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（</a:t>
            </a:r>
            <a:r>
              <a:rPr lang="en-US" altLang="zh-CN" sz="1600" kern="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4</a:t>
            </a:r>
            <a:r>
              <a:rPr lang="zh-CN" altLang="en-US" sz="1600" kern="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）</a:t>
            </a:r>
            <a:endParaRPr lang="en-US" altLang="zh-CN" sz="1600" kern="100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  <a:cs typeface="Times New Roman" pitchFamily="18" charset="0"/>
            </a:endParaRPr>
          </a:p>
        </p:txBody>
      </p:sp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矩形 259"/>
          <p:cNvSpPr txBox="1"/>
          <p:nvPr/>
        </p:nvSpPr>
        <p:spPr>
          <a:xfrm>
            <a:off x="904309" y="2569883"/>
            <a:ext cx="6479835" cy="92333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>
              <a:spcBef>
                <a:spcPts val="1400"/>
              </a:spcBef>
              <a:defRPr sz="6000" b="1">
                <a:solidFill>
                  <a:srgbClr val="FFFFFF"/>
                </a:solidFill>
                <a:latin typeface="Avenir Next"/>
                <a:ea typeface="Avenir Next"/>
                <a:cs typeface="Avenir Next"/>
                <a:sym typeface="Avenir Next"/>
              </a:defRPr>
            </a:lvl1pPr>
          </a:lstStyle>
          <a:p>
            <a:r>
              <a:rPr dirty="0">
                <a:latin typeface="微软雅黑" pitchFamily="34" charset="-122"/>
                <a:ea typeface="微软雅黑" pitchFamily="34" charset="-122"/>
              </a:rPr>
              <a:t>THANK YOU</a:t>
            </a:r>
          </a:p>
        </p:txBody>
      </p:sp>
      <p:pic>
        <p:nvPicPr>
          <p:cNvPr id="645" name="Picture 3" descr="Picture 3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0583955" y="399810"/>
            <a:ext cx="1198866" cy="1126018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3" name="矩形 2"/>
          <p:cNvSpPr/>
          <p:nvPr/>
        </p:nvSpPr>
        <p:spPr>
          <a:xfrm>
            <a:off x="767080" y="5300980"/>
            <a:ext cx="3067685" cy="640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24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科技中心   </a:t>
            </a:r>
          </a:p>
        </p:txBody>
      </p:sp>
    </p:spTree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文本框 19"/>
          <p:cNvSpPr txBox="1"/>
          <p:nvPr/>
        </p:nvSpPr>
        <p:spPr>
          <a:xfrm>
            <a:off x="262961" y="113947"/>
            <a:ext cx="5890189" cy="40011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t">
            <a:spAutoFit/>
          </a:bodyPr>
          <a:lstStyle/>
          <a:p>
            <a:pPr marL="342900" indent="-342900">
              <a:buFont typeface="Wingdings" pitchFamily="2" charset="2"/>
              <a:buChar char="Ø"/>
            </a:pPr>
            <a:r>
              <a:rPr lang="zh-CN" altLang="en-US" sz="2000" b="1" dirty="0">
                <a:solidFill>
                  <a:schemeClr val="bg1"/>
                </a:solidFill>
                <a:latin typeface="微软雅黑" charset="-122"/>
                <a:ea typeface="微软雅黑" charset="-122"/>
                <a:sym typeface="+mn-ea"/>
              </a:rPr>
              <a:t>测试数据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【</a:t>
            </a:r>
            <a:r>
              <a:rPr lang="en-US" altLang="zh-CN" b="1" dirty="0"/>
              <a:t>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</a:rPr>
              <a:t>essential data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】--- </a:t>
            </a:r>
            <a:r>
              <a:rPr lang="zh-CN" altLang="en-US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步长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&amp; </a:t>
            </a:r>
            <a:r>
              <a:rPr lang="zh-CN" altLang="en-US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垂直重心振幅</a:t>
            </a:r>
          </a:p>
        </p:txBody>
      </p:sp>
      <p:cxnSp>
        <p:nvCxnSpPr>
          <p:cNvPr id="22" name="直接箭头连接符 21"/>
          <p:cNvCxnSpPr/>
          <p:nvPr/>
        </p:nvCxnSpPr>
        <p:spPr>
          <a:xfrm>
            <a:off x="488901" y="5365016"/>
            <a:ext cx="10836000" cy="0"/>
          </a:xfrm>
          <a:prstGeom prst="straightConnector1">
            <a:avLst/>
          </a:prstGeom>
          <a:ln>
            <a:solidFill>
              <a:schemeClr val="accent6">
                <a:lumMod val="75000"/>
                <a:lumOff val="25000"/>
              </a:schemeClr>
            </a:solidFill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1" name="矩形 50"/>
          <p:cNvSpPr/>
          <p:nvPr/>
        </p:nvSpPr>
        <p:spPr>
          <a:xfrm>
            <a:off x="930474" y="5339311"/>
            <a:ext cx="37542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….</a:t>
            </a:r>
            <a:endParaRPr lang="zh-CN" altLang="en-US" sz="1200" dirty="0"/>
          </a:p>
        </p:txBody>
      </p:sp>
      <p:sp>
        <p:nvSpPr>
          <p:cNvPr id="63" name="矩形 62"/>
          <p:cNvSpPr/>
          <p:nvPr/>
        </p:nvSpPr>
        <p:spPr>
          <a:xfrm>
            <a:off x="11280576" y="5220811"/>
            <a:ext cx="877163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单位：</a:t>
            </a:r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cm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64" name="矩形 63"/>
          <p:cNvSpPr/>
          <p:nvPr/>
        </p:nvSpPr>
        <p:spPr>
          <a:xfrm>
            <a:off x="688445" y="914379"/>
            <a:ext cx="877163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单位：</a:t>
            </a:r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cm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89" name="直接箭头连接符 88"/>
          <p:cNvCxnSpPr/>
          <p:nvPr/>
        </p:nvCxnSpPr>
        <p:spPr>
          <a:xfrm flipV="1">
            <a:off x="773875" y="1200022"/>
            <a:ext cx="0" cy="4356000"/>
          </a:xfrm>
          <a:prstGeom prst="straightConnector1">
            <a:avLst/>
          </a:prstGeom>
          <a:ln>
            <a:solidFill>
              <a:srgbClr val="D82540"/>
            </a:solidFill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48" name="矩形 147"/>
          <p:cNvSpPr/>
          <p:nvPr/>
        </p:nvSpPr>
        <p:spPr>
          <a:xfrm rot="5400000">
            <a:off x="495238" y="5035557"/>
            <a:ext cx="332142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…</a:t>
            </a:r>
            <a:endParaRPr lang="zh-CN" altLang="en-US" sz="1200" dirty="0"/>
          </a:p>
        </p:txBody>
      </p:sp>
      <p:grpSp>
        <p:nvGrpSpPr>
          <p:cNvPr id="2" name="组合 1"/>
          <p:cNvGrpSpPr/>
          <p:nvPr/>
        </p:nvGrpSpPr>
        <p:grpSpPr>
          <a:xfrm>
            <a:off x="60014" y="6993572"/>
            <a:ext cx="12192000" cy="1038508"/>
            <a:chOff x="0" y="6957392"/>
            <a:chExt cx="12192000" cy="1038508"/>
          </a:xfrm>
        </p:grpSpPr>
        <p:sp>
          <p:nvSpPr>
            <p:cNvPr id="103" name="矩形 102"/>
            <p:cNvSpPr/>
            <p:nvPr/>
          </p:nvSpPr>
          <p:spPr>
            <a:xfrm>
              <a:off x="0" y="6957392"/>
              <a:ext cx="12192000" cy="1038508"/>
            </a:xfrm>
            <a:prstGeom prst="rect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矩形 105"/>
            <p:cNvSpPr/>
            <p:nvPr/>
          </p:nvSpPr>
          <p:spPr>
            <a:xfrm>
              <a:off x="2609100" y="7538524"/>
              <a:ext cx="5003608" cy="259604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49804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" name="矩形 108"/>
            <p:cNvSpPr/>
            <p:nvPr/>
          </p:nvSpPr>
          <p:spPr>
            <a:xfrm>
              <a:off x="3410258" y="7142709"/>
              <a:ext cx="4218968" cy="259604"/>
            </a:xfrm>
            <a:prstGeom prst="rect">
              <a:avLst/>
            </a:prstGeom>
            <a:solidFill>
              <a:srgbClr val="33CC33">
                <a:alpha val="49804"/>
              </a:srgb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" name="矩形 156"/>
            <p:cNvSpPr/>
            <p:nvPr/>
          </p:nvSpPr>
          <p:spPr>
            <a:xfrm>
              <a:off x="192982" y="7032277"/>
              <a:ext cx="11665296" cy="83099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Wingdings" pitchFamily="2" charset="2"/>
                <a:buChar char="n"/>
              </a:pP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结合弯折力值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&amp;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扭转力矩来看，次轮测试锋刺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7pro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整体的刚性略弱于锋刺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6pro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，但当球鞋在</a:t>
              </a:r>
              <a:r>
                <a:rPr lang="zh-CN" altLang="en-US" sz="1600" b="1" u="sng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鞋</a:t>
              </a:r>
              <a:r>
                <a:rPr lang="en-US" altLang="zh-CN" sz="1600" b="1" u="sng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-</a:t>
              </a:r>
              <a:r>
                <a:rPr lang="zh-CN" altLang="en-US" sz="1600" b="1" u="sng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脚一体性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优秀的情况下，刚性偏弱也并非是坏事，虽整体推进力有所下降，但能在很大程度上降低驾驭门槛。</a:t>
              </a:r>
              <a:endPara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</p:grpSp>
      <p:sp>
        <p:nvSpPr>
          <p:cNvPr id="4" name="等腰三角形 3"/>
          <p:cNvSpPr/>
          <p:nvPr/>
        </p:nvSpPr>
        <p:spPr>
          <a:xfrm>
            <a:off x="1498600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等腰三角形 92"/>
          <p:cNvSpPr/>
          <p:nvPr/>
        </p:nvSpPr>
        <p:spPr>
          <a:xfrm>
            <a:off x="1498600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文本框 93"/>
          <p:cNvSpPr txBox="1"/>
          <p:nvPr/>
        </p:nvSpPr>
        <p:spPr>
          <a:xfrm>
            <a:off x="1282700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146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97" name="等腰三角形 96"/>
          <p:cNvSpPr/>
          <p:nvPr/>
        </p:nvSpPr>
        <p:spPr>
          <a:xfrm>
            <a:off x="2163536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文本框 98"/>
          <p:cNvSpPr txBox="1"/>
          <p:nvPr/>
        </p:nvSpPr>
        <p:spPr>
          <a:xfrm>
            <a:off x="1947636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147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00" name="等腰三角形 99"/>
          <p:cNvSpPr/>
          <p:nvPr/>
        </p:nvSpPr>
        <p:spPr>
          <a:xfrm>
            <a:off x="2828471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文本框 100"/>
          <p:cNvSpPr txBox="1"/>
          <p:nvPr/>
        </p:nvSpPr>
        <p:spPr>
          <a:xfrm>
            <a:off x="2612571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148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04" name="等腰三角形 103"/>
          <p:cNvSpPr/>
          <p:nvPr/>
        </p:nvSpPr>
        <p:spPr>
          <a:xfrm>
            <a:off x="3493407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文本框 106"/>
          <p:cNvSpPr txBox="1"/>
          <p:nvPr/>
        </p:nvSpPr>
        <p:spPr>
          <a:xfrm>
            <a:off x="3277507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149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08" name="等腰三角形 107"/>
          <p:cNvSpPr/>
          <p:nvPr/>
        </p:nvSpPr>
        <p:spPr>
          <a:xfrm>
            <a:off x="4158343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文本框 109"/>
          <p:cNvSpPr txBox="1"/>
          <p:nvPr/>
        </p:nvSpPr>
        <p:spPr>
          <a:xfrm>
            <a:off x="3942443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150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11" name="等腰三角形 110"/>
          <p:cNvSpPr/>
          <p:nvPr/>
        </p:nvSpPr>
        <p:spPr>
          <a:xfrm>
            <a:off x="4823278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" name="文本框 111"/>
          <p:cNvSpPr txBox="1"/>
          <p:nvPr/>
        </p:nvSpPr>
        <p:spPr>
          <a:xfrm>
            <a:off x="4607378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151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13" name="等腰三角形 112"/>
          <p:cNvSpPr/>
          <p:nvPr/>
        </p:nvSpPr>
        <p:spPr>
          <a:xfrm>
            <a:off x="5488214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文本框 113"/>
          <p:cNvSpPr txBox="1"/>
          <p:nvPr/>
        </p:nvSpPr>
        <p:spPr>
          <a:xfrm>
            <a:off x="5272314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152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15" name="等腰三角形 114"/>
          <p:cNvSpPr/>
          <p:nvPr/>
        </p:nvSpPr>
        <p:spPr>
          <a:xfrm>
            <a:off x="6153150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文本框 115"/>
          <p:cNvSpPr txBox="1"/>
          <p:nvPr/>
        </p:nvSpPr>
        <p:spPr>
          <a:xfrm>
            <a:off x="5937250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153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17" name="等腰三角形 116"/>
          <p:cNvSpPr/>
          <p:nvPr/>
        </p:nvSpPr>
        <p:spPr>
          <a:xfrm>
            <a:off x="6818085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" name="文本框 117"/>
          <p:cNvSpPr txBox="1"/>
          <p:nvPr/>
        </p:nvSpPr>
        <p:spPr>
          <a:xfrm>
            <a:off x="6602185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154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19" name="等腰三角形 118"/>
          <p:cNvSpPr/>
          <p:nvPr/>
        </p:nvSpPr>
        <p:spPr>
          <a:xfrm>
            <a:off x="7483022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" name="文本框 119"/>
          <p:cNvSpPr txBox="1"/>
          <p:nvPr/>
        </p:nvSpPr>
        <p:spPr>
          <a:xfrm>
            <a:off x="7267122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155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21" name="等腰三角形 120"/>
          <p:cNvSpPr/>
          <p:nvPr/>
        </p:nvSpPr>
        <p:spPr>
          <a:xfrm>
            <a:off x="8147957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文本框 121"/>
          <p:cNvSpPr txBox="1"/>
          <p:nvPr/>
        </p:nvSpPr>
        <p:spPr>
          <a:xfrm>
            <a:off x="7932057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156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24" name="等腰三角形 123"/>
          <p:cNvSpPr/>
          <p:nvPr/>
        </p:nvSpPr>
        <p:spPr>
          <a:xfrm>
            <a:off x="8812893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文本框 124"/>
          <p:cNvSpPr txBox="1"/>
          <p:nvPr/>
        </p:nvSpPr>
        <p:spPr>
          <a:xfrm>
            <a:off x="8596993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157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26" name="等腰三角形 125"/>
          <p:cNvSpPr/>
          <p:nvPr/>
        </p:nvSpPr>
        <p:spPr>
          <a:xfrm>
            <a:off x="9477828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文本框 126"/>
          <p:cNvSpPr txBox="1"/>
          <p:nvPr/>
        </p:nvSpPr>
        <p:spPr>
          <a:xfrm>
            <a:off x="9261928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158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28" name="等腰三角形 127"/>
          <p:cNvSpPr/>
          <p:nvPr/>
        </p:nvSpPr>
        <p:spPr>
          <a:xfrm>
            <a:off x="10142765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" name="文本框 128"/>
          <p:cNvSpPr txBox="1"/>
          <p:nvPr/>
        </p:nvSpPr>
        <p:spPr>
          <a:xfrm>
            <a:off x="9926865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159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30" name="等腰三角形 129"/>
          <p:cNvSpPr/>
          <p:nvPr/>
        </p:nvSpPr>
        <p:spPr>
          <a:xfrm>
            <a:off x="10807700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文本框 130"/>
          <p:cNvSpPr txBox="1"/>
          <p:nvPr/>
        </p:nvSpPr>
        <p:spPr>
          <a:xfrm>
            <a:off x="10591800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160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7" name="等腰三角形 6"/>
          <p:cNvSpPr/>
          <p:nvPr/>
        </p:nvSpPr>
        <p:spPr>
          <a:xfrm rot="5400000">
            <a:off x="774700" y="4889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等腰三角形 131"/>
          <p:cNvSpPr/>
          <p:nvPr/>
        </p:nvSpPr>
        <p:spPr>
          <a:xfrm rot="5400000">
            <a:off x="774700" y="4889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" name="文本框 132"/>
          <p:cNvSpPr txBox="1"/>
          <p:nvPr/>
        </p:nvSpPr>
        <p:spPr>
          <a:xfrm>
            <a:off x="330200" y="4762500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8.6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34" name="等腰三角形 133"/>
          <p:cNvSpPr/>
          <p:nvPr/>
        </p:nvSpPr>
        <p:spPr>
          <a:xfrm rot="5400000">
            <a:off x="774700" y="4633546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" name="文本框 134"/>
          <p:cNvSpPr txBox="1"/>
          <p:nvPr/>
        </p:nvSpPr>
        <p:spPr>
          <a:xfrm>
            <a:off x="330200" y="4506546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8.7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36" name="等腰三角形 135"/>
          <p:cNvSpPr/>
          <p:nvPr/>
        </p:nvSpPr>
        <p:spPr>
          <a:xfrm rot="5400000">
            <a:off x="774700" y="4377592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文本框 136"/>
          <p:cNvSpPr txBox="1"/>
          <p:nvPr/>
        </p:nvSpPr>
        <p:spPr>
          <a:xfrm>
            <a:off x="330200" y="4250592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8.8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38" name="等腰三角形 137"/>
          <p:cNvSpPr/>
          <p:nvPr/>
        </p:nvSpPr>
        <p:spPr>
          <a:xfrm rot="5400000">
            <a:off x="774700" y="4121638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文本框 138"/>
          <p:cNvSpPr txBox="1"/>
          <p:nvPr/>
        </p:nvSpPr>
        <p:spPr>
          <a:xfrm>
            <a:off x="330200" y="3994638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8.9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40" name="等腰三角形 139"/>
          <p:cNvSpPr/>
          <p:nvPr/>
        </p:nvSpPr>
        <p:spPr>
          <a:xfrm rot="5400000">
            <a:off x="774700" y="3865685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" name="文本框 140"/>
          <p:cNvSpPr txBox="1"/>
          <p:nvPr/>
        </p:nvSpPr>
        <p:spPr>
          <a:xfrm>
            <a:off x="330200" y="3738685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9.0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42" name="等腰三角形 141"/>
          <p:cNvSpPr/>
          <p:nvPr/>
        </p:nvSpPr>
        <p:spPr>
          <a:xfrm rot="5400000">
            <a:off x="774700" y="3609731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" name="文本框 142"/>
          <p:cNvSpPr txBox="1"/>
          <p:nvPr/>
        </p:nvSpPr>
        <p:spPr>
          <a:xfrm>
            <a:off x="330200" y="3482731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9.1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44" name="等腰三角形 143"/>
          <p:cNvSpPr/>
          <p:nvPr/>
        </p:nvSpPr>
        <p:spPr>
          <a:xfrm rot="5400000">
            <a:off x="774700" y="3353777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" name="文本框 144"/>
          <p:cNvSpPr txBox="1"/>
          <p:nvPr/>
        </p:nvSpPr>
        <p:spPr>
          <a:xfrm>
            <a:off x="330200" y="3226777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9.2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46" name="等腰三角形 145"/>
          <p:cNvSpPr/>
          <p:nvPr/>
        </p:nvSpPr>
        <p:spPr>
          <a:xfrm rot="5400000">
            <a:off x="774700" y="3097823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" name="文本框 159"/>
          <p:cNvSpPr txBox="1"/>
          <p:nvPr/>
        </p:nvSpPr>
        <p:spPr>
          <a:xfrm>
            <a:off x="330200" y="2970823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9.3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65" name="等腰三角形 164"/>
          <p:cNvSpPr/>
          <p:nvPr/>
        </p:nvSpPr>
        <p:spPr>
          <a:xfrm rot="5400000">
            <a:off x="774700" y="2841869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" name="文本框 181"/>
          <p:cNvSpPr txBox="1"/>
          <p:nvPr/>
        </p:nvSpPr>
        <p:spPr>
          <a:xfrm>
            <a:off x="330200" y="2714869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9.4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83" name="等腰三角形 182"/>
          <p:cNvSpPr/>
          <p:nvPr/>
        </p:nvSpPr>
        <p:spPr>
          <a:xfrm rot="5400000">
            <a:off x="774700" y="2585915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" name="文本框 183"/>
          <p:cNvSpPr txBox="1"/>
          <p:nvPr/>
        </p:nvSpPr>
        <p:spPr>
          <a:xfrm>
            <a:off x="330200" y="2458915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9.5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85" name="等腰三角形 184"/>
          <p:cNvSpPr/>
          <p:nvPr/>
        </p:nvSpPr>
        <p:spPr>
          <a:xfrm rot="5400000">
            <a:off x="774700" y="2329961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文本框 185"/>
          <p:cNvSpPr txBox="1"/>
          <p:nvPr/>
        </p:nvSpPr>
        <p:spPr>
          <a:xfrm>
            <a:off x="330200" y="2202961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9.6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87" name="等腰三角形 186"/>
          <p:cNvSpPr/>
          <p:nvPr/>
        </p:nvSpPr>
        <p:spPr>
          <a:xfrm rot="5400000">
            <a:off x="774700" y="2074008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文本框 187"/>
          <p:cNvSpPr txBox="1"/>
          <p:nvPr/>
        </p:nvSpPr>
        <p:spPr>
          <a:xfrm>
            <a:off x="330200" y="1947008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9.7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89" name="等腰三角形 188"/>
          <p:cNvSpPr/>
          <p:nvPr/>
        </p:nvSpPr>
        <p:spPr>
          <a:xfrm rot="5400000">
            <a:off x="774700" y="1818054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文本框 189"/>
          <p:cNvSpPr txBox="1"/>
          <p:nvPr/>
        </p:nvSpPr>
        <p:spPr>
          <a:xfrm>
            <a:off x="330200" y="1691054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9.8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91" name="等腰三角形 190"/>
          <p:cNvSpPr/>
          <p:nvPr/>
        </p:nvSpPr>
        <p:spPr>
          <a:xfrm rot="5400000">
            <a:off x="774700" y="15621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文本框 191"/>
          <p:cNvSpPr txBox="1"/>
          <p:nvPr/>
        </p:nvSpPr>
        <p:spPr>
          <a:xfrm>
            <a:off x="330200" y="1435100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9.9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10391168" y="5376331"/>
            <a:ext cx="792000" cy="30777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pPr algn="ctr"/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步长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sp>
        <p:nvSpPr>
          <p:cNvPr id="52" name="矩形 51"/>
          <p:cNvSpPr/>
          <p:nvPr/>
        </p:nvSpPr>
        <p:spPr>
          <a:xfrm>
            <a:off x="-9951" y="1332153"/>
            <a:ext cx="800219" cy="461665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pPr algn="ctr"/>
            <a:r>
              <a:rPr lang="zh-CN" altLang="en-US" sz="12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垂直重心</a:t>
            </a:r>
            <a:endParaRPr lang="en-US" altLang="zh-CN" sz="1200" b="1" dirty="0">
              <a:solidFill>
                <a:schemeClr val="bg1"/>
              </a:solidFill>
              <a:latin typeface="微软雅黑" charset="-122"/>
              <a:ea typeface="微软雅黑" charset="-122"/>
            </a:endParaRPr>
          </a:p>
          <a:p>
            <a:pPr algn="ctr"/>
            <a:r>
              <a:rPr lang="zh-CN" altLang="en-US" sz="12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振幅</a:t>
            </a:r>
            <a:endParaRPr lang="zh-CN" altLang="en-US" sz="12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文本框 19"/>
          <p:cNvSpPr txBox="1"/>
          <p:nvPr/>
        </p:nvSpPr>
        <p:spPr>
          <a:xfrm>
            <a:off x="262961" y="113947"/>
            <a:ext cx="5890189" cy="40011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t">
            <a:spAutoFit/>
          </a:bodyPr>
          <a:lstStyle/>
          <a:p>
            <a:pPr marL="342900" indent="-342900">
              <a:buFont typeface="Wingdings" pitchFamily="2" charset="2"/>
              <a:buChar char="Ø"/>
            </a:pPr>
            <a:r>
              <a:rPr lang="zh-CN" altLang="en-US" sz="2000" b="1" dirty="0">
                <a:solidFill>
                  <a:schemeClr val="bg1"/>
                </a:solidFill>
                <a:latin typeface="微软雅黑" charset="-122"/>
                <a:ea typeface="微软雅黑" charset="-122"/>
                <a:sym typeface="+mn-ea"/>
              </a:rPr>
              <a:t>测试数据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【</a:t>
            </a:r>
            <a:r>
              <a:rPr lang="en-US" altLang="zh-CN" b="1" dirty="0"/>
              <a:t>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</a:rPr>
              <a:t>essential data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】--- </a:t>
            </a:r>
            <a:r>
              <a:rPr lang="zh-CN" altLang="en-US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厚度与重量</a:t>
            </a:r>
          </a:p>
        </p:txBody>
      </p:sp>
      <p:cxnSp>
        <p:nvCxnSpPr>
          <p:cNvPr id="22" name="直接箭头连接符 21"/>
          <p:cNvCxnSpPr/>
          <p:nvPr/>
        </p:nvCxnSpPr>
        <p:spPr>
          <a:xfrm>
            <a:off x="488901" y="5365016"/>
            <a:ext cx="10836000" cy="0"/>
          </a:xfrm>
          <a:prstGeom prst="straightConnector1">
            <a:avLst/>
          </a:prstGeom>
          <a:ln>
            <a:solidFill>
              <a:schemeClr val="accent6">
                <a:lumMod val="75000"/>
                <a:lumOff val="25000"/>
              </a:schemeClr>
            </a:solidFill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1" name="矩形 50"/>
          <p:cNvSpPr/>
          <p:nvPr/>
        </p:nvSpPr>
        <p:spPr>
          <a:xfrm>
            <a:off x="930474" y="5339311"/>
            <a:ext cx="37542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….</a:t>
            </a:r>
            <a:endParaRPr lang="zh-CN" altLang="en-US" sz="1200" dirty="0"/>
          </a:p>
        </p:txBody>
      </p:sp>
      <p:sp>
        <p:nvSpPr>
          <p:cNvPr id="63" name="矩形 62"/>
          <p:cNvSpPr/>
          <p:nvPr/>
        </p:nvSpPr>
        <p:spPr>
          <a:xfrm>
            <a:off x="11280576" y="5220811"/>
            <a:ext cx="748923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单位：</a:t>
            </a:r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g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64" name="矩形 63"/>
          <p:cNvSpPr/>
          <p:nvPr/>
        </p:nvSpPr>
        <p:spPr>
          <a:xfrm>
            <a:off x="688445" y="914379"/>
            <a:ext cx="94769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单位：</a:t>
            </a:r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mm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89" name="直接箭头连接符 88"/>
          <p:cNvCxnSpPr/>
          <p:nvPr/>
        </p:nvCxnSpPr>
        <p:spPr>
          <a:xfrm flipV="1">
            <a:off x="773875" y="1200022"/>
            <a:ext cx="0" cy="4356000"/>
          </a:xfrm>
          <a:prstGeom prst="straightConnector1">
            <a:avLst/>
          </a:prstGeom>
          <a:ln>
            <a:solidFill>
              <a:srgbClr val="D82540"/>
            </a:solidFill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48" name="矩形 147"/>
          <p:cNvSpPr/>
          <p:nvPr/>
        </p:nvSpPr>
        <p:spPr>
          <a:xfrm rot="5400000">
            <a:off x="495238" y="5035557"/>
            <a:ext cx="332142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…</a:t>
            </a:r>
            <a:endParaRPr lang="zh-CN" altLang="en-US" sz="1200" dirty="0"/>
          </a:p>
        </p:txBody>
      </p:sp>
      <p:grpSp>
        <p:nvGrpSpPr>
          <p:cNvPr id="2" name="组合 1"/>
          <p:cNvGrpSpPr/>
          <p:nvPr/>
        </p:nvGrpSpPr>
        <p:grpSpPr>
          <a:xfrm>
            <a:off x="60014" y="6993572"/>
            <a:ext cx="12192000" cy="1038508"/>
            <a:chOff x="0" y="6957392"/>
            <a:chExt cx="12192000" cy="1038508"/>
          </a:xfrm>
        </p:grpSpPr>
        <p:sp>
          <p:nvSpPr>
            <p:cNvPr id="103" name="矩形 102"/>
            <p:cNvSpPr/>
            <p:nvPr/>
          </p:nvSpPr>
          <p:spPr>
            <a:xfrm>
              <a:off x="0" y="6957392"/>
              <a:ext cx="12192000" cy="1038508"/>
            </a:xfrm>
            <a:prstGeom prst="rect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矩形 105"/>
            <p:cNvSpPr/>
            <p:nvPr/>
          </p:nvSpPr>
          <p:spPr>
            <a:xfrm>
              <a:off x="2609100" y="7538524"/>
              <a:ext cx="5003608" cy="259604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49804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" name="矩形 108"/>
            <p:cNvSpPr/>
            <p:nvPr/>
          </p:nvSpPr>
          <p:spPr>
            <a:xfrm>
              <a:off x="3410258" y="7142709"/>
              <a:ext cx="4218968" cy="259604"/>
            </a:xfrm>
            <a:prstGeom prst="rect">
              <a:avLst/>
            </a:prstGeom>
            <a:solidFill>
              <a:srgbClr val="33CC33">
                <a:alpha val="49804"/>
              </a:srgb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" name="矩形 156"/>
            <p:cNvSpPr/>
            <p:nvPr/>
          </p:nvSpPr>
          <p:spPr>
            <a:xfrm>
              <a:off x="192982" y="7032277"/>
              <a:ext cx="11665296" cy="83099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Wingdings" pitchFamily="2" charset="2"/>
                <a:buChar char="n"/>
              </a:pP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结合弯折力值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&amp;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扭转力矩来看，次轮测试锋刺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7pro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整体的刚性略弱于锋刺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6pro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，但当球鞋在</a:t>
              </a:r>
              <a:r>
                <a:rPr lang="zh-CN" altLang="en-US" sz="1600" b="1" u="sng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鞋</a:t>
              </a:r>
              <a:r>
                <a:rPr lang="en-US" altLang="zh-CN" sz="1600" b="1" u="sng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-</a:t>
              </a:r>
              <a:r>
                <a:rPr lang="zh-CN" altLang="en-US" sz="1600" b="1" u="sng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脚一体性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优秀的情况下，刚性偏弱也并非是坏事，虽整体推进力有所下降，但能在很大程度上降低驾驭门槛。</a:t>
              </a:r>
              <a:endPara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</p:grpSp>
      <p:sp>
        <p:nvSpPr>
          <p:cNvPr id="52" name="矩形 51"/>
          <p:cNvSpPr/>
          <p:nvPr/>
        </p:nvSpPr>
        <p:spPr>
          <a:xfrm>
            <a:off x="235099" y="1332153"/>
            <a:ext cx="543739" cy="52322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pPr algn="ctr"/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鞋底</a:t>
            </a:r>
            <a:endParaRPr lang="en-US" altLang="zh-CN" sz="1400" b="1" dirty="0">
              <a:solidFill>
                <a:schemeClr val="bg1"/>
              </a:solidFill>
              <a:latin typeface="微软雅黑" charset="-122"/>
              <a:ea typeface="微软雅黑" charset="-122"/>
            </a:endParaRPr>
          </a:p>
          <a:p>
            <a:pPr algn="ctr"/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厚度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sp>
        <p:nvSpPr>
          <p:cNvPr id="3" name="等腰三角形 2"/>
          <p:cNvSpPr/>
          <p:nvPr/>
        </p:nvSpPr>
        <p:spPr>
          <a:xfrm>
            <a:off x="1498600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等腰三角形 78"/>
          <p:cNvSpPr/>
          <p:nvPr/>
        </p:nvSpPr>
        <p:spPr>
          <a:xfrm>
            <a:off x="1498600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" name="文本框 79"/>
          <p:cNvSpPr txBox="1"/>
          <p:nvPr/>
        </p:nvSpPr>
        <p:spPr>
          <a:xfrm>
            <a:off x="1282700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230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81" name="等腰三角形 80"/>
          <p:cNvSpPr/>
          <p:nvPr/>
        </p:nvSpPr>
        <p:spPr>
          <a:xfrm>
            <a:off x="1980105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文本框 81"/>
          <p:cNvSpPr txBox="1"/>
          <p:nvPr/>
        </p:nvSpPr>
        <p:spPr>
          <a:xfrm>
            <a:off x="1764205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227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83" name="等腰三角形 82"/>
          <p:cNvSpPr/>
          <p:nvPr/>
        </p:nvSpPr>
        <p:spPr>
          <a:xfrm>
            <a:off x="2461610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文本框 83"/>
          <p:cNvSpPr txBox="1"/>
          <p:nvPr/>
        </p:nvSpPr>
        <p:spPr>
          <a:xfrm>
            <a:off x="2245710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224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85" name="等腰三角形 84"/>
          <p:cNvSpPr/>
          <p:nvPr/>
        </p:nvSpPr>
        <p:spPr>
          <a:xfrm>
            <a:off x="2943116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文本框 85"/>
          <p:cNvSpPr txBox="1"/>
          <p:nvPr/>
        </p:nvSpPr>
        <p:spPr>
          <a:xfrm>
            <a:off x="2727216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221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87" name="等腰三角形 86"/>
          <p:cNvSpPr/>
          <p:nvPr/>
        </p:nvSpPr>
        <p:spPr>
          <a:xfrm>
            <a:off x="3424621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文本框 87"/>
          <p:cNvSpPr txBox="1"/>
          <p:nvPr/>
        </p:nvSpPr>
        <p:spPr>
          <a:xfrm>
            <a:off x="3208721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218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90" name="等腰三角形 89"/>
          <p:cNvSpPr/>
          <p:nvPr/>
        </p:nvSpPr>
        <p:spPr>
          <a:xfrm>
            <a:off x="3906126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文本框 90"/>
          <p:cNvSpPr txBox="1"/>
          <p:nvPr/>
        </p:nvSpPr>
        <p:spPr>
          <a:xfrm>
            <a:off x="3690226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215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92" name="等腰三角形 91"/>
          <p:cNvSpPr/>
          <p:nvPr/>
        </p:nvSpPr>
        <p:spPr>
          <a:xfrm>
            <a:off x="4387631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文本框 94"/>
          <p:cNvSpPr txBox="1"/>
          <p:nvPr/>
        </p:nvSpPr>
        <p:spPr>
          <a:xfrm>
            <a:off x="4171731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212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96" name="等腰三角形 95"/>
          <p:cNvSpPr/>
          <p:nvPr/>
        </p:nvSpPr>
        <p:spPr>
          <a:xfrm>
            <a:off x="4869136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文本框 97"/>
          <p:cNvSpPr txBox="1"/>
          <p:nvPr/>
        </p:nvSpPr>
        <p:spPr>
          <a:xfrm>
            <a:off x="4653236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209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02" name="等腰三角形 101"/>
          <p:cNvSpPr/>
          <p:nvPr/>
        </p:nvSpPr>
        <p:spPr>
          <a:xfrm>
            <a:off x="5350641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文本框 104"/>
          <p:cNvSpPr txBox="1"/>
          <p:nvPr/>
        </p:nvSpPr>
        <p:spPr>
          <a:xfrm>
            <a:off x="5134741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206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23" name="等腰三角形 122"/>
          <p:cNvSpPr/>
          <p:nvPr/>
        </p:nvSpPr>
        <p:spPr>
          <a:xfrm>
            <a:off x="5832147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" name="文本框 146"/>
          <p:cNvSpPr txBox="1"/>
          <p:nvPr/>
        </p:nvSpPr>
        <p:spPr>
          <a:xfrm>
            <a:off x="5616247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203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49" name="等腰三角形 148"/>
          <p:cNvSpPr/>
          <p:nvPr/>
        </p:nvSpPr>
        <p:spPr>
          <a:xfrm>
            <a:off x="6313652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0" name="文本框 149"/>
          <p:cNvSpPr txBox="1"/>
          <p:nvPr/>
        </p:nvSpPr>
        <p:spPr>
          <a:xfrm>
            <a:off x="6097752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200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51" name="等腰三角形 150"/>
          <p:cNvSpPr/>
          <p:nvPr/>
        </p:nvSpPr>
        <p:spPr>
          <a:xfrm>
            <a:off x="6795157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文本框 151"/>
          <p:cNvSpPr txBox="1"/>
          <p:nvPr/>
        </p:nvSpPr>
        <p:spPr>
          <a:xfrm>
            <a:off x="6579257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197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53" name="等腰三角形 152"/>
          <p:cNvSpPr/>
          <p:nvPr/>
        </p:nvSpPr>
        <p:spPr>
          <a:xfrm>
            <a:off x="7276662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" name="文本框 153"/>
          <p:cNvSpPr txBox="1"/>
          <p:nvPr/>
        </p:nvSpPr>
        <p:spPr>
          <a:xfrm>
            <a:off x="7060762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194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55" name="等腰三角形 154"/>
          <p:cNvSpPr/>
          <p:nvPr/>
        </p:nvSpPr>
        <p:spPr>
          <a:xfrm>
            <a:off x="7758168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文本框 155"/>
          <p:cNvSpPr txBox="1"/>
          <p:nvPr/>
        </p:nvSpPr>
        <p:spPr>
          <a:xfrm>
            <a:off x="7542268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191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58" name="等腰三角形 157"/>
          <p:cNvSpPr/>
          <p:nvPr/>
        </p:nvSpPr>
        <p:spPr>
          <a:xfrm>
            <a:off x="8239672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文本框 158"/>
          <p:cNvSpPr txBox="1"/>
          <p:nvPr/>
        </p:nvSpPr>
        <p:spPr>
          <a:xfrm>
            <a:off x="8023772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188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61" name="等腰三角形 160"/>
          <p:cNvSpPr/>
          <p:nvPr/>
        </p:nvSpPr>
        <p:spPr>
          <a:xfrm>
            <a:off x="8721178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文本框 161"/>
          <p:cNvSpPr txBox="1"/>
          <p:nvPr/>
        </p:nvSpPr>
        <p:spPr>
          <a:xfrm>
            <a:off x="8505278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185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63" name="等腰三角形 162"/>
          <p:cNvSpPr/>
          <p:nvPr/>
        </p:nvSpPr>
        <p:spPr>
          <a:xfrm>
            <a:off x="9202682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文本框 163"/>
          <p:cNvSpPr txBox="1"/>
          <p:nvPr/>
        </p:nvSpPr>
        <p:spPr>
          <a:xfrm>
            <a:off x="8986782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182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66" name="等腰三角形 165"/>
          <p:cNvSpPr/>
          <p:nvPr/>
        </p:nvSpPr>
        <p:spPr>
          <a:xfrm>
            <a:off x="9684188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文本框 166"/>
          <p:cNvSpPr txBox="1"/>
          <p:nvPr/>
        </p:nvSpPr>
        <p:spPr>
          <a:xfrm>
            <a:off x="9468288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179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68" name="等腰三角形 167"/>
          <p:cNvSpPr/>
          <p:nvPr/>
        </p:nvSpPr>
        <p:spPr>
          <a:xfrm>
            <a:off x="10165693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文本框 168"/>
          <p:cNvSpPr txBox="1"/>
          <p:nvPr/>
        </p:nvSpPr>
        <p:spPr>
          <a:xfrm>
            <a:off x="9949793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176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70" name="等腰三角形 169"/>
          <p:cNvSpPr/>
          <p:nvPr/>
        </p:nvSpPr>
        <p:spPr>
          <a:xfrm>
            <a:off x="10647198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" name="文本框 170"/>
          <p:cNvSpPr txBox="1"/>
          <p:nvPr/>
        </p:nvSpPr>
        <p:spPr>
          <a:xfrm>
            <a:off x="10431298" y="5400254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 dirty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173</a:t>
            </a:r>
            <a:endParaRPr kumimoji="0" lang="zh-CN" altLang="en-US" sz="1200" b="1" i="0" u="none" strike="noStrike" cap="none" spc="0" normalizeH="0" baseline="0" dirty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6" name="等腰三角形 5"/>
          <p:cNvSpPr/>
          <p:nvPr/>
        </p:nvSpPr>
        <p:spPr>
          <a:xfrm rot="5400000">
            <a:off x="774700" y="4889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" name="等腰三角形 171"/>
          <p:cNvSpPr/>
          <p:nvPr/>
        </p:nvSpPr>
        <p:spPr>
          <a:xfrm rot="5400000">
            <a:off x="774700" y="4889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文本框 172"/>
          <p:cNvSpPr txBox="1"/>
          <p:nvPr/>
        </p:nvSpPr>
        <p:spPr>
          <a:xfrm>
            <a:off x="330200" y="4762500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30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74" name="等腰三角形 173"/>
          <p:cNvSpPr/>
          <p:nvPr/>
        </p:nvSpPr>
        <p:spPr>
          <a:xfrm rot="5400000">
            <a:off x="774700" y="4445847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文本框 174"/>
          <p:cNvSpPr txBox="1"/>
          <p:nvPr/>
        </p:nvSpPr>
        <p:spPr>
          <a:xfrm>
            <a:off x="330200" y="4318847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32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76" name="等腰三角形 175"/>
          <p:cNvSpPr/>
          <p:nvPr/>
        </p:nvSpPr>
        <p:spPr>
          <a:xfrm rot="5400000">
            <a:off x="774700" y="4002193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" name="文本框 176"/>
          <p:cNvSpPr txBox="1"/>
          <p:nvPr/>
        </p:nvSpPr>
        <p:spPr>
          <a:xfrm>
            <a:off x="330200" y="3875193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34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78" name="等腰三角形 177"/>
          <p:cNvSpPr/>
          <p:nvPr/>
        </p:nvSpPr>
        <p:spPr>
          <a:xfrm rot="5400000">
            <a:off x="774700" y="355854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文本框 178"/>
          <p:cNvSpPr txBox="1"/>
          <p:nvPr/>
        </p:nvSpPr>
        <p:spPr>
          <a:xfrm>
            <a:off x="330200" y="3431540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36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80" name="等腰三角形 179"/>
          <p:cNvSpPr/>
          <p:nvPr/>
        </p:nvSpPr>
        <p:spPr>
          <a:xfrm rot="5400000">
            <a:off x="774700" y="3114887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文本框 180"/>
          <p:cNvSpPr txBox="1"/>
          <p:nvPr/>
        </p:nvSpPr>
        <p:spPr>
          <a:xfrm>
            <a:off x="330200" y="2987887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38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94" name="等腰三角形 193"/>
          <p:cNvSpPr/>
          <p:nvPr/>
        </p:nvSpPr>
        <p:spPr>
          <a:xfrm rot="5400000">
            <a:off x="774700" y="2671233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文本框 194"/>
          <p:cNvSpPr txBox="1"/>
          <p:nvPr/>
        </p:nvSpPr>
        <p:spPr>
          <a:xfrm>
            <a:off x="330200" y="2544233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40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96" name="等腰三角形 195"/>
          <p:cNvSpPr/>
          <p:nvPr/>
        </p:nvSpPr>
        <p:spPr>
          <a:xfrm rot="5400000">
            <a:off x="774700" y="222758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文本框 196"/>
          <p:cNvSpPr txBox="1"/>
          <p:nvPr/>
        </p:nvSpPr>
        <p:spPr>
          <a:xfrm>
            <a:off x="330200" y="2100580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42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98" name="等腰三角形 197"/>
          <p:cNvSpPr/>
          <p:nvPr/>
        </p:nvSpPr>
        <p:spPr>
          <a:xfrm rot="5400000">
            <a:off x="774700" y="1783927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文本框 198"/>
          <p:cNvSpPr txBox="1"/>
          <p:nvPr/>
        </p:nvSpPr>
        <p:spPr>
          <a:xfrm>
            <a:off x="330200" y="1733546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44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10515298" y="5376331"/>
            <a:ext cx="543739" cy="30777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pPr algn="ctr"/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重量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/>
          <p:cNvSpPr/>
          <p:nvPr/>
        </p:nvSpPr>
        <p:spPr>
          <a:xfrm>
            <a:off x="3586848" y="6038105"/>
            <a:ext cx="5281570" cy="196703"/>
          </a:xfrm>
          <a:prstGeom prst="rect">
            <a:avLst/>
          </a:prstGeom>
          <a:solidFill>
            <a:srgbClr val="FFC000">
              <a:alpha val="50000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" name="矩形 49"/>
          <p:cNvSpPr/>
          <p:nvPr/>
        </p:nvSpPr>
        <p:spPr>
          <a:xfrm>
            <a:off x="277812" y="6331332"/>
            <a:ext cx="4882084" cy="228205"/>
          </a:xfrm>
          <a:prstGeom prst="rect">
            <a:avLst/>
          </a:prstGeom>
          <a:solidFill>
            <a:srgbClr val="FFC000">
              <a:alpha val="50000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" name="直接连接符 1"/>
          <p:cNvCxnSpPr/>
          <p:nvPr/>
        </p:nvCxnSpPr>
        <p:spPr>
          <a:xfrm>
            <a:off x="198716" y="1124744"/>
            <a:ext cx="1811745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" name="直接连接符 2"/>
          <p:cNvCxnSpPr/>
          <p:nvPr/>
        </p:nvCxnSpPr>
        <p:spPr>
          <a:xfrm flipV="1">
            <a:off x="184811" y="222090"/>
            <a:ext cx="10375685" cy="881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" name="直接连接符 3"/>
          <p:cNvCxnSpPr/>
          <p:nvPr/>
        </p:nvCxnSpPr>
        <p:spPr>
          <a:xfrm flipV="1">
            <a:off x="9111056" y="222091"/>
            <a:ext cx="0" cy="91943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/>
          <p:cNvCxnSpPr/>
          <p:nvPr/>
        </p:nvCxnSpPr>
        <p:spPr>
          <a:xfrm flipV="1">
            <a:off x="191344" y="692698"/>
            <a:ext cx="0" cy="44882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/>
          <p:cNvCxnSpPr/>
          <p:nvPr/>
        </p:nvCxnSpPr>
        <p:spPr>
          <a:xfrm flipV="1">
            <a:off x="191344" y="2636914"/>
            <a:ext cx="0" cy="410445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/>
          <p:cNvCxnSpPr/>
          <p:nvPr/>
        </p:nvCxnSpPr>
        <p:spPr>
          <a:xfrm>
            <a:off x="191344" y="6741368"/>
            <a:ext cx="11862323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" name="文本框 7"/>
          <p:cNvSpPr txBox="1"/>
          <p:nvPr/>
        </p:nvSpPr>
        <p:spPr>
          <a:xfrm>
            <a:off x="191344" y="233638"/>
            <a:ext cx="1800200" cy="461663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zh-CN" altLang="en-US" sz="24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锋刺</a:t>
            </a:r>
            <a:r>
              <a:rPr lang="en-US" altLang="zh-CN" sz="24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7pro</a:t>
            </a:r>
            <a:endParaRPr kumimoji="0" lang="zh-CN" altLang="en-US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微软雅黑" pitchFamily="34" charset="-122"/>
              <a:ea typeface="微软雅黑" pitchFamily="34" charset="-122"/>
              <a:sym typeface="Arial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613461" y="740256"/>
            <a:ext cx="1464619" cy="3693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zh-CN" altLang="en-US" b="1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实战测评</a:t>
            </a:r>
            <a:endParaRPr kumimoji="0" lang="zh-CN" altLang="en-US" sz="1400" b="1" i="0" u="none" strike="noStrike" cap="none" spc="0" normalizeH="0" baseline="0" dirty="0">
              <a:ln>
                <a:noFill/>
              </a:ln>
              <a:solidFill>
                <a:schemeClr val="tx1"/>
              </a:solidFill>
              <a:effectLst/>
              <a:uFillTx/>
              <a:latin typeface="微软雅黑" pitchFamily="34" charset="-122"/>
              <a:ea typeface="微软雅黑" pitchFamily="34" charset="-122"/>
              <a:sym typeface="Arial"/>
            </a:endParaRPr>
          </a:p>
        </p:txBody>
      </p:sp>
      <p:cxnSp>
        <p:nvCxnSpPr>
          <p:cNvPr id="12" name="直接连接符 11"/>
          <p:cNvCxnSpPr/>
          <p:nvPr/>
        </p:nvCxnSpPr>
        <p:spPr>
          <a:xfrm flipV="1">
            <a:off x="2010461" y="230902"/>
            <a:ext cx="0" cy="89384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/>
          <p:cNvCxnSpPr/>
          <p:nvPr/>
        </p:nvCxnSpPr>
        <p:spPr>
          <a:xfrm>
            <a:off x="10544682" y="230902"/>
            <a:ext cx="0" cy="1685930"/>
          </a:xfrm>
          <a:prstGeom prst="line">
            <a:avLst/>
          </a:prstGeom>
          <a:ln>
            <a:solidFill>
              <a:schemeClr val="dk1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/>
          <p:cNvCxnSpPr/>
          <p:nvPr/>
        </p:nvCxnSpPr>
        <p:spPr>
          <a:xfrm flipH="1">
            <a:off x="9104522" y="1916832"/>
            <a:ext cx="1440160" cy="0"/>
          </a:xfrm>
          <a:prstGeom prst="line">
            <a:avLst/>
          </a:prstGeom>
          <a:ln>
            <a:solidFill>
              <a:schemeClr val="dk1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直接连接符 30"/>
          <p:cNvCxnSpPr/>
          <p:nvPr/>
        </p:nvCxnSpPr>
        <p:spPr>
          <a:xfrm flipV="1">
            <a:off x="9104522" y="230902"/>
            <a:ext cx="0" cy="6510466"/>
          </a:xfrm>
          <a:prstGeom prst="line">
            <a:avLst/>
          </a:prstGeom>
          <a:ln>
            <a:solidFill>
              <a:schemeClr val="dk1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矩形 31"/>
          <p:cNvSpPr/>
          <p:nvPr/>
        </p:nvSpPr>
        <p:spPr>
          <a:xfrm>
            <a:off x="9128195" y="231337"/>
            <a:ext cx="1404903" cy="1191993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zh-CN" sz="54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B</a:t>
            </a:r>
            <a:endParaRPr lang="zh-CN" altLang="en-US" sz="3600" b="1" dirty="0">
              <a:solidFill>
                <a:schemeClr val="bg1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3" name="文本框 42"/>
          <p:cNvSpPr txBox="1"/>
          <p:nvPr/>
        </p:nvSpPr>
        <p:spPr>
          <a:xfrm>
            <a:off x="9088708" y="1481911"/>
            <a:ext cx="1471788" cy="40010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2000" b="1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7.57 / 10</a:t>
            </a:r>
            <a:endParaRPr kumimoji="0" lang="zh-CN" altLang="en-US" sz="1600" b="1" i="0" u="none" strike="noStrike" cap="none" spc="0" normalizeH="0" baseline="0" dirty="0">
              <a:ln>
                <a:noFill/>
              </a:ln>
              <a:solidFill>
                <a:schemeClr val="tx1"/>
              </a:solidFill>
              <a:effectLst/>
              <a:uFillTx/>
              <a:latin typeface="微软雅黑" pitchFamily="34" charset="-122"/>
              <a:ea typeface="微软雅黑" pitchFamily="34" charset="-122"/>
              <a:sym typeface="Arial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207159" y="3622372"/>
            <a:ext cx="8810896" cy="30469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itchFamily="2" charset="2"/>
              <a:buChar char="n"/>
            </a:pPr>
            <a:r>
              <a:rPr lang="zh-CN" altLang="en-US" sz="1400" b="1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缓震</a:t>
            </a:r>
            <a:r>
              <a:rPr lang="en-US" altLang="zh-CN" sz="1400" b="1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&amp;</a:t>
            </a:r>
            <a:r>
              <a:rPr lang="zh-CN" altLang="en-US" sz="1400" b="1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回弹：</a:t>
            </a:r>
            <a:r>
              <a:rPr lang="zh-CN" altLang="en-US" sz="14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重心较高，尤其在后跟厚度上（更换较薄鞋垫或去掉鞋垫情况好转）、后跟支撑轻微偏弱（</a:t>
            </a:r>
            <a:r>
              <a:rPr lang="en-US" altLang="zh-CN" sz="14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x1</a:t>
            </a:r>
            <a:r>
              <a:rPr lang="zh-CN" altLang="en-US" sz="14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）、且存在泄力的情况（木地板上泄力较为明显）。</a:t>
            </a:r>
            <a:endParaRPr lang="en-US" altLang="zh-CN" sz="1400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</a:endParaRPr>
          </a:p>
          <a:p>
            <a:pPr marL="285750" indent="-285750">
              <a:lnSpc>
                <a:spcPct val="150000"/>
              </a:lnSpc>
              <a:buFont typeface="Wingdings" pitchFamily="2" charset="2"/>
              <a:buChar char="n"/>
            </a:pPr>
            <a:r>
              <a:rPr lang="zh-CN" altLang="en-US" sz="1400" b="1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抓地</a:t>
            </a:r>
            <a:r>
              <a:rPr lang="en-US" altLang="zh-CN" sz="1400" b="1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&amp;</a:t>
            </a:r>
            <a:r>
              <a:rPr lang="zh-CN" altLang="en-US" sz="1400" b="1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耐磨：</a:t>
            </a:r>
            <a:r>
              <a:rPr lang="zh-CN" altLang="en-US" sz="14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抓地较好，无打滑现象，吸灰时抓地性也不错。耐磨情况较好。</a:t>
            </a:r>
            <a:endParaRPr lang="en-US" altLang="zh-CN" sz="1400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</a:endParaRPr>
          </a:p>
          <a:p>
            <a:pPr marL="285750" indent="-285750">
              <a:lnSpc>
                <a:spcPct val="150000"/>
              </a:lnSpc>
              <a:buFont typeface="Wingdings" pitchFamily="2" charset="2"/>
              <a:buChar char="n"/>
            </a:pPr>
            <a:r>
              <a:rPr lang="zh-CN" altLang="en-US" sz="1400" b="1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防侧翻：</a:t>
            </a:r>
            <a:r>
              <a:rPr lang="zh-CN" altLang="en-US" sz="14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防侧翻点略微靠后，穿着虽影响并不太大，但在有角度的急停与变相时出现不稳定现象。</a:t>
            </a:r>
            <a:endParaRPr lang="en-US" altLang="zh-CN" sz="1400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</a:endParaRPr>
          </a:p>
          <a:p>
            <a:pPr marL="285750" indent="-285750">
              <a:lnSpc>
                <a:spcPct val="150000"/>
              </a:lnSpc>
              <a:buFont typeface="Wingdings" pitchFamily="2" charset="2"/>
              <a:buChar char="n"/>
            </a:pPr>
            <a:r>
              <a:rPr lang="zh-CN" altLang="en-US" sz="1400" b="1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包裹：</a:t>
            </a:r>
            <a:r>
              <a:rPr lang="zh-CN" altLang="en-US" sz="14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中段包裹良好，前掌以及后跟包裹较弱，后跟出现较为明显的掉跟情况。</a:t>
            </a:r>
            <a:endParaRPr lang="en-US" altLang="zh-CN" sz="1400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</a:endParaRPr>
          </a:p>
          <a:p>
            <a:pPr marL="285750" indent="-285750">
              <a:lnSpc>
                <a:spcPct val="150000"/>
              </a:lnSpc>
              <a:buFont typeface="Wingdings" pitchFamily="2" charset="2"/>
              <a:buChar char="n"/>
            </a:pPr>
            <a:r>
              <a:rPr lang="zh-CN" altLang="en-US" sz="1400" b="1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抗扭</a:t>
            </a:r>
            <a:r>
              <a:rPr lang="en-US" altLang="zh-CN" sz="1400" b="1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&amp;</a:t>
            </a:r>
            <a:r>
              <a:rPr lang="zh-CN" altLang="en-US" sz="1400" b="1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稳定：</a:t>
            </a:r>
            <a:r>
              <a:rPr lang="zh-CN" altLang="en-US" sz="14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整体脚感偏板，推进感存在但体感上抗扭偏弱，与包裹性有关。前掌较宽，灵活性差一些。</a:t>
            </a:r>
            <a:endParaRPr lang="en-US" altLang="zh-CN" sz="1400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</a:endParaRPr>
          </a:p>
          <a:p>
            <a:pPr marL="285750" indent="-285750">
              <a:lnSpc>
                <a:spcPct val="150000"/>
              </a:lnSpc>
              <a:buFont typeface="Wingdings" pitchFamily="2" charset="2"/>
              <a:buChar char="n"/>
            </a:pPr>
            <a:r>
              <a:rPr lang="zh-CN" altLang="en-US" sz="1400" b="1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轻量化</a:t>
            </a:r>
            <a:r>
              <a:rPr lang="en-US" altLang="zh-CN" sz="1400" b="1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&amp;</a:t>
            </a:r>
            <a:r>
              <a:rPr lang="zh-CN" altLang="en-US" sz="1400" b="1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透气：</a:t>
            </a:r>
            <a:r>
              <a:rPr lang="zh-CN" altLang="en-US" sz="14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整体轻量化突出，体感重量非常轻，透气性较好，暂未出现烧脚、闷脚现象。</a:t>
            </a:r>
            <a:endParaRPr lang="en-US" altLang="zh-CN" sz="1400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600" b="1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小结：</a:t>
            </a:r>
            <a:r>
              <a:rPr lang="zh-CN" altLang="en-US" sz="14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锋刺</a:t>
            </a:r>
            <a:r>
              <a:rPr lang="en-US" altLang="zh-CN" sz="14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7pro</a:t>
            </a:r>
            <a:r>
              <a:rPr lang="zh-CN" altLang="en-US" sz="14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重量较轻、抓地优秀，但整体重心偏高（鞋垫厚度较厚，且无压缩形变），前、后段包裹较差，进而导致鞋</a:t>
            </a:r>
            <a:r>
              <a:rPr lang="en-US" altLang="zh-CN" sz="14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-</a:t>
            </a:r>
            <a:r>
              <a:rPr lang="zh-CN" altLang="en-US" sz="14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脚一体性差、稳定性下降、体感上抗扭性较弱。突破安全性偏弱。</a:t>
            </a:r>
            <a:endParaRPr lang="en-US" altLang="zh-CN" sz="1400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2" name="矩形 21"/>
          <p:cNvSpPr/>
          <p:nvPr/>
        </p:nvSpPr>
        <p:spPr>
          <a:xfrm>
            <a:off x="271256" y="2472676"/>
            <a:ext cx="2683300" cy="854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试穿人数：</a:t>
            </a:r>
            <a:r>
              <a:rPr lang="en-US" altLang="zh-CN" sz="1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5</a:t>
            </a:r>
            <a:r>
              <a:rPr lang="zh-CN" altLang="en-US" sz="1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人 </a:t>
            </a:r>
            <a:r>
              <a:rPr lang="en-US" altLang="zh-CN" sz="1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+</a:t>
            </a:r>
          </a:p>
          <a:p>
            <a:pPr>
              <a:lnSpc>
                <a:spcPct val="150000"/>
              </a:lnSpc>
            </a:pPr>
            <a:r>
              <a:rPr lang="zh-CN" altLang="en-US" sz="1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测试者体重：</a:t>
            </a:r>
            <a:r>
              <a:rPr lang="en-US" altLang="zh-CN" sz="1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75±5KG</a:t>
            </a:r>
          </a:p>
          <a:p>
            <a:pPr>
              <a:lnSpc>
                <a:spcPct val="150000"/>
              </a:lnSpc>
            </a:pPr>
            <a:r>
              <a:rPr lang="zh-CN" altLang="en-US" sz="1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测试者球场定位：小前锋、重型后卫</a:t>
            </a:r>
          </a:p>
        </p:txBody>
      </p:sp>
      <p:cxnSp>
        <p:nvCxnSpPr>
          <p:cNvPr id="33" name="直接连接符 32"/>
          <p:cNvCxnSpPr/>
          <p:nvPr/>
        </p:nvCxnSpPr>
        <p:spPr>
          <a:xfrm flipV="1">
            <a:off x="12039600" y="1916832"/>
            <a:ext cx="0" cy="482453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/>
          <p:cNvCxnSpPr/>
          <p:nvPr/>
        </p:nvCxnSpPr>
        <p:spPr>
          <a:xfrm>
            <a:off x="11424592" y="1927895"/>
            <a:ext cx="629075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4" name="矩形 53"/>
          <p:cNvSpPr/>
          <p:nvPr/>
        </p:nvSpPr>
        <p:spPr>
          <a:xfrm>
            <a:off x="238103" y="3192962"/>
            <a:ext cx="1210588" cy="41819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600" b="1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实战反馈：</a:t>
            </a:r>
          </a:p>
        </p:txBody>
      </p:sp>
      <p:sp>
        <p:nvSpPr>
          <p:cNvPr id="40" name="矩形 39"/>
          <p:cNvSpPr/>
          <p:nvPr/>
        </p:nvSpPr>
        <p:spPr>
          <a:xfrm>
            <a:off x="9120337" y="1918630"/>
            <a:ext cx="2919262" cy="306174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05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锋刺</a:t>
            </a:r>
            <a:r>
              <a:rPr lang="en-US" altLang="zh-CN" sz="105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7pro vs </a:t>
            </a:r>
            <a:r>
              <a:rPr lang="zh-CN" altLang="en-US" sz="105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锋刺</a:t>
            </a:r>
            <a:r>
              <a:rPr lang="en-US" altLang="zh-CN" sz="105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6pro</a:t>
            </a:r>
            <a:endParaRPr lang="zh-CN" altLang="en-US" sz="1050" b="1" dirty="0">
              <a:solidFill>
                <a:schemeClr val="bg1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cxnSp>
        <p:nvCxnSpPr>
          <p:cNvPr id="37" name="直接连接符 36"/>
          <p:cNvCxnSpPr/>
          <p:nvPr/>
        </p:nvCxnSpPr>
        <p:spPr>
          <a:xfrm>
            <a:off x="1199456" y="3573016"/>
            <a:ext cx="2160240" cy="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9" name="直接连接符 38"/>
          <p:cNvCxnSpPr/>
          <p:nvPr/>
        </p:nvCxnSpPr>
        <p:spPr>
          <a:xfrm>
            <a:off x="198110" y="3573016"/>
            <a:ext cx="216024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1" name="图片 40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110" y="1329338"/>
            <a:ext cx="2137244" cy="1046814"/>
          </a:xfrm>
          <a:prstGeom prst="rect">
            <a:avLst/>
          </a:prstGeom>
          <a:effectLst>
            <a:innerShdw blurRad="63500" dist="50800" dir="2700000">
              <a:prstClr val="black">
                <a:alpha val="50000"/>
              </a:prstClr>
            </a:innerShdw>
          </a:effectLst>
        </p:spPr>
      </p:pic>
      <p:sp>
        <p:nvSpPr>
          <p:cNvPr id="52" name="矩形 51"/>
          <p:cNvSpPr/>
          <p:nvPr/>
        </p:nvSpPr>
        <p:spPr>
          <a:xfrm>
            <a:off x="9113837" y="4325051"/>
            <a:ext cx="2939829" cy="306174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05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锋刺</a:t>
            </a:r>
            <a:r>
              <a:rPr lang="en-US" altLang="zh-CN" sz="105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7pro vs GTcut2.0</a:t>
            </a:r>
            <a:endParaRPr lang="zh-CN" altLang="en-US" sz="1050" b="1" dirty="0">
              <a:solidFill>
                <a:schemeClr val="bg1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graphicFrame>
        <p:nvGraphicFramePr>
          <p:cNvPr id="53" name="图表 52"/>
          <p:cNvGraphicFramePr/>
          <p:nvPr/>
        </p:nvGraphicFramePr>
        <p:xfrm>
          <a:off x="2395105" y="381440"/>
          <a:ext cx="4572000" cy="294531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pic>
        <p:nvPicPr>
          <p:cNvPr id="38" name="图片 37"/>
          <p:cNvPicPr>
            <a:picLocks noChangeAspect="1"/>
          </p:cNvPicPr>
          <p:nvPr/>
        </p:nvPicPr>
        <p:blipFill rotWithShape="1">
          <a:blip r:embed="rId5"/>
          <a:srcRect l="22202" r="22678"/>
          <a:stretch>
            <a:fillRect/>
          </a:stretch>
        </p:blipFill>
        <p:spPr>
          <a:xfrm>
            <a:off x="9335797" y="2306418"/>
            <a:ext cx="1841882" cy="2004971"/>
          </a:xfrm>
          <a:prstGeom prst="rect">
            <a:avLst/>
          </a:prstGeom>
        </p:spPr>
      </p:pic>
      <p:sp>
        <p:nvSpPr>
          <p:cNvPr id="55" name="矩形 54"/>
          <p:cNvSpPr/>
          <p:nvPr/>
        </p:nvSpPr>
        <p:spPr>
          <a:xfrm>
            <a:off x="11208568" y="3057909"/>
            <a:ext cx="144016" cy="144028"/>
          </a:xfrm>
          <a:prstGeom prst="rect">
            <a:avLst/>
          </a:prstGeom>
          <a:solidFill>
            <a:srgbClr val="D7253F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1208568" y="3323331"/>
            <a:ext cx="144016" cy="144028"/>
          </a:xfrm>
          <a:prstGeom prst="rect">
            <a:avLst/>
          </a:prstGeom>
          <a:solidFill>
            <a:srgbClr val="CACACA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11340339" y="3011856"/>
            <a:ext cx="673582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9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锋刺</a:t>
            </a:r>
            <a:r>
              <a:rPr lang="en-US" altLang="zh-CN" sz="9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7pro</a:t>
            </a:r>
            <a:endParaRPr lang="zh-CN" altLang="en-US" sz="900" dirty="0"/>
          </a:p>
        </p:txBody>
      </p:sp>
      <p:sp>
        <p:nvSpPr>
          <p:cNvPr id="58" name="矩形 57"/>
          <p:cNvSpPr/>
          <p:nvPr/>
        </p:nvSpPr>
        <p:spPr>
          <a:xfrm>
            <a:off x="11340339" y="3286720"/>
            <a:ext cx="673582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9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锋刺</a:t>
            </a:r>
            <a:r>
              <a:rPr lang="en-US" altLang="zh-CN" sz="9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6pro</a:t>
            </a:r>
            <a:endParaRPr lang="zh-CN" altLang="en-US" sz="900" dirty="0"/>
          </a:p>
        </p:txBody>
      </p:sp>
      <p:pic>
        <p:nvPicPr>
          <p:cNvPr id="60" name="图片 59"/>
          <p:cNvPicPr>
            <a:picLocks noChangeAspect="1"/>
          </p:cNvPicPr>
          <p:nvPr/>
        </p:nvPicPr>
        <p:blipFill rotWithShape="1">
          <a:blip r:embed="rId6"/>
          <a:srcRect l="22030" r="21276"/>
          <a:stretch>
            <a:fillRect/>
          </a:stretch>
        </p:blipFill>
        <p:spPr>
          <a:xfrm>
            <a:off x="9342517" y="4699202"/>
            <a:ext cx="1908343" cy="2019613"/>
          </a:xfrm>
          <a:prstGeom prst="rect">
            <a:avLst/>
          </a:prstGeom>
        </p:spPr>
      </p:pic>
      <p:sp>
        <p:nvSpPr>
          <p:cNvPr id="61" name="矩形 60"/>
          <p:cNvSpPr/>
          <p:nvPr/>
        </p:nvSpPr>
        <p:spPr>
          <a:xfrm>
            <a:off x="11208568" y="5491277"/>
            <a:ext cx="144016" cy="144028"/>
          </a:xfrm>
          <a:prstGeom prst="rect">
            <a:avLst/>
          </a:prstGeom>
          <a:solidFill>
            <a:srgbClr val="D7253F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" name="矩形 61"/>
          <p:cNvSpPr/>
          <p:nvPr/>
        </p:nvSpPr>
        <p:spPr>
          <a:xfrm>
            <a:off x="11208568" y="5756699"/>
            <a:ext cx="144016" cy="144028"/>
          </a:xfrm>
          <a:prstGeom prst="rect">
            <a:avLst/>
          </a:prstGeom>
          <a:solidFill>
            <a:srgbClr val="C3E0FF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" name="矩形 62"/>
          <p:cNvSpPr/>
          <p:nvPr/>
        </p:nvSpPr>
        <p:spPr>
          <a:xfrm>
            <a:off x="11340339" y="5445224"/>
            <a:ext cx="673582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9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锋刺</a:t>
            </a:r>
            <a:r>
              <a:rPr lang="en-US" altLang="zh-CN" sz="9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7pro</a:t>
            </a:r>
            <a:endParaRPr lang="zh-CN" altLang="en-US" sz="900" dirty="0"/>
          </a:p>
        </p:txBody>
      </p:sp>
      <p:sp>
        <p:nvSpPr>
          <p:cNvPr id="64" name="矩形 63"/>
          <p:cNvSpPr/>
          <p:nvPr/>
        </p:nvSpPr>
        <p:spPr>
          <a:xfrm>
            <a:off x="11340339" y="5720088"/>
            <a:ext cx="646331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9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Gtcut</a:t>
            </a:r>
            <a:r>
              <a:rPr lang="en-US" altLang="zh-CN" sz="900" dirty="0">
                <a:ea typeface="微软雅黑" pitchFamily="34" charset="-122"/>
              </a:rPr>
              <a:t>2.0</a:t>
            </a:r>
            <a:endParaRPr lang="en-US" altLang="zh-CN" sz="900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65" name="矩形 64"/>
          <p:cNvSpPr/>
          <p:nvPr/>
        </p:nvSpPr>
        <p:spPr>
          <a:xfrm>
            <a:off x="10130915" y="2204864"/>
            <a:ext cx="441146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0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重量</a:t>
            </a:r>
            <a:endParaRPr lang="zh-CN" altLang="en-US" sz="1000" dirty="0"/>
          </a:p>
        </p:txBody>
      </p:sp>
      <p:sp>
        <p:nvSpPr>
          <p:cNvPr id="66" name="矩形 65"/>
          <p:cNvSpPr/>
          <p:nvPr/>
        </p:nvSpPr>
        <p:spPr>
          <a:xfrm>
            <a:off x="10946920" y="2700580"/>
            <a:ext cx="441146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0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缓震</a:t>
            </a:r>
            <a:endParaRPr lang="zh-CN" altLang="en-US" sz="1000" dirty="0"/>
          </a:p>
        </p:txBody>
      </p:sp>
      <p:sp>
        <p:nvSpPr>
          <p:cNvPr id="67" name="矩形 66"/>
          <p:cNvSpPr/>
          <p:nvPr/>
        </p:nvSpPr>
        <p:spPr>
          <a:xfrm>
            <a:off x="10076115" y="4021610"/>
            <a:ext cx="441146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0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包裹</a:t>
            </a:r>
            <a:endParaRPr lang="zh-CN" altLang="en-US" sz="1000" dirty="0"/>
          </a:p>
        </p:txBody>
      </p:sp>
      <p:sp>
        <p:nvSpPr>
          <p:cNvPr id="68" name="矩形 67"/>
          <p:cNvSpPr/>
          <p:nvPr/>
        </p:nvSpPr>
        <p:spPr>
          <a:xfrm>
            <a:off x="9170412" y="2745886"/>
            <a:ext cx="441146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0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刚性</a:t>
            </a:r>
            <a:endParaRPr lang="zh-CN" altLang="en-US" sz="1000" dirty="0"/>
          </a:p>
        </p:txBody>
      </p:sp>
      <p:sp>
        <p:nvSpPr>
          <p:cNvPr id="69" name="矩形 68"/>
          <p:cNvSpPr/>
          <p:nvPr/>
        </p:nvSpPr>
        <p:spPr>
          <a:xfrm>
            <a:off x="9183674" y="3642265"/>
            <a:ext cx="441146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0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止滑</a:t>
            </a:r>
            <a:endParaRPr lang="zh-CN" altLang="en-US" sz="1000" dirty="0"/>
          </a:p>
        </p:txBody>
      </p:sp>
      <p:sp>
        <p:nvSpPr>
          <p:cNvPr id="70" name="矩形 69"/>
          <p:cNvSpPr/>
          <p:nvPr/>
        </p:nvSpPr>
        <p:spPr>
          <a:xfrm>
            <a:off x="10946920" y="3642380"/>
            <a:ext cx="441146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0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回弹</a:t>
            </a:r>
            <a:endParaRPr lang="zh-CN" altLang="en-US" sz="1000" dirty="0"/>
          </a:p>
        </p:txBody>
      </p:sp>
      <p:sp>
        <p:nvSpPr>
          <p:cNvPr id="71" name="矩形 70"/>
          <p:cNvSpPr/>
          <p:nvPr/>
        </p:nvSpPr>
        <p:spPr>
          <a:xfrm>
            <a:off x="10145117" y="4653136"/>
            <a:ext cx="441146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0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重量</a:t>
            </a:r>
            <a:endParaRPr lang="zh-CN" altLang="en-US" sz="1000" dirty="0"/>
          </a:p>
        </p:txBody>
      </p:sp>
      <p:sp>
        <p:nvSpPr>
          <p:cNvPr id="72" name="矩形 71"/>
          <p:cNvSpPr/>
          <p:nvPr/>
        </p:nvSpPr>
        <p:spPr>
          <a:xfrm>
            <a:off x="10932287" y="5129037"/>
            <a:ext cx="441146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0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缓震</a:t>
            </a:r>
            <a:endParaRPr lang="zh-CN" altLang="en-US" sz="1000" dirty="0"/>
          </a:p>
        </p:txBody>
      </p:sp>
      <p:sp>
        <p:nvSpPr>
          <p:cNvPr id="73" name="矩形 72"/>
          <p:cNvSpPr/>
          <p:nvPr/>
        </p:nvSpPr>
        <p:spPr>
          <a:xfrm>
            <a:off x="10076115" y="6472594"/>
            <a:ext cx="441146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0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包裹</a:t>
            </a:r>
            <a:endParaRPr lang="zh-CN" altLang="en-US" sz="1000" dirty="0"/>
          </a:p>
        </p:txBody>
      </p:sp>
      <p:sp>
        <p:nvSpPr>
          <p:cNvPr id="74" name="矩形 73"/>
          <p:cNvSpPr/>
          <p:nvPr/>
        </p:nvSpPr>
        <p:spPr>
          <a:xfrm>
            <a:off x="9200039" y="5129037"/>
            <a:ext cx="441146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0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刚性</a:t>
            </a:r>
            <a:endParaRPr lang="zh-CN" altLang="en-US" sz="1000" dirty="0"/>
          </a:p>
        </p:txBody>
      </p:sp>
      <p:sp>
        <p:nvSpPr>
          <p:cNvPr id="75" name="矩形 74"/>
          <p:cNvSpPr/>
          <p:nvPr/>
        </p:nvSpPr>
        <p:spPr>
          <a:xfrm>
            <a:off x="9177953" y="6025416"/>
            <a:ext cx="441146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0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止滑</a:t>
            </a:r>
            <a:endParaRPr lang="zh-CN" altLang="en-US" sz="1000" dirty="0"/>
          </a:p>
        </p:txBody>
      </p:sp>
      <p:sp>
        <p:nvSpPr>
          <p:cNvPr id="76" name="矩形 75"/>
          <p:cNvSpPr/>
          <p:nvPr/>
        </p:nvSpPr>
        <p:spPr>
          <a:xfrm>
            <a:off x="10947212" y="6025416"/>
            <a:ext cx="441146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0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回弹</a:t>
            </a:r>
            <a:endParaRPr lang="zh-CN" altLang="en-US" sz="1000" dirty="0"/>
          </a:p>
        </p:txBody>
      </p:sp>
      <p:sp>
        <p:nvSpPr>
          <p:cNvPr id="21" name="矩形 20"/>
          <p:cNvSpPr/>
          <p:nvPr/>
        </p:nvSpPr>
        <p:spPr>
          <a:xfrm>
            <a:off x="10059879" y="381440"/>
            <a:ext cx="380232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+</a:t>
            </a:r>
            <a:endParaRPr lang="zh-CN" altLang="en-US" sz="2000" dirty="0"/>
          </a:p>
        </p:txBody>
      </p:sp>
      <p:sp>
        <p:nvSpPr>
          <p:cNvPr id="90" name="矩形 89"/>
          <p:cNvSpPr/>
          <p:nvPr/>
        </p:nvSpPr>
        <p:spPr>
          <a:xfrm>
            <a:off x="7336015" y="340788"/>
            <a:ext cx="792088" cy="792088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矩形 90"/>
          <p:cNvSpPr/>
          <p:nvPr/>
        </p:nvSpPr>
        <p:spPr>
          <a:xfrm>
            <a:off x="7336015" y="1132876"/>
            <a:ext cx="792088" cy="792088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矩形 91"/>
          <p:cNvSpPr/>
          <p:nvPr/>
        </p:nvSpPr>
        <p:spPr>
          <a:xfrm>
            <a:off x="8128103" y="340788"/>
            <a:ext cx="432048" cy="792088"/>
          </a:xfrm>
          <a:prstGeom prst="rect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矩形 92"/>
          <p:cNvSpPr/>
          <p:nvPr/>
        </p:nvSpPr>
        <p:spPr>
          <a:xfrm>
            <a:off x="8128103" y="1132876"/>
            <a:ext cx="432048" cy="792088"/>
          </a:xfrm>
          <a:prstGeom prst="rect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4" name="直接连接符 93"/>
          <p:cNvCxnSpPr/>
          <p:nvPr/>
        </p:nvCxnSpPr>
        <p:spPr>
          <a:xfrm flipH="1">
            <a:off x="7336015" y="1132876"/>
            <a:ext cx="792088" cy="0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5" name="矩形 94"/>
          <p:cNvSpPr/>
          <p:nvPr/>
        </p:nvSpPr>
        <p:spPr>
          <a:xfrm>
            <a:off x="7482686" y="444445"/>
            <a:ext cx="49404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32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A</a:t>
            </a:r>
            <a:endParaRPr lang="zh-CN" altLang="en-US" sz="3200" b="1" dirty="0">
              <a:solidFill>
                <a:schemeClr val="bg1"/>
              </a:solidFill>
            </a:endParaRPr>
          </a:p>
        </p:txBody>
      </p:sp>
      <p:sp>
        <p:nvSpPr>
          <p:cNvPr id="96" name="矩形 95"/>
          <p:cNvSpPr/>
          <p:nvPr/>
        </p:nvSpPr>
        <p:spPr>
          <a:xfrm>
            <a:off x="7482686" y="1236533"/>
            <a:ext cx="465192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32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B</a:t>
            </a:r>
            <a:endParaRPr lang="zh-CN" altLang="en-US" sz="3200" b="1" dirty="0">
              <a:solidFill>
                <a:schemeClr val="bg1"/>
              </a:solidFill>
            </a:endParaRPr>
          </a:p>
        </p:txBody>
      </p:sp>
      <p:sp>
        <p:nvSpPr>
          <p:cNvPr id="97" name="矩形 96"/>
          <p:cNvSpPr/>
          <p:nvPr/>
        </p:nvSpPr>
        <p:spPr>
          <a:xfrm>
            <a:off x="7786616" y="1128810"/>
            <a:ext cx="36099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+</a:t>
            </a:r>
            <a:endParaRPr lang="zh-CN" altLang="en-US" dirty="0"/>
          </a:p>
        </p:txBody>
      </p:sp>
      <p:sp>
        <p:nvSpPr>
          <p:cNvPr id="98" name="矩形 97"/>
          <p:cNvSpPr/>
          <p:nvPr/>
        </p:nvSpPr>
        <p:spPr>
          <a:xfrm>
            <a:off x="7786616" y="332656"/>
            <a:ext cx="29687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-</a:t>
            </a:r>
            <a:endParaRPr lang="zh-CN" altLang="en-US" sz="2000" dirty="0"/>
          </a:p>
        </p:txBody>
      </p:sp>
      <p:sp>
        <p:nvSpPr>
          <p:cNvPr id="99" name="矩形 98"/>
          <p:cNvSpPr/>
          <p:nvPr/>
        </p:nvSpPr>
        <p:spPr>
          <a:xfrm>
            <a:off x="8164107" y="332656"/>
            <a:ext cx="360040" cy="7875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600" b="1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后卫</a:t>
            </a:r>
            <a:endParaRPr lang="en-US" altLang="zh-CN" sz="1600" b="1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00" name="矩形 99"/>
          <p:cNvSpPr/>
          <p:nvPr/>
        </p:nvSpPr>
        <p:spPr>
          <a:xfrm>
            <a:off x="8164107" y="1094202"/>
            <a:ext cx="360040" cy="7875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600" b="1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小前</a:t>
            </a:r>
            <a:endParaRPr lang="en-US" altLang="zh-CN" sz="1600" b="1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01" name="矩形 100"/>
          <p:cNvSpPr/>
          <p:nvPr/>
        </p:nvSpPr>
        <p:spPr>
          <a:xfrm>
            <a:off x="7334576" y="1929030"/>
            <a:ext cx="792088" cy="792088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矩形 101"/>
          <p:cNvSpPr/>
          <p:nvPr/>
        </p:nvSpPr>
        <p:spPr>
          <a:xfrm>
            <a:off x="8126664" y="1929030"/>
            <a:ext cx="432048" cy="792088"/>
          </a:xfrm>
          <a:prstGeom prst="rect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03" name="直接连接符 102"/>
          <p:cNvCxnSpPr/>
          <p:nvPr/>
        </p:nvCxnSpPr>
        <p:spPr>
          <a:xfrm flipH="1">
            <a:off x="7334576" y="1929030"/>
            <a:ext cx="792088" cy="0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4" name="矩形 103"/>
          <p:cNvSpPr/>
          <p:nvPr/>
        </p:nvSpPr>
        <p:spPr>
          <a:xfrm>
            <a:off x="7481247" y="2032687"/>
            <a:ext cx="465192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32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B</a:t>
            </a:r>
            <a:endParaRPr lang="zh-CN" altLang="en-US" sz="3200" b="1" dirty="0">
              <a:solidFill>
                <a:schemeClr val="bg1"/>
              </a:solidFill>
            </a:endParaRPr>
          </a:p>
        </p:txBody>
      </p:sp>
      <p:sp>
        <p:nvSpPr>
          <p:cNvPr id="106" name="矩形 105"/>
          <p:cNvSpPr/>
          <p:nvPr/>
        </p:nvSpPr>
        <p:spPr>
          <a:xfrm>
            <a:off x="8162668" y="1903074"/>
            <a:ext cx="360040" cy="7875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600" b="1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突破</a:t>
            </a:r>
            <a:endParaRPr lang="en-US" altLang="zh-CN" sz="1600" b="1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07" name="矩形 106"/>
          <p:cNvSpPr/>
          <p:nvPr/>
        </p:nvSpPr>
        <p:spPr>
          <a:xfrm>
            <a:off x="7334576" y="2721117"/>
            <a:ext cx="792088" cy="792088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矩形 107"/>
          <p:cNvSpPr/>
          <p:nvPr/>
        </p:nvSpPr>
        <p:spPr>
          <a:xfrm>
            <a:off x="8126664" y="2721117"/>
            <a:ext cx="432048" cy="792088"/>
          </a:xfrm>
          <a:prstGeom prst="rect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09" name="直接连接符 108"/>
          <p:cNvCxnSpPr/>
          <p:nvPr/>
        </p:nvCxnSpPr>
        <p:spPr>
          <a:xfrm flipH="1">
            <a:off x="7334576" y="2721117"/>
            <a:ext cx="792088" cy="0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0" name="矩形 109"/>
          <p:cNvSpPr/>
          <p:nvPr/>
        </p:nvSpPr>
        <p:spPr>
          <a:xfrm>
            <a:off x="7481247" y="2824774"/>
            <a:ext cx="481222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3200" b="1" dirty="0">
                <a:solidFill>
                  <a:schemeClr val="bg1"/>
                </a:solidFill>
              </a:rPr>
              <a:t>A</a:t>
            </a:r>
            <a:endParaRPr lang="zh-CN" altLang="en-US" sz="3200" b="1" dirty="0">
              <a:solidFill>
                <a:schemeClr val="bg1"/>
              </a:solidFill>
            </a:endParaRPr>
          </a:p>
        </p:txBody>
      </p:sp>
      <p:sp>
        <p:nvSpPr>
          <p:cNvPr id="111" name="矩形 110"/>
          <p:cNvSpPr/>
          <p:nvPr/>
        </p:nvSpPr>
        <p:spPr>
          <a:xfrm>
            <a:off x="7785177" y="2717051"/>
            <a:ext cx="36099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+</a:t>
            </a:r>
            <a:endParaRPr lang="zh-CN" altLang="en-US" dirty="0"/>
          </a:p>
        </p:txBody>
      </p:sp>
      <p:sp>
        <p:nvSpPr>
          <p:cNvPr id="112" name="矩形 111"/>
          <p:cNvSpPr/>
          <p:nvPr/>
        </p:nvSpPr>
        <p:spPr>
          <a:xfrm>
            <a:off x="8162668" y="2682443"/>
            <a:ext cx="360040" cy="7875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600" b="1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外线</a:t>
            </a:r>
            <a:endParaRPr lang="en-US" altLang="zh-CN" sz="1600" b="1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13" name="矩形 112"/>
          <p:cNvSpPr/>
          <p:nvPr/>
        </p:nvSpPr>
        <p:spPr>
          <a:xfrm>
            <a:off x="7786616" y="1925783"/>
            <a:ext cx="29687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-</a:t>
            </a:r>
            <a:endParaRPr lang="zh-CN" altLang="en-US" sz="2000" dirty="0"/>
          </a:p>
        </p:txBody>
      </p:sp>
    </p:spTree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1_包图主题2">
  <a:themeElements>
    <a:clrScheme name="包图主题2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E53238"/>
      </a:accent1>
      <a:accent2>
        <a:srgbClr val="0064D2"/>
      </a:accent2>
      <a:accent3>
        <a:srgbClr val="801C1F"/>
      </a:accent3>
      <a:accent4>
        <a:srgbClr val="003876"/>
      </a:accent4>
      <a:accent5>
        <a:srgbClr val="621618"/>
      </a:accent5>
      <a:accent6>
        <a:srgbClr val="002B5A"/>
      </a:accent6>
      <a:hlink>
        <a:srgbClr val="0000FF"/>
      </a:hlink>
      <a:folHlink>
        <a:srgbClr val="FF00FF"/>
      </a:folHlink>
    </a:clrScheme>
    <a:fontScheme name="包图主题2">
      <a:majorFont>
        <a:latin typeface="等线"/>
        <a:ea typeface="等线"/>
        <a:cs typeface="等线"/>
      </a:majorFont>
      <a:minorFont>
        <a:latin typeface="Helvetica"/>
        <a:ea typeface="Helvetica"/>
        <a:cs typeface="Helvetica"/>
      </a:minorFont>
    </a:fontScheme>
    <a:fmtScheme name="包图主题2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38100" dir="5400000" rotWithShape="0">
              <a:srgbClr val="000000">
                <a:alpha val="43137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43137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43137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38100" cap="flat">
          <a:solidFill>
            <a:schemeClr val="accent1"/>
          </a:solidFill>
          <a:prstDash val="solid"/>
          <a:round/>
        </a:ln>
        <a:effectLst>
          <a:outerShdw blurRad="50800" dist="38100" dir="5400000" rotWithShape="0">
            <a:srgbClr val="000000">
              <a:alpha val="43137"/>
            </a:srgbClr>
          </a:outerShdw>
        </a:effectLst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Arial"/>
            <a:ea typeface="Arial"/>
            <a:cs typeface="Arial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38100" cap="flat">
          <a:solidFill>
            <a:schemeClr val="accent1"/>
          </a:solidFill>
          <a:prstDash val="solid"/>
          <a:round/>
        </a:ln>
        <a:effectLst>
          <a:outerShdw blurRad="50800" dist="38100" dir="5400000" rotWithShape="0">
            <a:srgbClr val="000000">
              <a:alpha val="43137"/>
            </a:srgbClr>
          </a:outerShdw>
        </a:effectLst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Arial"/>
            <a:ea typeface="Arial"/>
            <a:cs typeface="Arial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包图主题2">
  <a:themeElements>
    <a:clrScheme name="包图主题2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E53238"/>
      </a:accent1>
      <a:accent2>
        <a:srgbClr val="0064D2"/>
      </a:accent2>
      <a:accent3>
        <a:srgbClr val="801C1F"/>
      </a:accent3>
      <a:accent4>
        <a:srgbClr val="003876"/>
      </a:accent4>
      <a:accent5>
        <a:srgbClr val="621618"/>
      </a:accent5>
      <a:accent6>
        <a:srgbClr val="002B5A"/>
      </a:accent6>
      <a:hlink>
        <a:srgbClr val="0000FF"/>
      </a:hlink>
      <a:folHlink>
        <a:srgbClr val="FF00FF"/>
      </a:folHlink>
    </a:clrScheme>
    <a:fontScheme name="包图主题2">
      <a:majorFont>
        <a:latin typeface="等线"/>
        <a:ea typeface="等线"/>
        <a:cs typeface="等线"/>
      </a:majorFont>
      <a:minorFont>
        <a:latin typeface="Helvetica"/>
        <a:ea typeface="Helvetica"/>
        <a:cs typeface="Helvetica"/>
      </a:minorFont>
    </a:fontScheme>
    <a:fmtScheme name="包图主题2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38100" dir="5400000" rotWithShape="0">
              <a:srgbClr val="000000">
                <a:alpha val="43137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43137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43137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38100" cap="flat">
          <a:solidFill>
            <a:schemeClr val="accent1"/>
          </a:solidFill>
          <a:prstDash val="solid"/>
          <a:round/>
        </a:ln>
        <a:effectLst>
          <a:outerShdw blurRad="50800" dist="38100" dir="5400000" rotWithShape="0">
            <a:srgbClr val="000000">
              <a:alpha val="43137"/>
            </a:srgbClr>
          </a:outerShdw>
        </a:effectLst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Arial"/>
            <a:ea typeface="Arial"/>
            <a:cs typeface="Arial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38100" cap="flat">
          <a:solidFill>
            <a:schemeClr val="accent1"/>
          </a:solidFill>
          <a:prstDash val="solid"/>
          <a:round/>
        </a:ln>
        <a:effectLst>
          <a:outerShdw blurRad="50800" dist="38100" dir="5400000" rotWithShape="0">
            <a:srgbClr val="000000">
              <a:alpha val="43137"/>
            </a:srgbClr>
          </a:outerShdw>
        </a:effectLst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Arial"/>
            <a:ea typeface="Arial"/>
            <a:cs typeface="Arial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1246</Words>
  <Application>Microsoft Office PowerPoint</Application>
  <PresentationFormat>宽屏</PresentationFormat>
  <Paragraphs>286</Paragraphs>
  <Slides>15</Slides>
  <Notes>13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20" baseType="lpstr">
      <vt:lpstr>等线</vt:lpstr>
      <vt:lpstr>微软雅黑</vt:lpstr>
      <vt:lpstr>Arial</vt:lpstr>
      <vt:lpstr>Wingdings</vt:lpstr>
      <vt:lpstr>1_包图主题2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幻灯片 1</dc:title>
  <dc:creator>K_OCEAN</dc:creator>
  <cp:lastModifiedBy>陈晶</cp:lastModifiedBy>
  <cp:revision>1066</cp:revision>
  <dcterms:created xsi:type="dcterms:W3CDTF">2019-03-25T05:53:00Z</dcterms:created>
  <dcterms:modified xsi:type="dcterms:W3CDTF">2025-05-27T02:16:33Z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2052-10.1.0.5740</vt:lpwstr>
  </property>
</Properties>
</file>