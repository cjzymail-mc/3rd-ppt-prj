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7.xml" ContentType="application/vnd.openxmlformats-officedocument.presentationml.notesSlide+xml"/>
  <Override PartName="/ppt/charts/chart6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640" r:id="rId3"/>
    <p:sldId id="810" r:id="rId4"/>
    <p:sldId id="870" r:id="rId5"/>
    <p:sldId id="878" r:id="rId6"/>
    <p:sldId id="932" r:id="rId7"/>
    <p:sldId id="939" r:id="rId8"/>
    <p:sldId id="940" r:id="rId9"/>
    <p:sldId id="946" r:id="rId10"/>
    <p:sldId id="936" r:id="rId11"/>
    <p:sldId id="866" r:id="rId12"/>
    <p:sldId id="947" r:id="rId13"/>
    <p:sldId id="948" r:id="rId14"/>
    <p:sldId id="950" r:id="rId15"/>
    <p:sldId id="297" r:id="rId16"/>
    <p:sldId id="966" r:id="rId17"/>
    <p:sldId id="965" r:id="rId18"/>
    <p:sldId id="1060" r:id="rId19"/>
    <p:sldId id="1061" r:id="rId20"/>
    <p:sldId id="1077" r:id="rId21"/>
    <p:sldId id="1251" r:id="rId2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24">
          <p15:clr>
            <a:srgbClr val="A4A3A4"/>
          </p15:clr>
        </p15:guide>
        <p15:guide id="2" pos="39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540"/>
    <a:srgbClr val="04B555"/>
    <a:srgbClr val="CACACA"/>
    <a:srgbClr val="C3E0FF"/>
    <a:srgbClr val="F5ADAF"/>
    <a:srgbClr val="E16776"/>
    <a:srgbClr val="E9BDDD"/>
    <a:srgbClr val="4BA1FF"/>
    <a:srgbClr val="6393BC"/>
    <a:srgbClr val="263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37" autoAdjust="0"/>
    <p:restoredTop sz="65688" autoAdjust="0"/>
  </p:normalViewPr>
  <p:slideViewPr>
    <p:cSldViewPr>
      <p:cViewPr varScale="1">
        <p:scale>
          <a:sx n="84" d="100"/>
          <a:sy n="84" d="100"/>
        </p:scale>
        <p:origin x="1506" y="72"/>
      </p:cViewPr>
      <p:guideLst>
        <p:guide orient="horz" pos="2024"/>
        <p:guide pos="3939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NULL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345\Desktop\&#12304;&#21151;&#33021;&#35797;&#31359;&#12305;\&#25968;&#25454;%20v2.1%20&#26381;&#35013;%2020250520%2090G&#21628;&#21560;&#32433;&#20108;&#20195;&#27735;&#24067;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&#24037;&#20316;&#31807;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file:///D:\Documents%20and%20Settings\xy24\Desktop\20260521%20&#26381;&#35013;&#35797;&#31359;&#25253;&#21578;%20%20&#32039;&#36523;&#32972;&#24515;%202025%20&#25968;&#25454;%20v2.2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spPr>
            <a:solidFill>
              <a:srgbClr val="C00000"/>
            </a:solidFill>
            <a:ln>
              <a:noFill/>
            </a:ln>
            <a:effectLst/>
            <a:sp3d/>
          </c:spPr>
          <c:invertIfNegative val="0"/>
          <c:dLbls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Lit>
              <c:ptCount val="7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  <c:pt idx="6">
                <c:v>G</c:v>
              </c:pt>
            </c:strLit>
          </c:cat>
          <c:val>
            <c:numLit>
              <c:formatCode>General</c:formatCode>
              <c:ptCount val="7"/>
              <c:pt idx="0">
                <c:v>4</c:v>
              </c:pt>
              <c:pt idx="1">
                <c:v>5</c:v>
              </c:pt>
              <c:pt idx="2">
                <c:v>6</c:v>
              </c:pt>
              <c:pt idx="3">
                <c:v>7</c:v>
              </c:pt>
              <c:pt idx="4">
                <c:v>8</c:v>
              </c:pt>
              <c:pt idx="5">
                <c:v>9</c:v>
              </c:pt>
              <c:pt idx="6">
                <c:v>10</c:v>
              </c:pt>
            </c:numLit>
          </c:val>
          <c:extLst>
            <c:ext xmlns:c16="http://schemas.microsoft.com/office/drawing/2014/chart" uri="{C3380CC4-5D6E-409C-BE32-E72D297353CC}">
              <c16:uniqueId val="{00000000-0C42-44F5-BAE0-8ACEE41664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584554832"/>
        <c:axId val="584549424"/>
        <c:axId val="0"/>
      </c:bar3DChart>
      <c:catAx>
        <c:axId val="58455483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49424"/>
        <c:crosses val="autoZero"/>
        <c:auto val="1"/>
        <c:lblAlgn val="ctr"/>
        <c:lblOffset val="100"/>
        <c:noMultiLvlLbl val="0"/>
      </c:catAx>
      <c:valAx>
        <c:axId val="584549424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8455483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b="1"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90g轻量正方格'!$C$6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EA0B-468D-92A9-C9B4793DBF41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EA0B-468D-92A9-C9B4793DBF41}"/>
              </c:ext>
            </c:extLst>
          </c:dPt>
          <c:dPt>
            <c:idx val="2"/>
            <c:invertIfNegative val="0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EA0B-468D-92A9-C9B4793DBF41}"/>
              </c:ext>
            </c:extLst>
          </c:dPt>
          <c:dPt>
            <c:idx val="3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7-EA0B-468D-92A9-C9B4793DBF41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9-EA0B-468D-92A9-C9B4793DBF4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90g轻量正方格'!$B$7:$B$11</c:f>
              <c:strCache>
                <c:ptCount val="5"/>
                <c:pt idx="0">
                  <c:v>整体</c:v>
                </c:pt>
                <c:pt idx="1">
                  <c:v>衣领</c:v>
                </c:pt>
                <c:pt idx="2">
                  <c:v>袖口</c:v>
                </c:pt>
                <c:pt idx="3">
                  <c:v>胸围</c:v>
                </c:pt>
                <c:pt idx="4">
                  <c:v>腰围</c:v>
                </c:pt>
              </c:strCache>
            </c:strRef>
          </c:cat>
          <c:val>
            <c:numRef>
              <c:f>'服装试穿反馈 对标soar天海花女子长款转印 90g轻量正方格'!$C$7:$C$11</c:f>
              <c:numCache>
                <c:formatCode>0.0</c:formatCode>
                <c:ptCount val="5"/>
                <c:pt idx="0">
                  <c:v>4.3</c:v>
                </c:pt>
                <c:pt idx="1">
                  <c:v>4.8</c:v>
                </c:pt>
                <c:pt idx="2">
                  <c:v>3.3</c:v>
                </c:pt>
                <c:pt idx="3">
                  <c:v>4</c:v>
                </c:pt>
                <c:pt idx="4">
                  <c:v>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A0B-468D-92A9-C9B4793DB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00511"/>
        <c:axId val="1190402431"/>
      </c:barChart>
      <c:catAx>
        <c:axId val="119040051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02431"/>
        <c:crosses val="autoZero"/>
        <c:auto val="1"/>
        <c:lblAlgn val="ctr"/>
        <c:lblOffset val="100"/>
        <c:noMultiLvlLbl val="0"/>
      </c:catAx>
      <c:valAx>
        <c:axId val="119040243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005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701baa8-a723-4dcb-913b-9d5e2c3b373a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90g轻量正方格'!$C$18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3692-495C-8635-FE06E9846ABD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3692-495C-8635-FE06E9846ABD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3692-495C-8635-FE06E9846AB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90g轻量正方格'!$B$19:$B$21</c:f>
              <c:strCache>
                <c:ptCount val="3"/>
                <c:pt idx="0">
                  <c:v>亲肤度/手感</c:v>
                </c:pt>
                <c:pt idx="1">
                  <c:v>透气性</c:v>
                </c:pt>
                <c:pt idx="2">
                  <c:v>轻量化</c:v>
                </c:pt>
              </c:strCache>
            </c:strRef>
          </c:cat>
          <c:val>
            <c:numRef>
              <c:f>'服装试穿反馈 对标soar天海花女子长款转印 90g轻量正方格'!$C$19:$C$21</c:f>
              <c:numCache>
                <c:formatCode>0.0</c:formatCode>
                <c:ptCount val="3"/>
                <c:pt idx="0">
                  <c:v>4.8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692-495C-8635-FE06E9846A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24031"/>
        <c:axId val="1190408671"/>
      </c:barChart>
      <c:catAx>
        <c:axId val="119042403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08671"/>
        <c:crosses val="autoZero"/>
        <c:auto val="1"/>
        <c:lblAlgn val="ctr"/>
        <c:lblOffset val="100"/>
        <c:noMultiLvlLbl val="0"/>
      </c:catAx>
      <c:valAx>
        <c:axId val="119040867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2403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0f9708f-eb63-40a5-a4b0-13a0add9258b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90g轻量正方格'!$C$28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8DCD-4144-8F41-1B2D6EC55D39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8DCD-4144-8F41-1B2D6EC55D39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8DCD-4144-8F41-1B2D6EC55D3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90g轻量正方格'!$B$29:$B$31</c:f>
              <c:strCache>
                <c:ptCount val="3"/>
                <c:pt idx="0">
                  <c:v>整体</c:v>
                </c:pt>
                <c:pt idx="1">
                  <c:v>前胸</c:v>
                </c:pt>
                <c:pt idx="2">
                  <c:v>后背</c:v>
                </c:pt>
              </c:strCache>
            </c:strRef>
          </c:cat>
          <c:val>
            <c:numRef>
              <c:f>'服装试穿反馈 对标soar天海花女子长款转印 90g轻量正方格'!$C$29:$C$31</c:f>
              <c:numCache>
                <c:formatCode>0.0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DCD-4144-8F41-1B2D6EC55D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18751"/>
        <c:axId val="1190411551"/>
      </c:barChart>
      <c:catAx>
        <c:axId val="119041875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11551"/>
        <c:crosses val="autoZero"/>
        <c:auto val="1"/>
        <c:lblAlgn val="ctr"/>
        <c:lblOffset val="100"/>
        <c:noMultiLvlLbl val="0"/>
      </c:catAx>
      <c:valAx>
        <c:axId val="119041155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1875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09fd2c2-747e-4ed8-be10-4fc9f7f62907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'服装试穿反馈 对标soar天海花女子长款转印 90g轻量正方格'!$C$38</c:f>
              <c:strCache>
                <c:ptCount val="1"/>
                <c:pt idx="0">
                  <c:v>评分（低于3.5分自动填充黑色）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1-64B3-4D19-8973-3F1F0EBC816E}"/>
              </c:ext>
            </c:extLst>
          </c:dPt>
          <c:dPt>
            <c:idx val="1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3-64B3-4D19-8973-3F1F0EBC816E}"/>
              </c:ext>
            </c:extLst>
          </c:dPt>
          <c:dPt>
            <c:idx val="2"/>
            <c:invertIfNegative val="0"/>
            <c:bubble3D val="0"/>
            <c:spPr>
              <a:solidFill>
                <a:srgbClr val="FF0000"/>
              </a:solidFill>
            </c:spPr>
            <c:extLst>
              <c:ext xmlns:c16="http://schemas.microsoft.com/office/drawing/2014/chart" uri="{C3380CC4-5D6E-409C-BE32-E72D297353CC}">
                <c16:uniqueId val="{00000005-64B3-4D19-8973-3F1F0EBC816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'服装试穿反馈 对标soar天海花女子长款转印 90g轻量正方格'!$B$39:$B$41</c:f>
              <c:strCache>
                <c:ptCount val="3"/>
                <c:pt idx="0">
                  <c:v>整体</c:v>
                </c:pt>
                <c:pt idx="1">
                  <c:v>前胸</c:v>
                </c:pt>
                <c:pt idx="2">
                  <c:v>后背</c:v>
                </c:pt>
              </c:strCache>
            </c:strRef>
          </c:cat>
          <c:val>
            <c:numRef>
              <c:f>'服装试穿反馈 对标soar天海花女子长款转印 90g轻量正方格'!$C$39:$C$41</c:f>
              <c:numCache>
                <c:formatCode>0.0</c:formatCode>
                <c:ptCount val="3"/>
                <c:pt idx="0">
                  <c:v>5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B3-4D19-8973-3F1F0EBC81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90410591"/>
        <c:axId val="1190418271"/>
      </c:barChart>
      <c:catAx>
        <c:axId val="119041059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0418271"/>
        <c:crosses val="autoZero"/>
        <c:auto val="1"/>
        <c:lblAlgn val="ctr"/>
        <c:lblOffset val="100"/>
        <c:noMultiLvlLbl val="0"/>
      </c:catAx>
      <c:valAx>
        <c:axId val="1190418271"/>
        <c:scaling>
          <c:orientation val="minMax"/>
          <c:max val="5"/>
          <c:min val="0"/>
        </c:scaling>
        <c:delete val="1"/>
        <c:axPos val="b"/>
        <c:numFmt formatCode="0.0" sourceLinked="1"/>
        <c:majorTickMark val="out"/>
        <c:minorTickMark val="none"/>
        <c:tickLblPos val="nextTo"/>
        <c:crossAx val="119041059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77578f9-402e-4364-9111-580f51a1e9a0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Sheet1!$D$4</c:f>
              <c:strCache>
                <c:ptCount val="1"/>
                <c:pt idx="0">
                  <c:v>起点（占位）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Sheet1!$C$5:$C$6</c:f>
              <c:strCache>
                <c:ptCount val="2"/>
                <c:pt idx="0">
                  <c:v>体感适宜区间</c:v>
                </c:pt>
                <c:pt idx="1">
                  <c:v>实际穿着区间</c:v>
                </c:pt>
              </c:strCache>
            </c:strRef>
          </c:cat>
          <c:val>
            <c:numRef>
              <c:f>Sheet1!$D$5:$D$6</c:f>
              <c:numCache>
                <c:formatCode>General</c:formatCode>
                <c:ptCount val="2"/>
                <c:pt idx="0">
                  <c:v>5</c:v>
                </c:pt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AA-4673-9EDA-08C3CF00FCFE}"/>
            </c:ext>
          </c:extLst>
        </c:ser>
        <c:ser>
          <c:idx val="1"/>
          <c:order val="1"/>
          <c:tx>
            <c:strRef>
              <c:f>Sheet1!$E$4</c:f>
              <c:strCache>
                <c:ptCount val="1"/>
                <c:pt idx="0">
                  <c:v>温度区间（℃）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Sheet1!$C$5:$C$6</c:f>
              <c:strCache>
                <c:ptCount val="2"/>
                <c:pt idx="0">
                  <c:v>体感适宜区间</c:v>
                </c:pt>
                <c:pt idx="1">
                  <c:v>实际穿着区间</c:v>
                </c:pt>
              </c:strCache>
            </c:strRef>
          </c:cat>
          <c:val>
            <c:numRef>
              <c:f>Sheet1!$E$5:$E$6</c:f>
              <c:numCache>
                <c:formatCode>General</c:formatCode>
                <c:ptCount val="2"/>
                <c:pt idx="0">
                  <c:v>20</c:v>
                </c:pt>
                <c:pt idx="1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DAA-4673-9EDA-08C3CF00FCFE}"/>
            </c:ext>
          </c:extLst>
        </c:ser>
        <c:ser>
          <c:idx val="2"/>
          <c:order val="2"/>
          <c:tx>
            <c:strRef>
              <c:f>Sheet1!$F$4</c:f>
              <c:strCache>
                <c:ptCount val="1"/>
                <c:pt idx="0">
                  <c:v>终点（占位）</c:v>
                </c:pt>
              </c:strCache>
            </c:strRef>
          </c:tx>
          <c:spPr>
            <a:noFill/>
            <a:ln>
              <a:noFill/>
            </a:ln>
            <a:effectLst/>
          </c:spPr>
          <c:invertIfNegative val="0"/>
          <c:cat>
            <c:strRef>
              <c:f>Sheet1!$C$5:$C$6</c:f>
              <c:strCache>
                <c:ptCount val="2"/>
                <c:pt idx="0">
                  <c:v>体感适宜区间</c:v>
                </c:pt>
                <c:pt idx="1">
                  <c:v>实际穿着区间</c:v>
                </c:pt>
              </c:strCache>
            </c:strRef>
          </c:cat>
          <c:val>
            <c:numRef>
              <c:f>Sheet1!$F$5:$F$6</c:f>
              <c:numCache>
                <c:formatCode>General</c:formatCode>
                <c:ptCount val="2"/>
                <c:pt idx="0">
                  <c:v>10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DAA-4673-9EDA-08C3CF00FC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17173839"/>
        <c:axId val="517184879"/>
      </c:barChart>
      <c:catAx>
        <c:axId val="51717383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17184879"/>
        <c:crosses val="autoZero"/>
        <c:auto val="1"/>
        <c:lblAlgn val="ctr"/>
        <c:lblOffset val="100"/>
        <c:noMultiLvlLbl val="0"/>
      </c:catAx>
      <c:valAx>
        <c:axId val="51718487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517173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delete val="1"/>
      </c:legendEntry>
      <c:legendEntry>
        <c:idx val="2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'服装试穿问卷--紧身背心'!$B$61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'服装试穿问卷--紧身背心'!$A$62:$A$67</c:f>
              <c:strCache>
                <c:ptCount val="6"/>
                <c:pt idx="0">
                  <c:v>整体</c:v>
                </c:pt>
                <c:pt idx="1">
                  <c:v>领口</c:v>
                </c:pt>
                <c:pt idx="2">
                  <c:v>袖口</c:v>
                </c:pt>
                <c:pt idx="3">
                  <c:v>肩部</c:v>
                </c:pt>
                <c:pt idx="4">
                  <c:v>胸围</c:v>
                </c:pt>
                <c:pt idx="5">
                  <c:v>腰围</c:v>
                </c:pt>
              </c:strCache>
            </c:strRef>
          </c:cat>
          <c:val>
            <c:numRef>
              <c:f>'服装试穿问卷--紧身背心'!$B$62:$B$67</c:f>
              <c:numCache>
                <c:formatCode>General</c:formatCode>
                <c:ptCount val="6"/>
                <c:pt idx="0">
                  <c:v>4.1100000000000003</c:v>
                </c:pt>
                <c:pt idx="1">
                  <c:v>4</c:v>
                </c:pt>
                <c:pt idx="2">
                  <c:v>3.89</c:v>
                </c:pt>
                <c:pt idx="3">
                  <c:v>4.1100000000000003</c:v>
                </c:pt>
                <c:pt idx="4">
                  <c:v>3.67</c:v>
                </c:pt>
                <c:pt idx="5">
                  <c:v>4.1100000000000003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36-4EB3-8511-0BEDC55683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216447"/>
        <c:axId val="1507215967"/>
      </c:barChart>
      <c:catAx>
        <c:axId val="150721644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15967"/>
        <c:crosses val="autoZero"/>
        <c:auto val="1"/>
        <c:lblAlgn val="ctr"/>
        <c:lblOffset val="100"/>
        <c:noMultiLvlLbl val="0"/>
      </c:catAx>
      <c:valAx>
        <c:axId val="150721596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1644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319c4f05-4067-490d-83ed-4af1ff97e129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'服装试穿问卷--紧身背心'!$B$72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'服装试穿问卷--紧身背心'!$A$73:$A$75</c:f>
              <c:strCache>
                <c:ptCount val="3"/>
                <c:pt idx="0">
                  <c:v>手感/亲肤度</c:v>
                </c:pt>
                <c:pt idx="1">
                  <c:v>轻量化</c:v>
                </c:pt>
                <c:pt idx="2">
                  <c:v>透气性</c:v>
                </c:pt>
              </c:strCache>
            </c:strRef>
          </c:cat>
          <c:val>
            <c:numRef>
              <c:f>'服装试穿问卷--紧身背心'!$B$73:$B$75</c:f>
              <c:numCache>
                <c:formatCode>General</c:formatCode>
                <c:ptCount val="3"/>
                <c:pt idx="0">
                  <c:v>4.1100000000000003</c:v>
                </c:pt>
                <c:pt idx="1">
                  <c:v>3.89</c:v>
                </c:pt>
                <c:pt idx="2">
                  <c:v>3.89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75-462A-B6BD-2C813932FA9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222687"/>
        <c:axId val="1507247167"/>
      </c:barChart>
      <c:catAx>
        <c:axId val="150722268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47167"/>
        <c:crosses val="autoZero"/>
        <c:auto val="1"/>
        <c:lblAlgn val="ctr"/>
        <c:lblOffset val="100"/>
        <c:noMultiLvlLbl val="0"/>
      </c:catAx>
      <c:valAx>
        <c:axId val="150724716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2268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09e2d559-9aab-4644-904c-24daad720695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'服装试穿问卷--紧身背心'!$B$80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Pt>
            <c:idx val="3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0-360F-4488-BBED-FF1786070DA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'服装试穿问卷--紧身背心'!$A$81:$A$84</c:f>
              <c:strCache>
                <c:ptCount val="4"/>
                <c:pt idx="0">
                  <c:v>整体</c:v>
                </c:pt>
                <c:pt idx="1">
                  <c:v>腋下</c:v>
                </c:pt>
                <c:pt idx="2">
                  <c:v>后腰</c:v>
                </c:pt>
                <c:pt idx="3">
                  <c:v>前胸</c:v>
                </c:pt>
              </c:strCache>
            </c:strRef>
          </c:cat>
          <c:val>
            <c:numRef>
              <c:f>'服装试穿问卷--紧身背心'!$B$81:$B$84</c:f>
              <c:numCache>
                <c:formatCode>General</c:formatCode>
                <c:ptCount val="4"/>
                <c:pt idx="0">
                  <c:v>3.78</c:v>
                </c:pt>
                <c:pt idx="1">
                  <c:v>3.56</c:v>
                </c:pt>
                <c:pt idx="2">
                  <c:v>3.67</c:v>
                </c:pt>
                <c:pt idx="3">
                  <c:v>3.44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EE-4FDD-915B-D8D46727E2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248127"/>
        <c:axId val="1507192927"/>
      </c:barChart>
      <c:catAx>
        <c:axId val="150724812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192927"/>
        <c:crosses val="autoZero"/>
        <c:auto val="1"/>
        <c:lblAlgn val="ctr"/>
        <c:lblOffset val="100"/>
        <c:noMultiLvlLbl val="0"/>
      </c:catAx>
      <c:valAx>
        <c:axId val="150719292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24812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a72a60fe-f569-4908-bb18-0a8d26e977e0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'服装试穿问卷--紧身背心'!$B$89</c:f>
              <c:strCache>
                <c:ptCount val="1"/>
                <c:pt idx="0">
                  <c:v>均值</c:v>
                </c:pt>
              </c:strCache>
            </c:strRef>
          </c:tx>
          <c:invertIfNegative val="0"/>
          <c:dPt>
            <c:idx val="3"/>
            <c:invertIfNegative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0-CD5D-438D-9F6F-CDF0FD781D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'服装试穿问卷--紧身背心'!$A$90:$A$93</c:f>
              <c:strCache>
                <c:ptCount val="4"/>
                <c:pt idx="0">
                  <c:v>整体</c:v>
                </c:pt>
                <c:pt idx="1">
                  <c:v>腋下</c:v>
                </c:pt>
                <c:pt idx="2">
                  <c:v>后腰</c:v>
                </c:pt>
                <c:pt idx="3">
                  <c:v>前胸</c:v>
                </c:pt>
              </c:strCache>
            </c:strRef>
          </c:cat>
          <c:val>
            <c:numRef>
              <c:f>'服装试穿问卷--紧身背心'!$B$90:$B$93</c:f>
              <c:numCache>
                <c:formatCode>General</c:formatCode>
                <c:ptCount val="4"/>
                <c:pt idx="0">
                  <c:v>3.67</c:v>
                </c:pt>
                <c:pt idx="1">
                  <c:v>3.56</c:v>
                </c:pt>
                <c:pt idx="2">
                  <c:v>3.67</c:v>
                </c:pt>
                <c:pt idx="3">
                  <c:v>3.22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BD-4E3F-91DB-EBBE83F780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507188607"/>
        <c:axId val="1507195807"/>
      </c:barChart>
      <c:catAx>
        <c:axId val="1507188607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195807"/>
        <c:crosses val="autoZero"/>
        <c:auto val="1"/>
        <c:lblAlgn val="ctr"/>
        <c:lblOffset val="100"/>
        <c:noMultiLvlLbl val="0"/>
      </c:catAx>
      <c:valAx>
        <c:axId val="1507195807"/>
        <c:scaling>
          <c:orientation val="minMax"/>
          <c:max val="6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noFill/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507188607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1fee6a1e-27ba-4318-8942-0286a13ca3ed}"/>
      </c:ext>
    </c:extLst>
  </c:chart>
  <c:txPr>
    <a:bodyPr/>
    <a:lstStyle/>
    <a:p>
      <a:pPr>
        <a:defRPr lang="zh-CN"/>
      </a:pPr>
      <a:endParaRPr lang="zh-CN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62" name="Shape 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576199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 panose="02010600030101010101" charset="-122"/>
      </a:defRPr>
    </a:lvl1pPr>
    <a:lvl2pPr indent="228600" latinLnBrk="0">
      <a:defRPr sz="1200">
        <a:latin typeface="+mj-lt"/>
        <a:ea typeface="+mj-ea"/>
        <a:cs typeface="+mj-cs"/>
        <a:sym typeface="等线" panose="02010600030101010101" charset="-122"/>
      </a:defRPr>
    </a:lvl2pPr>
    <a:lvl3pPr indent="457200" latinLnBrk="0">
      <a:defRPr sz="1200">
        <a:latin typeface="+mj-lt"/>
        <a:ea typeface="+mj-ea"/>
        <a:cs typeface="+mj-cs"/>
        <a:sym typeface="等线" panose="02010600030101010101" charset="-122"/>
      </a:defRPr>
    </a:lvl3pPr>
    <a:lvl4pPr indent="685800" latinLnBrk="0">
      <a:defRPr sz="1200">
        <a:latin typeface="+mj-lt"/>
        <a:ea typeface="+mj-ea"/>
        <a:cs typeface="+mj-cs"/>
        <a:sym typeface="等线" panose="02010600030101010101" charset="-122"/>
      </a:defRPr>
    </a:lvl4pPr>
    <a:lvl5pPr indent="914400" latinLnBrk="0">
      <a:defRPr sz="1200">
        <a:latin typeface="+mj-lt"/>
        <a:ea typeface="+mj-ea"/>
        <a:cs typeface="+mj-cs"/>
        <a:sym typeface="等线" panose="02010600030101010101" charset="-122"/>
      </a:defRPr>
    </a:lvl5pPr>
    <a:lvl6pPr indent="1143000" latinLnBrk="0">
      <a:defRPr sz="1200">
        <a:latin typeface="+mj-lt"/>
        <a:ea typeface="+mj-ea"/>
        <a:cs typeface="+mj-cs"/>
        <a:sym typeface="等线" panose="02010600030101010101" charset="-122"/>
      </a:defRPr>
    </a:lvl6pPr>
    <a:lvl7pPr indent="1371600" latinLnBrk="0">
      <a:defRPr sz="1200">
        <a:latin typeface="+mj-lt"/>
        <a:ea typeface="+mj-ea"/>
        <a:cs typeface="+mj-cs"/>
        <a:sym typeface="等线" panose="02010600030101010101" charset="-122"/>
      </a:defRPr>
    </a:lvl7pPr>
    <a:lvl8pPr indent="1600200" latinLnBrk="0">
      <a:defRPr sz="1200">
        <a:latin typeface="+mj-lt"/>
        <a:ea typeface="+mj-ea"/>
        <a:cs typeface="+mj-cs"/>
        <a:sym typeface="等线" panose="02010600030101010101" charset="-122"/>
      </a:defRPr>
    </a:lvl8pPr>
    <a:lvl9pPr indent="1828800" latinLnBrk="0">
      <a:defRPr sz="1200">
        <a:latin typeface="+mj-lt"/>
        <a:ea typeface="+mj-ea"/>
        <a:cs typeface="+mj-cs"/>
        <a:sym typeface="等线" panose="02010600030101010101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baseline="0" dirty="0"/>
          </a:p>
        </p:txBody>
      </p:sp>
    </p:spTree>
    <p:extLst>
      <p:ext uri="{BB962C8B-B14F-4D97-AF65-F5344CB8AC3E}">
        <p14:creationId xmlns:p14="http://schemas.microsoft.com/office/powerpoint/2010/main" val="1302835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52579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05788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56860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2027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3120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445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跑鞋弯折范围：</a:t>
            </a:r>
            <a:r>
              <a:rPr lang="en-US" altLang="zh-CN" dirty="0"/>
              <a:t>5~40</a:t>
            </a:r>
            <a:r>
              <a:rPr lang="zh-CN" altLang="en-US" dirty="0"/>
              <a:t>，扭转范围：</a:t>
            </a:r>
            <a:r>
              <a:rPr lang="en-US" altLang="zh-CN" dirty="0"/>
              <a:t>0.5~8</a:t>
            </a:r>
            <a:r>
              <a:rPr lang="zh-CN" altLang="en-US" dirty="0"/>
              <a:t>，缓冲范围：</a:t>
            </a:r>
            <a:r>
              <a:rPr lang="en-US" altLang="zh-CN" dirty="0"/>
              <a:t>4~16</a:t>
            </a:r>
            <a:r>
              <a:rPr lang="zh-CN" altLang="en-US" dirty="0"/>
              <a:t>，回弹范围：</a:t>
            </a:r>
            <a:r>
              <a:rPr lang="en-US" altLang="zh-CN" dirty="0"/>
              <a:t>30~70</a:t>
            </a:r>
          </a:p>
          <a:p>
            <a:endParaRPr lang="en-US" altLang="zh-CN" dirty="0"/>
          </a:p>
          <a:p>
            <a:r>
              <a:rPr lang="zh-CN" altLang="en-US" dirty="0"/>
              <a:t>大致覆盖</a:t>
            </a:r>
            <a:r>
              <a:rPr lang="en-US" altLang="zh-CN" dirty="0"/>
              <a:t>80%</a:t>
            </a:r>
            <a:r>
              <a:rPr lang="zh-CN" altLang="en-US" dirty="0"/>
              <a:t>类型跑鞋的数据范围：弯折</a:t>
            </a:r>
            <a:r>
              <a:rPr lang="en-US" altLang="zh-CN" dirty="0"/>
              <a:t>11~28</a:t>
            </a:r>
            <a:r>
              <a:rPr lang="zh-CN" altLang="en-US" dirty="0"/>
              <a:t>，扭转</a:t>
            </a:r>
            <a:r>
              <a:rPr lang="en-US" altLang="zh-CN" dirty="0"/>
              <a:t>2~6</a:t>
            </a:r>
            <a:r>
              <a:rPr lang="zh-CN" altLang="en-US" dirty="0"/>
              <a:t>，缓冲：</a:t>
            </a:r>
            <a:r>
              <a:rPr lang="en-US" altLang="zh-CN" dirty="0"/>
              <a:t>6~12</a:t>
            </a:r>
            <a:r>
              <a:rPr lang="zh-CN" altLang="en-US" dirty="0"/>
              <a:t>，回弹</a:t>
            </a:r>
            <a:r>
              <a:rPr lang="en-US" altLang="zh-CN" dirty="0"/>
              <a:t>45~60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8619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6283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步长重心振幅矩阵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52.357142857142854</a:t>
            </a:r>
          </a:p>
          <a:p>
            <a:r>
              <a:rPr lang="de-DE" altLang="zh-CN" sz="700" dirty="0"/>
              <a:t>zero_l = (-7526.142857142857,415)</a:t>
            </a:r>
          </a:p>
          <a:p>
            <a:r>
              <a:rPr lang="de-DE" altLang="zh-CN" sz="700" dirty="0"/>
              <a:t>delt_t = -201.53846153846143</a:t>
            </a:r>
          </a:p>
          <a:p>
            <a:r>
              <a:rPr lang="de-DE" altLang="zh-CN" sz="700" dirty="0"/>
              <a:t>zero_t = (61,2118.230769230768)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341798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重量厚度矩阵</a:t>
            </a:r>
            <a:r>
              <a:rPr lang="en-US" altLang="zh-CN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-</a:t>
            </a:r>
            <a:r>
              <a:rPr lang="zh-CN" altLang="en-US" sz="1200" b="0" i="0" u="none" strike="noStrike" dirty="0">
                <a:effectLst/>
                <a:latin typeface="+mj-lt"/>
                <a:ea typeface="+mj-ea"/>
                <a:cs typeface="+mj-cs"/>
                <a:sym typeface="等线" panose="02010600030101010101" charset="-122"/>
              </a:rPr>
              <a:t>跑步</a:t>
            </a:r>
            <a:r>
              <a:rPr lang="zh-CN" altLang="en-US" sz="800" dirty="0"/>
              <a:t> </a:t>
            </a:r>
            <a:endParaRPr lang="en-US" altLang="zh-CN" sz="800" dirty="0"/>
          </a:p>
          <a:p>
            <a:endParaRPr lang="de-DE" altLang="zh-CN" sz="700" dirty="0"/>
          </a:p>
          <a:p>
            <a:r>
              <a:rPr lang="de-DE" altLang="zh-CN" sz="700" dirty="0"/>
              <a:t>delt_l = -12.637931034482758</a:t>
            </a:r>
          </a:p>
          <a:p>
            <a:r>
              <a:rPr lang="de-DE" altLang="zh-CN" sz="700" dirty="0"/>
              <a:t>zero_l = (3024.7241379310344,415)</a:t>
            </a:r>
          </a:p>
          <a:p>
            <a:r>
              <a:rPr lang="de-DE" altLang="zh-CN" sz="700" dirty="0"/>
              <a:t>delt_t = -17.466666666666665</a:t>
            </a:r>
          </a:p>
          <a:p>
            <a:r>
              <a:rPr lang="de-DE" altLang="zh-CN" sz="700" dirty="0"/>
              <a:t>zero_t = (61,909.0)</a:t>
            </a:r>
          </a:p>
        </p:txBody>
      </p:sp>
    </p:spTree>
    <p:extLst>
      <p:ext uri="{BB962C8B-B14F-4D97-AF65-F5344CB8AC3E}">
        <p14:creationId xmlns:p14="http://schemas.microsoft.com/office/powerpoint/2010/main" val="997982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S+     95-100 </a:t>
            </a:r>
            <a:br>
              <a:rPr lang="en-US" altLang="zh-CN" dirty="0"/>
            </a:br>
            <a:r>
              <a:rPr lang="en-US" altLang="zh-CN" dirty="0"/>
              <a:t>S-     90-95 </a:t>
            </a:r>
            <a:br>
              <a:rPr lang="en-US" altLang="zh-CN" dirty="0"/>
            </a:br>
            <a:r>
              <a:rPr lang="en-US" altLang="zh-CN" dirty="0"/>
              <a:t>A+     85-90 </a:t>
            </a:r>
            <a:br>
              <a:rPr lang="en-US" altLang="zh-CN" dirty="0"/>
            </a:br>
            <a:r>
              <a:rPr lang="en-US" altLang="zh-CN" dirty="0"/>
              <a:t>A-     80-85 </a:t>
            </a:r>
            <a:br>
              <a:rPr lang="en-US" altLang="zh-CN" dirty="0"/>
            </a:br>
            <a:r>
              <a:rPr lang="en-US" altLang="zh-CN" dirty="0"/>
              <a:t>B+     75-80 </a:t>
            </a:r>
            <a:br>
              <a:rPr lang="en-US" altLang="zh-CN" dirty="0"/>
            </a:br>
            <a:r>
              <a:rPr lang="en-US" altLang="zh-CN" dirty="0"/>
              <a:t>B-     70-75 </a:t>
            </a:r>
            <a:br>
              <a:rPr lang="en-US" altLang="zh-CN" dirty="0"/>
            </a:br>
            <a:r>
              <a:rPr lang="en-US" altLang="zh-CN" dirty="0"/>
              <a:t>C+     65-70</a:t>
            </a:r>
            <a:br>
              <a:rPr lang="en-US" altLang="zh-CN" dirty="0"/>
            </a:br>
            <a:r>
              <a:rPr lang="en-US" altLang="zh-CN" dirty="0"/>
              <a:t>C-     60-65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7E194-F591-4967-BDE8-9E9553068FC5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8444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DCC48-DBB6-BEE3-3C06-0394F6AE5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5C8781A-C651-91C3-7F95-2366B1DC5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56FAEB4-486A-9EFE-9D6F-AB210350C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30804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4F2E1-2390-75AF-045D-8190ADC9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DCF58E2-8425-29C4-047D-05D4038A0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CEFCAE2-E407-C86B-9458-280F31C97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160613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A097D-2193-2301-DACF-4647B777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82ECD85-E83E-A276-F8C4-D59A5B0E0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EDBBCED-E2DC-A05E-4533-D021F9AD1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25190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57053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C4278-16CE-65D1-396C-C604C34A0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89D5D2-E94F-082A-E389-7C0A51C77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43DAF-C21A-45E3-30E0-838D57BDD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5602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1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8826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2" name="Picture 2" descr="Picture 2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3175" y="18727"/>
            <a:ext cx="12188825" cy="68580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3" name="直接连接符 3"/>
          <p:cNvSpPr/>
          <p:nvPr userDrawn="1"/>
        </p:nvSpPr>
        <p:spPr>
          <a:xfrm>
            <a:off x="918823" y="6006024"/>
            <a:ext cx="566497" cy="1"/>
          </a:xfrm>
          <a:prstGeom prst="line">
            <a:avLst/>
          </a:prstGeom>
          <a:ln w="28575">
            <a:solidFill>
              <a:srgbClr val="FAD6D7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6" name="Picture 3" descr="Picture 3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4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sp>
        <p:nvSpPr>
          <p:cNvPr id="5" name="MH_Others_1"/>
          <p:cNvSpPr txBox="1"/>
          <p:nvPr userDrawn="1"/>
        </p:nvSpPr>
        <p:spPr>
          <a:xfrm>
            <a:off x="884526" y="2415447"/>
            <a:ext cx="2355376" cy="5715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defRPr sz="3200" b="1">
                <a:solidFill>
                  <a:schemeClr val="accent1"/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lvl1pPr>
          </a:lstStyle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rPr dirty="0">
                <a:latin typeface="微软雅黑" charset="-122"/>
                <a:ea typeface="微软雅黑" charset="-122"/>
                <a:cs typeface="微软雅黑" charset="-122"/>
                <a:sym typeface="微软雅黑" charset="-122"/>
              </a:rPr>
              <a:t>目 录</a:t>
            </a:r>
          </a:p>
        </p:txBody>
      </p:sp>
      <p:sp>
        <p:nvSpPr>
          <p:cNvPr id="6" name="MH_Others_2"/>
          <p:cNvSpPr txBox="1"/>
          <p:nvPr userDrawn="1"/>
        </p:nvSpPr>
        <p:spPr>
          <a:xfrm>
            <a:off x="855951" y="2912113"/>
            <a:ext cx="4252686" cy="85137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defRPr sz="6000"/>
            </a:lvl1pPr>
          </a:lstStyle>
          <a:p>
            <a:r>
              <a:rPr dirty="0"/>
              <a:t>CONTENTS</a:t>
            </a:r>
          </a:p>
        </p:txBody>
      </p:sp>
      <p:grpSp>
        <p:nvGrpSpPr>
          <p:cNvPr id="11" name="组合 3"/>
          <p:cNvGrpSpPr/>
          <p:nvPr userDrawn="1"/>
        </p:nvGrpSpPr>
        <p:grpSpPr>
          <a:xfrm>
            <a:off x="5667186" y="1678674"/>
            <a:ext cx="656829" cy="3496573"/>
            <a:chOff x="0" y="0"/>
            <a:chExt cx="656827" cy="3496572"/>
          </a:xfrm>
        </p:grpSpPr>
        <p:grpSp>
          <p:nvGrpSpPr>
            <p:cNvPr id="12" name="组合 7"/>
            <p:cNvGrpSpPr/>
            <p:nvPr/>
          </p:nvGrpSpPr>
          <p:grpSpPr>
            <a:xfrm>
              <a:off x="16783" y="0"/>
              <a:ext cx="627413" cy="563272"/>
              <a:chOff x="0" y="0"/>
              <a:chExt cx="627411" cy="563271"/>
            </a:xfrm>
          </p:grpSpPr>
          <p:grpSp>
            <p:nvGrpSpPr>
              <p:cNvPr id="30" name="组合 6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32" name="梯形 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33" name="任意多边形 2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31" name="矩形 19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1</a:t>
                </a:r>
              </a:p>
            </p:txBody>
          </p:sp>
        </p:grpSp>
        <p:grpSp>
          <p:nvGrpSpPr>
            <p:cNvPr id="13" name="组合 34"/>
            <p:cNvGrpSpPr/>
            <p:nvPr/>
          </p:nvGrpSpPr>
          <p:grpSpPr>
            <a:xfrm>
              <a:off x="29415" y="957725"/>
              <a:ext cx="627413" cy="563273"/>
              <a:chOff x="0" y="0"/>
              <a:chExt cx="627411" cy="563271"/>
            </a:xfrm>
          </p:grpSpPr>
          <p:grpSp>
            <p:nvGrpSpPr>
              <p:cNvPr id="24" name="组合 35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8" name="梯形 37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9" name="任意多边形 38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5" name="矩形 36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2</a:t>
                </a:r>
              </a:p>
            </p:txBody>
          </p:sp>
        </p:grpSp>
        <p:grpSp>
          <p:nvGrpSpPr>
            <p:cNvPr id="14" name="组合 46"/>
            <p:cNvGrpSpPr/>
            <p:nvPr/>
          </p:nvGrpSpPr>
          <p:grpSpPr>
            <a:xfrm>
              <a:off x="0" y="1934295"/>
              <a:ext cx="627412" cy="986426"/>
              <a:chOff x="0" y="0"/>
              <a:chExt cx="627411" cy="986425"/>
            </a:xfrm>
          </p:grpSpPr>
          <p:grpSp>
            <p:nvGrpSpPr>
              <p:cNvPr id="20" name="组合 47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22" name="梯形 49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23" name="任意多边形 50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21" name="矩形 48"/>
              <p:cNvSpPr txBox="1"/>
              <p:nvPr/>
            </p:nvSpPr>
            <p:spPr>
              <a:xfrm>
                <a:off x="0" y="14865"/>
                <a:ext cx="581034" cy="97156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3</a:t>
                </a:r>
              </a:p>
            </p:txBody>
          </p:sp>
        </p:grpSp>
        <p:grpSp>
          <p:nvGrpSpPr>
            <p:cNvPr id="15" name="组合 52"/>
            <p:cNvGrpSpPr/>
            <p:nvPr/>
          </p:nvGrpSpPr>
          <p:grpSpPr>
            <a:xfrm>
              <a:off x="4152" y="2933300"/>
              <a:ext cx="627413" cy="563273"/>
              <a:chOff x="0" y="0"/>
              <a:chExt cx="627411" cy="563271"/>
            </a:xfrm>
          </p:grpSpPr>
          <p:grpSp>
            <p:nvGrpSpPr>
              <p:cNvPr id="16" name="组合 53"/>
              <p:cNvGrpSpPr/>
              <p:nvPr/>
            </p:nvGrpSpPr>
            <p:grpSpPr>
              <a:xfrm>
                <a:off x="12631" y="0"/>
                <a:ext cx="614781" cy="563272"/>
                <a:chOff x="0" y="0"/>
                <a:chExt cx="614780" cy="563271"/>
              </a:xfrm>
            </p:grpSpPr>
            <p:sp>
              <p:nvSpPr>
                <p:cNvPr id="18" name="梯形 55"/>
                <p:cNvSpPr/>
                <p:nvPr/>
              </p:nvSpPr>
              <p:spPr>
                <a:xfrm rot="10800000">
                  <a:off x="141557" y="267554"/>
                  <a:ext cx="473224" cy="2957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5151" y="0"/>
                      </a:lnTo>
                      <a:lnTo>
                        <a:pt x="16449" y="0"/>
                      </a:lnTo>
                      <a:lnTo>
                        <a:pt x="21600" y="21600"/>
                      </a:lnTo>
                      <a:close/>
                    </a:path>
                  </a:pathLst>
                </a:custGeom>
                <a:solidFill>
                  <a:srgbClr val="7C1013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  <a:endParaRPr dirty="0"/>
                </a:p>
              </p:txBody>
            </p:sp>
            <p:sp>
              <p:nvSpPr>
                <p:cNvPr id="19" name="任意多边形 56"/>
                <p:cNvSpPr/>
                <p:nvPr/>
              </p:nvSpPr>
              <p:spPr>
                <a:xfrm>
                  <a:off x="-1" y="-1"/>
                  <a:ext cx="527698" cy="5632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0629" y="21600"/>
                      </a:lnTo>
                      <a:lnTo>
                        <a:pt x="21600" y="2046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 sz="2000">
                      <a:solidFill>
                        <a:srgbClr val="FFFFFF"/>
                      </a:solidFill>
                    </a:defRPr>
                  </a:pPr>
                  <a:endParaRPr sz="1800" dirty="0"/>
                </a:p>
              </p:txBody>
            </p:sp>
          </p:grpSp>
          <p:sp>
            <p:nvSpPr>
              <p:cNvPr id="17" name="矩形 54"/>
              <p:cNvSpPr txBox="1"/>
              <p:nvPr/>
            </p:nvSpPr>
            <p:spPr>
              <a:xfrm>
                <a:off x="0" y="14865"/>
                <a:ext cx="581034" cy="48620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t">
                <a:spAutoFit/>
              </a:bodyPr>
              <a:lstStyle>
                <a:lvl1pPr algn="ctr">
                  <a:lnSpc>
                    <a:spcPct val="120000"/>
                  </a:lnSpc>
                  <a:defRPr sz="2800" b="1">
                    <a:solidFill>
                      <a:srgbClr val="FFFFFF"/>
                    </a:solidFill>
                  </a:defRPr>
                </a:lvl1pPr>
              </a:lstStyle>
              <a:p>
                <a:r>
                  <a:rPr dirty="0"/>
                  <a:t>4</a:t>
                </a:r>
              </a:p>
            </p:txBody>
          </p:sp>
        </p:grpSp>
      </p:grpSp>
      <p:sp>
        <p:nvSpPr>
          <p:cNvPr id="34" name="直接连接符 63"/>
          <p:cNvSpPr/>
          <p:nvPr userDrawn="1"/>
        </p:nvSpPr>
        <p:spPr>
          <a:xfrm>
            <a:off x="889515" y="5521552"/>
            <a:ext cx="828676" cy="1"/>
          </a:xfrm>
          <a:prstGeom prst="line">
            <a:avLst/>
          </a:prstGeom>
          <a:ln w="28575">
            <a:solidFill>
              <a:srgbClr val="000000"/>
            </a:solidFill>
          </a:ln>
        </p:spPr>
        <p:txBody>
          <a:bodyPr lIns="45719" rIns="45719"/>
          <a:lstStyle/>
          <a:p>
            <a:endParaRPr dirty="0"/>
          </a:p>
        </p:txBody>
      </p:sp>
      <p:sp>
        <p:nvSpPr>
          <p:cNvPr id="49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0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1" name="文本框 50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2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3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4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5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6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7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1"/>
          <p:cNvSpPr txBox="1"/>
          <p:nvPr/>
        </p:nvSpPr>
        <p:spPr>
          <a:xfrm>
            <a:off x="4318000" y="2971799"/>
            <a:ext cx="3556000" cy="23533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charset="-122"/>
                <a:ea typeface="微软雅黑" charset="-122"/>
                <a:cs typeface="微软雅黑" charset="-122"/>
                <a:sym typeface="微软雅黑" charset="-122"/>
              </a:defRPr>
            </a:pPr>
            <a:r>
              <a:rPr sz="1800" dirty="0"/>
              <a:t>ibaotu.com</a:t>
            </a:r>
          </a:p>
        </p:txBody>
      </p:sp>
      <p:pic>
        <p:nvPicPr>
          <p:cNvPr id="10" name="Picture 2" descr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175" y="0"/>
            <a:ext cx="12188825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" name="矩形 23"/>
          <p:cNvSpPr/>
          <p:nvPr userDrawn="1"/>
        </p:nvSpPr>
        <p:spPr>
          <a:xfrm>
            <a:off x="1202795" y="1536895"/>
            <a:ext cx="9789584" cy="37719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698500" dist="215900" dir="5400000" rotWithShape="0">
              <a:srgbClr val="000000">
                <a:alpha val="14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文本框 7"/>
          <p:cNvSpPr txBox="1"/>
          <p:nvPr userDrawn="1"/>
        </p:nvSpPr>
        <p:spPr>
          <a:xfrm>
            <a:off x="1439290" y="1960453"/>
            <a:ext cx="3586878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dirty="0"/>
              <a:t>0</a:t>
            </a:r>
            <a:r>
              <a:rPr lang="en-US" dirty="0"/>
              <a:t>   </a:t>
            </a:r>
            <a:endParaRPr dirty="0"/>
          </a:p>
        </p:txBody>
      </p:sp>
      <p:sp>
        <p:nvSpPr>
          <p:cNvPr id="13" name="直接连接符 27"/>
          <p:cNvSpPr/>
          <p:nvPr userDrawn="1"/>
        </p:nvSpPr>
        <p:spPr>
          <a:xfrm>
            <a:off x="5759227" y="3600105"/>
            <a:ext cx="5233153" cy="1"/>
          </a:xfrm>
          <a:prstGeom prst="line">
            <a:avLst/>
          </a:prstGeom>
          <a:ln w="12700">
            <a:solidFill>
              <a:srgbClr val="BFBFBF"/>
            </a:solidFill>
          </a:ln>
        </p:spPr>
        <p:txBody>
          <a:bodyPr lIns="45719" rIns="45719"/>
          <a:lstStyle/>
          <a:p>
            <a:endParaRPr dirty="0"/>
          </a:p>
        </p:txBody>
      </p:sp>
      <p:pic>
        <p:nvPicPr>
          <p:cNvPr id="15" name="Picture 3" descr="C:\Users\Administrator\Desktop\战戟标（3V3标-01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63952" y="3789040"/>
            <a:ext cx="1368152" cy="437971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4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5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6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7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8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FC0C0-F3C1-46A6-B1E0-38A19114CB1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C:\Users\Administrator\Desktop\222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60829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72700" y="5200650"/>
            <a:ext cx="2019300" cy="1657350"/>
          </a:xfrm>
          <a:prstGeom prst="rect">
            <a:avLst/>
          </a:prstGeom>
        </p:spPr>
      </p:pic>
      <p:sp>
        <p:nvSpPr>
          <p:cNvPr id="5" name="文本框 11"/>
          <p:cNvSpPr txBox="1"/>
          <p:nvPr userDrawn="1"/>
        </p:nvSpPr>
        <p:spPr>
          <a:xfrm rot="19675288">
            <a:off x="340136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9" name="文本框 11"/>
          <p:cNvSpPr txBox="1"/>
          <p:nvPr userDrawn="1"/>
        </p:nvSpPr>
        <p:spPr>
          <a:xfrm rot="19675288">
            <a:off x="3321202" y="333320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0" name="文本框 11"/>
          <p:cNvSpPr txBox="1"/>
          <p:nvPr userDrawn="1"/>
        </p:nvSpPr>
        <p:spPr>
          <a:xfrm rot="19675288">
            <a:off x="6242638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1" name="文本框 11"/>
          <p:cNvSpPr txBox="1"/>
          <p:nvPr userDrawn="1"/>
        </p:nvSpPr>
        <p:spPr>
          <a:xfrm rot="19675288">
            <a:off x="9397217" y="333320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2" name="文本框 11"/>
          <p:cNvSpPr txBox="1"/>
          <p:nvPr userDrawn="1"/>
        </p:nvSpPr>
        <p:spPr>
          <a:xfrm rot="19675288">
            <a:off x="340136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3" name="文本框 11"/>
          <p:cNvSpPr txBox="1"/>
          <p:nvPr userDrawn="1"/>
        </p:nvSpPr>
        <p:spPr>
          <a:xfrm rot="19675288">
            <a:off x="3321202" y="1234935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4" name="文本框 11"/>
          <p:cNvSpPr txBox="1"/>
          <p:nvPr userDrawn="1"/>
        </p:nvSpPr>
        <p:spPr>
          <a:xfrm rot="19675288">
            <a:off x="6242638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5" name="文本框 11"/>
          <p:cNvSpPr txBox="1"/>
          <p:nvPr userDrawn="1"/>
        </p:nvSpPr>
        <p:spPr>
          <a:xfrm rot="19675288">
            <a:off x="9397217" y="1234934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6" name="文本框 11"/>
          <p:cNvSpPr txBox="1"/>
          <p:nvPr userDrawn="1"/>
        </p:nvSpPr>
        <p:spPr>
          <a:xfrm rot="19675288">
            <a:off x="340136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7" name="文本框 11"/>
          <p:cNvSpPr txBox="1"/>
          <p:nvPr userDrawn="1"/>
        </p:nvSpPr>
        <p:spPr>
          <a:xfrm rot="19675288">
            <a:off x="3321202" y="5457139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8" name="文本框 11"/>
          <p:cNvSpPr txBox="1"/>
          <p:nvPr userDrawn="1"/>
        </p:nvSpPr>
        <p:spPr>
          <a:xfrm rot="19675288">
            <a:off x="6242638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  <p:sp>
        <p:nvSpPr>
          <p:cNvPr id="19" name="文本框 11"/>
          <p:cNvSpPr txBox="1"/>
          <p:nvPr userDrawn="1"/>
        </p:nvSpPr>
        <p:spPr>
          <a:xfrm rot="19675288">
            <a:off x="9397217" y="5457138"/>
            <a:ext cx="2813412" cy="73866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="horz" wrap="square" lIns="45719" tIns="45719" rIns="45719" bIns="45719" numCol="1" spcCol="38100" rtlCol="0" anchor="t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QD Sports Science Laboratory</a:t>
            </a: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400" b="0" i="0" u="none" strike="noStrike" cap="none" spc="0" normalizeH="0" baseline="0" dirty="0">
                <a:ln>
                  <a:noFill/>
                </a:ln>
                <a:solidFill>
                  <a:schemeClr val="tx2">
                    <a:lumMod val="20000"/>
                    <a:lumOff val="80000"/>
                  </a:schemeClr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乔丹科学实验室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860945" y="58695"/>
            <a:ext cx="1228725" cy="9906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643" y="0"/>
            <a:ext cx="862357" cy="91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94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占位符 4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FC0C0-F3C1-46A6-B1E0-38A19114CB16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40" marR="0" indent="-32004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ln>
            <a:noFill/>
          </a:ln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7" Type="http://schemas.openxmlformats.org/officeDocument/2006/relationships/chart" Target="../charts/chart1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9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4" y="5744210"/>
            <a:ext cx="781050" cy="561975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7193280" y="6308725"/>
            <a:ext cx="3067685" cy="502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运动表现研究部</a:t>
            </a:r>
            <a:r>
              <a:rPr lang="en-US" altLang="zh-CN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     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119336" y="6309320"/>
            <a:ext cx="3984380" cy="4584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报告编号：</a:t>
            </a:r>
            <a:r>
              <a:rPr lang="en-US" altLang="zh-CN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QD20250</a:t>
            </a:r>
            <a:r>
              <a:rPr lang="en-US" b="1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XXX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352584" y="6306185"/>
            <a:ext cx="547370" cy="50165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45719" tIns="45719" rIns="45719" bIns="45719" numCol="1" spcCol="38100" rtlCol="0" anchor="t" forceAA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  <a:sym typeface="+mn-ea"/>
              </a:rPr>
              <a:t>日期</a:t>
            </a:r>
            <a:endParaRPr kumimoji="0" lang="zh-CN" alt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5013176"/>
            <a:ext cx="1310546" cy="1008112"/>
          </a:xfrm>
          <a:prstGeom prst="rect">
            <a:avLst/>
          </a:prstGeom>
        </p:spPr>
      </p:pic>
      <p:sp>
        <p:nvSpPr>
          <p:cNvPr id="3" name="矩形 259"/>
          <p:cNvSpPr txBox="1"/>
          <p:nvPr/>
        </p:nvSpPr>
        <p:spPr>
          <a:xfrm>
            <a:off x="6672064" y="1556792"/>
            <a:ext cx="3528391" cy="615553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endParaRPr sz="40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600056" y="1582713"/>
            <a:ext cx="20070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背景</a:t>
            </a:r>
          </a:p>
        </p:txBody>
      </p:sp>
      <p:sp>
        <p:nvSpPr>
          <p:cNvPr id="5" name="矩形 4"/>
          <p:cNvSpPr/>
          <p:nvPr/>
        </p:nvSpPr>
        <p:spPr>
          <a:xfrm>
            <a:off x="6600056" y="2628201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基本测试</a:t>
            </a:r>
          </a:p>
        </p:txBody>
      </p:sp>
      <p:sp>
        <p:nvSpPr>
          <p:cNvPr id="7" name="矩形 6"/>
          <p:cNvSpPr/>
          <p:nvPr/>
        </p:nvSpPr>
        <p:spPr>
          <a:xfrm>
            <a:off x="6600056" y="4005064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实战测评</a:t>
            </a:r>
          </a:p>
        </p:txBody>
      </p:sp>
      <p:sp>
        <p:nvSpPr>
          <p:cNvPr id="8" name="矩形 7"/>
          <p:cNvSpPr/>
          <p:nvPr/>
        </p:nvSpPr>
        <p:spPr>
          <a:xfrm>
            <a:off x="6600056" y="3212976"/>
            <a:ext cx="3384376" cy="664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  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基础物性测试</a:t>
            </a:r>
            <a:endParaRPr lang="en-US" altLang="zh-CN" sz="1400" b="1" dirty="0">
              <a:solidFill>
                <a:schemeClr val="tx2">
                  <a:lumMod val="75000"/>
                </a:schemeClr>
              </a:solidFill>
              <a:latin typeface="微软雅黑" charset="-122"/>
              <a:ea typeface="微软雅黑" charset="-122"/>
            </a:endParaRPr>
          </a:p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II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  生物力学 </a:t>
            </a:r>
            <a:r>
              <a:rPr lang="en-US" altLang="zh-CN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/ </a:t>
            </a:r>
            <a:r>
              <a:rPr lang="zh-CN" altLang="en-US" sz="1400" b="1" dirty="0">
                <a:solidFill>
                  <a:schemeClr val="tx2">
                    <a:lumMod val="75000"/>
                  </a:schemeClr>
                </a:solidFill>
                <a:latin typeface="微软雅黑" charset="-122"/>
                <a:ea typeface="微软雅黑" charset="-122"/>
              </a:rPr>
              <a:t>运动捕捉测试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912" y="3410744"/>
            <a:ext cx="1076325" cy="2486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928" y="3788757"/>
            <a:ext cx="1104900" cy="20955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6600056" y="4932457"/>
            <a:ext cx="338437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3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总结</a:t>
            </a:r>
            <a:endParaRPr lang="en-US" altLang="zh-CN" sz="32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7"/>
          <p:cNvSpPr txBox="1"/>
          <p:nvPr/>
        </p:nvSpPr>
        <p:spPr>
          <a:xfrm>
            <a:off x="2829514" y="1931243"/>
            <a:ext cx="1490150" cy="3108543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>
            <a:spAutoFit/>
          </a:bodyPr>
          <a:lstStyle>
            <a:lvl1pPr algn="ctr">
              <a:defRPr sz="196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1</a:t>
            </a:r>
            <a:endParaRPr dirty="0"/>
          </a:p>
        </p:txBody>
      </p:sp>
      <p:sp>
        <p:nvSpPr>
          <p:cNvPr id="3" name="矩形 259"/>
          <p:cNvSpPr txBox="1"/>
          <p:nvPr/>
        </p:nvSpPr>
        <p:spPr>
          <a:xfrm>
            <a:off x="5879976" y="2746850"/>
            <a:ext cx="4464496" cy="738664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zh-CN" altLang="en-US" sz="48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项目背景</a:t>
            </a:r>
            <a:endParaRPr sz="4800" b="1" dirty="0">
              <a:solidFill>
                <a:schemeClr val="tx1"/>
              </a:solidFill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data】</a:t>
            </a:r>
            <a:endParaRPr lang="zh-CN" altLang="en-US" sz="1600" b="1" dirty="0">
              <a:solidFill>
                <a:srgbClr val="FFC000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233248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776520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cxnSp>
        <p:nvCxnSpPr>
          <p:cNvPr id="68" name="直接箭头连接符 67"/>
          <p:cNvCxnSpPr/>
          <p:nvPr/>
        </p:nvCxnSpPr>
        <p:spPr>
          <a:xfrm>
            <a:off x="803151" y="921658"/>
            <a:ext cx="29306" cy="4615319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27957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307166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93576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72784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559194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6384032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717612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8040216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8832304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38%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9696400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10488488" y="1036154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200359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40%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831683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42%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65977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44%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446960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5366857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6159971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689676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776089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8569665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9403239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735918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470376" y="347195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470376" y="282366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70376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70376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cxnSp>
        <p:nvCxnSpPr>
          <p:cNvPr id="140" name="直接连接符 139"/>
          <p:cNvCxnSpPr/>
          <p:nvPr/>
        </p:nvCxnSpPr>
        <p:spPr>
          <a:xfrm>
            <a:off x="5519936" y="1034412"/>
            <a:ext cx="0" cy="282141"/>
          </a:xfrm>
          <a:prstGeom prst="line">
            <a:avLst/>
          </a:prstGeom>
          <a:ln w="9525" cap="flat" cmpd="sng" algn="ctr">
            <a:solidFill>
              <a:schemeClr val="dk1">
                <a:alpha val="12000"/>
              </a:schemeClr>
            </a:solidFill>
            <a:prstDash val="dash"/>
            <a:round/>
            <a:headEnd type="none" w="med" len="med"/>
            <a:tailEnd type="none" w="med" len="med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4" name="矩形 163"/>
          <p:cNvSpPr/>
          <p:nvPr/>
        </p:nvSpPr>
        <p:spPr>
          <a:xfrm>
            <a:off x="1021762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77104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179474"/>
            <a:ext cx="0" cy="4356000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88287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6705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5919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71949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82394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9514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9517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11745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右箭头 104"/>
          <p:cNvSpPr/>
          <p:nvPr/>
        </p:nvSpPr>
        <p:spPr>
          <a:xfrm>
            <a:off x="774188" y="173245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4649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5924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7327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78138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5745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6150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4117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4523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4929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3" name="矩形 122"/>
          <p:cNvSpPr/>
          <p:nvPr/>
        </p:nvSpPr>
        <p:spPr>
          <a:xfrm>
            <a:off x="130896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672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5371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87463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1112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062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1215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499497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9177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9445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204194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72098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211949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702895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2674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37427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6869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81443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6745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8539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27559" y="2379537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27559" y="1988840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4994461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8257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010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直接箭头连接符 59"/>
          <p:cNvCxnSpPr/>
          <p:nvPr/>
        </p:nvCxnSpPr>
        <p:spPr>
          <a:xfrm>
            <a:off x="823225" y="856457"/>
            <a:ext cx="0" cy="4680520"/>
          </a:xfrm>
          <a:prstGeom prst="straightConnector1">
            <a:avLst/>
          </a:prstGeom>
          <a:noFill/>
          <a:ln w="38100" cap="flat">
            <a:solidFill>
              <a:srgbClr val="D82540"/>
            </a:solidFill>
            <a:prstDash val="solid"/>
            <a:round/>
            <a:tailEnd type="triangle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文本框 19"/>
          <p:cNvSpPr txBox="1"/>
          <p:nvPr/>
        </p:nvSpPr>
        <p:spPr>
          <a:xfrm>
            <a:off x="263351" y="188640"/>
            <a:ext cx="4910542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减震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回弹</a:t>
            </a:r>
          </a:p>
        </p:txBody>
      </p:sp>
      <p:cxnSp>
        <p:nvCxnSpPr>
          <p:cNvPr id="62" name="直接箭头连接符 61"/>
          <p:cNvCxnSpPr/>
          <p:nvPr/>
        </p:nvCxnSpPr>
        <p:spPr>
          <a:xfrm>
            <a:off x="479376" y="1000473"/>
            <a:ext cx="11448000" cy="0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矩形 64"/>
          <p:cNvSpPr/>
          <p:nvPr/>
        </p:nvSpPr>
        <p:spPr>
          <a:xfrm>
            <a:off x="108739" y="5032921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缓震性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0989349" y="692696"/>
            <a:ext cx="723275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回弹性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51384" y="75915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0</a:t>
            </a:r>
            <a:endParaRPr lang="zh-CN" altLang="en-US" sz="1200" dirty="0"/>
          </a:p>
        </p:txBody>
      </p:sp>
      <p:cxnSp>
        <p:nvCxnSpPr>
          <p:cNvPr id="13" name="直接连接符 12"/>
          <p:cNvCxnSpPr/>
          <p:nvPr/>
        </p:nvCxnSpPr>
        <p:spPr>
          <a:xfrm>
            <a:off x="148748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/>
          <p:cNvCxnSpPr/>
          <p:nvPr/>
        </p:nvCxnSpPr>
        <p:spPr>
          <a:xfrm>
            <a:off x="212735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>
            <a:off x="275612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>
            <a:off x="340938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>
            <a:off x="4099290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>
            <a:off x="472447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5363409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>
            <a:off x="604622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>
            <a:off x="6714723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740793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52626" y="164854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>
            <a:off x="852626" y="2296617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>
            <a:off x="852626" y="2944689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>
            <a:off x="852626" y="3592761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>
            <a:off x="861544" y="4221088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>
            <a:off x="887097" y="4888905"/>
            <a:ext cx="72008" cy="0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1" name="矩形 100"/>
          <p:cNvSpPr/>
          <p:nvPr/>
        </p:nvSpPr>
        <p:spPr>
          <a:xfrm>
            <a:off x="126679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46%</a:t>
            </a:r>
            <a:endParaRPr lang="zh-CN" altLang="en-US" sz="1200" dirty="0"/>
          </a:p>
        </p:txBody>
      </p:sp>
      <p:cxnSp>
        <p:nvCxnSpPr>
          <p:cNvPr id="105" name="直接连接符 104"/>
          <p:cNvCxnSpPr/>
          <p:nvPr/>
        </p:nvCxnSpPr>
        <p:spPr>
          <a:xfrm>
            <a:off x="8094827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8804866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矩形 106"/>
          <p:cNvSpPr/>
          <p:nvPr/>
        </p:nvSpPr>
        <p:spPr>
          <a:xfrm>
            <a:off x="18783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47%</a:t>
            </a:r>
            <a:endParaRPr lang="zh-CN" altLang="en-US" sz="1200" dirty="0"/>
          </a:p>
        </p:txBody>
      </p:sp>
      <p:sp>
        <p:nvSpPr>
          <p:cNvPr id="108" name="矩形 107"/>
          <p:cNvSpPr/>
          <p:nvPr/>
        </p:nvSpPr>
        <p:spPr>
          <a:xfrm>
            <a:off x="25161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48%</a:t>
            </a:r>
            <a:endParaRPr lang="zh-CN" altLang="en-US" sz="1200" dirty="0"/>
          </a:p>
        </p:txBody>
      </p:sp>
      <p:sp>
        <p:nvSpPr>
          <p:cNvPr id="109" name="矩形 108"/>
          <p:cNvSpPr/>
          <p:nvPr/>
        </p:nvSpPr>
        <p:spPr>
          <a:xfrm>
            <a:off x="31539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49%</a:t>
            </a:r>
            <a:endParaRPr lang="zh-CN" altLang="en-US" sz="1200" dirty="0"/>
          </a:p>
        </p:txBody>
      </p:sp>
      <p:sp>
        <p:nvSpPr>
          <p:cNvPr id="110" name="矩形 109"/>
          <p:cNvSpPr/>
          <p:nvPr/>
        </p:nvSpPr>
        <p:spPr>
          <a:xfrm>
            <a:off x="38410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50%</a:t>
            </a:r>
            <a:endParaRPr lang="zh-CN" altLang="en-US" sz="1200" dirty="0"/>
          </a:p>
        </p:txBody>
      </p:sp>
      <p:sp>
        <p:nvSpPr>
          <p:cNvPr id="111" name="矩形 110"/>
          <p:cNvSpPr/>
          <p:nvPr/>
        </p:nvSpPr>
        <p:spPr>
          <a:xfrm>
            <a:off x="4499392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51%</a:t>
            </a:r>
            <a:endParaRPr lang="zh-CN" altLang="en-US" sz="1200" dirty="0"/>
          </a:p>
        </p:txBody>
      </p:sp>
      <p:sp>
        <p:nvSpPr>
          <p:cNvPr id="112" name="矩形 111"/>
          <p:cNvSpPr/>
          <p:nvPr/>
        </p:nvSpPr>
        <p:spPr>
          <a:xfrm>
            <a:off x="513934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52%</a:t>
            </a:r>
            <a:endParaRPr lang="zh-CN" altLang="en-US" sz="1200" dirty="0"/>
          </a:p>
        </p:txBody>
      </p:sp>
      <p:sp>
        <p:nvSpPr>
          <p:cNvPr id="113" name="矩形 112"/>
          <p:cNvSpPr/>
          <p:nvPr/>
        </p:nvSpPr>
        <p:spPr>
          <a:xfrm>
            <a:off x="580796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53%</a:t>
            </a:r>
            <a:endParaRPr lang="zh-CN" altLang="en-US" sz="1200" dirty="0"/>
          </a:p>
        </p:txBody>
      </p:sp>
      <p:sp>
        <p:nvSpPr>
          <p:cNvPr id="114" name="矩形 113"/>
          <p:cNvSpPr/>
          <p:nvPr/>
        </p:nvSpPr>
        <p:spPr>
          <a:xfrm>
            <a:off x="6455950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54%</a:t>
            </a:r>
            <a:endParaRPr lang="zh-CN" altLang="en-US" sz="1200" dirty="0"/>
          </a:p>
        </p:txBody>
      </p:sp>
      <p:sp>
        <p:nvSpPr>
          <p:cNvPr id="115" name="矩形 114"/>
          <p:cNvSpPr/>
          <p:nvPr/>
        </p:nvSpPr>
        <p:spPr>
          <a:xfrm>
            <a:off x="71658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55%</a:t>
            </a:r>
            <a:endParaRPr lang="zh-CN" altLang="en-US" sz="1200" dirty="0"/>
          </a:p>
        </p:txBody>
      </p:sp>
      <p:sp>
        <p:nvSpPr>
          <p:cNvPr id="116" name="矩形 115"/>
          <p:cNvSpPr/>
          <p:nvPr/>
        </p:nvSpPr>
        <p:spPr>
          <a:xfrm>
            <a:off x="7832488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56%</a:t>
            </a:r>
            <a:endParaRPr lang="zh-CN" altLang="en-US" sz="1200" dirty="0"/>
          </a:p>
        </p:txBody>
      </p:sp>
      <p:sp>
        <p:nvSpPr>
          <p:cNvPr id="118" name="矩形 117"/>
          <p:cNvSpPr/>
          <p:nvPr/>
        </p:nvSpPr>
        <p:spPr>
          <a:xfrm>
            <a:off x="560171" y="4720242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/>
          </a:p>
        </p:txBody>
      </p:sp>
      <p:sp>
        <p:nvSpPr>
          <p:cNvPr id="119" name="矩形 118"/>
          <p:cNvSpPr/>
          <p:nvPr/>
        </p:nvSpPr>
        <p:spPr>
          <a:xfrm>
            <a:off x="688151" y="5542493"/>
            <a:ext cx="301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/>
          </a:p>
        </p:txBody>
      </p:sp>
      <p:sp>
        <p:nvSpPr>
          <p:cNvPr id="120" name="矩形 119"/>
          <p:cNvSpPr/>
          <p:nvPr/>
        </p:nvSpPr>
        <p:spPr>
          <a:xfrm>
            <a:off x="11879072" y="865526"/>
            <a:ext cx="32733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%</a:t>
            </a:r>
            <a:endParaRPr lang="zh-CN" altLang="en-US" sz="1200" dirty="0"/>
          </a:p>
        </p:txBody>
      </p:sp>
      <p:sp>
        <p:nvSpPr>
          <p:cNvPr id="121" name="矩形 120"/>
          <p:cNvSpPr/>
          <p:nvPr/>
        </p:nvSpPr>
        <p:spPr>
          <a:xfrm>
            <a:off x="560171" y="4102333"/>
            <a:ext cx="42966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/>
          </a:p>
        </p:txBody>
      </p:sp>
      <p:sp>
        <p:nvSpPr>
          <p:cNvPr id="122" name="矩形 121"/>
          <p:cNvSpPr/>
          <p:nvPr/>
        </p:nvSpPr>
        <p:spPr>
          <a:xfrm>
            <a:off x="532020" y="347195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/>
          </a:p>
        </p:txBody>
      </p:sp>
      <p:sp>
        <p:nvSpPr>
          <p:cNvPr id="123" name="矩形 122"/>
          <p:cNvSpPr/>
          <p:nvPr/>
        </p:nvSpPr>
        <p:spPr>
          <a:xfrm>
            <a:off x="511472" y="2823667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9</a:t>
            </a:r>
            <a:endParaRPr lang="zh-CN" altLang="en-US" sz="1200" dirty="0"/>
          </a:p>
        </p:txBody>
      </p:sp>
      <p:sp>
        <p:nvSpPr>
          <p:cNvPr id="124" name="矩形 123"/>
          <p:cNvSpPr/>
          <p:nvPr/>
        </p:nvSpPr>
        <p:spPr>
          <a:xfrm>
            <a:off x="448464" y="218430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10</a:t>
            </a:r>
            <a:endParaRPr lang="zh-CN" altLang="en-US" sz="1200" dirty="0"/>
          </a:p>
        </p:txBody>
      </p:sp>
      <p:sp>
        <p:nvSpPr>
          <p:cNvPr id="125" name="矩形 124"/>
          <p:cNvSpPr/>
          <p:nvPr/>
        </p:nvSpPr>
        <p:spPr>
          <a:xfrm>
            <a:off x="449828" y="1515626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/>
          </a:p>
        </p:txBody>
      </p:sp>
      <p:sp>
        <p:nvSpPr>
          <p:cNvPr id="126" name="矩形 125"/>
          <p:cNvSpPr/>
          <p:nvPr/>
        </p:nvSpPr>
        <p:spPr>
          <a:xfrm>
            <a:off x="923101" y="757413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27" name="矩形 126"/>
          <p:cNvSpPr/>
          <p:nvPr/>
        </p:nvSpPr>
        <p:spPr>
          <a:xfrm rot="16200000">
            <a:off x="489528" y="1184794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164" name="矩形 163"/>
          <p:cNvSpPr/>
          <p:nvPr/>
        </p:nvSpPr>
        <p:spPr>
          <a:xfrm>
            <a:off x="855454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57%</a:t>
            </a:r>
            <a:endParaRPr lang="zh-CN" altLang="en-US" sz="1200" dirty="0"/>
          </a:p>
        </p:txBody>
      </p:sp>
      <p:sp>
        <p:nvSpPr>
          <p:cNvPr id="49" name="矩形 48"/>
          <p:cNvSpPr/>
          <p:nvPr/>
        </p:nvSpPr>
        <p:spPr>
          <a:xfrm>
            <a:off x="0" y="6999004"/>
            <a:ext cx="12192000" cy="103850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3173564" y="7126797"/>
            <a:ext cx="2986408" cy="259604"/>
          </a:xfrm>
          <a:prstGeom prst="rect">
            <a:avLst/>
          </a:prstGeom>
          <a:solidFill>
            <a:srgbClr val="33CC33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442556" y="7494245"/>
            <a:ext cx="6533764" cy="259604"/>
          </a:xfrm>
          <a:prstGeom prst="rect">
            <a:avLst/>
          </a:prstGeom>
          <a:solidFill>
            <a:schemeClr val="accent2">
              <a:lumMod val="60000"/>
              <a:lumOff val="40000"/>
              <a:alpha val="49804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63351" y="6999364"/>
            <a:ext cx="11665296" cy="7875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n"/>
            </a:pP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结合缓震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G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值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&amp;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回弹率来看，锋刺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7pro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整体缓震与回弹上较优，仅次于且略低于锋刺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6pro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、驭帅</a:t>
            </a:r>
            <a:r>
              <a: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14boom</a:t>
            </a:r>
            <a:r>
              <a:rPr lang="zh-CN" altLang="en-US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。仅从该项指标来看，可以初步得出，爆米花材料所提供的缓震、回弹效果运用在篮球鞋上略优于其他缓震材料。</a:t>
            </a:r>
            <a:endParaRPr lang="en-US" altLang="zh-CN" sz="1600" b="1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连接符 52"/>
          <p:cNvCxnSpPr/>
          <p:nvPr/>
        </p:nvCxnSpPr>
        <p:spPr>
          <a:xfrm>
            <a:off x="9437704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/>
          <p:nvPr/>
        </p:nvCxnSpPr>
        <p:spPr>
          <a:xfrm>
            <a:off x="10065318" y="103447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10735554" y="1043025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/>
          <p:cNvCxnSpPr/>
          <p:nvPr/>
        </p:nvCxnSpPr>
        <p:spPr>
          <a:xfrm>
            <a:off x="11352584" y="1060358"/>
            <a:ext cx="0" cy="72008"/>
          </a:xfrm>
          <a:prstGeom prst="line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9231372" y="739852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58%</a:t>
            </a:r>
            <a:endParaRPr lang="zh-CN" altLang="en-US" sz="1200" dirty="0"/>
          </a:p>
        </p:txBody>
      </p:sp>
      <p:sp>
        <p:nvSpPr>
          <p:cNvPr id="58" name="矩形 57"/>
          <p:cNvSpPr/>
          <p:nvPr/>
        </p:nvSpPr>
        <p:spPr>
          <a:xfrm>
            <a:off x="9879444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59%</a:t>
            </a:r>
            <a:endParaRPr lang="zh-CN" altLang="en-US" sz="1200" dirty="0"/>
          </a:p>
        </p:txBody>
      </p:sp>
      <p:sp>
        <p:nvSpPr>
          <p:cNvPr id="59" name="矩形 58"/>
          <p:cNvSpPr/>
          <p:nvPr/>
        </p:nvSpPr>
        <p:spPr>
          <a:xfrm>
            <a:off x="10476056" y="727027"/>
            <a:ext cx="51648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60%</a:t>
            </a:r>
            <a:endParaRPr lang="zh-CN" altLang="en-US" sz="120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4809683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弯折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扭转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10055299" y="5370040"/>
            <a:ext cx="1082348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抗弯折性能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90439" y="482241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52" name="矩形 51"/>
          <p:cNvSpPr/>
          <p:nvPr/>
        </p:nvSpPr>
        <p:spPr>
          <a:xfrm>
            <a:off x="32505" y="1332153"/>
            <a:ext cx="723275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抗扭转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性能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76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100219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N*m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右箭头 6"/>
          <p:cNvSpPr/>
          <p:nvPr/>
        </p:nvSpPr>
        <p:spPr>
          <a:xfrm>
            <a:off x="773875" y="4934247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右箭头 92"/>
          <p:cNvSpPr/>
          <p:nvPr/>
        </p:nvSpPr>
        <p:spPr>
          <a:xfrm>
            <a:off x="773875" y="4497876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右箭头 93"/>
          <p:cNvSpPr/>
          <p:nvPr/>
        </p:nvSpPr>
        <p:spPr>
          <a:xfrm>
            <a:off x="773875" y="406947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右箭头 96"/>
          <p:cNvSpPr/>
          <p:nvPr/>
        </p:nvSpPr>
        <p:spPr>
          <a:xfrm>
            <a:off x="773875" y="3651401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右箭头 98"/>
          <p:cNvSpPr/>
          <p:nvPr/>
        </p:nvSpPr>
        <p:spPr>
          <a:xfrm>
            <a:off x="773875" y="324129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右箭头 99"/>
          <p:cNvSpPr/>
          <p:nvPr/>
        </p:nvSpPr>
        <p:spPr>
          <a:xfrm>
            <a:off x="773875" y="2823228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右箭头 100"/>
          <p:cNvSpPr/>
          <p:nvPr/>
        </p:nvSpPr>
        <p:spPr>
          <a:xfrm>
            <a:off x="773875" y="2423260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右箭头 103"/>
          <p:cNvSpPr/>
          <p:nvPr/>
        </p:nvSpPr>
        <p:spPr>
          <a:xfrm>
            <a:off x="773875" y="201471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V="1">
            <a:off x="149587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204677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V="1">
            <a:off x="254243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V="1">
            <a:off x="3077317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V="1">
            <a:off x="362255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V="1">
            <a:off x="415519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V="1">
            <a:off x="4679794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V="1">
            <a:off x="519721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V="1">
            <a:off x="574245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V="1">
            <a:off x="6277330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/>
          <p:nvPr/>
        </p:nvCxnSpPr>
        <p:spPr>
          <a:xfrm flipV="1">
            <a:off x="68122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/>
          <p:nvPr/>
        </p:nvCxnSpPr>
        <p:spPr>
          <a:xfrm flipV="1">
            <a:off x="7347176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 flipV="1">
            <a:off x="7851232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/>
          <p:nvPr/>
        </p:nvCxnSpPr>
        <p:spPr>
          <a:xfrm flipV="1">
            <a:off x="8330905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 flipV="1">
            <a:off x="8834961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/>
          <p:nvPr/>
        </p:nvCxnSpPr>
        <p:spPr>
          <a:xfrm flipV="1">
            <a:off x="9318469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/>
          <p:nvPr/>
        </p:nvCxnSpPr>
        <p:spPr>
          <a:xfrm flipV="1">
            <a:off x="9806508" y="5262993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5" name="矩形 124"/>
          <p:cNvSpPr/>
          <p:nvPr/>
        </p:nvSpPr>
        <p:spPr>
          <a:xfrm>
            <a:off x="1874009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236263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2905455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3426363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3968241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450984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1021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2" name="矩形 131"/>
          <p:cNvSpPr/>
          <p:nvPr/>
        </p:nvSpPr>
        <p:spPr>
          <a:xfrm>
            <a:off x="5560957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19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3" name="矩形 132"/>
          <p:cNvSpPr/>
          <p:nvPr/>
        </p:nvSpPr>
        <p:spPr>
          <a:xfrm>
            <a:off x="6112702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20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4" name="矩形 133"/>
          <p:cNvSpPr/>
          <p:nvPr/>
        </p:nvSpPr>
        <p:spPr>
          <a:xfrm>
            <a:off x="6620604" y="540712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7171060" y="5421143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767752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7" name="矩形 136"/>
          <p:cNvSpPr/>
          <p:nvPr/>
        </p:nvSpPr>
        <p:spPr>
          <a:xfrm>
            <a:off x="8158718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8" name="矩形 137"/>
          <p:cNvSpPr/>
          <p:nvPr/>
        </p:nvSpPr>
        <p:spPr>
          <a:xfrm>
            <a:off x="8662774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39" name="矩形 138"/>
          <p:cNvSpPr/>
          <p:nvPr/>
        </p:nvSpPr>
        <p:spPr>
          <a:xfrm>
            <a:off x="9132502" y="5426864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0" name="矩形 139"/>
          <p:cNvSpPr/>
          <p:nvPr/>
        </p:nvSpPr>
        <p:spPr>
          <a:xfrm>
            <a:off x="490439" y="4405094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1" name="矩形 140"/>
          <p:cNvSpPr/>
          <p:nvPr/>
        </p:nvSpPr>
        <p:spPr>
          <a:xfrm>
            <a:off x="490439" y="3978966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3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2" name="矩形 141"/>
          <p:cNvSpPr/>
          <p:nvPr/>
        </p:nvSpPr>
        <p:spPr>
          <a:xfrm>
            <a:off x="490439" y="3560895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4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3" name="矩形 142"/>
          <p:cNvSpPr/>
          <p:nvPr/>
        </p:nvSpPr>
        <p:spPr>
          <a:xfrm>
            <a:off x="490439" y="3126362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5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4" name="矩形 143"/>
          <p:cNvSpPr/>
          <p:nvPr/>
        </p:nvSpPr>
        <p:spPr>
          <a:xfrm>
            <a:off x="499964" y="2713481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6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5" name="矩形 144"/>
          <p:cNvSpPr/>
          <p:nvPr/>
        </p:nvSpPr>
        <p:spPr>
          <a:xfrm>
            <a:off x="488164" y="2307619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6" name="矩形 145"/>
          <p:cNvSpPr/>
          <p:nvPr/>
        </p:nvSpPr>
        <p:spPr>
          <a:xfrm>
            <a:off x="488164" y="1906648"/>
            <a:ext cx="27924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8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cxnSp>
        <p:nvCxnSpPr>
          <p:cNvPr id="160" name="直接箭头连接符 159"/>
          <p:cNvCxnSpPr/>
          <p:nvPr/>
        </p:nvCxnSpPr>
        <p:spPr>
          <a:xfrm flipV="1">
            <a:off x="10331202" y="5268186"/>
            <a:ext cx="0" cy="88542"/>
          </a:xfrm>
          <a:prstGeom prst="straightConnector1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5" name="矩形 164"/>
          <p:cNvSpPr/>
          <p:nvPr/>
        </p:nvSpPr>
        <p:spPr>
          <a:xfrm>
            <a:off x="9627721" y="5417519"/>
            <a:ext cx="3738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27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70" name="右箭头 69"/>
          <p:cNvSpPr/>
          <p:nvPr/>
        </p:nvSpPr>
        <p:spPr>
          <a:xfrm>
            <a:off x="773875" y="1610785"/>
            <a:ext cx="45719" cy="45719"/>
          </a:xfrm>
          <a:prstGeom prst="rightArrow">
            <a:avLst/>
          </a:prstGeom>
          <a:ln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238495" y="5421143"/>
            <a:ext cx="5207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11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0" name="矩形 9"/>
          <p:cNvSpPr/>
          <p:nvPr/>
        </p:nvSpPr>
        <p:spPr>
          <a:xfrm>
            <a:off x="407368" y="7304072"/>
            <a:ext cx="1130525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基础数据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生物力学数据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人体试穿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kern="100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建议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：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 文字描述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              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（</a:t>
            </a:r>
            <a:r>
              <a:rPr lang="en-US" altLang="zh-CN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）</a:t>
            </a:r>
            <a:endParaRPr lang="en-US" altLang="zh-CN" sz="16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               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（</a:t>
            </a:r>
            <a:r>
              <a:rPr lang="en-US" altLang="zh-CN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</a:t>
            </a:r>
            <a:r>
              <a:rPr lang="zh-CN" altLang="en-US" sz="1600" kern="1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）</a:t>
            </a:r>
            <a:endParaRPr lang="en-US" altLang="zh-CN" sz="1600" kern="1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矩形 259"/>
          <p:cNvSpPr txBox="1"/>
          <p:nvPr/>
        </p:nvSpPr>
        <p:spPr>
          <a:xfrm>
            <a:off x="904309" y="2569883"/>
            <a:ext cx="6479835" cy="92333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>
            <a:lvl1pPr>
              <a:spcBef>
                <a:spcPts val="1400"/>
              </a:spcBef>
              <a:defRPr sz="6000" b="1">
                <a:solidFill>
                  <a:srgbClr val="FFFFFF"/>
                </a:solidFill>
                <a:latin typeface="Avenir Next"/>
                <a:ea typeface="Avenir Next"/>
                <a:cs typeface="Avenir Next"/>
                <a:sym typeface="Avenir Next"/>
              </a:defRPr>
            </a:lvl1pPr>
          </a:lstStyle>
          <a:p>
            <a:r>
              <a:rPr dirty="0">
                <a:latin typeface="微软雅黑" pitchFamily="34" charset="-122"/>
                <a:ea typeface="微软雅黑" pitchFamily="34" charset="-122"/>
              </a:rPr>
              <a:t>THANK YOU</a:t>
            </a:r>
          </a:p>
        </p:txBody>
      </p:sp>
      <p:pic>
        <p:nvPicPr>
          <p:cNvPr id="645" name="Picture 3" descr="Pictur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583955" y="399810"/>
            <a:ext cx="1198866" cy="1126018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矩形 2"/>
          <p:cNvSpPr/>
          <p:nvPr/>
        </p:nvSpPr>
        <p:spPr>
          <a:xfrm>
            <a:off x="767080" y="5300980"/>
            <a:ext cx="306768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科技中心   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步长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&amp;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垂直重心振幅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cm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等腰三角形 3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等腰三角形 9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7" name="等腰三角形 96"/>
          <p:cNvSpPr/>
          <p:nvPr/>
        </p:nvSpPr>
        <p:spPr>
          <a:xfrm>
            <a:off x="21635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19476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0" name="等腰三角形 99"/>
          <p:cNvSpPr/>
          <p:nvPr/>
        </p:nvSpPr>
        <p:spPr>
          <a:xfrm>
            <a:off x="282847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文本框 100"/>
          <p:cNvSpPr txBox="1"/>
          <p:nvPr/>
        </p:nvSpPr>
        <p:spPr>
          <a:xfrm>
            <a:off x="261257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4" name="等腰三角形 103"/>
          <p:cNvSpPr/>
          <p:nvPr/>
        </p:nvSpPr>
        <p:spPr>
          <a:xfrm>
            <a:off x="349340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文本框 106"/>
          <p:cNvSpPr txBox="1"/>
          <p:nvPr/>
        </p:nvSpPr>
        <p:spPr>
          <a:xfrm>
            <a:off x="327750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149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8" name="等腰三角形 107"/>
          <p:cNvSpPr/>
          <p:nvPr/>
        </p:nvSpPr>
        <p:spPr>
          <a:xfrm>
            <a:off x="415834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394244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1" name="等腰三角形 110"/>
          <p:cNvSpPr/>
          <p:nvPr/>
        </p:nvSpPr>
        <p:spPr>
          <a:xfrm>
            <a:off x="48232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46073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3" name="等腰三角形 112"/>
          <p:cNvSpPr/>
          <p:nvPr/>
        </p:nvSpPr>
        <p:spPr>
          <a:xfrm>
            <a:off x="5488214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5272314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5" name="等腰三角形 114"/>
          <p:cNvSpPr/>
          <p:nvPr/>
        </p:nvSpPr>
        <p:spPr>
          <a:xfrm>
            <a:off x="615315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文本框 115"/>
          <p:cNvSpPr txBox="1"/>
          <p:nvPr/>
        </p:nvSpPr>
        <p:spPr>
          <a:xfrm>
            <a:off x="593725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7" name="等腰三角形 116"/>
          <p:cNvSpPr/>
          <p:nvPr/>
        </p:nvSpPr>
        <p:spPr>
          <a:xfrm>
            <a:off x="681808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660218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19" name="等腰三角形 118"/>
          <p:cNvSpPr/>
          <p:nvPr/>
        </p:nvSpPr>
        <p:spPr>
          <a:xfrm>
            <a:off x="748302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文本框 119"/>
          <p:cNvSpPr txBox="1"/>
          <p:nvPr/>
        </p:nvSpPr>
        <p:spPr>
          <a:xfrm>
            <a:off x="726712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1" name="等腰三角形 120"/>
          <p:cNvSpPr/>
          <p:nvPr/>
        </p:nvSpPr>
        <p:spPr>
          <a:xfrm>
            <a:off x="81479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79320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4" name="等腰三角形 123"/>
          <p:cNvSpPr/>
          <p:nvPr/>
        </p:nvSpPr>
        <p:spPr>
          <a:xfrm>
            <a:off x="88128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85969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6" name="等腰三角形 125"/>
          <p:cNvSpPr/>
          <p:nvPr/>
        </p:nvSpPr>
        <p:spPr>
          <a:xfrm>
            <a:off x="947782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文本框 126"/>
          <p:cNvSpPr txBox="1"/>
          <p:nvPr/>
        </p:nvSpPr>
        <p:spPr>
          <a:xfrm>
            <a:off x="926192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8" name="等腰三角形 127"/>
          <p:cNvSpPr/>
          <p:nvPr/>
        </p:nvSpPr>
        <p:spPr>
          <a:xfrm>
            <a:off x="1014276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文本框 128"/>
          <p:cNvSpPr txBox="1"/>
          <p:nvPr/>
        </p:nvSpPr>
        <p:spPr>
          <a:xfrm>
            <a:off x="992686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159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0" name="等腰三角形 129"/>
          <p:cNvSpPr/>
          <p:nvPr/>
        </p:nvSpPr>
        <p:spPr>
          <a:xfrm>
            <a:off x="108077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文本框 130"/>
          <p:cNvSpPr txBox="1"/>
          <p:nvPr/>
        </p:nvSpPr>
        <p:spPr>
          <a:xfrm>
            <a:off x="105918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160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7" name="等腰三角形 6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等腰三角形 13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文本框 13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4" name="等腰三角形 133"/>
          <p:cNvSpPr/>
          <p:nvPr/>
        </p:nvSpPr>
        <p:spPr>
          <a:xfrm rot="5400000">
            <a:off x="774700" y="4633546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330200" y="4506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6" name="等腰三角形 135"/>
          <p:cNvSpPr/>
          <p:nvPr/>
        </p:nvSpPr>
        <p:spPr>
          <a:xfrm rot="5400000">
            <a:off x="774700" y="4377592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文本框 136"/>
          <p:cNvSpPr txBox="1"/>
          <p:nvPr/>
        </p:nvSpPr>
        <p:spPr>
          <a:xfrm>
            <a:off x="330200" y="4250592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38" name="等腰三角形 137"/>
          <p:cNvSpPr/>
          <p:nvPr/>
        </p:nvSpPr>
        <p:spPr>
          <a:xfrm rot="5400000">
            <a:off x="774700" y="412163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330200" y="399463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8.9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0" name="等腰三角形 139"/>
          <p:cNvSpPr/>
          <p:nvPr/>
        </p:nvSpPr>
        <p:spPr>
          <a:xfrm rot="5400000">
            <a:off x="774700" y="386568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文本框 140"/>
          <p:cNvSpPr txBox="1"/>
          <p:nvPr/>
        </p:nvSpPr>
        <p:spPr>
          <a:xfrm>
            <a:off x="330200" y="373868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2" name="等腰三角形 141"/>
          <p:cNvSpPr/>
          <p:nvPr/>
        </p:nvSpPr>
        <p:spPr>
          <a:xfrm rot="5400000">
            <a:off x="774700" y="360973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文本框 142"/>
          <p:cNvSpPr txBox="1"/>
          <p:nvPr/>
        </p:nvSpPr>
        <p:spPr>
          <a:xfrm>
            <a:off x="330200" y="348273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4" name="等腰三角形 143"/>
          <p:cNvSpPr/>
          <p:nvPr/>
        </p:nvSpPr>
        <p:spPr>
          <a:xfrm rot="5400000">
            <a:off x="774700" y="335377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330200" y="322677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6" name="等腰三角形 145"/>
          <p:cNvSpPr/>
          <p:nvPr/>
        </p:nvSpPr>
        <p:spPr>
          <a:xfrm rot="5400000">
            <a:off x="774700" y="309782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文本框 159"/>
          <p:cNvSpPr txBox="1"/>
          <p:nvPr/>
        </p:nvSpPr>
        <p:spPr>
          <a:xfrm>
            <a:off x="330200" y="297082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5" name="等腰三角形 164"/>
          <p:cNvSpPr/>
          <p:nvPr/>
        </p:nvSpPr>
        <p:spPr>
          <a:xfrm rot="5400000">
            <a:off x="774700" y="2841869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330200" y="2714869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3" name="等腰三角形 182"/>
          <p:cNvSpPr/>
          <p:nvPr/>
        </p:nvSpPr>
        <p:spPr>
          <a:xfrm rot="5400000">
            <a:off x="774700" y="2585915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330200" y="2458915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5" name="等腰三角形 184"/>
          <p:cNvSpPr/>
          <p:nvPr/>
        </p:nvSpPr>
        <p:spPr>
          <a:xfrm rot="5400000">
            <a:off x="774700" y="2329961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文本框 185"/>
          <p:cNvSpPr txBox="1"/>
          <p:nvPr/>
        </p:nvSpPr>
        <p:spPr>
          <a:xfrm>
            <a:off x="330200" y="2202961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7" name="等腰三角形 186"/>
          <p:cNvSpPr/>
          <p:nvPr/>
        </p:nvSpPr>
        <p:spPr>
          <a:xfrm rot="5400000">
            <a:off x="774700" y="2074008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文本框 187"/>
          <p:cNvSpPr txBox="1"/>
          <p:nvPr/>
        </p:nvSpPr>
        <p:spPr>
          <a:xfrm>
            <a:off x="330200" y="1947008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9" name="等腰三角形 188"/>
          <p:cNvSpPr/>
          <p:nvPr/>
        </p:nvSpPr>
        <p:spPr>
          <a:xfrm rot="5400000">
            <a:off x="774700" y="1818054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330200" y="1691054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1" name="等腰三角形 190"/>
          <p:cNvSpPr/>
          <p:nvPr/>
        </p:nvSpPr>
        <p:spPr>
          <a:xfrm rot="5400000">
            <a:off x="774700" y="15621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文本框 191"/>
          <p:cNvSpPr txBox="1"/>
          <p:nvPr/>
        </p:nvSpPr>
        <p:spPr>
          <a:xfrm>
            <a:off x="330200" y="14351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9.9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391168" y="5376331"/>
            <a:ext cx="792000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步长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-9951" y="1332153"/>
            <a:ext cx="800219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垂直重心</a:t>
            </a:r>
            <a:endParaRPr lang="en-US" altLang="zh-CN" sz="12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2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振幅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262961" y="113947"/>
            <a:ext cx="5890189" cy="40011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zh-CN" altLang="en-US" sz="2000" b="1" dirty="0">
                <a:solidFill>
                  <a:schemeClr val="bg1"/>
                </a:solidFill>
                <a:latin typeface="微软雅黑" charset="-122"/>
                <a:ea typeface="微软雅黑" charset="-122"/>
                <a:sym typeface="+mn-ea"/>
              </a:rPr>
              <a:t>测试数据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【</a:t>
            </a:r>
            <a:r>
              <a:rPr lang="en-US" altLang="zh-CN" b="1" dirty="0"/>
              <a:t>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</a:rPr>
              <a:t>essential data </a:t>
            </a:r>
            <a:r>
              <a:rPr lang="en-US" altLang="zh-CN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】--- </a:t>
            </a:r>
            <a:r>
              <a:rPr lang="zh-CN" altLang="en-US" sz="1600" b="1" dirty="0">
                <a:solidFill>
                  <a:srgbClr val="FFC000"/>
                </a:solidFill>
                <a:latin typeface="微软雅黑" charset="-122"/>
                <a:ea typeface="微软雅黑" charset="-122"/>
                <a:sym typeface="+mn-ea"/>
              </a:rPr>
              <a:t>厚度与重量</a:t>
            </a:r>
          </a:p>
        </p:txBody>
      </p:sp>
      <p:cxnSp>
        <p:nvCxnSpPr>
          <p:cNvPr id="22" name="直接箭头连接符 21"/>
          <p:cNvCxnSpPr/>
          <p:nvPr/>
        </p:nvCxnSpPr>
        <p:spPr>
          <a:xfrm>
            <a:off x="488901" y="5365016"/>
            <a:ext cx="10836000" cy="0"/>
          </a:xfrm>
          <a:prstGeom prst="straightConnector1">
            <a:avLst/>
          </a:prstGeom>
          <a:ln>
            <a:solidFill>
              <a:schemeClr val="accent6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930474" y="5339311"/>
            <a:ext cx="375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….</a:t>
            </a:r>
            <a:endParaRPr lang="zh-CN" altLang="en-US" sz="1200" dirty="0"/>
          </a:p>
        </p:txBody>
      </p:sp>
      <p:sp>
        <p:nvSpPr>
          <p:cNvPr id="63" name="矩形 62"/>
          <p:cNvSpPr/>
          <p:nvPr/>
        </p:nvSpPr>
        <p:spPr>
          <a:xfrm>
            <a:off x="11280576" y="5220811"/>
            <a:ext cx="74892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g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88445" y="914379"/>
            <a:ext cx="94769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单位：</a:t>
            </a:r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mm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89" name="直接箭头连接符 88"/>
          <p:cNvCxnSpPr/>
          <p:nvPr/>
        </p:nvCxnSpPr>
        <p:spPr>
          <a:xfrm flipV="1">
            <a:off x="773875" y="1200022"/>
            <a:ext cx="0" cy="4356000"/>
          </a:xfrm>
          <a:prstGeom prst="straightConnector1">
            <a:avLst/>
          </a:prstGeom>
          <a:ln>
            <a:solidFill>
              <a:srgbClr val="D82540"/>
            </a:solidFill>
            <a:tailEnd type="triangle"/>
          </a:ln>
          <a:effectLst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 rot="5400000">
            <a:off x="495238" y="5035557"/>
            <a:ext cx="3321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200" b="1" dirty="0">
                <a:solidFill>
                  <a:schemeClr val="tx1"/>
                </a:solidFill>
                <a:latin typeface="微软雅黑" charset="-122"/>
                <a:ea typeface="微软雅黑" charset="-122"/>
              </a:rPr>
              <a:t>…</a:t>
            </a:r>
            <a:endParaRPr lang="zh-CN" altLang="en-US" sz="1200" dirty="0"/>
          </a:p>
        </p:txBody>
      </p:sp>
      <p:grpSp>
        <p:nvGrpSpPr>
          <p:cNvPr id="2" name="组合 1"/>
          <p:cNvGrpSpPr/>
          <p:nvPr/>
        </p:nvGrpSpPr>
        <p:grpSpPr>
          <a:xfrm>
            <a:off x="60014" y="6993572"/>
            <a:ext cx="12192000" cy="1038508"/>
            <a:chOff x="0" y="6957392"/>
            <a:chExt cx="12192000" cy="1038508"/>
          </a:xfrm>
        </p:grpSpPr>
        <p:sp>
          <p:nvSpPr>
            <p:cNvPr id="103" name="矩形 102"/>
            <p:cNvSpPr/>
            <p:nvPr/>
          </p:nvSpPr>
          <p:spPr>
            <a:xfrm>
              <a:off x="0" y="6957392"/>
              <a:ext cx="12192000" cy="1038508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矩形 105"/>
            <p:cNvSpPr/>
            <p:nvPr/>
          </p:nvSpPr>
          <p:spPr>
            <a:xfrm>
              <a:off x="2609100" y="7538524"/>
              <a:ext cx="5003608" cy="25960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49804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3410258" y="7142709"/>
              <a:ext cx="4218968" cy="259604"/>
            </a:xfrm>
            <a:prstGeom prst="rect">
              <a:avLst/>
            </a:prstGeom>
            <a:solidFill>
              <a:srgbClr val="33CC33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kumimoji="0" lang="zh-CN" alt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矩形 156"/>
            <p:cNvSpPr/>
            <p:nvPr/>
          </p:nvSpPr>
          <p:spPr>
            <a:xfrm>
              <a:off x="192982" y="7032277"/>
              <a:ext cx="11665296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itchFamily="2" charset="2"/>
                <a:buChar char="n"/>
              </a:pP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结合弯折力值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&amp;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扭转力矩来看，次轮测试锋刺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7pro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整体的刚性略弱于锋刺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6pro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，但当球鞋在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鞋</a:t>
              </a:r>
              <a:r>
                <a:rPr lang="en-US" altLang="zh-CN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-</a:t>
              </a:r>
              <a:r>
                <a:rPr lang="zh-CN" altLang="en-US" sz="1600" b="1" u="sng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脚一体性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itchFamily="34" charset="-122"/>
                  <a:ea typeface="微软雅黑" pitchFamily="34" charset="-122"/>
                </a:rPr>
                <a:t>优秀的情况下，刚性偏弱也并非是坏事，虽整体推进力有所下降，但能在很大程度上降低驾驭门槛。</a:t>
              </a:r>
              <a:endParaRPr lang="en-US" altLang="zh-CN" sz="16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52" name="矩形 51"/>
          <p:cNvSpPr/>
          <p:nvPr/>
        </p:nvSpPr>
        <p:spPr>
          <a:xfrm>
            <a:off x="235099" y="1332153"/>
            <a:ext cx="543739" cy="52322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鞋底</a:t>
            </a:r>
            <a:endParaRPr lang="en-US" altLang="zh-CN" sz="1400" b="1" dirty="0">
              <a:solidFill>
                <a:schemeClr val="bg1"/>
              </a:solidFill>
              <a:latin typeface="微软雅黑" charset="-122"/>
              <a:ea typeface="微软雅黑" charset="-122"/>
            </a:endParaRPr>
          </a:p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厚度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3" name="等腰三角形 2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等腰三角形 78"/>
          <p:cNvSpPr/>
          <p:nvPr/>
        </p:nvSpPr>
        <p:spPr>
          <a:xfrm>
            <a:off x="149860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28270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1" name="等腰三角形 80"/>
          <p:cNvSpPr/>
          <p:nvPr/>
        </p:nvSpPr>
        <p:spPr>
          <a:xfrm>
            <a:off x="1980105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64205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3" name="等腰三角形 82"/>
          <p:cNvSpPr/>
          <p:nvPr/>
        </p:nvSpPr>
        <p:spPr>
          <a:xfrm>
            <a:off x="2461610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文本框 83"/>
          <p:cNvSpPr txBox="1"/>
          <p:nvPr/>
        </p:nvSpPr>
        <p:spPr>
          <a:xfrm>
            <a:off x="2245710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5" name="等腰三角形 84"/>
          <p:cNvSpPr/>
          <p:nvPr/>
        </p:nvSpPr>
        <p:spPr>
          <a:xfrm>
            <a:off x="294311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272721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221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87" name="等腰三角形 86"/>
          <p:cNvSpPr/>
          <p:nvPr/>
        </p:nvSpPr>
        <p:spPr>
          <a:xfrm>
            <a:off x="342462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320872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0" name="等腰三角形 89"/>
          <p:cNvSpPr/>
          <p:nvPr/>
        </p:nvSpPr>
        <p:spPr>
          <a:xfrm>
            <a:off x="390612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369022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2" name="等腰三角形 91"/>
          <p:cNvSpPr/>
          <p:nvPr/>
        </p:nvSpPr>
        <p:spPr>
          <a:xfrm>
            <a:off x="438763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17173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212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96" name="等腰三角形 95"/>
          <p:cNvSpPr/>
          <p:nvPr/>
        </p:nvSpPr>
        <p:spPr>
          <a:xfrm>
            <a:off x="4869136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653236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02" name="等腰三角形 101"/>
          <p:cNvSpPr/>
          <p:nvPr/>
        </p:nvSpPr>
        <p:spPr>
          <a:xfrm>
            <a:off x="5350641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5134741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23" name="等腰三角形 122"/>
          <p:cNvSpPr/>
          <p:nvPr/>
        </p:nvSpPr>
        <p:spPr>
          <a:xfrm>
            <a:off x="583214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文本框 146"/>
          <p:cNvSpPr txBox="1"/>
          <p:nvPr/>
        </p:nvSpPr>
        <p:spPr>
          <a:xfrm>
            <a:off x="561624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203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49" name="等腰三角形 148"/>
          <p:cNvSpPr/>
          <p:nvPr/>
        </p:nvSpPr>
        <p:spPr>
          <a:xfrm>
            <a:off x="631365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文本框 149"/>
          <p:cNvSpPr txBox="1"/>
          <p:nvPr/>
        </p:nvSpPr>
        <p:spPr>
          <a:xfrm>
            <a:off x="609775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200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1" name="等腰三角形 150"/>
          <p:cNvSpPr/>
          <p:nvPr/>
        </p:nvSpPr>
        <p:spPr>
          <a:xfrm>
            <a:off x="6795157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文本框 151"/>
          <p:cNvSpPr txBox="1"/>
          <p:nvPr/>
        </p:nvSpPr>
        <p:spPr>
          <a:xfrm>
            <a:off x="6579257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197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3" name="等腰三角形 152"/>
          <p:cNvSpPr/>
          <p:nvPr/>
        </p:nvSpPr>
        <p:spPr>
          <a:xfrm>
            <a:off x="727666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文本框 153"/>
          <p:cNvSpPr txBox="1"/>
          <p:nvPr/>
        </p:nvSpPr>
        <p:spPr>
          <a:xfrm>
            <a:off x="706076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5" name="等腰三角形 154"/>
          <p:cNvSpPr/>
          <p:nvPr/>
        </p:nvSpPr>
        <p:spPr>
          <a:xfrm>
            <a:off x="775816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文本框 155"/>
          <p:cNvSpPr txBox="1"/>
          <p:nvPr/>
        </p:nvSpPr>
        <p:spPr>
          <a:xfrm>
            <a:off x="754226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191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58" name="等腰三角形 157"/>
          <p:cNvSpPr/>
          <p:nvPr/>
        </p:nvSpPr>
        <p:spPr>
          <a:xfrm>
            <a:off x="823967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文本框 158"/>
          <p:cNvSpPr txBox="1"/>
          <p:nvPr/>
        </p:nvSpPr>
        <p:spPr>
          <a:xfrm>
            <a:off x="802377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1" name="等腰三角形 160"/>
          <p:cNvSpPr/>
          <p:nvPr/>
        </p:nvSpPr>
        <p:spPr>
          <a:xfrm>
            <a:off x="872117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文本框 161"/>
          <p:cNvSpPr txBox="1"/>
          <p:nvPr/>
        </p:nvSpPr>
        <p:spPr>
          <a:xfrm>
            <a:off x="850527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185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3" name="等腰三角形 162"/>
          <p:cNvSpPr/>
          <p:nvPr/>
        </p:nvSpPr>
        <p:spPr>
          <a:xfrm>
            <a:off x="9202682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文本框 163"/>
          <p:cNvSpPr txBox="1"/>
          <p:nvPr/>
        </p:nvSpPr>
        <p:spPr>
          <a:xfrm>
            <a:off x="8986782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182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6" name="等腰三角形 165"/>
          <p:cNvSpPr/>
          <p:nvPr/>
        </p:nvSpPr>
        <p:spPr>
          <a:xfrm>
            <a:off x="968418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9468288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179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68" name="等腰三角形 167"/>
          <p:cNvSpPr/>
          <p:nvPr/>
        </p:nvSpPr>
        <p:spPr>
          <a:xfrm>
            <a:off x="10165693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9949793" y="5384800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0" name="等腰三角形 169"/>
          <p:cNvSpPr/>
          <p:nvPr/>
        </p:nvSpPr>
        <p:spPr>
          <a:xfrm>
            <a:off x="10647198" y="5270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10431298" y="5400254"/>
            <a:ext cx="526948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173</a:t>
            </a:r>
            <a:endParaRPr kumimoji="0" lang="zh-CN" altLang="en-US" sz="1200" b="1" i="0" u="none" strike="noStrike" cap="none" spc="0" normalizeH="0" baseline="0" dirty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6" name="等腰三角形 5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等腰三角形 171"/>
          <p:cNvSpPr/>
          <p:nvPr/>
        </p:nvSpPr>
        <p:spPr>
          <a:xfrm rot="5400000">
            <a:off x="774700" y="488950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330200" y="476250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4" name="等腰三角形 173"/>
          <p:cNvSpPr/>
          <p:nvPr/>
        </p:nvSpPr>
        <p:spPr>
          <a:xfrm rot="5400000">
            <a:off x="774700" y="444584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330200" y="431884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6" name="等腰三角形 175"/>
          <p:cNvSpPr/>
          <p:nvPr/>
        </p:nvSpPr>
        <p:spPr>
          <a:xfrm rot="5400000">
            <a:off x="774700" y="400219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330200" y="387519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78" name="等腰三角形 177"/>
          <p:cNvSpPr/>
          <p:nvPr/>
        </p:nvSpPr>
        <p:spPr>
          <a:xfrm rot="5400000">
            <a:off x="774700" y="355854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330200" y="343154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36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80" name="等腰三角形 179"/>
          <p:cNvSpPr/>
          <p:nvPr/>
        </p:nvSpPr>
        <p:spPr>
          <a:xfrm rot="5400000">
            <a:off x="774700" y="311488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330200" y="2987887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38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4" name="等腰三角形 193"/>
          <p:cNvSpPr/>
          <p:nvPr/>
        </p:nvSpPr>
        <p:spPr>
          <a:xfrm rot="5400000">
            <a:off x="774700" y="2671233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330200" y="2544233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40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6" name="等腰三角形 195"/>
          <p:cNvSpPr/>
          <p:nvPr/>
        </p:nvSpPr>
        <p:spPr>
          <a:xfrm rot="5400000">
            <a:off x="774700" y="2227580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330200" y="2100580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42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198" name="等腰三角形 197"/>
          <p:cNvSpPr/>
          <p:nvPr/>
        </p:nvSpPr>
        <p:spPr>
          <a:xfrm rot="5400000">
            <a:off x="774700" y="1783927"/>
            <a:ext cx="114300" cy="114300"/>
          </a:xfrm>
          <a:prstGeom prst="triangle">
            <a:avLst/>
          </a:prstGeom>
          <a:solidFill>
            <a:srgbClr val="000000"/>
          </a:solidFill>
          <a:ln w="38100" cap="flat">
            <a:noFill/>
            <a:prstDash val="solid"/>
            <a:round/>
          </a:ln>
          <a:effectLst/>
          <a:extLst>
            <a:ext uri="{91240B29-F687-4F45-9708-019B960494DF}">
              <a14:hiddenLine xmlns:a14="http://schemas.microsoft.com/office/drawing/2010/main" w="38100">
                <a:solidFill>
                  <a:schemeClr val="accent1"/>
                </a:solidFill>
                <a:prstDash val="solid"/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50800" dist="38100" dir="5400000" rotWithShape="0">
                    <a:srgbClr val="000000">
                      <a:alpha val="43137"/>
                    </a:srgbClr>
                  </a:outerShdw>
                </a:effectLst>
              </a14:hiddenEffects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文本框 198"/>
          <p:cNvSpPr txBox="1"/>
          <p:nvPr/>
        </p:nvSpPr>
        <p:spPr>
          <a:xfrm>
            <a:off x="330200" y="1733546"/>
            <a:ext cx="469900" cy="369330"/>
          </a:xfrm>
          <a:prstGeom prst="rect">
            <a:avLst/>
          </a:prstGeom>
          <a:solidFill>
            <a:scrgbClr r="0" g="0" b="0">
              <a:alpha val="0"/>
            </a:sc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200" b="1" i="0" u="none" strike="noStrike" cap="none" spc="0" normalizeH="0" baseline="0">
                <a:ln>
                  <a:noFill/>
                </a:ln>
                <a:effectLst/>
                <a:uFillTx/>
                <a:latin typeface="Arial" pitchFamily="34" charset="0"/>
                <a:ea typeface="微软雅黑" pitchFamily="34" charset="-122"/>
                <a:cs typeface="Arial"/>
                <a:sym typeface="Arial"/>
              </a:rPr>
              <a:t>44</a:t>
            </a:r>
            <a:endParaRPr kumimoji="0" lang="zh-CN" altLang="en-US" sz="1200" b="1" i="0" u="none" strike="noStrike" cap="none" spc="0" normalizeH="0" baseline="0">
              <a:ln>
                <a:noFill/>
              </a:ln>
              <a:effectLst/>
              <a:uFillTx/>
              <a:latin typeface="Arial" pitchFamily="34" charset="0"/>
              <a:ea typeface="微软雅黑" pitchFamily="34" charset="-122"/>
              <a:cs typeface="Arial"/>
              <a:sym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0515298" y="5376331"/>
            <a:ext cx="543739" cy="30777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algn="ctr"/>
            <a:r>
              <a:rPr lang="zh-CN" altLang="en-US" sz="1400" b="1" dirty="0">
                <a:solidFill>
                  <a:schemeClr val="bg1"/>
                </a:solidFill>
                <a:latin typeface="微软雅黑" charset="-122"/>
                <a:ea typeface="微软雅黑" charset="-122"/>
              </a:rPr>
              <a:t>重量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/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 40"/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2" name="直接连接符 41"/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图片 7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15" name="矩形 14"/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B2C9E-A068-AFF8-8ECC-84E106305DF8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70582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92871-22AD-CD04-93E5-4F0D7DBE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F50DEA5D-1F8C-E6C7-F38E-3BF5E45B9769}"/>
              </a:ext>
            </a:extLst>
          </p:cNvPr>
          <p:cNvCxnSpPr/>
          <p:nvPr/>
        </p:nvCxnSpPr>
        <p:spPr>
          <a:xfrm>
            <a:off x="263352" y="2337973"/>
            <a:ext cx="0" cy="4365023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7C47286-FC69-D4E4-D583-85C7677B7966}"/>
              </a:ext>
            </a:extLst>
          </p:cNvPr>
          <p:cNvCxnSpPr/>
          <p:nvPr/>
        </p:nvCxnSpPr>
        <p:spPr>
          <a:xfrm>
            <a:off x="263352" y="6697621"/>
            <a:ext cx="1173730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5DD6B7A-B688-6DA9-176F-5A5DFEEA00EE}"/>
              </a:ext>
            </a:extLst>
          </p:cNvPr>
          <p:cNvCxnSpPr/>
          <p:nvPr/>
        </p:nvCxnSpPr>
        <p:spPr>
          <a:xfrm>
            <a:off x="11986765" y="2420888"/>
            <a:ext cx="0" cy="428210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12C4E460-3A6C-A0B8-A199-E88E7D56AE50}"/>
              </a:ext>
            </a:extLst>
          </p:cNvPr>
          <p:cNvSpPr/>
          <p:nvPr/>
        </p:nvSpPr>
        <p:spPr>
          <a:xfrm>
            <a:off x="9314885" y="314655"/>
            <a:ext cx="1843150" cy="147616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452091F-39DE-516E-A86F-659BE408A02D}"/>
              </a:ext>
            </a:extLst>
          </p:cNvPr>
          <p:cNvCxnSpPr/>
          <p:nvPr/>
        </p:nvCxnSpPr>
        <p:spPr>
          <a:xfrm>
            <a:off x="9192344" y="188640"/>
            <a:ext cx="0" cy="6508981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D9D531F9-36DA-34FB-E12A-04412C063202}"/>
              </a:ext>
            </a:extLst>
          </p:cNvPr>
          <p:cNvCxnSpPr/>
          <p:nvPr/>
        </p:nvCxnSpPr>
        <p:spPr>
          <a:xfrm>
            <a:off x="263352" y="188640"/>
            <a:ext cx="11017224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BFC7A53-AA8B-B0EF-CF11-90B5207603D7}"/>
              </a:ext>
            </a:extLst>
          </p:cNvPr>
          <p:cNvCxnSpPr/>
          <p:nvPr/>
        </p:nvCxnSpPr>
        <p:spPr>
          <a:xfrm>
            <a:off x="263352" y="185339"/>
            <a:ext cx="0" cy="579365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F159957-409B-9120-31A3-90231868E118}"/>
              </a:ext>
            </a:extLst>
          </p:cNvPr>
          <p:cNvCxnSpPr/>
          <p:nvPr/>
        </p:nvCxnSpPr>
        <p:spPr>
          <a:xfrm flipV="1">
            <a:off x="9192344" y="2415514"/>
            <a:ext cx="2789094" cy="5374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1DB6164-BA5C-E2C5-92D3-A62FBD08B5D1}"/>
              </a:ext>
            </a:extLst>
          </p:cNvPr>
          <p:cNvCxnSpPr/>
          <p:nvPr/>
        </p:nvCxnSpPr>
        <p:spPr>
          <a:xfrm>
            <a:off x="11280576" y="188640"/>
            <a:ext cx="0" cy="2232248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B44C807-C513-55F7-BB5A-5759370D75B2}"/>
              </a:ext>
            </a:extLst>
          </p:cNvPr>
          <p:cNvCxnSpPr/>
          <p:nvPr/>
        </p:nvCxnSpPr>
        <p:spPr>
          <a:xfrm>
            <a:off x="9192344" y="1916832"/>
            <a:ext cx="2088232" cy="0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F35BB10F-EBCB-A4B1-E2DF-220535271FF7}"/>
              </a:ext>
            </a:extLst>
          </p:cNvPr>
          <p:cNvSpPr/>
          <p:nvPr/>
        </p:nvSpPr>
        <p:spPr>
          <a:xfrm>
            <a:off x="9230509" y="1893819"/>
            <a:ext cx="1974467" cy="45845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8.29/10</a:t>
            </a:r>
            <a:endParaRPr lang="zh-CN" altLang="en-US" b="1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EB8835-406A-564B-1896-E2E725C2CB96}"/>
              </a:ext>
            </a:extLst>
          </p:cNvPr>
          <p:cNvSpPr/>
          <p:nvPr/>
        </p:nvSpPr>
        <p:spPr>
          <a:xfrm>
            <a:off x="9840416" y="44624"/>
            <a:ext cx="773897" cy="155670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7200" b="1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A</a:t>
            </a:r>
            <a:endParaRPr lang="zh-CN" altLang="en-US" sz="7200" b="1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48B9329-8CFE-4E4D-2103-764F17732125}"/>
              </a:ext>
            </a:extLst>
          </p:cNvPr>
          <p:cNvCxnSpPr/>
          <p:nvPr/>
        </p:nvCxnSpPr>
        <p:spPr>
          <a:xfrm>
            <a:off x="263352" y="3227063"/>
            <a:ext cx="8928992" cy="0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9BE1BE92-E54B-4677-2142-4852FA892F8B}"/>
              </a:ext>
            </a:extLst>
          </p:cNvPr>
          <p:cNvSpPr/>
          <p:nvPr/>
        </p:nvSpPr>
        <p:spPr>
          <a:xfrm>
            <a:off x="311218" y="2337973"/>
            <a:ext cx="2704623" cy="854080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试穿人数：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</a:t>
            </a:r>
            <a:endParaRPr lang="en-US" altLang="zh-CN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测试者平均体重：</a:t>
            </a:r>
            <a:r>
              <a:rPr lang="en-US" altLang="zh-CN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84.3KG</a:t>
            </a:r>
            <a:endParaRPr lang="en-US" altLang="zh-CN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1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测试者球场定位：锋、卫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2FE8141-3EF8-DBB5-DC05-C376CE4943C0}"/>
              </a:ext>
            </a:extLst>
          </p:cNvPr>
          <p:cNvSpPr/>
          <p:nvPr/>
        </p:nvSpPr>
        <p:spPr>
          <a:xfrm>
            <a:off x="9196387" y="2415514"/>
            <a:ext cx="2785051" cy="326613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DE70494-1D94-5B53-200B-3831A13B19F9}"/>
              </a:ext>
            </a:extLst>
          </p:cNvPr>
          <p:cNvCxnSpPr/>
          <p:nvPr/>
        </p:nvCxnSpPr>
        <p:spPr>
          <a:xfrm>
            <a:off x="5692599" y="3284417"/>
            <a:ext cx="0" cy="3447692"/>
          </a:xfrm>
          <a:prstGeom prst="line">
            <a:avLst/>
          </a:prstGeom>
          <a:ln w="9525">
            <a:solidFill>
              <a:srgbClr val="C00000"/>
            </a:solidFill>
            <a:prstDash val="dashDot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图片 39">
            <a:extLst>
              <a:ext uri="{FF2B5EF4-FFF2-40B4-BE49-F238E27FC236}">
                <a16:creationId xmlns:a16="http://schemas.microsoft.com/office/drawing/2014/main" id="{C5758638-8F56-A657-1C99-5CCB8D6C370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28" b="24973"/>
          <a:stretch/>
        </p:blipFill>
        <p:spPr>
          <a:xfrm>
            <a:off x="278790" y="987483"/>
            <a:ext cx="2614510" cy="112771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1" name="矩形 40">
            <a:extLst>
              <a:ext uri="{FF2B5EF4-FFF2-40B4-BE49-F238E27FC236}">
                <a16:creationId xmlns:a16="http://schemas.microsoft.com/office/drawing/2014/main" id="{2B42C03E-06F3-D01E-F474-736165E793C2}"/>
              </a:ext>
            </a:extLst>
          </p:cNvPr>
          <p:cNvSpPr/>
          <p:nvPr/>
        </p:nvSpPr>
        <p:spPr>
          <a:xfrm>
            <a:off x="263352" y="192792"/>
            <a:ext cx="2752489" cy="571912"/>
          </a:xfrm>
          <a:prstGeom prst="rect">
            <a:avLst/>
          </a:prstGeom>
          <a:solidFill>
            <a:srgbClr val="B01A2B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58502D-576B-6C89-24AF-E760030EC50F}"/>
              </a:ext>
            </a:extLst>
          </p:cNvPr>
          <p:cNvSpPr txBox="1"/>
          <p:nvPr/>
        </p:nvSpPr>
        <p:spPr>
          <a:xfrm>
            <a:off x="188387" y="241588"/>
            <a:ext cx="3200492" cy="4616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457200" hangingPunct="0"/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‘</a:t>
            </a:r>
            <a:r>
              <a:rPr lang="en-US" altLang="zh-CN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SUPER GRASS</a:t>
            </a:r>
            <a:r>
              <a:rPr lang="zh-CN" altLang="en-US" sz="2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</a:rPr>
              <a:t>’</a:t>
            </a:r>
            <a:endParaRPr kumimoji="0" lang="zh-CN" altLang="en-US" sz="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FillTx/>
              <a:latin typeface="楷体" panose="02010609060101010101" pitchFamily="49" charset="-122"/>
              <a:ea typeface="楷体" panose="02010609060101010101" pitchFamily="49" charset="-122"/>
              <a:sym typeface="Arial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1E37340-F6D0-F899-62FA-DA4731BEE932}"/>
              </a:ext>
            </a:extLst>
          </p:cNvPr>
          <p:cNvCxnSpPr/>
          <p:nvPr/>
        </p:nvCxnSpPr>
        <p:spPr>
          <a:xfrm>
            <a:off x="3015841" y="185339"/>
            <a:ext cx="0" cy="1812349"/>
          </a:xfrm>
          <a:prstGeom prst="line">
            <a:avLst/>
          </a:prstGeom>
          <a:ln w="19050">
            <a:solidFill>
              <a:srgbClr val="B01A2B"/>
            </a:solidFill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矩形 68">
            <a:extLst>
              <a:ext uri="{FF2B5EF4-FFF2-40B4-BE49-F238E27FC236}">
                <a16:creationId xmlns:a16="http://schemas.microsoft.com/office/drawing/2014/main" id="{136896C7-0B6C-262C-802E-48BF59BAAEF2}"/>
              </a:ext>
            </a:extLst>
          </p:cNvPr>
          <p:cNvSpPr/>
          <p:nvPr/>
        </p:nvSpPr>
        <p:spPr>
          <a:xfrm>
            <a:off x="256585" y="3310258"/>
            <a:ext cx="5294413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包裹性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前掌内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外侧弯折处均出现卡脚情况（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鞋带孔生涩，在绑缚过程中较难对鞋带进行高效的收紧与放松（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在进行内收步、剪刀步时，前掌外侧橡胶出现明显的挤压第五跖趾关节现象（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稳定性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在进行一些特定的动作时（行进间急停摆脱防守），出现轻微足外翻，具体位置在相比较前掌而言，后跟内侧支撑略低，但尚能接受（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鞋底容易吸灰，导致打滑（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3/3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鞋底在与地面摩擦时无“吱吱吱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~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”声响，对篮球爱好者来说安全感低。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图片 74">
            <a:extLst>
              <a:ext uri="{FF2B5EF4-FFF2-40B4-BE49-F238E27FC236}">
                <a16:creationId xmlns:a16="http://schemas.microsoft.com/office/drawing/2014/main" id="{6B25D678-3B68-D983-3D9D-A325506B9C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70" y="3115693"/>
            <a:ext cx="379660" cy="404154"/>
          </a:xfrm>
          <a:prstGeom prst="rect">
            <a:avLst/>
          </a:prstGeom>
        </p:spPr>
      </p:pic>
      <p:pic>
        <p:nvPicPr>
          <p:cNvPr id="76" name="图片 75">
            <a:extLst>
              <a:ext uri="{FF2B5EF4-FFF2-40B4-BE49-F238E27FC236}">
                <a16:creationId xmlns:a16="http://schemas.microsoft.com/office/drawing/2014/main" id="{505BE928-C9B9-002F-6818-DB405601F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111" y="3148091"/>
            <a:ext cx="379660" cy="404154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98A7A975-90D3-C2F4-28A0-5B741523D152}"/>
              </a:ext>
            </a:extLst>
          </p:cNvPr>
          <p:cNvSpPr/>
          <p:nvPr/>
        </p:nvSpPr>
        <p:spPr>
          <a:xfrm>
            <a:off x="5725020" y="3310258"/>
            <a:ext cx="348438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止滑性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在室内干净木地板、室外水泥地上均能牢牢地锁定在地面。但在灰尘较大的木地板或塑胶场地上，需要频繁的擦拭鞋底灰尘。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【</a:t>
            </a: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场地感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】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静态下，前掌填覆材料异物感不明显。在动态下，前掌有明显的马蹄形“气垫”回弹反馈，在无碳板的结构下能给到足够澎湃的触地反馈。</a:t>
            </a:r>
            <a:endParaRPr lang="en-US" altLang="zh-CN" sz="1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注：三种不同硬度的填覆材料，测试结果为：</a:t>
            </a:r>
            <a:r>
              <a:rPr lang="en-US" altLang="zh-CN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30C</a:t>
            </a:r>
            <a:r>
              <a:rPr lang="zh-CN" altLang="en-US" sz="1200" b="1" dirty="0">
                <a:solidFill>
                  <a:srgbClr val="1E7C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硬度下，所给到的脚感反馈最佳！</a:t>
            </a:r>
            <a:endParaRPr lang="en-US" altLang="zh-CN" sz="1200" b="1" dirty="0">
              <a:solidFill>
                <a:srgbClr val="1E7C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8CFB63C-5BA7-CCAE-C088-64467DEF277C}"/>
              </a:ext>
            </a:extLst>
          </p:cNvPr>
          <p:cNvSpPr/>
          <p:nvPr/>
        </p:nvSpPr>
        <p:spPr>
          <a:xfrm>
            <a:off x="2409648" y="595529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800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First round</a:t>
            </a:r>
            <a:endParaRPr lang="zh-CN" altLang="en-US" sz="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graphicFrame>
        <p:nvGraphicFramePr>
          <p:cNvPr id="14" name="图表 13">
            <a:extLst>
              <a:ext uri="{FF2B5EF4-FFF2-40B4-BE49-F238E27FC236}">
                <a16:creationId xmlns:a16="http://schemas.microsoft.com/office/drawing/2014/main" id="{C1BC75A2-27B3-3F68-EFE7-7569403389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53894"/>
              </p:ext>
            </p:extLst>
          </p:nvPr>
        </p:nvGraphicFramePr>
        <p:xfrm>
          <a:off x="3075816" y="278825"/>
          <a:ext cx="5934011" cy="28509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758356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1857-89CF-8C2F-E2E6-E828579B4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60AF60-2CE0-F6E2-D970-2B2D3F330A45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</p:spTree>
    <p:extLst>
      <p:ext uri="{BB962C8B-B14F-4D97-AF65-F5344CB8AC3E}">
        <p14:creationId xmlns:p14="http://schemas.microsoft.com/office/powerpoint/2010/main" val="218886361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09B17-59BC-6642-6114-D6FADF40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F494C62-2966-3928-682B-B339878946BB}"/>
              </a:ext>
            </a:extLst>
          </p:cNvPr>
          <p:cNvSpPr/>
          <p:nvPr/>
        </p:nvSpPr>
        <p:spPr>
          <a:xfrm>
            <a:off x="191344" y="188640"/>
            <a:ext cx="902811" cy="52322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01E3B39-1748-6C5F-8B34-3D4A894D5B65}"/>
              </a:ext>
            </a:extLst>
          </p:cNvPr>
          <p:cNvSpPr txBox="1"/>
          <p:nvPr/>
        </p:nvSpPr>
        <p:spPr>
          <a:xfrm>
            <a:off x="479376" y="1628800"/>
            <a:ext cx="8242141" cy="419794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FF0000"/>
                </a:solidFill>
              </a:rPr>
              <a:t>优势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包裹性表现较好</a:t>
            </a:r>
            <a:r>
              <a:rPr lang="zh-CN" altLang="en-US" dirty="0"/>
              <a:t>，鞋脚一体性明显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支撑与刚性在线</a:t>
            </a:r>
            <a:r>
              <a:rPr lang="zh-CN" altLang="en-US" dirty="0"/>
              <a:t>，实战稳定性较好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整体舒适度不错</a:t>
            </a:r>
            <a:endParaRPr lang="zh-CN" altLang="en-US" dirty="0"/>
          </a:p>
          <a:p>
            <a:pPr>
              <a:lnSpc>
                <a:spcPct val="150000"/>
              </a:lnSpc>
              <a:buNone/>
            </a:pPr>
            <a:endParaRPr lang="en-US" altLang="zh-CN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0070C0"/>
                </a:solidFill>
              </a:rPr>
              <a:t>问题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抓地不足（</a:t>
            </a:r>
            <a:r>
              <a:rPr lang="en-US" altLang="zh-CN" b="1" dirty="0"/>
              <a:t>4/7</a:t>
            </a:r>
            <a:r>
              <a:rPr lang="zh-CN" altLang="en-US" b="1" dirty="0"/>
              <a:t>）</a:t>
            </a:r>
            <a:r>
              <a:rPr lang="zh-CN" altLang="en-US" dirty="0"/>
              <a:t>：木地板、急停、横移时更明显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后跟</a:t>
            </a:r>
            <a:r>
              <a:rPr lang="en-US" altLang="zh-CN" b="1" dirty="0"/>
              <a:t>/</a:t>
            </a:r>
            <a:r>
              <a:rPr lang="zh-CN" altLang="en-US" b="1" dirty="0"/>
              <a:t>脚踝问题（</a:t>
            </a:r>
            <a:r>
              <a:rPr lang="en-US" altLang="zh-CN" b="1" dirty="0"/>
              <a:t>3/7</a:t>
            </a:r>
            <a:r>
              <a:rPr lang="zh-CN" altLang="en-US" b="1" dirty="0"/>
              <a:t>）</a:t>
            </a:r>
            <a:r>
              <a:rPr lang="zh-CN" altLang="en-US" dirty="0"/>
              <a:t>：掉跟、外踝卡脚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缓震偏硬</a:t>
            </a:r>
            <a:r>
              <a:rPr lang="en-US" altLang="zh-CN" b="1" dirty="0"/>
              <a:t>/</a:t>
            </a:r>
            <a:r>
              <a:rPr lang="zh-CN" altLang="en-US" b="1" dirty="0"/>
              <a:t>偏薄（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：前掌硬、后跟硬、缓震感不足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/>
              <a:t>鞋带偏短（</a:t>
            </a:r>
            <a:r>
              <a:rPr lang="en-US" altLang="zh-CN" b="1" dirty="0"/>
              <a:t>2/7</a:t>
            </a:r>
            <a:r>
              <a:rPr lang="zh-CN" altLang="en-US" b="1" dirty="0"/>
              <a:t>）</a:t>
            </a:r>
            <a:r>
              <a:rPr lang="zh-CN" altLang="en-US" dirty="0"/>
              <a:t> 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ED99B3E-3E42-AA7F-192A-E2595295D225}"/>
              </a:ext>
            </a:extLst>
          </p:cNvPr>
          <p:cNvSpPr txBox="1"/>
          <p:nvPr/>
        </p:nvSpPr>
        <p:spPr>
          <a:xfrm>
            <a:off x="6989412" y="1862253"/>
            <a:ext cx="6096000" cy="336694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b="1" dirty="0"/>
              <a:t>修改建议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solidFill>
                  <a:schemeClr val="accent1"/>
                </a:solidFill>
              </a:rPr>
              <a:t>P1</a:t>
            </a:r>
            <a:r>
              <a:rPr lang="zh-CN" altLang="en-US" b="1" dirty="0">
                <a:solidFill>
                  <a:schemeClr val="accent1"/>
                </a:solidFill>
              </a:rPr>
              <a:t>：优化抓地</a:t>
            </a:r>
            <a:br>
              <a:rPr lang="zh-CN" altLang="en-US" dirty="0"/>
            </a:br>
            <a:r>
              <a:rPr lang="zh-CN" altLang="en-US" dirty="0"/>
              <a:t>核查橡胶硬度，如果硬度正确考虑调软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更换为普通橡胶或者止滑橡胶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P1</a:t>
            </a:r>
            <a:r>
              <a:rPr lang="zh-CN" altLang="en-US" b="1" dirty="0"/>
              <a:t>：优化后跟锁定</a:t>
            </a:r>
            <a:br>
              <a:rPr lang="zh-CN" altLang="en-US" dirty="0"/>
            </a:br>
            <a:r>
              <a:rPr lang="zh-CN" altLang="en-US" dirty="0"/>
              <a:t>调整后跟杯、领口泡棉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b="1" dirty="0"/>
              <a:t>P2</a:t>
            </a:r>
            <a:r>
              <a:rPr lang="zh-CN" altLang="en-US" b="1" dirty="0"/>
              <a:t>：修正细节体验</a:t>
            </a:r>
            <a:br>
              <a:rPr lang="zh-CN" altLang="en-US" dirty="0"/>
            </a:br>
            <a:r>
              <a:rPr lang="zh-CN" altLang="en-US" dirty="0"/>
              <a:t>加长鞋带</a:t>
            </a:r>
          </a:p>
        </p:txBody>
      </p:sp>
    </p:spTree>
    <p:extLst>
      <p:ext uri="{BB962C8B-B14F-4D97-AF65-F5344CB8AC3E}">
        <p14:creationId xmlns:p14="http://schemas.microsoft.com/office/powerpoint/2010/main" val="180291955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33" name="文本框 32"/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4367808" y="154659"/>
            <a:ext cx="33843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I  &lt;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面料信息</a:t>
            </a: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&gt;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09B7F65-DC1D-88AB-C3DF-562E19A24E35}"/>
              </a:ext>
            </a:extLst>
          </p:cNvPr>
          <p:cNvSpPr txBox="1"/>
          <p:nvPr/>
        </p:nvSpPr>
        <p:spPr>
          <a:xfrm>
            <a:off x="262961" y="4548820"/>
            <a:ext cx="5617015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3D3E686-1196-993A-B9DD-850EE760CB9F}"/>
              </a:ext>
            </a:extLst>
          </p:cNvPr>
          <p:cNvSpPr txBox="1"/>
          <p:nvPr/>
        </p:nvSpPr>
        <p:spPr>
          <a:xfrm>
            <a:off x="6096000" y="4548820"/>
            <a:ext cx="4428601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  <a:endParaRPr lang="en-US" altLang="zh-CN" sz="1400" b="0" dirty="0"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0DF3F-599A-128F-2CD5-AA91FA72B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84036E-0D18-C531-8E4A-F50243307089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380D277-02AA-1AD6-F687-EC534604EB64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8E969061-10B0-FF3B-2558-B4DDF2B0A8DD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C72C4F87-E973-B28C-E9DE-43A09BA92BAA}"/>
              </a:ext>
            </a:extLst>
          </p:cNvPr>
          <p:cNvSpPr/>
          <p:nvPr/>
        </p:nvSpPr>
        <p:spPr>
          <a:xfrm>
            <a:off x="482600" y="1244600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52F407-03E3-FAE5-0036-9CD776509CE2}"/>
              </a:ext>
            </a:extLst>
          </p:cNvPr>
          <p:cNvSpPr txBox="1"/>
          <p:nvPr/>
        </p:nvSpPr>
        <p:spPr>
          <a:xfrm>
            <a:off x="419100" y="1752600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版型</a:t>
            </a:r>
          </a:p>
        </p:txBody>
      </p:sp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47F463C8-6746-8E48-52DF-5419C32C0E5D}"/>
              </a:ext>
            </a:extLst>
          </p:cNvPr>
          <p:cNvGraphicFramePr/>
          <p:nvPr/>
        </p:nvGraphicFramePr>
        <p:xfrm>
          <a:off x="1625600" y="1016000"/>
          <a:ext cx="2413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椭圆 13">
            <a:extLst>
              <a:ext uri="{FF2B5EF4-FFF2-40B4-BE49-F238E27FC236}">
                <a16:creationId xmlns:a16="http://schemas.microsoft.com/office/drawing/2014/main" id="{39984E8F-25E6-BAA9-C88B-23E5E09B9B9E}"/>
              </a:ext>
            </a:extLst>
          </p:cNvPr>
          <p:cNvSpPr/>
          <p:nvPr/>
        </p:nvSpPr>
        <p:spPr>
          <a:xfrm>
            <a:off x="4191000" y="1244600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951B05-D636-E5F2-21FE-589AD43C8E00}"/>
              </a:ext>
            </a:extLst>
          </p:cNvPr>
          <p:cNvSpPr txBox="1"/>
          <p:nvPr/>
        </p:nvSpPr>
        <p:spPr>
          <a:xfrm>
            <a:off x="4127500" y="1752600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面料</a:t>
            </a:r>
          </a:p>
        </p:txBody>
      </p:sp>
      <p:graphicFrame>
        <p:nvGraphicFramePr>
          <p:cNvPr id="16" name="图表 15">
            <a:extLst>
              <a:ext uri="{FF2B5EF4-FFF2-40B4-BE49-F238E27FC236}">
                <a16:creationId xmlns:a16="http://schemas.microsoft.com/office/drawing/2014/main" id="{B7644477-6B08-E436-7DC7-C39CC6B263AA}"/>
              </a:ext>
            </a:extLst>
          </p:cNvPr>
          <p:cNvGraphicFramePr/>
          <p:nvPr/>
        </p:nvGraphicFramePr>
        <p:xfrm>
          <a:off x="5334000" y="1304032"/>
          <a:ext cx="2413000" cy="12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椭圆 16">
            <a:extLst>
              <a:ext uri="{FF2B5EF4-FFF2-40B4-BE49-F238E27FC236}">
                <a16:creationId xmlns:a16="http://schemas.microsoft.com/office/drawing/2014/main" id="{1EFFAB1F-AAA5-F812-49DE-DEC3474DB6A0}"/>
              </a:ext>
            </a:extLst>
          </p:cNvPr>
          <p:cNvSpPr/>
          <p:nvPr/>
        </p:nvSpPr>
        <p:spPr>
          <a:xfrm>
            <a:off x="482600" y="2924944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11CE48F8-C4C1-1829-A475-4215F61DEACB}"/>
              </a:ext>
            </a:extLst>
          </p:cNvPr>
          <p:cNvSpPr txBox="1"/>
          <p:nvPr/>
        </p:nvSpPr>
        <p:spPr>
          <a:xfrm>
            <a:off x="419100" y="3432944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吸湿排汗</a:t>
            </a:r>
          </a:p>
        </p:txBody>
      </p:sp>
      <p:graphicFrame>
        <p:nvGraphicFramePr>
          <p:cNvPr id="19" name="图表 18">
            <a:extLst>
              <a:ext uri="{FF2B5EF4-FFF2-40B4-BE49-F238E27FC236}">
                <a16:creationId xmlns:a16="http://schemas.microsoft.com/office/drawing/2014/main" id="{623D2B04-54F1-4151-2F5F-0D6D0DD6D6E3}"/>
              </a:ext>
            </a:extLst>
          </p:cNvPr>
          <p:cNvGraphicFramePr/>
          <p:nvPr/>
        </p:nvGraphicFramePr>
        <p:xfrm>
          <a:off x="1625600" y="3056384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0" name="椭圆 19">
            <a:extLst>
              <a:ext uri="{FF2B5EF4-FFF2-40B4-BE49-F238E27FC236}">
                <a16:creationId xmlns:a16="http://schemas.microsoft.com/office/drawing/2014/main" id="{AB24AF34-6ECA-CF9A-E76C-AC17C2289341}"/>
              </a:ext>
            </a:extLst>
          </p:cNvPr>
          <p:cNvSpPr/>
          <p:nvPr/>
        </p:nvSpPr>
        <p:spPr>
          <a:xfrm>
            <a:off x="4191000" y="2924944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5C35336-77B2-3B8E-5665-AE7ADD6EB1CE}"/>
              </a:ext>
            </a:extLst>
          </p:cNvPr>
          <p:cNvSpPr txBox="1"/>
          <p:nvPr/>
        </p:nvSpPr>
        <p:spPr>
          <a:xfrm>
            <a:off x="4127500" y="3432944"/>
            <a:ext cx="1587500" cy="406400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速干</a:t>
            </a:r>
          </a:p>
        </p:txBody>
      </p:sp>
      <p:graphicFrame>
        <p:nvGraphicFramePr>
          <p:cNvPr id="22" name="图表 21">
            <a:extLst>
              <a:ext uri="{FF2B5EF4-FFF2-40B4-BE49-F238E27FC236}">
                <a16:creationId xmlns:a16="http://schemas.microsoft.com/office/drawing/2014/main" id="{8E9D049E-628D-FDE6-EAFD-6928A06B4E82}"/>
              </a:ext>
            </a:extLst>
          </p:cNvPr>
          <p:cNvGraphicFramePr/>
          <p:nvPr/>
        </p:nvGraphicFramePr>
        <p:xfrm>
          <a:off x="5334000" y="3056384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4" name="文本框 23">
            <a:extLst>
              <a:ext uri="{FF2B5EF4-FFF2-40B4-BE49-F238E27FC236}">
                <a16:creationId xmlns:a16="http://schemas.microsoft.com/office/drawing/2014/main" id="{42DBCF6C-9C64-F130-823A-6B6435D59B9A}"/>
              </a:ext>
            </a:extLst>
          </p:cNvPr>
          <p:cNvSpPr txBox="1"/>
          <p:nvPr/>
        </p:nvSpPr>
        <p:spPr>
          <a:xfrm>
            <a:off x="262961" y="4548820"/>
            <a:ext cx="5617015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25B7754-656B-D42A-C5F0-92B296F451E4}"/>
              </a:ext>
            </a:extLst>
          </p:cNvPr>
          <p:cNvSpPr txBox="1"/>
          <p:nvPr/>
        </p:nvSpPr>
        <p:spPr>
          <a:xfrm>
            <a:off x="10555698" y="679061"/>
            <a:ext cx="1589062" cy="1131077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165CM / 52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162CM / 58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168CM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60</a:t>
            </a:r>
            <a:r>
              <a:rPr lang="zh-CN" altLang="en-US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altLang="zh-CN" sz="9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KG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85E0F9A-AFD2-3085-1BB5-51F6352B0CDE}"/>
              </a:ext>
            </a:extLst>
          </p:cNvPr>
          <p:cNvSpPr txBox="1"/>
          <p:nvPr/>
        </p:nvSpPr>
        <p:spPr>
          <a:xfrm>
            <a:off x="6096000" y="4548820"/>
            <a:ext cx="4428601" cy="1944000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  <a:endParaRPr lang="en-US" altLang="zh-CN" sz="1400" b="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DFD7929-5E38-55C2-592D-D1ACE541AAE5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7C0EDA-4182-5B15-ED80-A9EECA341CB2}"/>
              </a:ext>
            </a:extLst>
          </p:cNvPr>
          <p:cNvSpPr txBox="1"/>
          <p:nvPr/>
        </p:nvSpPr>
        <p:spPr>
          <a:xfrm>
            <a:off x="365479" y="4938944"/>
            <a:ext cx="5411978" cy="134690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轻薄透气，舒适不闷热（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吸湿排汗性能好，汗湿后衣服不会黏在身上（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速干性能极好（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4/4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）大部分时间都很干爽（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）几乎感受不到身上有汗（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1/4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endParaRPr lang="en-US" altLang="zh-CN" sz="14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909F5C-B7F6-DF9C-ACA8-07D662B4C0D4}"/>
              </a:ext>
            </a:extLst>
          </p:cNvPr>
          <p:cNvSpPr txBox="1"/>
          <p:nvPr/>
        </p:nvSpPr>
        <p:spPr>
          <a:xfrm>
            <a:off x="6118860" y="4938944"/>
            <a:ext cx="4296849" cy="134690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342900" indent="-342900">
              <a:lnSpc>
                <a:spcPct val="150000"/>
              </a:lnSpc>
              <a:buFont typeface="+mj-lt"/>
              <a:buAutoNum type="arabicPeriod"/>
              <a:defRPr sz="140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肩部挖空偏小，会勒腋下，影响摆臂（</a:t>
            </a:r>
            <a:r>
              <a:rPr lang="en-US" altLang="zh-CN" dirty="0"/>
              <a:t>2/4</a:t>
            </a:r>
            <a:r>
              <a:rPr lang="zh-CN" altLang="en-US" dirty="0"/>
              <a:t>）；</a:t>
            </a:r>
            <a:endParaRPr lang="en-US" altLang="zh-CN" dirty="0"/>
          </a:p>
          <a:p>
            <a:r>
              <a:rPr lang="zh-CN" altLang="en-US" dirty="0"/>
              <a:t>后背开叉偏高，跑动过程后背会漏出小三角，晒太阳会痛，风大了会受凉，开车可向下调整四指宽（约</a:t>
            </a:r>
            <a:r>
              <a:rPr lang="en-US" altLang="zh-CN" dirty="0"/>
              <a:t>5cm</a:t>
            </a:r>
            <a:r>
              <a:rPr lang="zh-CN" altLang="en-US" dirty="0"/>
              <a:t>）（</a:t>
            </a:r>
            <a:r>
              <a:rPr lang="en-US" altLang="zh-CN" dirty="0"/>
              <a:t>1/4</a:t>
            </a:r>
            <a:r>
              <a:rPr lang="zh-CN" altLang="en-US" dirty="0"/>
              <a:t>）；</a:t>
            </a:r>
            <a:endParaRPr lang="en-US" altLang="zh-CN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EAB2860-D225-9537-F3A1-F49F44A3708A}"/>
              </a:ext>
            </a:extLst>
          </p:cNvPr>
          <p:cNvSpPr/>
          <p:nvPr/>
        </p:nvSpPr>
        <p:spPr>
          <a:xfrm>
            <a:off x="4367808" y="154659"/>
            <a:ext cx="33843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defRPr sz="4800">
                <a:solidFill>
                  <a:srgbClr val="FFFFFF"/>
                </a:solidFill>
                <a:latin typeface="FZHei-B01S"/>
                <a:ea typeface="FZHei-B01S"/>
                <a:cs typeface="FZHei-B01S"/>
                <a:sym typeface="FZHei-B01S"/>
              </a:defRPr>
            </a:pP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I  &lt;</a:t>
            </a: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面料信息</a:t>
            </a:r>
            <a:r>
              <a:rPr lang="en-US" altLang="zh-CN" sz="14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70524510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" name="图表 63">
            <a:extLst>
              <a:ext uri="{FF2B5EF4-FFF2-40B4-BE49-F238E27FC236}">
                <a16:creationId xmlns:a16="http://schemas.microsoft.com/office/drawing/2014/main" id="{52689025-6E1E-BBD7-22EF-E85E28BC5DF6}"/>
              </a:ext>
            </a:extLst>
          </p:cNvPr>
          <p:cNvGraphicFramePr>
            <a:graphicFrameLocks/>
          </p:cNvGraphicFramePr>
          <p:nvPr/>
        </p:nvGraphicFramePr>
        <p:xfrm>
          <a:off x="2071400" y="5209016"/>
          <a:ext cx="5422924" cy="1435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4" name="椭圆 3"/>
          <p:cNvSpPr/>
          <p:nvPr/>
        </p:nvSpPr>
        <p:spPr>
          <a:xfrm>
            <a:off x="453851" y="129850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75542" y="1554393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版型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3.98 / 5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4210385" y="1356455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4158567" y="1589729"/>
            <a:ext cx="1587500" cy="877161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面料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3.96 / 5</a:t>
            </a:r>
            <a:endParaRPr kumimoji="0" lang="zh-CN" altLang="en-US" sz="14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53851" y="330623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83609" y="3584621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吸湿排汗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3.61 / 5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62251" y="3306237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148324" y="3560831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000" b="1" i="0" u="none" strike="noStrike" cap="none" spc="0" normalizeH="0" baseline="0" dirty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速干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3.52 / 5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0555698" y="679060"/>
            <a:ext cx="1589062" cy="1885128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162CM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161CM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170CM / 56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156CM / 45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E: 168CM / 60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F: 163CM / 55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G: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H: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I: 162CM / 58 KG</a:t>
            </a:r>
            <a:endParaRPr lang="en-US" altLang="zh-CN" sz="9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graphicFrame>
        <p:nvGraphicFramePr>
          <p:cNvPr id="8" name="图表 7"/>
          <p:cNvGraphicFramePr/>
          <p:nvPr/>
        </p:nvGraphicFramePr>
        <p:xfrm>
          <a:off x="1596851" y="1069906"/>
          <a:ext cx="2413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图表 9"/>
          <p:cNvGraphicFramePr/>
          <p:nvPr/>
        </p:nvGraphicFramePr>
        <p:xfrm>
          <a:off x="5152851" y="1350285"/>
          <a:ext cx="2845645" cy="1245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1" name="图表 10"/>
          <p:cNvGraphicFramePr/>
          <p:nvPr/>
        </p:nvGraphicFramePr>
        <p:xfrm>
          <a:off x="1844305" y="3442585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2" name="图表 11"/>
          <p:cNvGraphicFramePr/>
          <p:nvPr/>
        </p:nvGraphicFramePr>
        <p:xfrm>
          <a:off x="5536152" y="3399947"/>
          <a:ext cx="2413000" cy="12450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50" name="椭圆 49">
            <a:extLst>
              <a:ext uri="{FF2B5EF4-FFF2-40B4-BE49-F238E27FC236}">
                <a16:creationId xmlns:a16="http://schemas.microsoft.com/office/drawing/2014/main" id="{D21B2123-BB1F-628E-200D-6AA4245C16AD}"/>
              </a:ext>
            </a:extLst>
          </p:cNvPr>
          <p:cNvSpPr/>
          <p:nvPr/>
        </p:nvSpPr>
        <p:spPr>
          <a:xfrm>
            <a:off x="427393" y="5103078"/>
            <a:ext cx="1435100" cy="1435100"/>
          </a:xfrm>
          <a:prstGeom prst="ellipse">
            <a:avLst/>
          </a:prstGeom>
          <a:solidFill>
            <a:srgbClr val="FFFFFF">
              <a:alpha val="0"/>
            </a:srgbClr>
          </a:solidFill>
          <a:ln w="76200" cap="flat">
            <a:solidFill>
              <a:srgbClr val="F4C1BD"/>
            </a:solidFill>
            <a:prstDash val="dash"/>
            <a:round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8E20231-565C-23DF-A80F-018E8D86BBA1}"/>
              </a:ext>
            </a:extLst>
          </p:cNvPr>
          <p:cNvSpPr txBox="1"/>
          <p:nvPr/>
        </p:nvSpPr>
        <p:spPr>
          <a:xfrm>
            <a:off x="336539" y="5358964"/>
            <a:ext cx="1587500" cy="92332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zh-CN" altLang="en-US" sz="2000" b="1" dirty="0">
                <a:latin typeface="Arial" panose="020B0604020202020204" pitchFamily="34" charset="0"/>
                <a:ea typeface="微软雅黑" panose="020B0503020204020204" charset="-122"/>
              </a:rPr>
              <a:t>适宜温度</a:t>
            </a:r>
            <a:endParaRPr kumimoji="0" lang="en-US" altLang="zh-CN" sz="2000" b="1" i="0" u="none" strike="noStrike" cap="none" spc="0" normalizeH="0" baseline="0" dirty="0">
              <a:ln>
                <a:noFill/>
              </a:ln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  <a:p>
            <a:pPr marL="0" marR="0" indent="0" algn="ctr" defTabSz="457200" rtl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15~25</a:t>
            </a:r>
            <a:r>
              <a:rPr lang="zh-CN" altLang="en-US" sz="16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℃</a:t>
            </a:r>
            <a:endParaRPr kumimoji="0" lang="zh-CN" altLang="en-US" sz="1600" b="1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Arial" panose="020B0604020202020204" pitchFamily="34" charset="0"/>
              <a:ea typeface="微软雅黑" panose="020B0503020204020204" charset="-122"/>
              <a:cs typeface="Arial" panose="020B0604020202020204"/>
              <a:sym typeface="Arial" panose="020B0604020202020204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7097865C-B40E-2AB2-2DC9-21197EA32375}"/>
              </a:ext>
            </a:extLst>
          </p:cNvPr>
          <p:cNvSpPr/>
          <p:nvPr/>
        </p:nvSpPr>
        <p:spPr>
          <a:xfrm>
            <a:off x="10766043" y="2886560"/>
            <a:ext cx="1168371" cy="698061"/>
          </a:xfrm>
          <a:prstGeom prst="roundRect">
            <a:avLst/>
          </a:prstGeom>
          <a:solidFill>
            <a:schemeClr val="bg2"/>
          </a:solidFill>
          <a:ln w="38100" cap="flat">
            <a:solidFill>
              <a:schemeClr val="bg2"/>
            </a:solidFill>
            <a:prstDash val="solid"/>
            <a:round/>
          </a:ln>
          <a:effectLst>
            <a:outerShdw blurRad="50800" dist="38100" dir="5400000" rotWithShape="0">
              <a:srgbClr val="000000">
                <a:alpha val="43137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1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累计跑量</a:t>
            </a:r>
            <a:r>
              <a:rPr kumimoji="0" lang="en-US" altLang="zh-CN" sz="11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km</a:t>
            </a:r>
          </a:p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 altLang="zh-CN" sz="2400" b="1" dirty="0">
                <a:solidFill>
                  <a:schemeClr val="bg1"/>
                </a:solidFill>
              </a:rPr>
              <a:t>671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45DA9769-D2C0-A7CD-A1E5-F9A764B84C9D}"/>
              </a:ext>
            </a:extLst>
          </p:cNvPr>
          <p:cNvSpPr/>
          <p:nvPr/>
        </p:nvSpPr>
        <p:spPr>
          <a:xfrm>
            <a:off x="10779395" y="3919187"/>
            <a:ext cx="1168371" cy="698061"/>
          </a:xfrm>
          <a:prstGeom prst="roundRect">
            <a:avLst/>
          </a:prstGeom>
          <a:solidFill>
            <a:schemeClr val="bg2"/>
          </a:solidFill>
          <a:ln w="38100" cap="flat">
            <a:solidFill>
              <a:schemeClr val="bg2"/>
            </a:solidFill>
            <a:prstDash val="solid"/>
            <a:round/>
          </a:ln>
          <a:effectLst>
            <a:outerShdw blurRad="50800" dist="38100" dir="5400000" rotWithShape="0">
              <a:srgbClr val="000000">
                <a:alpha val="43137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1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定位日常训练</a:t>
            </a:r>
            <a:r>
              <a:rPr lang="en-US" altLang="zh-CN" sz="2400" b="1" dirty="0">
                <a:solidFill>
                  <a:schemeClr val="bg1"/>
                </a:solidFill>
              </a:rPr>
              <a:t>7/9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851729598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F328C-5577-55E1-75F2-2081E1D73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5735AD8-3E8B-868E-57D5-531C2DD77E60}"/>
              </a:ext>
            </a:extLst>
          </p:cNvPr>
          <p:cNvCxnSpPr/>
          <p:nvPr/>
        </p:nvCxnSpPr>
        <p:spPr>
          <a:xfrm>
            <a:off x="4312963" y="1107442"/>
            <a:ext cx="3619289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641640B-8850-0327-3D82-FA39B76CD40E}"/>
              </a:ext>
            </a:extLst>
          </p:cNvPr>
          <p:cNvCxnSpPr/>
          <p:nvPr/>
        </p:nvCxnSpPr>
        <p:spPr>
          <a:xfrm>
            <a:off x="693674" y="1107442"/>
            <a:ext cx="3619289" cy="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F125C1D-7969-AFB0-F240-31EF07ACABA6}"/>
              </a:ext>
            </a:extLst>
          </p:cNvPr>
          <p:cNvSpPr txBox="1"/>
          <p:nvPr/>
        </p:nvSpPr>
        <p:spPr>
          <a:xfrm>
            <a:off x="546100" y="673100"/>
            <a:ext cx="3175000" cy="400108"/>
          </a:xfrm>
          <a:prstGeom prst="rect">
            <a:avLst/>
          </a:prstGeom>
          <a:solidFill>
            <a:srgbClr val="000000">
              <a:alpha val="0"/>
            </a:srgb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kumimoji="0" lang="zh-CN" altLang="en-US" sz="2000" b="1" i="0" u="none" strike="noStrike" cap="none" spc="0" normalizeH="0" baseline="0">
                <a:ln>
                  <a:noFill/>
                </a:ln>
                <a:effectLst/>
                <a:uFillTx/>
                <a:latin typeface="Arial" panose="020B0604020202020204" pitchFamily="34" charset="0"/>
                <a:ea typeface="微软雅黑" panose="020B0503020204020204" charset="-122"/>
                <a:cs typeface="Arial" panose="020B0604020202020204"/>
                <a:sym typeface="Arial" panose="020B0604020202020204"/>
              </a:rPr>
              <a:t>服装试穿反馈结果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31DE251-46F6-B2D2-91EA-2F7950B72588}"/>
              </a:ext>
            </a:extLst>
          </p:cNvPr>
          <p:cNvSpPr txBox="1"/>
          <p:nvPr/>
        </p:nvSpPr>
        <p:spPr>
          <a:xfrm>
            <a:off x="426925" y="1627605"/>
            <a:ext cx="7055194" cy="1708158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E16776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优点 </a:t>
            </a:r>
            <a:r>
              <a:rPr lang="en-US" altLang="zh-CN" sz="14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strengths</a:t>
            </a:r>
          </a:p>
          <a:p>
            <a:pPr marL="342900" indent="-342900" algn="ctr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整体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版型合身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、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修身显身材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，上身贴合，动作舒展不受限（</a:t>
            </a:r>
            <a:r>
              <a:rPr lang="en-US" altLang="zh-CN" sz="1400" dirty="0">
                <a:latin typeface="Arial" panose="020B0604020202020204" pitchFamily="34" charset="0"/>
                <a:ea typeface="微软雅黑" panose="020B0503020204020204" charset="-122"/>
              </a:rPr>
              <a:t>9/9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）。
具备一定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支撑性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，覆盖中低到高强度训练（</a:t>
            </a:r>
            <a:r>
              <a:rPr lang="en-US" altLang="zh-CN" sz="1400" dirty="0">
                <a:latin typeface="Arial" panose="020B0604020202020204" pitchFamily="34" charset="0"/>
                <a:ea typeface="微软雅黑" panose="020B0503020204020204" charset="-122"/>
              </a:rPr>
              <a:t>7/9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）。
面料有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亲肤性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与一定</a:t>
            </a:r>
            <a:r>
              <a:rPr lang="zh-CN" altLang="en-US" sz="1400" b="1" dirty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charset="-122"/>
              </a:rPr>
              <a:t>耐用性</a:t>
            </a: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，多名反馈不起球不勾丝</a:t>
            </a:r>
            <a:endParaRPr lang="en-US" altLang="zh-CN" sz="1400" dirty="0">
              <a:latin typeface="Arial" panose="020B0604020202020204" pitchFamily="34" charset="0"/>
              <a:ea typeface="微软雅黑" panose="020B0503020204020204" charset="-122"/>
            </a:endParaRPr>
          </a:p>
          <a:p>
            <a:pPr marL="342900" indent="-342900" algn="ctr">
              <a:lnSpc>
                <a:spcPct val="150000"/>
              </a:lnSpc>
              <a:buFont typeface="+mj-lt"/>
              <a:buAutoNum type="arabicPeriod"/>
              <a:defRPr/>
            </a:pPr>
            <a:r>
              <a:rPr lang="zh-CN" altLang="en-US" sz="1400" dirty="0">
                <a:latin typeface="Arial" panose="020B0604020202020204" pitchFamily="34" charset="0"/>
                <a:ea typeface="微软雅黑" panose="020B0503020204020204" charset="-122"/>
              </a:rPr>
              <a:t>短距离及日常训练场景下舒适性评价较好。</a:t>
            </a:r>
            <a:endParaRPr lang="en-US" altLang="zh-CN" sz="1400" dirty="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CE4FB02-CCB6-20E1-0425-211E8184E329}"/>
              </a:ext>
            </a:extLst>
          </p:cNvPr>
          <p:cNvSpPr txBox="1"/>
          <p:nvPr/>
        </p:nvSpPr>
        <p:spPr>
          <a:xfrm>
            <a:off x="10555698" y="679060"/>
            <a:ext cx="1589062" cy="1885128"/>
          </a:xfrm>
          <a:prstGeom prst="rect">
            <a:avLst/>
          </a:prstGeom>
          <a:solidFill>
            <a:srgbClr val="FFFF00">
              <a:alpha val="0"/>
            </a:srgbClr>
          </a:solidFill>
          <a:ln w="38100" cap="flat">
            <a:noFill/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noAutofit/>
          </a:bodyPr>
          <a:lstStyle/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zh-CN" altLang="en-US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受试者信息 </a:t>
            </a: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Information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A: 162CM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B: 161CM / 53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C: 170CM / 56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D: 156CM / 45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E: 168CM / 60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F: 163CM / 55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G: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H: 160CM / 50 KG</a:t>
            </a:r>
          </a:p>
          <a:p>
            <a:pPr marR="0" lvl="0" algn="ctr" defTabSz="457200" rtl="0" eaLnBrk="1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lang="en-US" altLang="zh-CN" sz="9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I: 162CM / 58 KG</a:t>
            </a:r>
            <a:endParaRPr lang="en-US" altLang="zh-CN" sz="90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4E159B-670C-3630-6F8F-26F56545F760}"/>
              </a:ext>
            </a:extLst>
          </p:cNvPr>
          <p:cNvSpPr txBox="1"/>
          <p:nvPr/>
        </p:nvSpPr>
        <p:spPr>
          <a:xfrm>
            <a:off x="442680" y="3890160"/>
            <a:ext cx="7039439" cy="2400655"/>
          </a:xfrm>
          <a:prstGeom prst="rect">
            <a:avLst/>
          </a:prstGeom>
          <a:solidFill>
            <a:scrgbClr r="0" g="0" b="0">
              <a:alpha val="0"/>
            </a:scrgbClr>
          </a:solidFill>
          <a:ln w="38100" cap="flat">
            <a:solidFill>
              <a:srgbClr val="C3E0FF"/>
            </a:solidFill>
            <a:prstDash val="dash"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lvl="0" algn="ctr" eaLnBrk="1">
              <a:lnSpc>
                <a:spcPct val="150000"/>
              </a:lnSpc>
              <a:defRPr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sz="1400" dirty="0">
                <a:solidFill>
                  <a:srgbClr val="0070C0"/>
                </a:solidFill>
              </a:rPr>
              <a:t>缺点 </a:t>
            </a:r>
            <a:r>
              <a:rPr lang="en-US" altLang="zh-CN" sz="1400" dirty="0">
                <a:solidFill>
                  <a:srgbClr val="0070C0"/>
                </a:solidFill>
              </a:rPr>
              <a:t>drawbacks</a:t>
            </a:r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0" dirty="0">
                <a:latin typeface="Arial" panose="020B0604020202020204" pitchFamily="34" charset="0"/>
              </a:rPr>
              <a:t>面料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弹性不够（</a:t>
            </a:r>
            <a:r>
              <a:rPr lang="en-US" altLang="zh-CN" sz="1400" dirty="0">
                <a:solidFill>
                  <a:srgbClr val="00B0F0"/>
                </a:solidFill>
                <a:latin typeface="Arial" panose="020B0604020202020204" pitchFamily="34" charset="0"/>
              </a:rPr>
              <a:t>2/9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）</a:t>
            </a:r>
            <a:endParaRPr lang="en-US" altLang="zh-CN" sz="14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0" dirty="0">
                <a:latin typeface="Arial" panose="020B0604020202020204" pitchFamily="34" charset="0"/>
              </a:rPr>
              <a:t>前胸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闷热</a:t>
            </a:r>
            <a:r>
              <a:rPr lang="zh-CN" altLang="en-US" sz="1400" b="0" dirty="0">
                <a:latin typeface="Arial" panose="020B0604020202020204" pitchFamily="34" charset="0"/>
              </a:rPr>
              <a:t>、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面料偏厚</a:t>
            </a:r>
            <a:r>
              <a:rPr lang="zh-CN" altLang="en-US" sz="1400" b="0" dirty="0">
                <a:latin typeface="Arial" panose="020B0604020202020204" pitchFamily="34" charset="0"/>
              </a:rPr>
              <a:t>（</a:t>
            </a:r>
            <a:r>
              <a:rPr lang="en-US" altLang="zh-CN" sz="1400" b="0" dirty="0">
                <a:latin typeface="Arial" panose="020B0604020202020204" pitchFamily="34" charset="0"/>
              </a:rPr>
              <a:t>4/9</a:t>
            </a:r>
            <a:r>
              <a:rPr lang="zh-CN" altLang="en-US" sz="1400" b="0" dirty="0">
                <a:latin typeface="Arial" panose="020B0604020202020204" pitchFamily="34" charset="0"/>
              </a:rPr>
              <a:t>）</a:t>
            </a:r>
            <a:endParaRPr lang="en-US" altLang="zh-CN" sz="1400" dirty="0">
              <a:solidFill>
                <a:srgbClr val="00B0F0"/>
              </a:solidFill>
              <a:latin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zh-CN" altLang="en-US" sz="1400" b="0" dirty="0">
                <a:latin typeface="Arial" panose="020B0604020202020204" pitchFamily="34" charset="0"/>
              </a:rPr>
              <a:t>腋下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摩擦</a:t>
            </a:r>
            <a:r>
              <a:rPr lang="zh-CN" altLang="en-US" sz="1400" b="0" dirty="0">
                <a:latin typeface="Arial" panose="020B0604020202020204" pitchFamily="34" charset="0"/>
              </a:rPr>
              <a:t>、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副乳硌感</a:t>
            </a:r>
            <a:r>
              <a:rPr lang="zh-CN" altLang="en-US" sz="1400" b="0" dirty="0">
                <a:latin typeface="Arial" panose="020B0604020202020204" pitchFamily="34" charset="0"/>
              </a:rPr>
              <a:t>、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胸下磨皮</a:t>
            </a:r>
            <a:r>
              <a:rPr lang="zh-CN" altLang="en-US" sz="1400" b="0" dirty="0">
                <a:latin typeface="Arial" panose="020B0604020202020204" pitchFamily="34" charset="0"/>
              </a:rPr>
              <a:t>较集中，长距离或出汗后更明显（</a:t>
            </a:r>
            <a:r>
              <a:rPr lang="en-US" altLang="zh-CN" sz="1400" b="0" dirty="0">
                <a:latin typeface="Arial" panose="020B0604020202020204" pitchFamily="34" charset="0"/>
              </a:rPr>
              <a:t>8/9</a:t>
            </a:r>
            <a:r>
              <a:rPr lang="zh-CN" altLang="en-US" sz="1400" b="0" dirty="0">
                <a:latin typeface="Arial" panose="020B0604020202020204" pitchFamily="34" charset="0"/>
              </a:rPr>
              <a:t>）。</a:t>
            </a:r>
            <a:r>
              <a:rPr lang="zh-CN" altLang="en-US" sz="1400" dirty="0">
                <a:latin typeface="Arial" panose="020B0604020202020204" pitchFamily="34" charset="0"/>
              </a:rPr>
              <a:t>
</a:t>
            </a:r>
            <a:r>
              <a:rPr lang="zh-CN" altLang="en-US" sz="1400" b="0" dirty="0">
                <a:latin typeface="Arial" panose="020B0604020202020204" pitchFamily="34" charset="0"/>
              </a:rPr>
              <a:t>透气</a:t>
            </a:r>
            <a:r>
              <a:rPr lang="zh-CN" altLang="en-US" sz="1400" dirty="0">
                <a:solidFill>
                  <a:srgbClr val="00B0F0"/>
                </a:solidFill>
                <a:latin typeface="Arial" panose="020B0604020202020204" pitchFamily="34" charset="0"/>
              </a:rPr>
              <a:t>排汗不足</a:t>
            </a:r>
            <a:r>
              <a:rPr lang="zh-CN" altLang="en-US" sz="1400" b="0" dirty="0">
                <a:latin typeface="Arial" panose="020B0604020202020204" pitchFamily="34" charset="0"/>
              </a:rPr>
              <a:t>较突出，局部有只吸不排、贴身感，速干较差（</a:t>
            </a:r>
            <a:r>
              <a:rPr lang="en-US" altLang="zh-CN" sz="1400" b="0" dirty="0">
                <a:latin typeface="Arial" panose="020B0604020202020204" pitchFamily="34" charset="0"/>
              </a:rPr>
              <a:t>6/9</a:t>
            </a:r>
            <a:r>
              <a:rPr lang="zh-CN" altLang="en-US" sz="1400" b="0" dirty="0">
                <a:latin typeface="Arial" panose="020B0604020202020204" pitchFamily="34" charset="0"/>
              </a:rPr>
              <a:t>）。
后背口袋不便，补给袋定位与开口方向影响取用（</a:t>
            </a:r>
            <a:r>
              <a:rPr lang="en-US" altLang="zh-CN" sz="1400" b="0" dirty="0">
                <a:latin typeface="Arial" panose="020B0604020202020204" pitchFamily="34" charset="0"/>
              </a:rPr>
              <a:t>4/9</a:t>
            </a:r>
            <a:r>
              <a:rPr lang="zh-CN" altLang="en-US" sz="1400" b="0" dirty="0">
                <a:latin typeface="Arial" panose="020B0604020202020204" pitchFamily="34" charset="0"/>
              </a:rPr>
              <a:t>）；</a:t>
            </a:r>
            <a:endParaRPr lang="en-US" altLang="zh-CN" sz="1400" b="0" dirty="0">
              <a:latin typeface="Arial" panose="020B0604020202020204" pitchFamily="34" charset="0"/>
            </a:endParaRPr>
          </a:p>
          <a:p>
            <a:r>
              <a:rPr lang="zh-CN" altLang="en-US" sz="1400" b="0" dirty="0">
                <a:latin typeface="Arial" panose="020B0604020202020204" pitchFamily="34" charset="0"/>
              </a:rPr>
              <a:t>建议</a:t>
            </a:r>
            <a:r>
              <a:rPr lang="zh-CN" altLang="en-US" b="0" dirty="0"/>
              <a:t>改为</a:t>
            </a:r>
            <a:r>
              <a:rPr lang="zh-CN" altLang="en-US" dirty="0"/>
              <a:t>侧向开口</a:t>
            </a:r>
            <a:r>
              <a:rPr lang="en-US" altLang="zh-CN" dirty="0"/>
              <a:t>/</a:t>
            </a:r>
            <a:r>
              <a:rPr lang="zh-CN" altLang="en-US" dirty="0"/>
              <a:t>更低位置</a:t>
            </a:r>
            <a:r>
              <a:rPr lang="zh-CN" altLang="en-US" b="0" dirty="0"/>
              <a:t>设计。</a:t>
            </a:r>
            <a:endParaRPr lang="en-US" altLang="zh-CN" b="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DAF1AF9-EAA9-13EB-BF18-A3BFFC1E6323}"/>
              </a:ext>
            </a:extLst>
          </p:cNvPr>
          <p:cNvSpPr txBox="1"/>
          <p:nvPr/>
        </p:nvSpPr>
        <p:spPr>
          <a:xfrm>
            <a:off x="262961" y="113947"/>
            <a:ext cx="7345207" cy="3693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试穿反馈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【</a:t>
            </a:r>
            <a:r>
              <a:rPr lang="en-US" altLang="zh-CN" sz="1400" b="1" dirty="0"/>
              <a:t> </a:t>
            </a:r>
            <a:r>
              <a:rPr lang="en-US" altLang="zh-CN" sz="1400" b="1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Athletes’ Feedback】</a:t>
            </a:r>
            <a:endParaRPr lang="zh-CN" altLang="en-US" sz="1200" b="1" dirty="0">
              <a:solidFill>
                <a:srgbClr val="FFC00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988652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1_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53238"/>
      </a:accent1>
      <a:accent2>
        <a:srgbClr val="0064D2"/>
      </a:accent2>
      <a:accent3>
        <a:srgbClr val="801C1F"/>
      </a:accent3>
      <a:accent4>
        <a:srgbClr val="003876"/>
      </a:accent4>
      <a:accent5>
        <a:srgbClr val="621618"/>
      </a:accent5>
      <a:accent6>
        <a:srgbClr val="002B5A"/>
      </a:accent6>
      <a:hlink>
        <a:srgbClr val="0000FF"/>
      </a:hlink>
      <a:folHlink>
        <a:srgbClr val="FF00FF"/>
      </a:folHlink>
    </a:clrScheme>
    <a:fontScheme name="包图主题2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chemeClr val="accent1"/>
          </a:solidFill>
          <a:prstDash val="solid"/>
          <a:round/>
        </a:ln>
        <a:effectLst>
          <a:outerShdw blurRad="50800" dist="38100" dir="5400000" rotWithShape="0">
            <a:srgbClr val="000000">
              <a:alpha val="43137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1858</Words>
  <Application>Microsoft Office PowerPoint</Application>
  <PresentationFormat>宽屏</PresentationFormat>
  <Paragraphs>350</Paragraphs>
  <Slides>21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等线</vt:lpstr>
      <vt:lpstr>楷体</vt:lpstr>
      <vt:lpstr>微软雅黑</vt:lpstr>
      <vt:lpstr>Arial</vt:lpstr>
      <vt:lpstr>Wingdings</vt:lpstr>
      <vt:lpstr>1_包图主题2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K_OCEAN</dc:creator>
  <cp:lastModifiedBy>陈晶</cp:lastModifiedBy>
  <cp:revision>1084</cp:revision>
  <dcterms:created xsi:type="dcterms:W3CDTF">2019-03-25T05:53:00Z</dcterms:created>
  <dcterms:modified xsi:type="dcterms:W3CDTF">2026-05-26T09:33:17Z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2052-10.1.0.5740</vt:lpwstr>
  </property>
</Properties>
</file>