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966" r:id="rId17"/>
    <p:sldId id="965" r:id="rId18"/>
    <p:sldId id="1060" r:id="rId19"/>
    <p:sldId id="1061" r:id="rId20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37" autoAdjust="0"/>
    <p:restoredTop sz="65688" autoAdjust="0"/>
  </p:normalViewPr>
  <p:slideViewPr>
    <p:cSldViewPr>
      <p:cViewPr varScale="1">
        <p:scale>
          <a:sx n="84" d="100"/>
          <a:sy n="84" d="100"/>
        </p:scale>
        <p:origin x="780" y="72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Lit>
              <c:ptCount val="7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  <c:pt idx="6">
                <c:v>G</c:v>
              </c:pt>
            </c:strLit>
          </c:cat>
          <c:val>
            <c:numLit>
              <c:formatCode>General</c:formatCode>
              <c:ptCount val="7"/>
              <c:pt idx="0">
                <c:v>4</c:v>
              </c:pt>
              <c:pt idx="1">
                <c:v>5</c:v>
              </c:pt>
              <c:pt idx="2">
                <c:v>6</c:v>
              </c:pt>
              <c:pt idx="3">
                <c:v>7</c:v>
              </c:pt>
              <c:pt idx="4">
                <c:v>8</c:v>
              </c:pt>
              <c:pt idx="5">
                <c:v>9</c:v>
              </c:pt>
              <c:pt idx="6">
                <c:v>10</c:v>
              </c:pt>
            </c:numLit>
          </c:val>
          <c:extLst>
            <c:ext xmlns:c16="http://schemas.microsoft.com/office/drawing/2014/chart" uri="{C3380CC4-5D6E-409C-BE32-E72D297353CC}">
              <c16:uniqueId val="{00000000-0C42-44F5-BAE0-8ACEE41664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b="1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90g轻量正方格'!$C$6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EA0B-468D-92A9-C9B4793DBF41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EA0B-468D-92A9-C9B4793DBF41}"/>
              </c:ext>
            </c:extLst>
          </c:dPt>
          <c:dPt>
            <c:idx val="2"/>
            <c:invertIfNegative val="0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EA0B-468D-92A9-C9B4793DBF41}"/>
              </c:ext>
            </c:extLst>
          </c:dPt>
          <c:dPt>
            <c:idx val="3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7-EA0B-468D-92A9-C9B4793DBF41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9-EA0B-468D-92A9-C9B4793DBF4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90g轻量正方格'!$B$7:$B$11</c:f>
              <c:strCache>
                <c:ptCount val="5"/>
                <c:pt idx="0">
                  <c:v>整体</c:v>
                </c:pt>
                <c:pt idx="1">
                  <c:v>衣领</c:v>
                </c:pt>
                <c:pt idx="2">
                  <c:v>袖口</c:v>
                </c:pt>
                <c:pt idx="3">
                  <c:v>胸围</c:v>
                </c:pt>
                <c:pt idx="4">
                  <c:v>腰围</c:v>
                </c:pt>
              </c:strCache>
            </c:strRef>
          </c:cat>
          <c:val>
            <c:numRef>
              <c:f>'服装试穿反馈 对标soar天海花女子长款转印 90g轻量正方格'!$C$7:$C$11</c:f>
              <c:numCache>
                <c:formatCode>0.0</c:formatCode>
                <c:ptCount val="5"/>
                <c:pt idx="0">
                  <c:v>4.3</c:v>
                </c:pt>
                <c:pt idx="1">
                  <c:v>4.8</c:v>
                </c:pt>
                <c:pt idx="2">
                  <c:v>3.3</c:v>
                </c:pt>
                <c:pt idx="3">
                  <c:v>4</c:v>
                </c:pt>
                <c:pt idx="4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A0B-468D-92A9-C9B4793DB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00511"/>
        <c:axId val="1190402431"/>
      </c:barChart>
      <c:catAx>
        <c:axId val="119040051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02431"/>
        <c:crosses val="autoZero"/>
        <c:auto val="1"/>
        <c:lblAlgn val="ctr"/>
        <c:lblOffset val="100"/>
        <c:noMultiLvlLbl val="0"/>
      </c:catAx>
      <c:valAx>
        <c:axId val="119040243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005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7701baa8-a723-4dcb-913b-9d5e2c3b373a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90g轻量正方格'!$C$18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3692-495C-8635-FE06E9846ABD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3692-495C-8635-FE06E9846ABD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3692-495C-8635-FE06E9846AB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90g轻量正方格'!$B$19:$B$21</c:f>
              <c:strCache>
                <c:ptCount val="3"/>
                <c:pt idx="0">
                  <c:v>亲肤度/手感</c:v>
                </c:pt>
                <c:pt idx="1">
                  <c:v>透气性</c:v>
                </c:pt>
                <c:pt idx="2">
                  <c:v>轻量化</c:v>
                </c:pt>
              </c:strCache>
            </c:strRef>
          </c:cat>
          <c:val>
            <c:numRef>
              <c:f>'服装试穿反馈 对标soar天海花女子长款转印 90g轻量正方格'!$C$19:$C$21</c:f>
              <c:numCache>
                <c:formatCode>0.0</c:formatCode>
                <c:ptCount val="3"/>
                <c:pt idx="0">
                  <c:v>4.8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692-495C-8635-FE06E9846A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24031"/>
        <c:axId val="1190408671"/>
      </c:barChart>
      <c:catAx>
        <c:axId val="119042403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08671"/>
        <c:crosses val="autoZero"/>
        <c:auto val="1"/>
        <c:lblAlgn val="ctr"/>
        <c:lblOffset val="100"/>
        <c:noMultiLvlLbl val="0"/>
      </c:catAx>
      <c:valAx>
        <c:axId val="119040867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2403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70f9708f-eb63-40a5-a4b0-13a0add9258b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90g轻量正方格'!$C$28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8DCD-4144-8F41-1B2D6EC55D39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8DCD-4144-8F41-1B2D6EC55D39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8DCD-4144-8F41-1B2D6EC55D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90g轻量正方格'!$B$29:$B$31</c:f>
              <c:strCache>
                <c:ptCount val="3"/>
                <c:pt idx="0">
                  <c:v>整体</c:v>
                </c:pt>
                <c:pt idx="1">
                  <c:v>前胸</c:v>
                </c:pt>
                <c:pt idx="2">
                  <c:v>后背</c:v>
                </c:pt>
              </c:strCache>
            </c:strRef>
          </c:cat>
          <c:val>
            <c:numRef>
              <c:f>'服装试穿反馈 对标soar天海花女子长款转印 90g轻量正方格'!$C$29:$C$31</c:f>
              <c:numCache>
                <c:formatCode>0.0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DCD-4144-8F41-1B2D6EC55D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18751"/>
        <c:axId val="1190411551"/>
      </c:barChart>
      <c:catAx>
        <c:axId val="119041875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11551"/>
        <c:crosses val="autoZero"/>
        <c:auto val="1"/>
        <c:lblAlgn val="ctr"/>
        <c:lblOffset val="100"/>
        <c:noMultiLvlLbl val="0"/>
      </c:catAx>
      <c:valAx>
        <c:axId val="119041155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1875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09fd2c2-747e-4ed8-be10-4fc9f7f62907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90g轻量正方格'!$C$38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64B3-4D19-8973-3F1F0EBC816E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64B3-4D19-8973-3F1F0EBC816E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64B3-4D19-8973-3F1F0EBC816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90g轻量正方格'!$B$39:$B$41</c:f>
              <c:strCache>
                <c:ptCount val="3"/>
                <c:pt idx="0">
                  <c:v>整体</c:v>
                </c:pt>
                <c:pt idx="1">
                  <c:v>前胸</c:v>
                </c:pt>
                <c:pt idx="2">
                  <c:v>后背</c:v>
                </c:pt>
              </c:strCache>
            </c:strRef>
          </c:cat>
          <c:val>
            <c:numRef>
              <c:f>'服装试穿反馈 对标soar天海花女子长款转印 90g轻量正方格'!$C$39:$C$41</c:f>
              <c:numCache>
                <c:formatCode>0.0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4B3-4D19-8973-3F1F0EBC81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10591"/>
        <c:axId val="1190418271"/>
      </c:barChart>
      <c:catAx>
        <c:axId val="119041059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18271"/>
        <c:crosses val="autoZero"/>
        <c:auto val="1"/>
        <c:lblAlgn val="ctr"/>
        <c:lblOffset val="100"/>
        <c:noMultiLvlLbl val="0"/>
      </c:catAx>
      <c:valAx>
        <c:axId val="119041827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1059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77578f9-402e-4364-9111-580f51a1e9a0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S+     95-100 </a:t>
            </a:r>
            <a:br>
              <a:rPr lang="en-US" altLang="zh-CN" dirty="0"/>
            </a:br>
            <a:r>
              <a:rPr lang="en-US" altLang="zh-CN" dirty="0"/>
              <a:t>S-     90-95 </a:t>
            </a:r>
            <a:br>
              <a:rPr lang="en-US" altLang="zh-CN" dirty="0"/>
            </a:br>
            <a:r>
              <a:rPr lang="en-US" altLang="zh-CN" dirty="0"/>
              <a:t>A+     85-90 </a:t>
            </a:r>
            <a:br>
              <a:rPr lang="en-US" altLang="zh-CN" dirty="0"/>
            </a:br>
            <a:r>
              <a:rPr lang="en-US" altLang="zh-CN" dirty="0"/>
              <a:t>A-     80-85 </a:t>
            </a:r>
            <a:br>
              <a:rPr lang="en-US" altLang="zh-CN" dirty="0"/>
            </a:br>
            <a:r>
              <a:rPr lang="en-US" altLang="zh-CN" dirty="0"/>
              <a:t>B+     75-80 </a:t>
            </a:r>
            <a:br>
              <a:rPr lang="en-US" altLang="zh-CN" dirty="0"/>
            </a:br>
            <a:r>
              <a:rPr lang="en-US" altLang="zh-CN" dirty="0"/>
              <a:t>B-     70-75 </a:t>
            </a:r>
            <a:br>
              <a:rPr lang="en-US" altLang="zh-CN" dirty="0"/>
            </a:br>
            <a:r>
              <a:rPr lang="en-US" altLang="zh-CN" dirty="0"/>
              <a:t>C+     65-70</a:t>
            </a:r>
            <a:br>
              <a:rPr lang="en-US" altLang="zh-CN" dirty="0"/>
            </a:br>
            <a:r>
              <a:rPr lang="en-US" altLang="zh-CN" dirty="0"/>
              <a:t>C-     60-65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DCC48-DBB6-BEE3-3C06-0394F6AE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C8781A-C651-91C3-7F95-2366B1DC5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56FAEB4-486A-9EFE-9D6F-AB210350C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3080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F2E1-2390-75AF-045D-8190ADC9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CF58E2-8425-29C4-047D-05D4038A0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CEFCAE2-E407-C86B-9458-280F31C97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60613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097D-2193-2301-DACF-4647B777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82ECD85-E83E-A276-F8C4-D59A5B0E0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DBBCED-E2DC-A05E-4533-D021F9AD1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2519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840416" y="44624"/>
            <a:ext cx="773897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aphicFrame>
        <p:nvGraphicFramePr>
          <p:cNvPr id="14" name="图表 13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53894"/>
              </p:ext>
            </p:extLst>
          </p:nvPr>
        </p:nvGraphicFramePr>
        <p:xfrm>
          <a:off x="3075816" y="278825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1857-89CF-8C2F-E2E6-E828579B4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60AF60-2CE0-F6E2-D970-2B2D3F330A45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218886361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09B17-59BC-6642-6114-D6FADF40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F494C62-2966-3928-682B-B339878946BB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01E3B39-1748-6C5F-8B34-3D4A894D5B65}"/>
              </a:ext>
            </a:extLst>
          </p:cNvPr>
          <p:cNvSpPr txBox="1"/>
          <p:nvPr/>
        </p:nvSpPr>
        <p:spPr>
          <a:xfrm>
            <a:off x="479376" y="1628800"/>
            <a:ext cx="8242141" cy="419794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FF0000"/>
                </a:solidFill>
              </a:rPr>
              <a:t>优势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包裹性表现较好</a:t>
            </a:r>
            <a:r>
              <a:rPr lang="zh-CN" altLang="en-US" dirty="0"/>
              <a:t>，鞋脚一体性明显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支撑与刚性在线</a:t>
            </a:r>
            <a:r>
              <a:rPr lang="zh-CN" altLang="en-US" dirty="0"/>
              <a:t>，实战稳定性较好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整体舒适度不错</a:t>
            </a:r>
            <a:endParaRPr lang="zh-CN" altLang="en-US" dirty="0"/>
          </a:p>
          <a:p>
            <a:pPr>
              <a:lnSpc>
                <a:spcPct val="150000"/>
              </a:lnSpc>
              <a:buNone/>
            </a:pPr>
            <a:endParaRPr lang="en-US" altLang="zh-CN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0070C0"/>
                </a:solidFill>
              </a:rPr>
              <a:t>问题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抓地不足（</a:t>
            </a:r>
            <a:r>
              <a:rPr lang="en-US" altLang="zh-CN" b="1" dirty="0"/>
              <a:t>4/7</a:t>
            </a:r>
            <a:r>
              <a:rPr lang="zh-CN" altLang="en-US" b="1" dirty="0"/>
              <a:t>）</a:t>
            </a:r>
            <a:r>
              <a:rPr lang="zh-CN" altLang="en-US" dirty="0"/>
              <a:t>：木地板、急停、横移时更明显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后跟</a:t>
            </a:r>
            <a:r>
              <a:rPr lang="en-US" altLang="zh-CN" b="1" dirty="0"/>
              <a:t>/</a:t>
            </a:r>
            <a:r>
              <a:rPr lang="zh-CN" altLang="en-US" b="1" dirty="0"/>
              <a:t>脚踝问题（</a:t>
            </a:r>
            <a:r>
              <a:rPr lang="en-US" altLang="zh-CN" b="1" dirty="0"/>
              <a:t>3/7</a:t>
            </a:r>
            <a:r>
              <a:rPr lang="zh-CN" altLang="en-US" b="1" dirty="0"/>
              <a:t>）</a:t>
            </a:r>
            <a:r>
              <a:rPr lang="zh-CN" altLang="en-US" dirty="0"/>
              <a:t>：掉跟、外踝卡脚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缓震偏硬</a:t>
            </a:r>
            <a:r>
              <a:rPr lang="en-US" altLang="zh-CN" b="1" dirty="0"/>
              <a:t>/</a:t>
            </a:r>
            <a:r>
              <a:rPr lang="zh-CN" altLang="en-US" b="1" dirty="0"/>
              <a:t>偏薄（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：前掌硬、后跟硬、缓震感不足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鞋带偏短（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 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ED99B3E-3E42-AA7F-192A-E2595295D225}"/>
              </a:ext>
            </a:extLst>
          </p:cNvPr>
          <p:cNvSpPr txBox="1"/>
          <p:nvPr/>
        </p:nvSpPr>
        <p:spPr>
          <a:xfrm>
            <a:off x="6989412" y="1862253"/>
            <a:ext cx="6096000" cy="3366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/>
              <a:t>修改建议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chemeClr val="accent1"/>
                </a:solidFill>
              </a:rPr>
              <a:t>P1</a:t>
            </a:r>
            <a:r>
              <a:rPr lang="zh-CN" altLang="en-US" b="1" dirty="0">
                <a:solidFill>
                  <a:schemeClr val="accent1"/>
                </a:solidFill>
              </a:rPr>
              <a:t>：优化抓地</a:t>
            </a:r>
            <a:br>
              <a:rPr lang="zh-CN" altLang="en-US" dirty="0"/>
            </a:br>
            <a:r>
              <a:rPr lang="zh-CN" altLang="en-US" dirty="0"/>
              <a:t>核查橡胶硬度，如果硬度正确考虑调软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更换为普通橡胶或者止滑橡胶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P1</a:t>
            </a:r>
            <a:r>
              <a:rPr lang="zh-CN" altLang="en-US" b="1" dirty="0"/>
              <a:t>：优化后跟锁定</a:t>
            </a:r>
            <a:br>
              <a:rPr lang="zh-CN" altLang="en-US" dirty="0"/>
            </a:br>
            <a:r>
              <a:rPr lang="zh-CN" altLang="en-US" dirty="0"/>
              <a:t>调整后跟杯、领口泡棉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P2</a:t>
            </a:r>
            <a:r>
              <a:rPr lang="zh-CN" altLang="en-US" b="1" dirty="0"/>
              <a:t>：修正细节体验</a:t>
            </a:r>
            <a:br>
              <a:rPr lang="zh-CN" altLang="en-US" dirty="0"/>
            </a:br>
            <a:r>
              <a:rPr lang="zh-CN" altLang="en-US" dirty="0"/>
              <a:t>加长鞋带</a:t>
            </a:r>
          </a:p>
        </p:txBody>
      </p:sp>
    </p:spTree>
    <p:extLst>
      <p:ext uri="{BB962C8B-B14F-4D97-AF65-F5344CB8AC3E}">
        <p14:creationId xmlns:p14="http://schemas.microsoft.com/office/powerpoint/2010/main" val="180291955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4367808" y="154659"/>
            <a:ext cx="33843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I  &lt;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面料信息</a:t>
            </a: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&gt;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09B7F65-DC1D-88AB-C3DF-562E19A24E35}"/>
              </a:ext>
            </a:extLst>
          </p:cNvPr>
          <p:cNvSpPr txBox="1"/>
          <p:nvPr/>
        </p:nvSpPr>
        <p:spPr>
          <a:xfrm>
            <a:off x="262961" y="4548820"/>
            <a:ext cx="5617015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3D3E686-1196-993A-B9DD-850EE760CB9F}"/>
              </a:ext>
            </a:extLst>
          </p:cNvPr>
          <p:cNvSpPr txBox="1"/>
          <p:nvPr/>
        </p:nvSpPr>
        <p:spPr>
          <a:xfrm>
            <a:off x="6096000" y="4548820"/>
            <a:ext cx="4428601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  <a:endParaRPr lang="en-US" altLang="zh-CN" sz="1400" b="0" dirty="0"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0DF3F-599A-128F-2CD5-AA91FA72B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84036E-0D18-C531-8E4A-F50243307089}"/>
              </a:ext>
            </a:extLst>
          </p:cNvPr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380D277-02AA-1AD6-F687-EC534604EB64}"/>
              </a:ext>
            </a:extLst>
          </p:cNvPr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8E969061-10B0-FF3B-2558-B4DDF2B0A8DD}"/>
              </a:ext>
            </a:extLst>
          </p:cNvPr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72C4F87-E973-B28C-E9DE-43A09BA92BAA}"/>
              </a:ext>
            </a:extLst>
          </p:cNvPr>
          <p:cNvSpPr/>
          <p:nvPr/>
        </p:nvSpPr>
        <p:spPr>
          <a:xfrm>
            <a:off x="482600" y="1244600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52F407-03E3-FAE5-0036-9CD776509CE2}"/>
              </a:ext>
            </a:extLst>
          </p:cNvPr>
          <p:cNvSpPr txBox="1"/>
          <p:nvPr/>
        </p:nvSpPr>
        <p:spPr>
          <a:xfrm>
            <a:off x="419100" y="1752600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版型</a:t>
            </a:r>
          </a:p>
        </p:txBody>
      </p:sp>
      <p:graphicFrame>
        <p:nvGraphicFramePr>
          <p:cNvPr id="13" name="图表 12">
            <a:extLst>
              <a:ext uri="{FF2B5EF4-FFF2-40B4-BE49-F238E27FC236}">
                <a16:creationId xmlns:a16="http://schemas.microsoft.com/office/drawing/2014/main" id="{47F463C8-6746-8E48-52DF-5419C32C0E5D}"/>
              </a:ext>
            </a:extLst>
          </p:cNvPr>
          <p:cNvGraphicFramePr/>
          <p:nvPr/>
        </p:nvGraphicFramePr>
        <p:xfrm>
          <a:off x="1625600" y="1016000"/>
          <a:ext cx="2413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椭圆 13">
            <a:extLst>
              <a:ext uri="{FF2B5EF4-FFF2-40B4-BE49-F238E27FC236}">
                <a16:creationId xmlns:a16="http://schemas.microsoft.com/office/drawing/2014/main" id="{39984E8F-25E6-BAA9-C88B-23E5E09B9B9E}"/>
              </a:ext>
            </a:extLst>
          </p:cNvPr>
          <p:cNvSpPr/>
          <p:nvPr/>
        </p:nvSpPr>
        <p:spPr>
          <a:xfrm>
            <a:off x="4191000" y="1244600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951B05-D636-E5F2-21FE-589AD43C8E00}"/>
              </a:ext>
            </a:extLst>
          </p:cNvPr>
          <p:cNvSpPr txBox="1"/>
          <p:nvPr/>
        </p:nvSpPr>
        <p:spPr>
          <a:xfrm>
            <a:off x="4127500" y="1752600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面料</a:t>
            </a:r>
          </a:p>
        </p:txBody>
      </p:sp>
      <p:graphicFrame>
        <p:nvGraphicFramePr>
          <p:cNvPr id="16" name="图表 15">
            <a:extLst>
              <a:ext uri="{FF2B5EF4-FFF2-40B4-BE49-F238E27FC236}">
                <a16:creationId xmlns:a16="http://schemas.microsoft.com/office/drawing/2014/main" id="{B7644477-6B08-E436-7DC7-C39CC6B263AA}"/>
              </a:ext>
            </a:extLst>
          </p:cNvPr>
          <p:cNvGraphicFramePr/>
          <p:nvPr/>
        </p:nvGraphicFramePr>
        <p:xfrm>
          <a:off x="5334000" y="1304032"/>
          <a:ext cx="2413000" cy="12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椭圆 16">
            <a:extLst>
              <a:ext uri="{FF2B5EF4-FFF2-40B4-BE49-F238E27FC236}">
                <a16:creationId xmlns:a16="http://schemas.microsoft.com/office/drawing/2014/main" id="{1EFFAB1F-AAA5-F812-49DE-DEC3474DB6A0}"/>
              </a:ext>
            </a:extLst>
          </p:cNvPr>
          <p:cNvSpPr/>
          <p:nvPr/>
        </p:nvSpPr>
        <p:spPr>
          <a:xfrm>
            <a:off x="482600" y="2924944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1CE48F8-C4C1-1829-A475-4215F61DEACB}"/>
              </a:ext>
            </a:extLst>
          </p:cNvPr>
          <p:cNvSpPr txBox="1"/>
          <p:nvPr/>
        </p:nvSpPr>
        <p:spPr>
          <a:xfrm>
            <a:off x="419100" y="3432944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吸湿排汗</a:t>
            </a:r>
          </a:p>
        </p:txBody>
      </p:sp>
      <p:graphicFrame>
        <p:nvGraphicFramePr>
          <p:cNvPr id="19" name="图表 18">
            <a:extLst>
              <a:ext uri="{FF2B5EF4-FFF2-40B4-BE49-F238E27FC236}">
                <a16:creationId xmlns:a16="http://schemas.microsoft.com/office/drawing/2014/main" id="{623D2B04-54F1-4151-2F5F-0D6D0DD6D6E3}"/>
              </a:ext>
            </a:extLst>
          </p:cNvPr>
          <p:cNvGraphicFramePr/>
          <p:nvPr/>
        </p:nvGraphicFramePr>
        <p:xfrm>
          <a:off x="1625600" y="3056384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0" name="椭圆 19">
            <a:extLst>
              <a:ext uri="{FF2B5EF4-FFF2-40B4-BE49-F238E27FC236}">
                <a16:creationId xmlns:a16="http://schemas.microsoft.com/office/drawing/2014/main" id="{AB24AF34-6ECA-CF9A-E76C-AC17C2289341}"/>
              </a:ext>
            </a:extLst>
          </p:cNvPr>
          <p:cNvSpPr/>
          <p:nvPr/>
        </p:nvSpPr>
        <p:spPr>
          <a:xfrm>
            <a:off x="4191000" y="2924944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5C35336-77B2-3B8E-5665-AE7ADD6EB1CE}"/>
              </a:ext>
            </a:extLst>
          </p:cNvPr>
          <p:cNvSpPr txBox="1"/>
          <p:nvPr/>
        </p:nvSpPr>
        <p:spPr>
          <a:xfrm>
            <a:off x="4127500" y="3432944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速干</a:t>
            </a:r>
          </a:p>
        </p:txBody>
      </p:sp>
      <p:graphicFrame>
        <p:nvGraphicFramePr>
          <p:cNvPr id="22" name="图表 21">
            <a:extLst>
              <a:ext uri="{FF2B5EF4-FFF2-40B4-BE49-F238E27FC236}">
                <a16:creationId xmlns:a16="http://schemas.microsoft.com/office/drawing/2014/main" id="{8E9D049E-628D-FDE6-EAFD-6928A06B4E82}"/>
              </a:ext>
            </a:extLst>
          </p:cNvPr>
          <p:cNvGraphicFramePr/>
          <p:nvPr/>
        </p:nvGraphicFramePr>
        <p:xfrm>
          <a:off x="5334000" y="3056384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42DBCF6C-9C64-F130-823A-6B6435D59B9A}"/>
              </a:ext>
            </a:extLst>
          </p:cNvPr>
          <p:cNvSpPr txBox="1"/>
          <p:nvPr/>
        </p:nvSpPr>
        <p:spPr>
          <a:xfrm>
            <a:off x="262961" y="4548820"/>
            <a:ext cx="5617015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25B7754-656B-D42A-C5F0-92B296F451E4}"/>
              </a:ext>
            </a:extLst>
          </p:cNvPr>
          <p:cNvSpPr txBox="1"/>
          <p:nvPr/>
        </p:nvSpPr>
        <p:spPr>
          <a:xfrm>
            <a:off x="10555698" y="679061"/>
            <a:ext cx="1589062" cy="1131077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受试者信息 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B: 165CM / 52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C: 162CM / 58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D: 168CM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60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KG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85E0F9A-AFD2-3085-1BB5-51F6352B0CDE}"/>
              </a:ext>
            </a:extLst>
          </p:cNvPr>
          <p:cNvSpPr txBox="1"/>
          <p:nvPr/>
        </p:nvSpPr>
        <p:spPr>
          <a:xfrm>
            <a:off x="6096000" y="4548820"/>
            <a:ext cx="4428601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  <a:endParaRPr lang="en-US" altLang="zh-CN" sz="1400" b="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DFD7929-5E38-55C2-592D-D1ACE541AAE5}"/>
              </a:ext>
            </a:extLst>
          </p:cNvPr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7C0EDA-4182-5B15-ED80-A9EECA341CB2}"/>
              </a:ext>
            </a:extLst>
          </p:cNvPr>
          <p:cNvSpPr txBox="1"/>
          <p:nvPr/>
        </p:nvSpPr>
        <p:spPr>
          <a:xfrm>
            <a:off x="365479" y="4938944"/>
            <a:ext cx="5411978" cy="134690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轻薄透气，舒适不闷热（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吸湿排汗性能好，汗湿后衣服不会黏在身上（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速干性能极好（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）大部分时间都很干爽（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）几乎感受不到身上有汗（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E909F5C-B7F6-DF9C-ACA8-07D662B4C0D4}"/>
              </a:ext>
            </a:extLst>
          </p:cNvPr>
          <p:cNvSpPr txBox="1"/>
          <p:nvPr/>
        </p:nvSpPr>
        <p:spPr>
          <a:xfrm>
            <a:off x="6118860" y="4938944"/>
            <a:ext cx="4296849" cy="134690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342900" indent="-342900">
              <a:lnSpc>
                <a:spcPct val="150000"/>
              </a:lnSpc>
              <a:buFont typeface="+mj-lt"/>
              <a:buAutoNum type="arabicPeriod"/>
              <a:defRPr sz="1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肩部挖空偏小，会勒腋下，影响摆臂（</a:t>
            </a:r>
            <a:r>
              <a:rPr lang="en-US" altLang="zh-CN" dirty="0"/>
              <a:t>2/4</a:t>
            </a:r>
            <a:r>
              <a:rPr lang="zh-CN" altLang="en-US" dirty="0"/>
              <a:t>）；</a:t>
            </a:r>
            <a:endParaRPr lang="en-US" altLang="zh-CN" dirty="0"/>
          </a:p>
          <a:p>
            <a:r>
              <a:rPr lang="zh-CN" altLang="en-US" dirty="0"/>
              <a:t>后背开叉偏高，跑动过程后背会漏出小三角，晒太阳会痛，风大了会受凉，开车可向下调整四指宽（约</a:t>
            </a:r>
            <a:r>
              <a:rPr lang="en-US" altLang="zh-CN" dirty="0"/>
              <a:t>5cm</a:t>
            </a:r>
            <a:r>
              <a:rPr lang="zh-CN" altLang="en-US" dirty="0"/>
              <a:t>）（</a:t>
            </a:r>
            <a:r>
              <a:rPr lang="en-US" altLang="zh-CN" dirty="0"/>
              <a:t>1/4</a:t>
            </a:r>
            <a:r>
              <a:rPr lang="zh-CN" altLang="en-US" dirty="0"/>
              <a:t>）；</a:t>
            </a:r>
            <a:endParaRPr lang="en-US" altLang="zh-CN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EAB2860-D225-9537-F3A1-F49F44A3708A}"/>
              </a:ext>
            </a:extLst>
          </p:cNvPr>
          <p:cNvSpPr/>
          <p:nvPr/>
        </p:nvSpPr>
        <p:spPr>
          <a:xfrm>
            <a:off x="4367808" y="154659"/>
            <a:ext cx="33843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I  &lt;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面料信息</a:t>
            </a: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70524510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1529</Words>
  <Application>Microsoft Office PowerPoint</Application>
  <PresentationFormat>宽屏</PresentationFormat>
  <Paragraphs>305</Paragraphs>
  <Slides>19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等线</vt:lpstr>
      <vt:lpstr>楷体</vt:lpstr>
      <vt:lpstr>微软雅黑</vt:lpstr>
      <vt:lpstr>Arial</vt:lpstr>
      <vt:lpstr>Wingdings</vt:lpstr>
      <vt:lpstr>1_包图主题2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陈晶</cp:lastModifiedBy>
  <cp:revision>1081</cp:revision>
  <dcterms:created xsi:type="dcterms:W3CDTF">2019-03-25T05:53:00Z</dcterms:created>
  <dcterms:modified xsi:type="dcterms:W3CDTF">2026-04-28T08:08:52Z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