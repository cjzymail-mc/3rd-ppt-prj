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640" r:id="rId3"/>
    <p:sldId id="810" r:id="rId4"/>
    <p:sldId id="870" r:id="rId5"/>
    <p:sldId id="878" r:id="rId6"/>
    <p:sldId id="932" r:id="rId7"/>
    <p:sldId id="939" r:id="rId8"/>
    <p:sldId id="940" r:id="rId9"/>
    <p:sldId id="946" r:id="rId10"/>
    <p:sldId id="936" r:id="rId11"/>
    <p:sldId id="866" r:id="rId12"/>
    <p:sldId id="947" r:id="rId13"/>
    <p:sldId id="948" r:id="rId14"/>
    <p:sldId id="950" r:id="rId15"/>
    <p:sldId id="297" r:id="rId16"/>
    <p:sldId id="941" r:id="rId17"/>
    <p:sldId id="949" r:id="rId1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24">
          <p15:clr>
            <a:srgbClr val="A4A3A4"/>
          </p15:clr>
        </p15:guide>
        <p15:guide id="2" pos="39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2540"/>
    <a:srgbClr val="04B555"/>
    <a:srgbClr val="CACACA"/>
    <a:srgbClr val="C3E0FF"/>
    <a:srgbClr val="F5ADAF"/>
    <a:srgbClr val="E16776"/>
    <a:srgbClr val="E9BDDD"/>
    <a:srgbClr val="4BA1FF"/>
    <a:srgbClr val="6393BC"/>
    <a:srgbClr val="263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680" autoAdjust="0"/>
    <p:restoredTop sz="65688" autoAdjust="0"/>
  </p:normalViewPr>
  <p:slideViewPr>
    <p:cSldViewPr>
      <p:cViewPr>
        <p:scale>
          <a:sx n="63" d="100"/>
          <a:sy n="63" d="100"/>
        </p:scale>
        <p:origin x="1797" y="48"/>
      </p:cViewPr>
      <p:guideLst>
        <p:guide orient="horz" pos="2024"/>
        <p:guide pos="3939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Documents%20and%20Settings\xy29\Desktop\SUPER%20GRASS\&#36229;&#32423;&#33609;&#26681;&#35797;&#31359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Documents%20and%20Settings\xy29\Desktop\&#12304;2023&#24180;4&#26376;21&#26085;&#38155;&#21050;7pro&#27979;&#35797;&#25253;&#21578;&#12305;\20230317&#38155;&#21050;7Pro&#12289;&#23545;&#27604;&#25968;&#25454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>
              <a:noFill/>
            </a:ln>
            <a:effectLst/>
            <a:sp3d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篮球鞋试穿反馈!$C$13:$C$19</c:f>
              <c:strCache>
                <c:ptCount val="7"/>
                <c:pt idx="0">
                  <c:v>抓地性（Traction）</c:v>
                </c:pt>
                <c:pt idx="1">
                  <c:v>缓震性（Cushioning）</c:v>
                </c:pt>
                <c:pt idx="2">
                  <c:v>包裹性（Lockdwon）</c:v>
                </c:pt>
                <c:pt idx="3">
                  <c:v>抗扭转性（Torsional Support ）</c:v>
                </c:pt>
                <c:pt idx="4">
                  <c:v>重量&amp;透气性（Weight&amp;Ventilation）</c:v>
                </c:pt>
                <c:pt idx="5">
                  <c:v>防侧翻性（Lateral Stability）</c:v>
                </c:pt>
                <c:pt idx="6">
                  <c:v>耐久性（Durability）</c:v>
                </c:pt>
              </c:strCache>
            </c:strRef>
          </c:cat>
          <c:val>
            <c:numRef>
              <c:f>篮球鞋试穿反馈!$D$13:$D$19</c:f>
              <c:numCache>
                <c:formatCode>0.00_ </c:formatCode>
                <c:ptCount val="7"/>
                <c:pt idx="0">
                  <c:v>8.3333333333333339</c:v>
                </c:pt>
                <c:pt idx="1">
                  <c:v>8.6666666666666661</c:v>
                </c:pt>
                <c:pt idx="2">
                  <c:v>8.3333333333333339</c:v>
                </c:pt>
                <c:pt idx="3">
                  <c:v>8.3333333333333339</c:v>
                </c:pt>
                <c:pt idx="4">
                  <c:v>8.3333333333333339</c:v>
                </c:pt>
                <c:pt idx="5">
                  <c:v>8</c:v>
                </c:pt>
                <c:pt idx="6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DD1-4921-A61F-9A8A229C95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584554832"/>
        <c:axId val="584549424"/>
        <c:axId val="0"/>
      </c:bar3DChart>
      <c:catAx>
        <c:axId val="5845548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49424"/>
        <c:crosses val="autoZero"/>
        <c:auto val="1"/>
        <c:lblAlgn val="ctr"/>
        <c:lblOffset val="100"/>
        <c:noMultiLvlLbl val="0"/>
      </c:catAx>
      <c:valAx>
        <c:axId val="584549424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_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548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horzOverflow="overflow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itchFamily="34" charset="-122"/>
                    <a:ea typeface="微软雅黑" pitchFamily="34" charset="-122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Sheet1!$B$22:$H$22</c:f>
              <c:strCache>
                <c:ptCount val="7"/>
                <c:pt idx="0">
                  <c:v>抓地性（Traction）</c:v>
                </c:pt>
                <c:pt idx="1">
                  <c:v>耐久性（Durability）</c:v>
                </c:pt>
                <c:pt idx="2">
                  <c:v>重量&amp;透气性（Weight&amp;Ventilation）</c:v>
                </c:pt>
                <c:pt idx="3">
                  <c:v>缓震性（Cushioning）</c:v>
                </c:pt>
                <c:pt idx="4">
                  <c:v>防侧翻性（Lateral Stability）</c:v>
                </c:pt>
                <c:pt idx="5">
                  <c:v>抗扭转性（Torsional Support ）</c:v>
                </c:pt>
                <c:pt idx="6">
                  <c:v>包裹性（Lockdwon）</c:v>
                </c:pt>
              </c:strCache>
            </c:strRef>
          </c:cat>
          <c:val>
            <c:numRef>
              <c:f>Sheet1!$B$23:$H$23</c:f>
              <c:numCache>
                <c:formatCode>General</c:formatCode>
                <c:ptCount val="7"/>
                <c:pt idx="0">
                  <c:v>8.6</c:v>
                </c:pt>
                <c:pt idx="1">
                  <c:v>8.6</c:v>
                </c:pt>
                <c:pt idx="2">
                  <c:v>8.4</c:v>
                </c:pt>
                <c:pt idx="3">
                  <c:v>8.1999999999999993</c:v>
                </c:pt>
                <c:pt idx="4">
                  <c:v>7</c:v>
                </c:pt>
                <c:pt idx="5">
                  <c:v>6.6</c:v>
                </c:pt>
                <c:pt idx="6">
                  <c:v>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C27-4657-87D0-05A6EEB07D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05361536"/>
        <c:axId val="205362096"/>
      </c:barChart>
      <c:catAx>
        <c:axId val="20536153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horzOverflow="overflow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pPr>
            <a:endParaRPr lang="zh-CN"/>
          </a:p>
        </c:txPr>
        <c:crossAx val="205362096"/>
        <c:crosses val="autoZero"/>
        <c:auto val="1"/>
        <c:lblAlgn val="ctr"/>
        <c:lblOffset val="100"/>
        <c:tickMarkSkip val="1"/>
        <c:noMultiLvlLbl val="0"/>
      </c:catAx>
      <c:valAx>
        <c:axId val="20536209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horzOverflow="overflow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pPr>
            <a:endParaRPr lang="zh-CN"/>
          </a:p>
        </c:txPr>
        <c:crossAx val="2053615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 rot="0" spcFirstLastPara="0" vertOverflow="ellipsis" horzOverflow="overflow" vert="horz" wrap="square" anchor="ctr" anchorCtr="1"/>
    <a:lstStyle/>
    <a:p>
      <a:pPr>
        <a:defRPr lang="zh-CN"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5761992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等线" panose="02010600030101010101" charset="-122"/>
      </a:defRPr>
    </a:lvl1pPr>
    <a:lvl2pPr indent="228600" latinLnBrk="0">
      <a:defRPr sz="1200">
        <a:latin typeface="+mj-lt"/>
        <a:ea typeface="+mj-ea"/>
        <a:cs typeface="+mj-cs"/>
        <a:sym typeface="等线" panose="02010600030101010101" charset="-122"/>
      </a:defRPr>
    </a:lvl2pPr>
    <a:lvl3pPr indent="457200" latinLnBrk="0">
      <a:defRPr sz="1200">
        <a:latin typeface="+mj-lt"/>
        <a:ea typeface="+mj-ea"/>
        <a:cs typeface="+mj-cs"/>
        <a:sym typeface="等线" panose="02010600030101010101" charset="-122"/>
      </a:defRPr>
    </a:lvl3pPr>
    <a:lvl4pPr indent="685800" latinLnBrk="0">
      <a:defRPr sz="1200">
        <a:latin typeface="+mj-lt"/>
        <a:ea typeface="+mj-ea"/>
        <a:cs typeface="+mj-cs"/>
        <a:sym typeface="等线" panose="02010600030101010101" charset="-122"/>
      </a:defRPr>
    </a:lvl4pPr>
    <a:lvl5pPr indent="914400" latinLnBrk="0">
      <a:defRPr sz="1200">
        <a:latin typeface="+mj-lt"/>
        <a:ea typeface="+mj-ea"/>
        <a:cs typeface="+mj-cs"/>
        <a:sym typeface="等线" panose="02010600030101010101" charset="-122"/>
      </a:defRPr>
    </a:lvl5pPr>
    <a:lvl6pPr indent="1143000" latinLnBrk="0">
      <a:defRPr sz="1200">
        <a:latin typeface="+mj-lt"/>
        <a:ea typeface="+mj-ea"/>
        <a:cs typeface="+mj-cs"/>
        <a:sym typeface="等线" panose="02010600030101010101" charset="-122"/>
      </a:defRPr>
    </a:lvl6pPr>
    <a:lvl7pPr indent="1371600" latinLnBrk="0">
      <a:defRPr sz="1200">
        <a:latin typeface="+mj-lt"/>
        <a:ea typeface="+mj-ea"/>
        <a:cs typeface="+mj-cs"/>
        <a:sym typeface="等线" panose="02010600030101010101" charset="-122"/>
      </a:defRPr>
    </a:lvl7pPr>
    <a:lvl8pPr indent="1600200" latinLnBrk="0">
      <a:defRPr sz="1200">
        <a:latin typeface="+mj-lt"/>
        <a:ea typeface="+mj-ea"/>
        <a:cs typeface="+mj-cs"/>
        <a:sym typeface="等线" panose="02010600030101010101" charset="-122"/>
      </a:defRPr>
    </a:lvl8pPr>
    <a:lvl9pPr indent="1828800" latinLnBrk="0">
      <a:defRPr sz="1200">
        <a:latin typeface="+mj-lt"/>
        <a:ea typeface="+mj-ea"/>
        <a:cs typeface="+mj-cs"/>
        <a:sym typeface="等线" panose="02010600030101010101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baseline="0" dirty="0"/>
          </a:p>
        </p:txBody>
      </p:sp>
    </p:spTree>
    <p:extLst>
      <p:ext uri="{BB962C8B-B14F-4D97-AF65-F5344CB8AC3E}">
        <p14:creationId xmlns:p14="http://schemas.microsoft.com/office/powerpoint/2010/main" val="1302835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5257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5788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56860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2027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53120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56445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68619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6283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步长重心振幅矩阵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52.357142857142854</a:t>
            </a:r>
          </a:p>
          <a:p>
            <a:r>
              <a:rPr lang="de-DE" altLang="zh-CN" sz="700" dirty="0"/>
              <a:t>zero_l = (-7526.142857142857,415)</a:t>
            </a:r>
          </a:p>
          <a:p>
            <a:r>
              <a:rPr lang="de-DE" altLang="zh-CN" sz="700" dirty="0"/>
              <a:t>delt_t = -201.53846153846143</a:t>
            </a:r>
          </a:p>
          <a:p>
            <a:r>
              <a:rPr lang="de-DE" altLang="zh-CN" sz="700" dirty="0"/>
              <a:t>zero_t = (61,2118.230769230768)</a:t>
            </a:r>
            <a:endParaRPr lang="zh-CN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341798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重量厚度矩阵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-12.637931034482758</a:t>
            </a:r>
          </a:p>
          <a:p>
            <a:r>
              <a:rPr lang="de-DE" altLang="zh-CN" sz="700" dirty="0"/>
              <a:t>zero_l = (3024.7241379310344,415)</a:t>
            </a:r>
          </a:p>
          <a:p>
            <a:r>
              <a:rPr lang="de-DE" altLang="zh-CN" sz="700" dirty="0"/>
              <a:t>delt_t = -17.466666666666665</a:t>
            </a:r>
          </a:p>
          <a:p>
            <a:r>
              <a:rPr lang="de-DE" altLang="zh-CN" sz="700" dirty="0"/>
              <a:t>zero_t = (61,909.0)</a:t>
            </a:r>
          </a:p>
        </p:txBody>
      </p:sp>
    </p:spTree>
    <p:extLst>
      <p:ext uri="{BB962C8B-B14F-4D97-AF65-F5344CB8AC3E}">
        <p14:creationId xmlns:p14="http://schemas.microsoft.com/office/powerpoint/2010/main" val="9979826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77E194-F591-4967-BDE8-9E9553068FC5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8444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361568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7943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1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88826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" name="Picture 2" descr="Picture 2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3175" y="18727"/>
            <a:ext cx="12188825" cy="68580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3" name="直接连接符 3"/>
          <p:cNvSpPr/>
          <p:nvPr userDrawn="1"/>
        </p:nvSpPr>
        <p:spPr>
          <a:xfrm>
            <a:off x="918823" y="6006024"/>
            <a:ext cx="566497" cy="1"/>
          </a:xfrm>
          <a:prstGeom prst="line">
            <a:avLst/>
          </a:prstGeom>
          <a:ln w="28575">
            <a:solidFill>
              <a:srgbClr val="FAD6D7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6" name="Picture 3" descr="Picture 3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4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sp>
        <p:nvSpPr>
          <p:cNvPr id="5" name="MH_Others_1"/>
          <p:cNvSpPr txBox="1"/>
          <p:nvPr userDrawn="1"/>
        </p:nvSpPr>
        <p:spPr>
          <a:xfrm>
            <a:off x="884526" y="2415447"/>
            <a:ext cx="2355376" cy="5715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defRPr sz="3200" b="1">
                <a:solidFill>
                  <a:schemeClr val="accent1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lvl1pPr>
          </a:lstStyle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rPr dirty="0"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目 录</a:t>
            </a:r>
          </a:p>
        </p:txBody>
      </p:sp>
      <p:sp>
        <p:nvSpPr>
          <p:cNvPr id="6" name="MH_Others_2"/>
          <p:cNvSpPr txBox="1"/>
          <p:nvPr userDrawn="1"/>
        </p:nvSpPr>
        <p:spPr>
          <a:xfrm>
            <a:off x="855951" y="2912113"/>
            <a:ext cx="4252686" cy="85137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defRPr sz="6000"/>
            </a:lvl1pPr>
          </a:lstStyle>
          <a:p>
            <a:r>
              <a:rPr dirty="0"/>
              <a:t>CONTENTS</a:t>
            </a:r>
          </a:p>
        </p:txBody>
      </p:sp>
      <p:grpSp>
        <p:nvGrpSpPr>
          <p:cNvPr id="11" name="组合 3"/>
          <p:cNvGrpSpPr/>
          <p:nvPr userDrawn="1"/>
        </p:nvGrpSpPr>
        <p:grpSpPr>
          <a:xfrm>
            <a:off x="5667186" y="1678674"/>
            <a:ext cx="656829" cy="3496573"/>
            <a:chOff x="0" y="0"/>
            <a:chExt cx="656827" cy="3496572"/>
          </a:xfrm>
        </p:grpSpPr>
        <p:grpSp>
          <p:nvGrpSpPr>
            <p:cNvPr id="12" name="组合 7"/>
            <p:cNvGrpSpPr/>
            <p:nvPr/>
          </p:nvGrpSpPr>
          <p:grpSpPr>
            <a:xfrm>
              <a:off x="16783" y="0"/>
              <a:ext cx="627413" cy="563272"/>
              <a:chOff x="0" y="0"/>
              <a:chExt cx="627411" cy="563271"/>
            </a:xfrm>
          </p:grpSpPr>
          <p:grpSp>
            <p:nvGrpSpPr>
              <p:cNvPr id="30" name="组合 6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32" name="梯形 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33" name="任意多边形 2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31" name="矩形 19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1</a:t>
                </a:r>
              </a:p>
            </p:txBody>
          </p:sp>
        </p:grpSp>
        <p:grpSp>
          <p:nvGrpSpPr>
            <p:cNvPr id="13" name="组合 34"/>
            <p:cNvGrpSpPr/>
            <p:nvPr/>
          </p:nvGrpSpPr>
          <p:grpSpPr>
            <a:xfrm>
              <a:off x="29415" y="957725"/>
              <a:ext cx="627413" cy="563273"/>
              <a:chOff x="0" y="0"/>
              <a:chExt cx="627411" cy="563271"/>
            </a:xfrm>
          </p:grpSpPr>
          <p:grpSp>
            <p:nvGrpSpPr>
              <p:cNvPr id="24" name="组合 35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8" name="梯形 37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9" name="任意多边形 38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5" name="矩形 36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2</a:t>
                </a:r>
              </a:p>
            </p:txBody>
          </p:sp>
        </p:grpSp>
        <p:grpSp>
          <p:nvGrpSpPr>
            <p:cNvPr id="14" name="组合 46"/>
            <p:cNvGrpSpPr/>
            <p:nvPr/>
          </p:nvGrpSpPr>
          <p:grpSpPr>
            <a:xfrm>
              <a:off x="0" y="1934295"/>
              <a:ext cx="627412" cy="986426"/>
              <a:chOff x="0" y="0"/>
              <a:chExt cx="627411" cy="986425"/>
            </a:xfrm>
          </p:grpSpPr>
          <p:grpSp>
            <p:nvGrpSpPr>
              <p:cNvPr id="20" name="组合 47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2" name="梯形 49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3" name="任意多边形 50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1" name="矩形 48"/>
              <p:cNvSpPr txBox="1"/>
              <p:nvPr/>
            </p:nvSpPr>
            <p:spPr>
              <a:xfrm>
                <a:off x="0" y="14865"/>
                <a:ext cx="581034" cy="97156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3</a:t>
                </a:r>
              </a:p>
            </p:txBody>
          </p:sp>
        </p:grpSp>
        <p:grpSp>
          <p:nvGrpSpPr>
            <p:cNvPr id="15" name="组合 52"/>
            <p:cNvGrpSpPr/>
            <p:nvPr/>
          </p:nvGrpSpPr>
          <p:grpSpPr>
            <a:xfrm>
              <a:off x="4152" y="2933300"/>
              <a:ext cx="627413" cy="563273"/>
              <a:chOff x="0" y="0"/>
              <a:chExt cx="627411" cy="563271"/>
            </a:xfrm>
          </p:grpSpPr>
          <p:grpSp>
            <p:nvGrpSpPr>
              <p:cNvPr id="16" name="组合 53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18" name="梯形 5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19" name="任意多边形 56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17" name="矩形 54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4</a:t>
                </a:r>
              </a:p>
            </p:txBody>
          </p:sp>
        </p:grpSp>
      </p:grpSp>
      <p:sp>
        <p:nvSpPr>
          <p:cNvPr id="34" name="直接连接符 63"/>
          <p:cNvSpPr/>
          <p:nvPr userDrawn="1"/>
        </p:nvSpPr>
        <p:spPr>
          <a:xfrm>
            <a:off x="889515" y="5521552"/>
            <a:ext cx="828676" cy="1"/>
          </a:xfrm>
          <a:prstGeom prst="line">
            <a:avLst/>
          </a:prstGeom>
          <a:ln w="28575">
            <a:solidFill>
              <a:srgbClr val="000000"/>
            </a:solidFill>
          </a:ln>
        </p:spPr>
        <p:txBody>
          <a:bodyPr lIns="45719" rIns="45719"/>
          <a:lstStyle/>
          <a:p>
            <a:endParaRPr dirty="0"/>
          </a:p>
        </p:txBody>
      </p:sp>
      <p:sp>
        <p:nvSpPr>
          <p:cNvPr id="49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0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1" name="文本框 50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2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3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4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5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6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7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0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175" y="0"/>
            <a:ext cx="12188825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" name="矩形 23"/>
          <p:cNvSpPr/>
          <p:nvPr userDrawn="1"/>
        </p:nvSpPr>
        <p:spPr>
          <a:xfrm>
            <a:off x="1202795" y="1536895"/>
            <a:ext cx="9789584" cy="37719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698500" dist="215900" dir="5400000" rotWithShape="0">
              <a:srgbClr val="000000">
                <a:alpha val="14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2" name="文本框 7"/>
          <p:cNvSpPr txBox="1"/>
          <p:nvPr userDrawn="1"/>
        </p:nvSpPr>
        <p:spPr>
          <a:xfrm>
            <a:off x="1439290" y="1960453"/>
            <a:ext cx="3586878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dirty="0"/>
              <a:t>0</a:t>
            </a:r>
            <a:r>
              <a:rPr lang="en-US" dirty="0"/>
              <a:t>   </a:t>
            </a:r>
            <a:endParaRPr dirty="0"/>
          </a:p>
        </p:txBody>
      </p:sp>
      <p:sp>
        <p:nvSpPr>
          <p:cNvPr id="13" name="直接连接符 27"/>
          <p:cNvSpPr/>
          <p:nvPr userDrawn="1"/>
        </p:nvSpPr>
        <p:spPr>
          <a:xfrm>
            <a:off x="5759227" y="3600105"/>
            <a:ext cx="5233153" cy="1"/>
          </a:xfrm>
          <a:prstGeom prst="line">
            <a:avLst/>
          </a:prstGeom>
          <a:ln w="12700">
            <a:solidFill>
              <a:srgbClr val="BFBFBF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5" name="Picture 3" descr="C:\Users\Administrator\Desktop\战戟标（3V3标-01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63952" y="3789040"/>
            <a:ext cx="1368152" cy="437971"/>
          </a:xfrm>
          <a:prstGeom prst="rect">
            <a:avLst/>
          </a:prstGeom>
          <a:noFill/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4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6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7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8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C0C0-F3C1-46A6-B1E0-38A19114CB16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5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7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8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9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4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占位符 4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FC0C0-F3C1-46A6-B1E0-38A19114CB16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chart" Target="../charts/char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chart" Target="../charts/char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24" y="5744210"/>
            <a:ext cx="781050" cy="56197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7193280" y="6308725"/>
            <a:ext cx="3067685" cy="502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运动表现研究部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   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19336" y="6309320"/>
            <a:ext cx="3984380" cy="4584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报告编号：</a:t>
            </a:r>
            <a:r>
              <a:rPr lang="en-US" altLang="zh-CN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QD20250</a:t>
            </a:r>
            <a:r>
              <a:rPr lang="en-US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XXX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352584" y="6306185"/>
            <a:ext cx="547370" cy="5016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45719" tIns="45719" rIns="45719" bIns="45719" numCol="1" spcCol="38100" rtlCol="0" anchor="t" forceAA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  <a:sym typeface="+mn-ea"/>
              </a:rPr>
              <a:t>日期</a:t>
            </a:r>
            <a:endParaRPr kumimoji="0" lang="zh-CN" alt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5013176"/>
            <a:ext cx="1310546" cy="1008112"/>
          </a:xfrm>
          <a:prstGeom prst="rect">
            <a:avLst/>
          </a:prstGeom>
        </p:spPr>
      </p:pic>
      <p:sp>
        <p:nvSpPr>
          <p:cNvPr id="3" name="矩形 259"/>
          <p:cNvSpPr txBox="1"/>
          <p:nvPr/>
        </p:nvSpPr>
        <p:spPr>
          <a:xfrm>
            <a:off x="6672064" y="1556792"/>
            <a:ext cx="3528391" cy="615553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endParaRPr sz="40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600056" y="1582713"/>
            <a:ext cx="20070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背景</a:t>
            </a:r>
          </a:p>
        </p:txBody>
      </p:sp>
      <p:sp>
        <p:nvSpPr>
          <p:cNvPr id="5" name="矩形 4"/>
          <p:cNvSpPr/>
          <p:nvPr/>
        </p:nvSpPr>
        <p:spPr>
          <a:xfrm>
            <a:off x="6600056" y="2628201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基本测试</a:t>
            </a:r>
          </a:p>
        </p:txBody>
      </p:sp>
      <p:sp>
        <p:nvSpPr>
          <p:cNvPr id="7" name="矩形 6"/>
          <p:cNvSpPr/>
          <p:nvPr/>
        </p:nvSpPr>
        <p:spPr>
          <a:xfrm>
            <a:off x="6600056" y="4005064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实战测评</a:t>
            </a:r>
          </a:p>
        </p:txBody>
      </p:sp>
      <p:sp>
        <p:nvSpPr>
          <p:cNvPr id="8" name="矩形 7"/>
          <p:cNvSpPr/>
          <p:nvPr/>
        </p:nvSpPr>
        <p:spPr>
          <a:xfrm>
            <a:off x="6600056" y="3212976"/>
            <a:ext cx="3384376" cy="664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  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基础物性测试</a:t>
            </a:r>
            <a:endParaRPr lang="en-US" altLang="zh-CN" sz="1400" b="1" dirty="0">
              <a:solidFill>
                <a:schemeClr val="tx2">
                  <a:lumMod val="75000"/>
                </a:schemeClr>
              </a:solidFill>
              <a:latin typeface="微软雅黑" charset="-122"/>
              <a:ea typeface="微软雅黑" charset="-122"/>
            </a:endParaRPr>
          </a:p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II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  生物力学 </a:t>
            </a: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/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运动捕捉测试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912" y="3410744"/>
            <a:ext cx="1076325" cy="24860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7928" y="3788757"/>
            <a:ext cx="1104900" cy="20955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6600056" y="4932457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总结</a:t>
            </a:r>
            <a:endParaRPr lang="en-US" altLang="zh-CN" sz="32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7"/>
          <p:cNvSpPr txBox="1"/>
          <p:nvPr/>
        </p:nvSpPr>
        <p:spPr>
          <a:xfrm>
            <a:off x="2829514" y="1931243"/>
            <a:ext cx="1490150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1</a:t>
            </a:r>
            <a:endParaRPr dirty="0"/>
          </a:p>
        </p:txBody>
      </p:sp>
      <p:sp>
        <p:nvSpPr>
          <p:cNvPr id="3" name="矩形 259"/>
          <p:cNvSpPr txBox="1"/>
          <p:nvPr/>
        </p:nvSpPr>
        <p:spPr>
          <a:xfrm>
            <a:off x="5879976" y="2746850"/>
            <a:ext cx="4464496" cy="738664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48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项目背景</a:t>
            </a:r>
            <a:endParaRPr sz="48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data】</a:t>
            </a:r>
            <a:endParaRPr lang="zh-CN" altLang="en-US" sz="1600" b="1" dirty="0">
              <a:solidFill>
                <a:srgbClr val="FFC000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233248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776520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cxnSp>
        <p:nvCxnSpPr>
          <p:cNvPr id="68" name="直接箭头连接符 67"/>
          <p:cNvCxnSpPr/>
          <p:nvPr/>
        </p:nvCxnSpPr>
        <p:spPr>
          <a:xfrm>
            <a:off x="803151" y="921658"/>
            <a:ext cx="29306" cy="4615319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27957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307166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93576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72784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559194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6384032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717612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804021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883230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38%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969640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10488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200359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40%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831683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42%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65977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44%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446960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5366857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615997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689676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776089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856966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9403239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735918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470376" y="347195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470376" y="282366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70376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70376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cxnSp>
        <p:nvCxnSpPr>
          <p:cNvPr id="140" name="直接连接符 139"/>
          <p:cNvCxnSpPr/>
          <p:nvPr/>
        </p:nvCxnSpPr>
        <p:spPr>
          <a:xfrm>
            <a:off x="5519936" y="1034412"/>
            <a:ext cx="0" cy="282141"/>
          </a:xfrm>
          <a:prstGeom prst="line">
            <a:avLst/>
          </a:prstGeom>
          <a:ln w="9525" cap="flat" cmpd="sng" algn="ctr">
            <a:solidFill>
              <a:schemeClr val="dk1">
                <a:alpha val="12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4" name="矩形 163"/>
          <p:cNvSpPr/>
          <p:nvPr/>
        </p:nvSpPr>
        <p:spPr>
          <a:xfrm>
            <a:off x="1021762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77104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179474"/>
            <a:ext cx="0" cy="435600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88287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6705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5919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71949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8239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9514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9517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11745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右箭头 104"/>
          <p:cNvSpPr/>
          <p:nvPr/>
        </p:nvSpPr>
        <p:spPr>
          <a:xfrm>
            <a:off x="774188" y="173245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4649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5924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7327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78138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5745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6150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4117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4523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4929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3" name="矩形 122"/>
          <p:cNvSpPr/>
          <p:nvPr/>
        </p:nvSpPr>
        <p:spPr>
          <a:xfrm>
            <a:off x="130896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672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5371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87463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1112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062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1215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499497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9177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9445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20419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72098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211949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70289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2674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37427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6869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81443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6745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8539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27559" y="237953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27559" y="1988840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4994461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8257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010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直接箭头连接符 59"/>
          <p:cNvCxnSpPr/>
          <p:nvPr/>
        </p:nvCxnSpPr>
        <p:spPr>
          <a:xfrm>
            <a:off x="823225" y="856457"/>
            <a:ext cx="0" cy="4680520"/>
          </a:xfrm>
          <a:prstGeom prst="straightConnector1">
            <a:avLst/>
          </a:prstGeom>
          <a:noFill/>
          <a:ln w="38100" cap="flat">
            <a:solidFill>
              <a:srgbClr val="D82540"/>
            </a:solidFill>
            <a:prstDash val="solid"/>
            <a:round/>
            <a:tailEnd type="triangle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448000" cy="0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989349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12735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275612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40938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099290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472447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536340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604622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671472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740793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809482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880486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18783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47%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5161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1539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49%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38410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4499392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51%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51393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580796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53%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64559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71658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55%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783248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879072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532020" y="347195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511472" y="282366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48464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49828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64" name="矩形 163"/>
          <p:cNvSpPr/>
          <p:nvPr/>
        </p:nvSpPr>
        <p:spPr>
          <a:xfrm>
            <a:off x="85545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57%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连接符 52"/>
          <p:cNvCxnSpPr/>
          <p:nvPr/>
        </p:nvCxnSpPr>
        <p:spPr>
          <a:xfrm>
            <a:off x="943770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>
            <a:off x="1006531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>
            <a:off x="10735554" y="104302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>
            <a:off x="11352584" y="1060358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矩形 56"/>
          <p:cNvSpPr/>
          <p:nvPr/>
        </p:nvSpPr>
        <p:spPr>
          <a:xfrm>
            <a:off x="9231372" y="739852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58" name="矩形 57"/>
          <p:cNvSpPr/>
          <p:nvPr/>
        </p:nvSpPr>
        <p:spPr>
          <a:xfrm>
            <a:off x="987944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59%</a:t>
            </a:r>
            <a:endParaRPr lang="zh-CN" altLang="en-US" sz="1200" dirty="0"/>
          </a:p>
        </p:txBody>
      </p:sp>
      <p:sp>
        <p:nvSpPr>
          <p:cNvPr id="59" name="矩形 58"/>
          <p:cNvSpPr/>
          <p:nvPr/>
        </p:nvSpPr>
        <p:spPr>
          <a:xfrm>
            <a:off x="1047605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82241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93424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9787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6947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5140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4129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2322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23260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01471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7731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7979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4245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8122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4717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5123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3090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3496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1846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400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6263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905455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2636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824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0984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1021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6095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20604" y="540712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17106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67752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158718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662774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3250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405094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7896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6089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2636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13481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88164" y="230761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88164" y="190664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3120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772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70" name="右箭头 69"/>
          <p:cNvSpPr/>
          <p:nvPr/>
        </p:nvSpPr>
        <p:spPr>
          <a:xfrm>
            <a:off x="773875" y="161078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1238495" y="5421143"/>
            <a:ext cx="5207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0" name="矩形 9"/>
          <p:cNvSpPr/>
          <p:nvPr/>
        </p:nvSpPr>
        <p:spPr>
          <a:xfrm>
            <a:off x="407368" y="7304072"/>
            <a:ext cx="1130525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基础数据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生物力学数据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人体试穿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建议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 文字描述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3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               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（</a:t>
            </a: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）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矩形 259"/>
          <p:cNvSpPr txBox="1"/>
          <p:nvPr/>
        </p:nvSpPr>
        <p:spPr>
          <a:xfrm>
            <a:off x="904309" y="2569883"/>
            <a:ext cx="6479835" cy="92333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spcBef>
                <a:spcPts val="1400"/>
              </a:spcBef>
              <a:defRPr sz="6000" b="1">
                <a:solidFill>
                  <a:srgbClr val="FFFFFF"/>
                </a:solidFill>
                <a:latin typeface="Avenir Next"/>
                <a:ea typeface="Avenir Next"/>
                <a:cs typeface="Avenir Next"/>
                <a:sym typeface="Avenir Next"/>
              </a:defRPr>
            </a:lvl1pPr>
          </a:lstStyle>
          <a:p>
            <a:r>
              <a:rPr dirty="0">
                <a:latin typeface="微软雅黑" pitchFamily="34" charset="-122"/>
                <a:ea typeface="微软雅黑" pitchFamily="34" charset="-122"/>
              </a:rPr>
              <a:t>THANK YOU</a:t>
            </a:r>
          </a:p>
        </p:txBody>
      </p:sp>
      <p:pic>
        <p:nvPicPr>
          <p:cNvPr id="645" name="Picture 3" descr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矩形 2"/>
          <p:cNvSpPr/>
          <p:nvPr/>
        </p:nvSpPr>
        <p:spPr>
          <a:xfrm>
            <a:off x="767080" y="5300980"/>
            <a:ext cx="3067685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步长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垂直重心振幅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" name="等腰三角形 3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等腰三角形 9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7" name="等腰三角形 96"/>
          <p:cNvSpPr/>
          <p:nvPr/>
        </p:nvSpPr>
        <p:spPr>
          <a:xfrm>
            <a:off x="21635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19476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0" name="等腰三角形 99"/>
          <p:cNvSpPr/>
          <p:nvPr/>
        </p:nvSpPr>
        <p:spPr>
          <a:xfrm>
            <a:off x="282847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文本框 100"/>
          <p:cNvSpPr txBox="1"/>
          <p:nvPr/>
        </p:nvSpPr>
        <p:spPr>
          <a:xfrm>
            <a:off x="261257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4" name="等腰三角形 103"/>
          <p:cNvSpPr/>
          <p:nvPr/>
        </p:nvSpPr>
        <p:spPr>
          <a:xfrm>
            <a:off x="349340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327750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8" name="等腰三角形 107"/>
          <p:cNvSpPr/>
          <p:nvPr/>
        </p:nvSpPr>
        <p:spPr>
          <a:xfrm>
            <a:off x="415834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394244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1" name="等腰三角形 110"/>
          <p:cNvSpPr/>
          <p:nvPr/>
        </p:nvSpPr>
        <p:spPr>
          <a:xfrm>
            <a:off x="48232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46073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3" name="等腰三角形 112"/>
          <p:cNvSpPr/>
          <p:nvPr/>
        </p:nvSpPr>
        <p:spPr>
          <a:xfrm>
            <a:off x="5488214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5272314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5" name="等腰三角形 114"/>
          <p:cNvSpPr/>
          <p:nvPr/>
        </p:nvSpPr>
        <p:spPr>
          <a:xfrm>
            <a:off x="615315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文本框 115"/>
          <p:cNvSpPr txBox="1"/>
          <p:nvPr/>
        </p:nvSpPr>
        <p:spPr>
          <a:xfrm>
            <a:off x="593725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7" name="等腰三角形 116"/>
          <p:cNvSpPr/>
          <p:nvPr/>
        </p:nvSpPr>
        <p:spPr>
          <a:xfrm>
            <a:off x="681808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660218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9" name="等腰三角形 118"/>
          <p:cNvSpPr/>
          <p:nvPr/>
        </p:nvSpPr>
        <p:spPr>
          <a:xfrm>
            <a:off x="748302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文本框 119"/>
          <p:cNvSpPr txBox="1"/>
          <p:nvPr/>
        </p:nvSpPr>
        <p:spPr>
          <a:xfrm>
            <a:off x="726712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1" name="等腰三角形 120"/>
          <p:cNvSpPr/>
          <p:nvPr/>
        </p:nvSpPr>
        <p:spPr>
          <a:xfrm>
            <a:off x="81479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79320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4" name="等腰三角形 123"/>
          <p:cNvSpPr/>
          <p:nvPr/>
        </p:nvSpPr>
        <p:spPr>
          <a:xfrm>
            <a:off x="88128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85969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6" name="等腰三角形 125"/>
          <p:cNvSpPr/>
          <p:nvPr/>
        </p:nvSpPr>
        <p:spPr>
          <a:xfrm>
            <a:off x="947782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文本框 126"/>
          <p:cNvSpPr txBox="1"/>
          <p:nvPr/>
        </p:nvSpPr>
        <p:spPr>
          <a:xfrm>
            <a:off x="926192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8" name="等腰三角形 127"/>
          <p:cNvSpPr/>
          <p:nvPr/>
        </p:nvSpPr>
        <p:spPr>
          <a:xfrm>
            <a:off x="1014276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文本框 128"/>
          <p:cNvSpPr txBox="1"/>
          <p:nvPr/>
        </p:nvSpPr>
        <p:spPr>
          <a:xfrm>
            <a:off x="992686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0" name="等腰三角形 129"/>
          <p:cNvSpPr/>
          <p:nvPr/>
        </p:nvSpPr>
        <p:spPr>
          <a:xfrm>
            <a:off x="108077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文本框 130"/>
          <p:cNvSpPr txBox="1"/>
          <p:nvPr/>
        </p:nvSpPr>
        <p:spPr>
          <a:xfrm>
            <a:off x="105918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160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等腰三角形 13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文本框 13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4" name="等腰三角形 133"/>
          <p:cNvSpPr/>
          <p:nvPr/>
        </p:nvSpPr>
        <p:spPr>
          <a:xfrm rot="5400000">
            <a:off x="774700" y="4633546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330200" y="4506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6" name="等腰三角形 135"/>
          <p:cNvSpPr/>
          <p:nvPr/>
        </p:nvSpPr>
        <p:spPr>
          <a:xfrm rot="5400000">
            <a:off x="774700" y="4377592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文本框 136"/>
          <p:cNvSpPr txBox="1"/>
          <p:nvPr/>
        </p:nvSpPr>
        <p:spPr>
          <a:xfrm>
            <a:off x="330200" y="4250592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8" name="等腰三角形 137"/>
          <p:cNvSpPr/>
          <p:nvPr/>
        </p:nvSpPr>
        <p:spPr>
          <a:xfrm rot="5400000">
            <a:off x="774700" y="412163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330200" y="399463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0" name="等腰三角形 139"/>
          <p:cNvSpPr/>
          <p:nvPr/>
        </p:nvSpPr>
        <p:spPr>
          <a:xfrm rot="5400000">
            <a:off x="774700" y="386568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文本框 140"/>
          <p:cNvSpPr txBox="1"/>
          <p:nvPr/>
        </p:nvSpPr>
        <p:spPr>
          <a:xfrm>
            <a:off x="330200" y="373868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2" name="等腰三角形 141"/>
          <p:cNvSpPr/>
          <p:nvPr/>
        </p:nvSpPr>
        <p:spPr>
          <a:xfrm rot="5400000">
            <a:off x="774700" y="360973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文本框 142"/>
          <p:cNvSpPr txBox="1"/>
          <p:nvPr/>
        </p:nvSpPr>
        <p:spPr>
          <a:xfrm>
            <a:off x="330200" y="348273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4" name="等腰三角形 143"/>
          <p:cNvSpPr/>
          <p:nvPr/>
        </p:nvSpPr>
        <p:spPr>
          <a:xfrm rot="5400000">
            <a:off x="774700" y="335377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330200" y="322677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6" name="等腰三角形 145"/>
          <p:cNvSpPr/>
          <p:nvPr/>
        </p:nvSpPr>
        <p:spPr>
          <a:xfrm rot="5400000">
            <a:off x="774700" y="309782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330200" y="297082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5" name="等腰三角形 164"/>
          <p:cNvSpPr/>
          <p:nvPr/>
        </p:nvSpPr>
        <p:spPr>
          <a:xfrm rot="5400000">
            <a:off x="774700" y="2841869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文本框 181"/>
          <p:cNvSpPr txBox="1"/>
          <p:nvPr/>
        </p:nvSpPr>
        <p:spPr>
          <a:xfrm>
            <a:off x="330200" y="2714869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3" name="等腰三角形 182"/>
          <p:cNvSpPr/>
          <p:nvPr/>
        </p:nvSpPr>
        <p:spPr>
          <a:xfrm rot="5400000">
            <a:off x="774700" y="258591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文本框 183"/>
          <p:cNvSpPr txBox="1"/>
          <p:nvPr/>
        </p:nvSpPr>
        <p:spPr>
          <a:xfrm>
            <a:off x="330200" y="245891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5" name="等腰三角形 184"/>
          <p:cNvSpPr/>
          <p:nvPr/>
        </p:nvSpPr>
        <p:spPr>
          <a:xfrm rot="5400000">
            <a:off x="774700" y="232996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文本框 185"/>
          <p:cNvSpPr txBox="1"/>
          <p:nvPr/>
        </p:nvSpPr>
        <p:spPr>
          <a:xfrm>
            <a:off x="330200" y="220296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7" name="等腰三角形 186"/>
          <p:cNvSpPr/>
          <p:nvPr/>
        </p:nvSpPr>
        <p:spPr>
          <a:xfrm rot="5400000">
            <a:off x="774700" y="207400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文本框 187"/>
          <p:cNvSpPr txBox="1"/>
          <p:nvPr/>
        </p:nvSpPr>
        <p:spPr>
          <a:xfrm>
            <a:off x="330200" y="194700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9" name="等腰三角形 188"/>
          <p:cNvSpPr/>
          <p:nvPr/>
        </p:nvSpPr>
        <p:spPr>
          <a:xfrm rot="5400000">
            <a:off x="774700" y="1818054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文本框 189"/>
          <p:cNvSpPr txBox="1"/>
          <p:nvPr/>
        </p:nvSpPr>
        <p:spPr>
          <a:xfrm>
            <a:off x="330200" y="1691054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1" name="等腰三角形 190"/>
          <p:cNvSpPr/>
          <p:nvPr/>
        </p:nvSpPr>
        <p:spPr>
          <a:xfrm rot="5400000">
            <a:off x="774700" y="15621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文本框 191"/>
          <p:cNvSpPr txBox="1"/>
          <p:nvPr/>
        </p:nvSpPr>
        <p:spPr>
          <a:xfrm>
            <a:off x="330200" y="14351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391168" y="5376331"/>
            <a:ext cx="792000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步长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-9951" y="1332153"/>
            <a:ext cx="800219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垂直重心</a:t>
            </a:r>
            <a:endParaRPr lang="en-US" altLang="zh-CN" sz="12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振幅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厚度与重量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4892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94769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mm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2" name="矩形 51"/>
          <p:cNvSpPr/>
          <p:nvPr/>
        </p:nvSpPr>
        <p:spPr>
          <a:xfrm>
            <a:off x="235099" y="1332153"/>
            <a:ext cx="543739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鞋底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厚度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3" name="等腰三角形 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等腰三角形 78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1" name="等腰三角形 80"/>
          <p:cNvSpPr/>
          <p:nvPr/>
        </p:nvSpPr>
        <p:spPr>
          <a:xfrm>
            <a:off x="198010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6420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3" name="等腰三角形 82"/>
          <p:cNvSpPr/>
          <p:nvPr/>
        </p:nvSpPr>
        <p:spPr>
          <a:xfrm>
            <a:off x="246161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24571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5" name="等腰三角形 84"/>
          <p:cNvSpPr/>
          <p:nvPr/>
        </p:nvSpPr>
        <p:spPr>
          <a:xfrm>
            <a:off x="294311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72721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7" name="等腰三角形 86"/>
          <p:cNvSpPr/>
          <p:nvPr/>
        </p:nvSpPr>
        <p:spPr>
          <a:xfrm>
            <a:off x="342462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20872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0" name="等腰三角形 89"/>
          <p:cNvSpPr/>
          <p:nvPr/>
        </p:nvSpPr>
        <p:spPr>
          <a:xfrm>
            <a:off x="390612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022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2" name="等腰三角形 91"/>
          <p:cNvSpPr/>
          <p:nvPr/>
        </p:nvSpPr>
        <p:spPr>
          <a:xfrm>
            <a:off x="438763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17173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6" name="等腰三角形 95"/>
          <p:cNvSpPr/>
          <p:nvPr/>
        </p:nvSpPr>
        <p:spPr>
          <a:xfrm>
            <a:off x="48691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46532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2" name="等腰三角形 101"/>
          <p:cNvSpPr/>
          <p:nvPr/>
        </p:nvSpPr>
        <p:spPr>
          <a:xfrm>
            <a:off x="535064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513474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3" name="等腰三角形 122"/>
          <p:cNvSpPr/>
          <p:nvPr/>
        </p:nvSpPr>
        <p:spPr>
          <a:xfrm>
            <a:off x="583214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561624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9" name="等腰三角形 148"/>
          <p:cNvSpPr/>
          <p:nvPr/>
        </p:nvSpPr>
        <p:spPr>
          <a:xfrm>
            <a:off x="631365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文本框 149"/>
          <p:cNvSpPr txBox="1"/>
          <p:nvPr/>
        </p:nvSpPr>
        <p:spPr>
          <a:xfrm>
            <a:off x="609775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1" name="等腰三角形 150"/>
          <p:cNvSpPr/>
          <p:nvPr/>
        </p:nvSpPr>
        <p:spPr>
          <a:xfrm>
            <a:off x="67951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文本框 151"/>
          <p:cNvSpPr txBox="1"/>
          <p:nvPr/>
        </p:nvSpPr>
        <p:spPr>
          <a:xfrm>
            <a:off x="65792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3" name="等腰三角形 152"/>
          <p:cNvSpPr/>
          <p:nvPr/>
        </p:nvSpPr>
        <p:spPr>
          <a:xfrm>
            <a:off x="727666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文本框 153"/>
          <p:cNvSpPr txBox="1"/>
          <p:nvPr/>
        </p:nvSpPr>
        <p:spPr>
          <a:xfrm>
            <a:off x="706076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5" name="等腰三角形 154"/>
          <p:cNvSpPr/>
          <p:nvPr/>
        </p:nvSpPr>
        <p:spPr>
          <a:xfrm>
            <a:off x="775816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文本框 155"/>
          <p:cNvSpPr txBox="1"/>
          <p:nvPr/>
        </p:nvSpPr>
        <p:spPr>
          <a:xfrm>
            <a:off x="754226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8" name="等腰三角形 157"/>
          <p:cNvSpPr/>
          <p:nvPr/>
        </p:nvSpPr>
        <p:spPr>
          <a:xfrm>
            <a:off x="823967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802377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1" name="等腰三角形 160"/>
          <p:cNvSpPr/>
          <p:nvPr/>
        </p:nvSpPr>
        <p:spPr>
          <a:xfrm>
            <a:off x="87211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文本框 161"/>
          <p:cNvSpPr txBox="1"/>
          <p:nvPr/>
        </p:nvSpPr>
        <p:spPr>
          <a:xfrm>
            <a:off x="85052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3" name="等腰三角形 162"/>
          <p:cNvSpPr/>
          <p:nvPr/>
        </p:nvSpPr>
        <p:spPr>
          <a:xfrm>
            <a:off x="920268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文本框 163"/>
          <p:cNvSpPr txBox="1"/>
          <p:nvPr/>
        </p:nvSpPr>
        <p:spPr>
          <a:xfrm>
            <a:off x="898678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6" name="等腰三角形 165"/>
          <p:cNvSpPr/>
          <p:nvPr/>
        </p:nvSpPr>
        <p:spPr>
          <a:xfrm>
            <a:off x="968418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946828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8" name="等腰三角形 167"/>
          <p:cNvSpPr/>
          <p:nvPr/>
        </p:nvSpPr>
        <p:spPr>
          <a:xfrm>
            <a:off x="101656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99497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0" name="等腰三角形 169"/>
          <p:cNvSpPr/>
          <p:nvPr/>
        </p:nvSpPr>
        <p:spPr>
          <a:xfrm>
            <a:off x="1064719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10431298" y="5400254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173</a:t>
            </a:r>
            <a:endParaRPr kumimoji="0" lang="zh-CN" altLang="en-US" sz="1200" b="1" i="0" u="none" strike="noStrike" cap="none" spc="0" normalizeH="0" baseline="0" dirty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6" name="等腰三角形 5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等腰三角形 17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4" name="等腰三角形 173"/>
          <p:cNvSpPr/>
          <p:nvPr/>
        </p:nvSpPr>
        <p:spPr>
          <a:xfrm rot="5400000">
            <a:off x="774700" y="444584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330200" y="431884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6" name="等腰三角形 175"/>
          <p:cNvSpPr/>
          <p:nvPr/>
        </p:nvSpPr>
        <p:spPr>
          <a:xfrm rot="5400000">
            <a:off x="774700" y="400219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330200" y="387519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8" name="等腰三角形 177"/>
          <p:cNvSpPr/>
          <p:nvPr/>
        </p:nvSpPr>
        <p:spPr>
          <a:xfrm rot="5400000">
            <a:off x="774700" y="355854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文本框 178"/>
          <p:cNvSpPr txBox="1"/>
          <p:nvPr/>
        </p:nvSpPr>
        <p:spPr>
          <a:xfrm>
            <a:off x="330200" y="343154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0" name="等腰三角形 179"/>
          <p:cNvSpPr/>
          <p:nvPr/>
        </p:nvSpPr>
        <p:spPr>
          <a:xfrm rot="5400000">
            <a:off x="774700" y="311488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文本框 180"/>
          <p:cNvSpPr txBox="1"/>
          <p:nvPr/>
        </p:nvSpPr>
        <p:spPr>
          <a:xfrm>
            <a:off x="330200" y="298788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4" name="等腰三角形 193"/>
          <p:cNvSpPr/>
          <p:nvPr/>
        </p:nvSpPr>
        <p:spPr>
          <a:xfrm rot="5400000">
            <a:off x="774700" y="267123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330200" y="254423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6" name="等腰三角形 195"/>
          <p:cNvSpPr/>
          <p:nvPr/>
        </p:nvSpPr>
        <p:spPr>
          <a:xfrm rot="5400000">
            <a:off x="774700" y="222758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文本框 196"/>
          <p:cNvSpPr txBox="1"/>
          <p:nvPr/>
        </p:nvSpPr>
        <p:spPr>
          <a:xfrm>
            <a:off x="330200" y="210058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8" name="等腰三角形 197"/>
          <p:cNvSpPr/>
          <p:nvPr/>
        </p:nvSpPr>
        <p:spPr>
          <a:xfrm rot="5400000">
            <a:off x="774700" y="178392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文本框 198"/>
          <p:cNvSpPr txBox="1"/>
          <p:nvPr/>
        </p:nvSpPr>
        <p:spPr>
          <a:xfrm>
            <a:off x="330200" y="1733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515298" y="5376331"/>
            <a:ext cx="543739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重量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矩形 40"/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图片 7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15" name="矩形 14"/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9B2C9E-A068-AFF8-8ECC-84E106305DF8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570582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92871-22AD-CD04-93E5-4F0D7DBE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F50DEA5D-1F8C-E6C7-F38E-3BF5E45B9769}"/>
              </a:ext>
            </a:extLst>
          </p:cNvPr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7C47286-FC69-D4E4-D583-85C7677B7966}"/>
              </a:ext>
            </a:extLst>
          </p:cNvPr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5DD6B7A-B688-6DA9-176F-5A5DFEEA00EE}"/>
              </a:ext>
            </a:extLst>
          </p:cNvPr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12C4E460-3A6C-A0B8-A199-E88E7D56AE50}"/>
              </a:ext>
            </a:extLst>
          </p:cNvPr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452091F-39DE-516E-A86F-659BE408A02D}"/>
              </a:ext>
            </a:extLst>
          </p:cNvPr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9D531F9-36DA-34FB-E12A-04412C063202}"/>
              </a:ext>
            </a:extLst>
          </p:cNvPr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BFC7A53-AA8B-B0EF-CF11-90B5207603D7}"/>
              </a:ext>
            </a:extLst>
          </p:cNvPr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F159957-409B-9120-31A3-90231868E118}"/>
              </a:ext>
            </a:extLst>
          </p:cNvPr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1DB6164-BA5C-E2C5-92D3-A62FBD08B5D1}"/>
              </a:ext>
            </a:extLst>
          </p:cNvPr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B44C807-C513-55F7-BB5A-5759370D75B2}"/>
              </a:ext>
            </a:extLst>
          </p:cNvPr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F35BB10F-EBCB-A4B1-E2DF-220535271FF7}"/>
              </a:ext>
            </a:extLst>
          </p:cNvPr>
          <p:cNvSpPr/>
          <p:nvPr/>
        </p:nvSpPr>
        <p:spPr>
          <a:xfrm>
            <a:off x="9230509" y="1893819"/>
            <a:ext cx="1974467" cy="45845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8.29/10</a:t>
            </a:r>
            <a:endParaRPr lang="zh-CN" altLang="en-US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EB8835-406A-564B-1896-E2E725C2CB96}"/>
              </a:ext>
            </a:extLst>
          </p:cNvPr>
          <p:cNvSpPr/>
          <p:nvPr/>
        </p:nvSpPr>
        <p:spPr>
          <a:xfrm>
            <a:off x="9840416" y="44624"/>
            <a:ext cx="773897" cy="15567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7200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A</a:t>
            </a:r>
            <a:endParaRPr lang="zh-CN" altLang="en-US" sz="720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48B9329-8CFE-4E4D-2103-764F17732125}"/>
              </a:ext>
            </a:extLst>
          </p:cNvPr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9BE1BE92-E54B-4677-2142-4852FA892F8B}"/>
              </a:ext>
            </a:extLst>
          </p:cNvPr>
          <p:cNvSpPr/>
          <p:nvPr/>
        </p:nvSpPr>
        <p:spPr>
          <a:xfrm>
            <a:off x="311218" y="2337973"/>
            <a:ext cx="2704623" cy="85408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试穿人数：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</a:t>
            </a:r>
            <a:endParaRPr lang="en-US" alt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测试者平均体重：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84.3KG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测试者球场定位：锋、卫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2FE8141-3EF8-DBB5-DC05-C376CE4943C0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DE70494-1D94-5B53-200B-3831A13B19F9}"/>
              </a:ext>
            </a:extLst>
          </p:cNvPr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图片 39">
            <a:extLst>
              <a:ext uri="{FF2B5EF4-FFF2-40B4-BE49-F238E27FC236}">
                <a16:creationId xmlns:a16="http://schemas.microsoft.com/office/drawing/2014/main" id="{C5758638-8F56-A657-1C99-5CCB8D6C370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28" b="24973"/>
          <a:stretch/>
        </p:blipFill>
        <p:spPr>
          <a:xfrm>
            <a:off x="278790" y="987483"/>
            <a:ext cx="2614510" cy="112771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1" name="矩形 40">
            <a:extLst>
              <a:ext uri="{FF2B5EF4-FFF2-40B4-BE49-F238E27FC236}">
                <a16:creationId xmlns:a16="http://schemas.microsoft.com/office/drawing/2014/main" id="{2B42C03E-06F3-D01E-F474-736165E793C2}"/>
              </a:ext>
            </a:extLst>
          </p:cNvPr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58502D-576B-6C89-24AF-E760030EC50F}"/>
              </a:ext>
            </a:extLst>
          </p:cNvPr>
          <p:cNvSpPr txBox="1"/>
          <p:nvPr/>
        </p:nvSpPr>
        <p:spPr>
          <a:xfrm>
            <a:off x="188387" y="241588"/>
            <a:ext cx="3200492" cy="4616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457200" hangingPunct="0"/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‘</a:t>
            </a:r>
            <a:r>
              <a:rPr lang="en-US" altLang="zh-CN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SUPER GRASS</a:t>
            </a:r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’</a:t>
            </a:r>
            <a:endParaRPr kumimoji="0" lang="zh-CN" altLang="en-US" sz="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楷体" panose="02010609060101010101" pitchFamily="49" charset="-122"/>
              <a:ea typeface="楷体" panose="02010609060101010101" pitchFamily="49" charset="-122"/>
              <a:sym typeface="Arial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1E37340-F6D0-F899-62FA-DA4731BEE932}"/>
              </a:ext>
            </a:extLst>
          </p:cNvPr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图表 44">
            <a:extLst>
              <a:ext uri="{FF2B5EF4-FFF2-40B4-BE49-F238E27FC236}">
                <a16:creationId xmlns:a16="http://schemas.microsoft.com/office/drawing/2014/main" id="{C1BC75A2-27B3-3F68-EFE7-7569403389C6}"/>
              </a:ext>
            </a:extLst>
          </p:cNvPr>
          <p:cNvGraphicFramePr>
            <a:graphicFrameLocks/>
          </p:cNvGraphicFramePr>
          <p:nvPr/>
        </p:nvGraphicFramePr>
        <p:xfrm>
          <a:off x="3041567" y="314654"/>
          <a:ext cx="5934011" cy="28509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矩形 68">
            <a:extLst>
              <a:ext uri="{FF2B5EF4-FFF2-40B4-BE49-F238E27FC236}">
                <a16:creationId xmlns:a16="http://schemas.microsoft.com/office/drawing/2014/main" id="{136896C7-0B6C-262C-802E-48BF59BAAEF2}"/>
              </a:ext>
            </a:extLst>
          </p:cNvPr>
          <p:cNvSpPr/>
          <p:nvPr/>
        </p:nvSpPr>
        <p:spPr>
          <a:xfrm>
            <a:off x="256585" y="3310258"/>
            <a:ext cx="529441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包裹性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前掌内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外侧弯折处均出现卡脚情况（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鞋带孔生涩，在绑缚过程中较难对鞋带进行高效的收紧与放松（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在进行内收步、剪刀步时，前掌外侧橡胶出现明显的挤压第五跖趾关节现象（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稳定性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在进行一些特定的动作时（行进间急停摆脱防守），出现轻微足外翻，具体位置在相比较前掌而言，后跟内侧支撑略低，但尚能接受（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鞋底容易吸灰，导致打滑（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鞋底在与地面摩擦时无“吱吱吱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~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”声响，对篮球爱好者来说安全感低。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5" name="图片 74">
            <a:extLst>
              <a:ext uri="{FF2B5EF4-FFF2-40B4-BE49-F238E27FC236}">
                <a16:creationId xmlns:a16="http://schemas.microsoft.com/office/drawing/2014/main" id="{6B25D678-3B68-D983-3D9D-A325506B9C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>
            <a:extLst>
              <a:ext uri="{FF2B5EF4-FFF2-40B4-BE49-F238E27FC236}">
                <a16:creationId xmlns:a16="http://schemas.microsoft.com/office/drawing/2014/main" id="{505BE928-C9B9-002F-6818-DB405601F0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78" name="矩形 77">
            <a:extLst>
              <a:ext uri="{FF2B5EF4-FFF2-40B4-BE49-F238E27FC236}">
                <a16:creationId xmlns:a16="http://schemas.microsoft.com/office/drawing/2014/main" id="{98A7A975-90D3-C2F4-28A0-5B741523D152}"/>
              </a:ext>
            </a:extLst>
          </p:cNvPr>
          <p:cNvSpPr/>
          <p:nvPr/>
        </p:nvSpPr>
        <p:spPr>
          <a:xfrm>
            <a:off x="5725020" y="3310258"/>
            <a:ext cx="348438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在室内干净木地板、室外水泥地上均能牢牢地锁定在地面。但在灰尘较大的木地板或塑胶场地上，需要频繁的擦拭鞋底灰尘。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场地感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静态下，前掌填覆材料异物感不明显。在动态下，前掌有明显的马蹄形“气垫”回弹反馈，在无碳板的结构下能给到足够澎湃的触地反馈。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注：三种不同硬度的填覆材料，测试结果为：</a:t>
            </a:r>
            <a:r>
              <a:rPr lang="en-US" altLang="zh-CN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30C</a:t>
            </a: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硬度下，所给到的脚感反馈最佳！</a:t>
            </a:r>
            <a:endParaRPr lang="en-US" altLang="zh-CN" sz="1200" b="1" dirty="0">
              <a:solidFill>
                <a:srgbClr val="1E7C4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8CFB63C-5BA7-CCAE-C088-64467DEF277C}"/>
              </a:ext>
            </a:extLst>
          </p:cNvPr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58356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3586848" y="6038105"/>
            <a:ext cx="5281570" cy="196703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277812" y="6331332"/>
            <a:ext cx="4882084" cy="228205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" name="直接连接符 1"/>
          <p:cNvCxnSpPr/>
          <p:nvPr/>
        </p:nvCxnSpPr>
        <p:spPr>
          <a:xfrm>
            <a:off x="198716" y="1124744"/>
            <a:ext cx="181174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 flipV="1">
            <a:off x="184811" y="222090"/>
            <a:ext cx="10375685" cy="881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 flipV="1">
            <a:off x="9111056" y="222091"/>
            <a:ext cx="0" cy="9194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 flipV="1">
            <a:off x="191344" y="692698"/>
            <a:ext cx="0" cy="44882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 flipV="1">
            <a:off x="191344" y="2636914"/>
            <a:ext cx="0" cy="41044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191344" y="6741368"/>
            <a:ext cx="1186232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91344" y="233638"/>
            <a:ext cx="1800200" cy="46166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endParaRPr kumimoji="0" lang="zh-CN" altLang="en-US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itchFamily="34" charset="-122"/>
              <a:ea typeface="微软雅黑" pitchFamily="34" charset="-122"/>
              <a:sym typeface="Arial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13461" y="740256"/>
            <a:ext cx="1464619" cy="369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altLang="en-US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实战测评</a:t>
            </a:r>
            <a:endParaRPr kumimoji="0" lang="zh-CN" altLang="en-US" sz="14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微软雅黑" pitchFamily="34" charset="-122"/>
              <a:ea typeface="微软雅黑" pitchFamily="34" charset="-122"/>
              <a:sym typeface="Arial"/>
            </a:endParaRPr>
          </a:p>
        </p:txBody>
      </p:sp>
      <p:cxnSp>
        <p:nvCxnSpPr>
          <p:cNvPr id="12" name="直接连接符 11"/>
          <p:cNvCxnSpPr/>
          <p:nvPr/>
        </p:nvCxnSpPr>
        <p:spPr>
          <a:xfrm flipV="1">
            <a:off x="2010461" y="230902"/>
            <a:ext cx="0" cy="8938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10544682" y="230902"/>
            <a:ext cx="0" cy="1685930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H="1">
            <a:off x="9104522" y="1916832"/>
            <a:ext cx="1440160" cy="0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/>
        </p:nvCxnSpPr>
        <p:spPr>
          <a:xfrm flipV="1">
            <a:off x="9104522" y="230902"/>
            <a:ext cx="0" cy="6510466"/>
          </a:xfrm>
          <a:prstGeom prst="line">
            <a:avLst/>
          </a:prstGeom>
          <a:ln>
            <a:solidFill>
              <a:schemeClr val="dk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矩形 31"/>
          <p:cNvSpPr/>
          <p:nvPr/>
        </p:nvSpPr>
        <p:spPr>
          <a:xfrm>
            <a:off x="9128195" y="231337"/>
            <a:ext cx="1404903" cy="119199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5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3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9088708" y="1481911"/>
            <a:ext cx="1471788" cy="4001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20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7.57 / 10</a:t>
            </a:r>
            <a:endParaRPr kumimoji="0" lang="zh-CN" altLang="en-US" sz="16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微软雅黑" pitchFamily="34" charset="-122"/>
              <a:ea typeface="微软雅黑" pitchFamily="34" charset="-122"/>
              <a:sym typeface="Arial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207159" y="3622372"/>
            <a:ext cx="8810896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缓震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回弹：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重心较高，尤其在后跟厚度上（更换较薄鞋垫或去掉鞋垫情况好转）、后跟支撑轻微偏弱（</a:t>
            </a:r>
            <a:r>
              <a:rPr lang="en-US" altLang="zh-CN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x1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）、且存在泄力的情况（木地板上泄力较为明显）。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抓地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耐磨：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抓地较好，无打滑现象，吸灰时抓地性也不错。耐磨情况较好。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防侧翻：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防侧翻点略微靠后，穿着虽影响并不太大，但在有角度的急停与变相时出现不稳定现象。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包裹：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中段包裹良好，前掌以及后跟包裹较弱，后跟出现较为明显的掉跟情况。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抗扭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稳定：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整体脚感偏板，推进感存在但体感上抗扭偏弱，与包裹性有关。前掌较宽，灵活性差一些。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轻量化</a:t>
            </a:r>
            <a:r>
              <a:rPr lang="en-US" altLang="zh-CN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4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透气：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整体轻量化突出，体感重量非常轻，透气性较好，暂未出现烧脚、闷脚现象。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小结：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重量较轻、抓地优秀，但整体重心偏高（鞋垫厚度较厚，且无压缩形变），前、后段包裹较差，进而导致鞋</a:t>
            </a:r>
            <a:r>
              <a:rPr lang="en-US" altLang="zh-CN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r>
              <a:rPr lang="zh-CN" altLang="en-US" sz="14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脚一体性差、稳定性下降、体感上抗扭性较弱。突破安全性偏弱。</a:t>
            </a:r>
            <a:endParaRPr lang="en-US" altLang="zh-CN" sz="14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71256" y="2472676"/>
            <a:ext cx="2683300" cy="854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试穿人数：</a:t>
            </a:r>
            <a:r>
              <a:rPr lang="en-US" altLang="zh-CN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5</a:t>
            </a: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人 </a:t>
            </a:r>
            <a:r>
              <a:rPr lang="en-US" altLang="zh-CN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+</a:t>
            </a:r>
          </a:p>
          <a:p>
            <a:pPr>
              <a:lnSpc>
                <a:spcPct val="150000"/>
              </a:lnSpc>
            </a:pP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测试者体重：</a:t>
            </a:r>
            <a:r>
              <a:rPr lang="en-US" altLang="zh-CN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75±5KG</a:t>
            </a:r>
          </a:p>
          <a:p>
            <a:pPr>
              <a:lnSpc>
                <a:spcPct val="150000"/>
              </a:lnSpc>
            </a:pPr>
            <a:r>
              <a:rPr lang="zh-CN" altLang="en-US" sz="1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测试者球场定位：小前锋、重型后卫</a:t>
            </a:r>
          </a:p>
        </p:txBody>
      </p:sp>
      <p:cxnSp>
        <p:nvCxnSpPr>
          <p:cNvPr id="33" name="直接连接符 32"/>
          <p:cNvCxnSpPr/>
          <p:nvPr/>
        </p:nvCxnSpPr>
        <p:spPr>
          <a:xfrm flipV="1">
            <a:off x="12039600" y="1916832"/>
            <a:ext cx="0" cy="48245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11424592" y="1927895"/>
            <a:ext cx="62907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矩形 53"/>
          <p:cNvSpPr/>
          <p:nvPr/>
        </p:nvSpPr>
        <p:spPr>
          <a:xfrm>
            <a:off x="238103" y="3192962"/>
            <a:ext cx="1210588" cy="4181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实战反馈：</a:t>
            </a:r>
          </a:p>
        </p:txBody>
      </p:sp>
      <p:sp>
        <p:nvSpPr>
          <p:cNvPr id="40" name="矩形 39"/>
          <p:cNvSpPr/>
          <p:nvPr/>
        </p:nvSpPr>
        <p:spPr>
          <a:xfrm>
            <a:off x="9120337" y="1918630"/>
            <a:ext cx="2919262" cy="30617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 vs </a:t>
            </a:r>
            <a:r>
              <a:rPr lang="zh-CN" altLang="en-US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endParaRPr lang="zh-CN" altLang="en-US" sz="105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37" name="直接连接符 36"/>
          <p:cNvCxnSpPr/>
          <p:nvPr/>
        </p:nvCxnSpPr>
        <p:spPr>
          <a:xfrm>
            <a:off x="1199456" y="3573016"/>
            <a:ext cx="2160240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直接连接符 38"/>
          <p:cNvCxnSpPr/>
          <p:nvPr/>
        </p:nvCxnSpPr>
        <p:spPr>
          <a:xfrm>
            <a:off x="198110" y="3573016"/>
            <a:ext cx="216024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1" name="图片 4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10" y="1329338"/>
            <a:ext cx="2137244" cy="1046814"/>
          </a:xfrm>
          <a:prstGeom prst="rect">
            <a:avLst/>
          </a:prstGeom>
          <a:effectLst>
            <a:innerShdw blurRad="63500" dist="50800" dir="2700000">
              <a:prstClr val="black">
                <a:alpha val="50000"/>
              </a:prstClr>
            </a:innerShdw>
          </a:effectLst>
        </p:spPr>
      </p:pic>
      <p:sp>
        <p:nvSpPr>
          <p:cNvPr id="52" name="矩形 51"/>
          <p:cNvSpPr/>
          <p:nvPr/>
        </p:nvSpPr>
        <p:spPr>
          <a:xfrm>
            <a:off x="9113837" y="4325051"/>
            <a:ext cx="2939829" cy="30617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105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 vs GTcut2.0</a:t>
            </a:r>
            <a:endParaRPr lang="zh-CN" altLang="en-US" sz="105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aphicFrame>
        <p:nvGraphicFramePr>
          <p:cNvPr id="53" name="图表 52"/>
          <p:cNvGraphicFramePr/>
          <p:nvPr/>
        </p:nvGraphicFramePr>
        <p:xfrm>
          <a:off x="2395105" y="381440"/>
          <a:ext cx="4572000" cy="29453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8" name="图片 37"/>
          <p:cNvPicPr>
            <a:picLocks noChangeAspect="1"/>
          </p:cNvPicPr>
          <p:nvPr/>
        </p:nvPicPr>
        <p:blipFill rotWithShape="1">
          <a:blip r:embed="rId5"/>
          <a:srcRect l="22202" r="22678"/>
          <a:stretch>
            <a:fillRect/>
          </a:stretch>
        </p:blipFill>
        <p:spPr>
          <a:xfrm>
            <a:off x="9335797" y="2306418"/>
            <a:ext cx="1841882" cy="2004971"/>
          </a:xfrm>
          <a:prstGeom prst="rect">
            <a:avLst/>
          </a:prstGeom>
        </p:spPr>
      </p:pic>
      <p:sp>
        <p:nvSpPr>
          <p:cNvPr id="55" name="矩形 54"/>
          <p:cNvSpPr/>
          <p:nvPr/>
        </p:nvSpPr>
        <p:spPr>
          <a:xfrm>
            <a:off x="11208568" y="3057909"/>
            <a:ext cx="144016" cy="144028"/>
          </a:xfrm>
          <a:prstGeom prst="rect">
            <a:avLst/>
          </a:prstGeom>
          <a:solidFill>
            <a:srgbClr val="D7253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1208568" y="3323331"/>
            <a:ext cx="144016" cy="144028"/>
          </a:xfrm>
          <a:prstGeom prst="rect">
            <a:avLst/>
          </a:prstGeom>
          <a:solidFill>
            <a:srgbClr val="CACACA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11340339" y="3011856"/>
            <a:ext cx="673582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endParaRPr lang="zh-CN" altLang="en-US" sz="900" dirty="0"/>
          </a:p>
        </p:txBody>
      </p:sp>
      <p:sp>
        <p:nvSpPr>
          <p:cNvPr id="58" name="矩形 57"/>
          <p:cNvSpPr/>
          <p:nvPr/>
        </p:nvSpPr>
        <p:spPr>
          <a:xfrm>
            <a:off x="11340339" y="3286720"/>
            <a:ext cx="673582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endParaRPr lang="zh-CN" altLang="en-US" sz="900" dirty="0"/>
          </a:p>
        </p:txBody>
      </p:sp>
      <p:pic>
        <p:nvPicPr>
          <p:cNvPr id="60" name="图片 59"/>
          <p:cNvPicPr>
            <a:picLocks noChangeAspect="1"/>
          </p:cNvPicPr>
          <p:nvPr/>
        </p:nvPicPr>
        <p:blipFill rotWithShape="1">
          <a:blip r:embed="rId6"/>
          <a:srcRect l="22030" r="21276"/>
          <a:stretch>
            <a:fillRect/>
          </a:stretch>
        </p:blipFill>
        <p:spPr>
          <a:xfrm>
            <a:off x="9342517" y="4699202"/>
            <a:ext cx="1908343" cy="2019613"/>
          </a:xfrm>
          <a:prstGeom prst="rect">
            <a:avLst/>
          </a:prstGeom>
        </p:spPr>
      </p:pic>
      <p:sp>
        <p:nvSpPr>
          <p:cNvPr id="61" name="矩形 60"/>
          <p:cNvSpPr/>
          <p:nvPr/>
        </p:nvSpPr>
        <p:spPr>
          <a:xfrm>
            <a:off x="11208568" y="5491277"/>
            <a:ext cx="144016" cy="144028"/>
          </a:xfrm>
          <a:prstGeom prst="rect">
            <a:avLst/>
          </a:prstGeom>
          <a:solidFill>
            <a:srgbClr val="D7253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矩形 61"/>
          <p:cNvSpPr/>
          <p:nvPr/>
        </p:nvSpPr>
        <p:spPr>
          <a:xfrm>
            <a:off x="11208568" y="5756699"/>
            <a:ext cx="144016" cy="144028"/>
          </a:xfrm>
          <a:prstGeom prst="rect">
            <a:avLst/>
          </a:prstGeom>
          <a:solidFill>
            <a:srgbClr val="C3E0FF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340339" y="5445224"/>
            <a:ext cx="673582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锋刺</a:t>
            </a:r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endParaRPr lang="zh-CN" altLang="en-US" sz="900" dirty="0"/>
          </a:p>
        </p:txBody>
      </p:sp>
      <p:sp>
        <p:nvSpPr>
          <p:cNvPr id="64" name="矩形 63"/>
          <p:cNvSpPr/>
          <p:nvPr/>
        </p:nvSpPr>
        <p:spPr>
          <a:xfrm>
            <a:off x="11340339" y="5720088"/>
            <a:ext cx="646331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Gtcut</a:t>
            </a:r>
            <a:r>
              <a:rPr lang="en-US" altLang="zh-CN" sz="900" dirty="0">
                <a:ea typeface="微软雅黑" pitchFamily="34" charset="-122"/>
              </a:rPr>
              <a:t>2.0</a:t>
            </a:r>
            <a:endParaRPr lang="en-US" altLang="zh-CN" sz="9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10130915" y="2204864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重量</a:t>
            </a:r>
            <a:endParaRPr lang="zh-CN" altLang="en-US" sz="1000" dirty="0"/>
          </a:p>
        </p:txBody>
      </p:sp>
      <p:sp>
        <p:nvSpPr>
          <p:cNvPr id="66" name="矩形 65"/>
          <p:cNvSpPr/>
          <p:nvPr/>
        </p:nvSpPr>
        <p:spPr>
          <a:xfrm>
            <a:off x="10946920" y="270058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缓震</a:t>
            </a:r>
            <a:endParaRPr lang="zh-CN" altLang="en-US" sz="1000" dirty="0"/>
          </a:p>
        </p:txBody>
      </p:sp>
      <p:sp>
        <p:nvSpPr>
          <p:cNvPr id="67" name="矩形 66"/>
          <p:cNvSpPr/>
          <p:nvPr/>
        </p:nvSpPr>
        <p:spPr>
          <a:xfrm>
            <a:off x="10076115" y="402161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包裹</a:t>
            </a:r>
            <a:endParaRPr lang="zh-CN" altLang="en-US" sz="1000" dirty="0"/>
          </a:p>
        </p:txBody>
      </p:sp>
      <p:sp>
        <p:nvSpPr>
          <p:cNvPr id="68" name="矩形 67"/>
          <p:cNvSpPr/>
          <p:nvPr/>
        </p:nvSpPr>
        <p:spPr>
          <a:xfrm>
            <a:off x="9170412" y="274588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刚性</a:t>
            </a:r>
            <a:endParaRPr lang="zh-CN" altLang="en-US" sz="1000" dirty="0"/>
          </a:p>
        </p:txBody>
      </p:sp>
      <p:sp>
        <p:nvSpPr>
          <p:cNvPr id="69" name="矩形 68"/>
          <p:cNvSpPr/>
          <p:nvPr/>
        </p:nvSpPr>
        <p:spPr>
          <a:xfrm>
            <a:off x="9183674" y="3642265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止滑</a:t>
            </a:r>
            <a:endParaRPr lang="zh-CN" altLang="en-US" sz="1000" dirty="0"/>
          </a:p>
        </p:txBody>
      </p:sp>
      <p:sp>
        <p:nvSpPr>
          <p:cNvPr id="70" name="矩形 69"/>
          <p:cNvSpPr/>
          <p:nvPr/>
        </p:nvSpPr>
        <p:spPr>
          <a:xfrm>
            <a:off x="10946920" y="3642380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回弹</a:t>
            </a:r>
            <a:endParaRPr lang="zh-CN" altLang="en-US" sz="1000" dirty="0"/>
          </a:p>
        </p:txBody>
      </p:sp>
      <p:sp>
        <p:nvSpPr>
          <p:cNvPr id="71" name="矩形 70"/>
          <p:cNvSpPr/>
          <p:nvPr/>
        </p:nvSpPr>
        <p:spPr>
          <a:xfrm>
            <a:off x="10145117" y="465313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重量</a:t>
            </a:r>
            <a:endParaRPr lang="zh-CN" altLang="en-US" sz="1000" dirty="0"/>
          </a:p>
        </p:txBody>
      </p:sp>
      <p:sp>
        <p:nvSpPr>
          <p:cNvPr id="72" name="矩形 71"/>
          <p:cNvSpPr/>
          <p:nvPr/>
        </p:nvSpPr>
        <p:spPr>
          <a:xfrm>
            <a:off x="10932287" y="5129037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缓震</a:t>
            </a:r>
            <a:endParaRPr lang="zh-CN" altLang="en-US" sz="1000" dirty="0"/>
          </a:p>
        </p:txBody>
      </p:sp>
      <p:sp>
        <p:nvSpPr>
          <p:cNvPr id="73" name="矩形 72"/>
          <p:cNvSpPr/>
          <p:nvPr/>
        </p:nvSpPr>
        <p:spPr>
          <a:xfrm>
            <a:off x="10076115" y="6472594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包裹</a:t>
            </a:r>
            <a:endParaRPr lang="zh-CN" altLang="en-US" sz="1000" dirty="0"/>
          </a:p>
        </p:txBody>
      </p:sp>
      <p:sp>
        <p:nvSpPr>
          <p:cNvPr id="74" name="矩形 73"/>
          <p:cNvSpPr/>
          <p:nvPr/>
        </p:nvSpPr>
        <p:spPr>
          <a:xfrm>
            <a:off x="9200039" y="5129037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刚性</a:t>
            </a:r>
            <a:endParaRPr lang="zh-CN" altLang="en-US" sz="1000" dirty="0"/>
          </a:p>
        </p:txBody>
      </p:sp>
      <p:sp>
        <p:nvSpPr>
          <p:cNvPr id="75" name="矩形 74"/>
          <p:cNvSpPr/>
          <p:nvPr/>
        </p:nvSpPr>
        <p:spPr>
          <a:xfrm>
            <a:off x="9177953" y="602541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止滑</a:t>
            </a:r>
            <a:endParaRPr lang="zh-CN" altLang="en-US" sz="1000" dirty="0"/>
          </a:p>
        </p:txBody>
      </p:sp>
      <p:sp>
        <p:nvSpPr>
          <p:cNvPr id="76" name="矩形 75"/>
          <p:cNvSpPr/>
          <p:nvPr/>
        </p:nvSpPr>
        <p:spPr>
          <a:xfrm>
            <a:off x="10947212" y="6025416"/>
            <a:ext cx="44114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回弹</a:t>
            </a:r>
            <a:endParaRPr lang="zh-CN" altLang="en-US" sz="1000" dirty="0"/>
          </a:p>
        </p:txBody>
      </p:sp>
      <p:sp>
        <p:nvSpPr>
          <p:cNvPr id="21" name="矩形 20"/>
          <p:cNvSpPr/>
          <p:nvPr/>
        </p:nvSpPr>
        <p:spPr>
          <a:xfrm>
            <a:off x="10059879" y="381440"/>
            <a:ext cx="38023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+</a:t>
            </a:r>
            <a:endParaRPr lang="zh-CN" altLang="en-US" sz="2000" dirty="0"/>
          </a:p>
        </p:txBody>
      </p:sp>
      <p:sp>
        <p:nvSpPr>
          <p:cNvPr id="90" name="矩形 89"/>
          <p:cNvSpPr/>
          <p:nvPr/>
        </p:nvSpPr>
        <p:spPr>
          <a:xfrm>
            <a:off x="7336015" y="340788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7336015" y="1132876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8128103" y="340788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8128103" y="1132876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" name="直接连接符 93"/>
          <p:cNvCxnSpPr/>
          <p:nvPr/>
        </p:nvCxnSpPr>
        <p:spPr>
          <a:xfrm flipH="1">
            <a:off x="7336015" y="1132876"/>
            <a:ext cx="792088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矩形 94"/>
          <p:cNvSpPr/>
          <p:nvPr/>
        </p:nvSpPr>
        <p:spPr>
          <a:xfrm>
            <a:off x="7482686" y="444445"/>
            <a:ext cx="49404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A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96" name="矩形 95"/>
          <p:cNvSpPr/>
          <p:nvPr/>
        </p:nvSpPr>
        <p:spPr>
          <a:xfrm>
            <a:off x="7482686" y="1236533"/>
            <a:ext cx="46519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97" name="矩形 96"/>
          <p:cNvSpPr/>
          <p:nvPr/>
        </p:nvSpPr>
        <p:spPr>
          <a:xfrm>
            <a:off x="7786616" y="1128810"/>
            <a:ext cx="360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+</a:t>
            </a:r>
            <a:endParaRPr lang="zh-CN" altLang="en-US" dirty="0"/>
          </a:p>
        </p:txBody>
      </p:sp>
      <p:sp>
        <p:nvSpPr>
          <p:cNvPr id="98" name="矩形 97"/>
          <p:cNvSpPr/>
          <p:nvPr/>
        </p:nvSpPr>
        <p:spPr>
          <a:xfrm>
            <a:off x="7786616" y="332656"/>
            <a:ext cx="2968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endParaRPr lang="zh-CN" altLang="en-US" sz="2000" dirty="0"/>
          </a:p>
        </p:txBody>
      </p:sp>
      <p:sp>
        <p:nvSpPr>
          <p:cNvPr id="99" name="矩形 98"/>
          <p:cNvSpPr/>
          <p:nvPr/>
        </p:nvSpPr>
        <p:spPr>
          <a:xfrm>
            <a:off x="8164107" y="332656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后卫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0" name="矩形 99"/>
          <p:cNvSpPr/>
          <p:nvPr/>
        </p:nvSpPr>
        <p:spPr>
          <a:xfrm>
            <a:off x="8164107" y="1094202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小前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1" name="矩形 100"/>
          <p:cNvSpPr/>
          <p:nvPr/>
        </p:nvSpPr>
        <p:spPr>
          <a:xfrm>
            <a:off x="7334576" y="1929030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矩形 101"/>
          <p:cNvSpPr/>
          <p:nvPr/>
        </p:nvSpPr>
        <p:spPr>
          <a:xfrm>
            <a:off x="8126664" y="1929030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" name="直接连接符 102"/>
          <p:cNvCxnSpPr/>
          <p:nvPr/>
        </p:nvCxnSpPr>
        <p:spPr>
          <a:xfrm flipH="1">
            <a:off x="7334576" y="1929030"/>
            <a:ext cx="792088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矩形 103"/>
          <p:cNvSpPr/>
          <p:nvPr/>
        </p:nvSpPr>
        <p:spPr>
          <a:xfrm>
            <a:off x="7481247" y="2032687"/>
            <a:ext cx="46519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8162668" y="1903074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突破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7334576" y="2721117"/>
            <a:ext cx="792088" cy="79208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矩形 107"/>
          <p:cNvSpPr/>
          <p:nvPr/>
        </p:nvSpPr>
        <p:spPr>
          <a:xfrm>
            <a:off x="8126664" y="2721117"/>
            <a:ext cx="432048" cy="79208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直接连接符 108"/>
          <p:cNvCxnSpPr/>
          <p:nvPr/>
        </p:nvCxnSpPr>
        <p:spPr>
          <a:xfrm flipH="1">
            <a:off x="7334576" y="2721117"/>
            <a:ext cx="792088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矩形 109"/>
          <p:cNvSpPr/>
          <p:nvPr/>
        </p:nvSpPr>
        <p:spPr>
          <a:xfrm>
            <a:off x="7481247" y="2824774"/>
            <a:ext cx="48122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</a:rPr>
              <a:t>A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7785177" y="2717051"/>
            <a:ext cx="360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+</a:t>
            </a:r>
            <a:endParaRPr lang="zh-CN" altLang="en-US" dirty="0"/>
          </a:p>
        </p:txBody>
      </p:sp>
      <p:sp>
        <p:nvSpPr>
          <p:cNvPr id="112" name="矩形 111"/>
          <p:cNvSpPr/>
          <p:nvPr/>
        </p:nvSpPr>
        <p:spPr>
          <a:xfrm>
            <a:off x="8162668" y="2682443"/>
            <a:ext cx="360040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外线</a:t>
            </a:r>
            <a:endParaRPr lang="en-US" altLang="zh-CN" sz="1600" b="1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7786616" y="1925783"/>
            <a:ext cx="2968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-</a:t>
            </a:r>
            <a:endParaRPr lang="zh-CN" altLang="en-US" sz="2000" dirty="0"/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1_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2061</Words>
  <Application>Microsoft Office PowerPoint</Application>
  <PresentationFormat>Widescreen</PresentationFormat>
  <Paragraphs>309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等线</vt:lpstr>
      <vt:lpstr>楷体</vt:lpstr>
      <vt:lpstr>微软雅黑</vt:lpstr>
      <vt:lpstr>Arial</vt:lpstr>
      <vt:lpstr>Wingdings</vt:lpstr>
      <vt:lpstr>1_包图主题2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K_OCEAN</dc:creator>
  <cp:lastModifiedBy>Mike Chen</cp:lastModifiedBy>
  <cp:revision>1070</cp:revision>
  <dcterms:created xsi:type="dcterms:W3CDTF">2019-03-25T05:53:00Z</dcterms:created>
  <dcterms:modified xsi:type="dcterms:W3CDTF">2026-02-18T07:43:21Z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2052-10.1.0.5740</vt:lpwstr>
  </property>
</Properties>
</file>