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9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48"/>
    <a:srgbClr val="1E7C4A"/>
    <a:srgbClr val="CFCFCF"/>
    <a:srgbClr val="F3F3F3"/>
    <a:srgbClr val="B01A2B"/>
    <a:srgbClr val="5B9BD5"/>
    <a:srgbClr val="8FC31E"/>
    <a:srgbClr val="84B028"/>
    <a:srgbClr val="737373"/>
    <a:srgbClr val="5E5D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5338" autoAdjust="0"/>
  </p:normalViewPr>
  <p:slideViewPr>
    <p:cSldViewPr snapToGrid="0">
      <p:cViewPr varScale="1">
        <p:scale>
          <a:sx n="109" d="100"/>
          <a:sy n="109" d="100"/>
        </p:scale>
        <p:origin x="51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D:\Documents%20and%20Settings\xy29\Desktop\SUPER%20GRASS\&#36229;&#32423;&#33609;&#26681;&#35797;&#31359;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bar"/>
        <c:grouping val="clustered"/>
        <c:varyColors val="0"/>
        <c:ser>
          <c:idx val="0"/>
          <c:order val="0"/>
          <c:spPr>
            <a:solidFill>
              <a:srgbClr val="C00000"/>
            </a:solidFill>
            <a:ln>
              <a:noFill/>
            </a:ln>
            <a:effectLst/>
            <a:sp3d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5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篮球鞋试穿反馈!$C$13:$C$19</c:f>
              <c:strCache>
                <c:ptCount val="7"/>
                <c:pt idx="0">
                  <c:v>抓地性（Traction）</c:v>
                </c:pt>
                <c:pt idx="1">
                  <c:v>缓震性（Cushioning）</c:v>
                </c:pt>
                <c:pt idx="2">
                  <c:v>包裹性（Lockdwon）</c:v>
                </c:pt>
                <c:pt idx="3">
                  <c:v>抗扭转性（Torsional Support ）</c:v>
                </c:pt>
                <c:pt idx="4">
                  <c:v>重量&amp;透气性（Weight&amp;Ventilation）</c:v>
                </c:pt>
                <c:pt idx="5">
                  <c:v>防侧翻性（Lateral Stability）</c:v>
                </c:pt>
                <c:pt idx="6">
                  <c:v>耐久性（Durability）</c:v>
                </c:pt>
              </c:strCache>
            </c:strRef>
          </c:cat>
          <c:val>
            <c:numRef>
              <c:f>篮球鞋试穿反馈!$D$13:$D$19</c:f>
              <c:numCache>
                <c:formatCode>0.00_ </c:formatCode>
                <c:ptCount val="7"/>
                <c:pt idx="0">
                  <c:v>8.3333333333333339</c:v>
                </c:pt>
                <c:pt idx="1">
                  <c:v>8.6666666666666661</c:v>
                </c:pt>
                <c:pt idx="2">
                  <c:v>8.3333333333333339</c:v>
                </c:pt>
                <c:pt idx="3">
                  <c:v>8.3333333333333339</c:v>
                </c:pt>
                <c:pt idx="4">
                  <c:v>8.3333333333333339</c:v>
                </c:pt>
                <c:pt idx="5">
                  <c:v>8</c:v>
                </c:pt>
                <c:pt idx="6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DD1-4921-A61F-9A8A229C95F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584554832"/>
        <c:axId val="584549424"/>
        <c:axId val="0"/>
      </c:bar3DChart>
      <c:catAx>
        <c:axId val="58455483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584549424"/>
        <c:crosses val="autoZero"/>
        <c:auto val="1"/>
        <c:lblAlgn val="ctr"/>
        <c:lblOffset val="100"/>
        <c:noMultiLvlLbl val="0"/>
      </c:catAx>
      <c:valAx>
        <c:axId val="584549424"/>
        <c:scaling>
          <c:orientation val="minMax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_ 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58455483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2E6856-B405-4FBA-87E6-EBB2FA2EFF5F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77E194-F591-4967-BDE8-9E9553068F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38702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6DD5D1F-DEBC-41A9-9911-67013E7C8039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7F2169E-9655-4F3C-B0DA-FDEE3E0CE554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1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860945" y="58695"/>
            <a:ext cx="1228725" cy="99060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9643" y="0"/>
            <a:ext cx="862357" cy="916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2196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60945" y="58695"/>
            <a:ext cx="1228725" cy="9906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 userDrawn="1"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9643" y="0"/>
            <a:ext cx="862357" cy="916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708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  <a:alpha val="91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" name="直接连接符 13"/>
          <p:cNvCxnSpPr/>
          <p:nvPr userDrawn="1"/>
        </p:nvCxnSpPr>
        <p:spPr>
          <a:xfrm>
            <a:off x="3226776" y="1960685"/>
            <a:ext cx="5205046" cy="0"/>
          </a:xfrm>
          <a:prstGeom prst="line">
            <a:avLst/>
          </a:prstGeom>
          <a:ln w="76200">
            <a:solidFill>
              <a:srgbClr val="AC1E1E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/>
          <p:cNvCxnSpPr/>
          <p:nvPr userDrawn="1"/>
        </p:nvCxnSpPr>
        <p:spPr>
          <a:xfrm>
            <a:off x="3226776" y="4088424"/>
            <a:ext cx="5205046" cy="0"/>
          </a:xfrm>
          <a:prstGeom prst="line">
            <a:avLst/>
          </a:prstGeom>
          <a:ln w="76200">
            <a:solidFill>
              <a:srgbClr val="AC1E1E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6" name="图片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8143" y="85359"/>
            <a:ext cx="862357" cy="916965"/>
          </a:xfrm>
          <a:prstGeom prst="rect">
            <a:avLst/>
          </a:prstGeom>
        </p:spPr>
      </p:pic>
      <p:cxnSp>
        <p:nvCxnSpPr>
          <p:cNvPr id="17" name="直接连接符 16"/>
          <p:cNvCxnSpPr/>
          <p:nvPr userDrawn="1"/>
        </p:nvCxnSpPr>
        <p:spPr>
          <a:xfrm>
            <a:off x="2927837" y="3077308"/>
            <a:ext cx="597878" cy="0"/>
          </a:xfrm>
          <a:prstGeom prst="line">
            <a:avLst/>
          </a:prstGeom>
          <a:ln w="76200">
            <a:solidFill>
              <a:srgbClr val="AC1E1E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 userDrawn="1"/>
        </p:nvCxnSpPr>
        <p:spPr>
          <a:xfrm>
            <a:off x="8132883" y="3077308"/>
            <a:ext cx="597878" cy="0"/>
          </a:xfrm>
          <a:prstGeom prst="line">
            <a:avLst/>
          </a:prstGeom>
          <a:ln w="76200">
            <a:solidFill>
              <a:srgbClr val="AC1E1E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9" name="图片 18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860945" y="58695"/>
            <a:ext cx="1228725" cy="990600"/>
          </a:xfrm>
          <a:prstGeom prst="rect">
            <a:avLst/>
          </a:prstGeom>
        </p:spPr>
      </p:pic>
      <p:pic>
        <p:nvPicPr>
          <p:cNvPr id="20" name="图片 19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9643" y="0"/>
            <a:ext cx="862357" cy="916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239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860945" y="58695"/>
            <a:ext cx="1228725" cy="99060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9643" y="0"/>
            <a:ext cx="862357" cy="916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2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1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860945" y="58695"/>
            <a:ext cx="1228725" cy="99060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9643" y="0"/>
            <a:ext cx="862357" cy="916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2179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6DD5D1F-DEBC-41A9-9911-67013E7C8039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7F2169E-9655-4F3C-B0DA-FDEE3E0CE554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1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860945" y="58695"/>
            <a:ext cx="1228725" cy="99060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9643" y="0"/>
            <a:ext cx="862357" cy="916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272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6DD5D1F-DEBC-41A9-9911-67013E7C8039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7F2169E-9655-4F3C-B0DA-FDEE3E0CE554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1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860945" y="58695"/>
            <a:ext cx="1228725" cy="9906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9643" y="0"/>
            <a:ext cx="862357" cy="916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5576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9643" y="0"/>
            <a:ext cx="862357" cy="916965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1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5675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6DD5D1F-DEBC-41A9-9911-67013E7C8039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7F2169E-9655-4F3C-B0DA-FDEE3E0CE554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60945" y="58695"/>
            <a:ext cx="1228725" cy="99060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9643" y="0"/>
            <a:ext cx="862357" cy="916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2644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6DD5D1F-DEBC-41A9-9911-67013E7C8039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7F2169E-9655-4F3C-B0DA-FDEE3E0CE554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60945" y="58695"/>
            <a:ext cx="1228725" cy="99060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9643" y="0"/>
            <a:ext cx="862357" cy="916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3568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microsoft.com/office/2007/relationships/hdphoto" Target="../media/hdphoto1.wdp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0" y="0"/>
            <a:ext cx="12192000" cy="6858001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0860945" y="58695"/>
            <a:ext cx="1228725" cy="99060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 userDrawn="1"/>
        </p:nvPicPr>
        <p:blipFill>
          <a:blip r:embed="rId14" cstate="print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rightnessContrast bright="-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9643" y="0"/>
            <a:ext cx="862357" cy="916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3069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7" r:id="rId8"/>
    <p:sldLayoutId id="2147483658" r:id="rId9"/>
    <p:sldLayoutId id="2147483659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图片 20"/>
          <p:cNvPicPr>
            <a:picLocks noChangeAspect="1"/>
          </p:cNvPicPr>
          <p:nvPr/>
        </p:nvPicPr>
        <p:blipFill rotWithShape="1">
          <a:blip r:embed="rId2"/>
          <a:srcRect l="24062" r="24020"/>
          <a:stretch/>
        </p:blipFill>
        <p:spPr>
          <a:xfrm>
            <a:off x="9543536" y="2850959"/>
            <a:ext cx="1341854" cy="1547275"/>
          </a:xfrm>
          <a:prstGeom prst="rect">
            <a:avLst/>
          </a:prstGeom>
        </p:spPr>
      </p:pic>
      <p:cxnSp>
        <p:nvCxnSpPr>
          <p:cNvPr id="2" name="直接连接符 1"/>
          <p:cNvCxnSpPr/>
          <p:nvPr/>
        </p:nvCxnSpPr>
        <p:spPr>
          <a:xfrm>
            <a:off x="263352" y="2337973"/>
            <a:ext cx="0" cy="4365023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263352" y="6697621"/>
            <a:ext cx="1173730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>
            <a:off x="11986765" y="2420888"/>
            <a:ext cx="0" cy="428210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矩形 4"/>
          <p:cNvSpPr/>
          <p:nvPr/>
        </p:nvSpPr>
        <p:spPr>
          <a:xfrm>
            <a:off x="9314885" y="314655"/>
            <a:ext cx="1843150" cy="147616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6" name="直接连接符 5"/>
          <p:cNvCxnSpPr/>
          <p:nvPr/>
        </p:nvCxnSpPr>
        <p:spPr>
          <a:xfrm>
            <a:off x="9192344" y="188640"/>
            <a:ext cx="0" cy="6508981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>
            <a:off x="263352" y="188640"/>
            <a:ext cx="1101722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/>
        </p:nvCxnSpPr>
        <p:spPr>
          <a:xfrm>
            <a:off x="263352" y="185339"/>
            <a:ext cx="0" cy="579365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>
          <a:xfrm flipV="1">
            <a:off x="9192344" y="2415514"/>
            <a:ext cx="2789094" cy="5374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/>
        </p:nvCxnSpPr>
        <p:spPr>
          <a:xfrm>
            <a:off x="11280576" y="188640"/>
            <a:ext cx="0" cy="223224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9192344" y="1916832"/>
            <a:ext cx="2088232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矩形 11"/>
          <p:cNvSpPr/>
          <p:nvPr/>
        </p:nvSpPr>
        <p:spPr>
          <a:xfrm>
            <a:off x="9230509" y="1893819"/>
            <a:ext cx="1974467" cy="45845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b="1" dirty="0" smtClean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8.29/10</a:t>
            </a:r>
            <a:endParaRPr lang="zh-CN" altLang="en-US" b="1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9930614" y="185339"/>
            <a:ext cx="552069" cy="155670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7200" b="1" dirty="0" smtClean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A</a:t>
            </a:r>
            <a:endParaRPr lang="zh-CN" altLang="en-US" sz="7200" b="1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0449581" y="375019"/>
            <a:ext cx="288032" cy="45845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b="1" dirty="0" smtClean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-</a:t>
            </a:r>
            <a:endParaRPr lang="zh-CN" altLang="en-US" b="1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cxnSp>
        <p:nvCxnSpPr>
          <p:cNvPr id="16" name="直接连接符 15"/>
          <p:cNvCxnSpPr/>
          <p:nvPr/>
        </p:nvCxnSpPr>
        <p:spPr>
          <a:xfrm>
            <a:off x="263352" y="3227063"/>
            <a:ext cx="8928992" cy="0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矩形 17"/>
          <p:cNvSpPr/>
          <p:nvPr/>
        </p:nvSpPr>
        <p:spPr>
          <a:xfrm>
            <a:off x="311218" y="2337973"/>
            <a:ext cx="2704623" cy="854080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1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试穿人数：</a:t>
            </a:r>
            <a:r>
              <a:rPr lang="en-US" altLang="zh-CN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1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人</a:t>
            </a:r>
            <a:endParaRPr lang="en-US" altLang="zh-CN" sz="11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1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测试者平均体重：</a:t>
            </a:r>
            <a:r>
              <a:rPr lang="en-US" altLang="zh-CN" sz="11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84.3KG</a:t>
            </a:r>
            <a:endParaRPr lang="en-US" altLang="zh-CN" sz="9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1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测试者球场定位：锋、卫</a:t>
            </a:r>
            <a:endParaRPr lang="zh-CN" alt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9196387" y="2415514"/>
            <a:ext cx="2785051" cy="32661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33" name="直接连接符 32"/>
          <p:cNvCxnSpPr/>
          <p:nvPr/>
        </p:nvCxnSpPr>
        <p:spPr>
          <a:xfrm>
            <a:off x="5692599" y="3284417"/>
            <a:ext cx="0" cy="3447692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0" name="图片 39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028" b="24973"/>
          <a:stretch/>
        </p:blipFill>
        <p:spPr>
          <a:xfrm>
            <a:off x="278790" y="987483"/>
            <a:ext cx="2614510" cy="1127711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41" name="矩形 40"/>
          <p:cNvSpPr/>
          <p:nvPr/>
        </p:nvSpPr>
        <p:spPr>
          <a:xfrm>
            <a:off x="263352" y="192792"/>
            <a:ext cx="2752489" cy="571912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88387" y="241588"/>
            <a:ext cx="3200492" cy="4616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457200" hangingPunct="0"/>
            <a:r>
              <a:rPr lang="zh-CN" altLang="en-US" sz="24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‘</a:t>
            </a:r>
            <a:r>
              <a:rPr lang="en-US" altLang="zh-CN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SUPER </a:t>
            </a:r>
            <a:r>
              <a:rPr lang="en-US" altLang="zh-CN" sz="24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GRASS</a:t>
            </a:r>
            <a:r>
              <a:rPr lang="zh-CN" altLang="en-US" sz="24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’</a:t>
            </a:r>
            <a:endParaRPr kumimoji="0" lang="zh-CN" altLang="en-US" sz="4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FillTx/>
              <a:latin typeface="楷体" panose="02010609060101010101" pitchFamily="49" charset="-122"/>
              <a:ea typeface="楷体" panose="02010609060101010101" pitchFamily="49" charset="-122"/>
              <a:sym typeface="Arial"/>
            </a:endParaRPr>
          </a:p>
        </p:txBody>
      </p:sp>
      <p:cxnSp>
        <p:nvCxnSpPr>
          <p:cNvPr id="42" name="直接连接符 41"/>
          <p:cNvCxnSpPr/>
          <p:nvPr/>
        </p:nvCxnSpPr>
        <p:spPr>
          <a:xfrm>
            <a:off x="3015841" y="185339"/>
            <a:ext cx="0" cy="1812349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45" name="图表 4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78442487"/>
              </p:ext>
            </p:extLst>
          </p:nvPr>
        </p:nvGraphicFramePr>
        <p:xfrm>
          <a:off x="3041568" y="314654"/>
          <a:ext cx="4296878" cy="28509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63" name="图片 6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5855" y="253509"/>
            <a:ext cx="724960" cy="1161583"/>
          </a:xfrm>
          <a:prstGeom prst="rect">
            <a:avLst/>
          </a:prstGeom>
        </p:spPr>
      </p:pic>
      <p:sp>
        <p:nvSpPr>
          <p:cNvPr id="69" name="矩形 68"/>
          <p:cNvSpPr/>
          <p:nvPr/>
        </p:nvSpPr>
        <p:spPr>
          <a:xfrm>
            <a:off x="256585" y="3310258"/>
            <a:ext cx="5294413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包裹性</a:t>
            </a:r>
            <a:r>
              <a:rPr lang="en-US" altLang="zh-CN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前掌内</a:t>
            </a:r>
            <a:r>
              <a:rPr lang="en-US" altLang="zh-CN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外侧弯折处均出现卡脚情况（</a:t>
            </a:r>
            <a:r>
              <a:rPr lang="en-US" altLang="zh-CN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3/3</a:t>
            </a: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鞋带孔生涩，在绑缚过程中较难对鞋带进行高效的收紧与放松（</a:t>
            </a:r>
            <a:r>
              <a:rPr lang="en-US" altLang="zh-CN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3/3</a:t>
            </a: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在进行内收步、剪刀步时，前掌外侧橡胶出现明显的挤压第五跖趾关节现象（</a:t>
            </a:r>
            <a:r>
              <a:rPr lang="en-US" altLang="zh-CN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1/3</a:t>
            </a: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稳定性</a:t>
            </a:r>
            <a:r>
              <a:rPr lang="en-US" altLang="zh-CN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在进行一些特定的动作时（行进间急停摆脱防守），出现轻微足外翻，具体位置在相比较前掌而言，后跟内侧支撑略低，但尚能接受（</a:t>
            </a:r>
            <a:r>
              <a:rPr lang="en-US" altLang="zh-CN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1/3</a:t>
            </a: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止滑性</a:t>
            </a:r>
            <a:r>
              <a:rPr lang="en-US" altLang="zh-CN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鞋底容易吸灰，导致打滑（</a:t>
            </a:r>
            <a:r>
              <a:rPr lang="en-US" altLang="zh-CN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3/3</a:t>
            </a: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鞋底在与地面摩擦时无“吱吱吱</a:t>
            </a:r>
            <a:r>
              <a:rPr lang="en-US" altLang="zh-CN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~</a:t>
            </a: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”声响，对篮球爱好者来说安全感低。</a:t>
            </a:r>
            <a:endParaRPr lang="en-US" altLang="zh-CN" sz="1200" b="1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5" name="图片 7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870" y="3115693"/>
            <a:ext cx="379660" cy="404154"/>
          </a:xfrm>
          <a:prstGeom prst="rect">
            <a:avLst/>
          </a:prstGeom>
        </p:spPr>
      </p:pic>
      <p:pic>
        <p:nvPicPr>
          <p:cNvPr id="76" name="图片 7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31111" y="3148091"/>
            <a:ext cx="379660" cy="404154"/>
          </a:xfrm>
          <a:prstGeom prst="rect">
            <a:avLst/>
          </a:prstGeom>
        </p:spPr>
      </p:pic>
      <p:sp>
        <p:nvSpPr>
          <p:cNvPr id="78" name="矩形 77"/>
          <p:cNvSpPr/>
          <p:nvPr/>
        </p:nvSpPr>
        <p:spPr>
          <a:xfrm>
            <a:off x="5725020" y="3310258"/>
            <a:ext cx="3484386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止滑性</a:t>
            </a:r>
            <a:r>
              <a:rPr lang="en-US" altLang="zh-CN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在室内干净木地板、室外水泥地上均能牢牢地锁定在地面。但在灰尘较大的木地板或塑胶场地上，需要频繁的擦拭鞋底灰尘。</a:t>
            </a:r>
            <a:endParaRPr lang="en-US" altLang="zh-CN" sz="1200" b="1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场地感</a:t>
            </a:r>
            <a:r>
              <a:rPr lang="en-US" altLang="zh-CN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静态下，前掌填覆材料异物感不明显。在动态下，前掌有明显的马蹄形“气垫”回弹反馈，在无碳板的结构下能给到足够澎湃的触地反馈。</a:t>
            </a:r>
            <a:endParaRPr lang="en-US" altLang="zh-CN" sz="1200" b="1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 b="1" dirty="0" smtClean="0">
                <a:solidFill>
                  <a:srgbClr val="1E7C4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注：三种不同硬度的填覆材料，测试结果为：</a:t>
            </a:r>
            <a:r>
              <a:rPr lang="en-US" altLang="zh-CN" sz="1200" b="1" dirty="0" smtClean="0">
                <a:solidFill>
                  <a:srgbClr val="1E7C4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30C</a:t>
            </a:r>
            <a:r>
              <a:rPr lang="zh-CN" altLang="en-US" sz="1200" b="1" dirty="0" smtClean="0">
                <a:solidFill>
                  <a:srgbClr val="1E7C4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硬度下，所给到的脚感反馈最佳！</a:t>
            </a:r>
            <a:endParaRPr lang="en-US" altLang="zh-CN" sz="1200" b="1" dirty="0" smtClean="0">
              <a:solidFill>
                <a:srgbClr val="1E7C4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11449645" y="3870407"/>
            <a:ext cx="144016" cy="144028"/>
          </a:xfrm>
          <a:prstGeom prst="rect">
            <a:avLst/>
          </a:prstGeom>
          <a:solidFill>
            <a:srgbClr val="1E7C4A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11449645" y="4135829"/>
            <a:ext cx="144016" cy="144028"/>
          </a:xfrm>
          <a:prstGeom prst="rect">
            <a:avLst/>
          </a:prstGeom>
          <a:solidFill>
            <a:srgbClr val="CFCFCF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1559936" y="3837333"/>
            <a:ext cx="37863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30C</a:t>
            </a:r>
            <a:endParaRPr lang="zh-CN" altLang="en-US" sz="8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10006585" y="2738788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重量</a:t>
            </a:r>
            <a:endParaRPr lang="zh-CN" altLang="en-US" sz="1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10828175" y="3147067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缓震</a:t>
            </a:r>
            <a:endParaRPr lang="zh-CN" altLang="en-US" sz="1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10006585" y="4201354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包裹</a:t>
            </a:r>
            <a:endParaRPr lang="zh-CN" altLang="en-US" sz="1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9231515" y="3131460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刚性</a:t>
            </a:r>
            <a:endParaRPr lang="zh-CN" altLang="en-US" sz="1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9239311" y="3865348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止滑</a:t>
            </a:r>
            <a:endParaRPr lang="zh-CN" altLang="en-US" sz="1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10834477" y="3861645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回弹</a:t>
            </a:r>
            <a:endParaRPr lang="zh-CN" altLang="en-US" sz="1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11559936" y="4107866"/>
            <a:ext cx="37863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35C</a:t>
            </a:r>
            <a:endParaRPr lang="zh-CN" altLang="en-US" sz="8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1" name="矩形 70"/>
          <p:cNvSpPr/>
          <p:nvPr/>
        </p:nvSpPr>
        <p:spPr>
          <a:xfrm>
            <a:off x="9196387" y="4553306"/>
            <a:ext cx="2785051" cy="32661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10" name="图片 109"/>
          <p:cNvPicPr>
            <a:picLocks noChangeAspect="1"/>
          </p:cNvPicPr>
          <p:nvPr/>
        </p:nvPicPr>
        <p:blipFill rotWithShape="1">
          <a:blip r:embed="rId2"/>
          <a:srcRect l="24062" r="24020"/>
          <a:stretch/>
        </p:blipFill>
        <p:spPr>
          <a:xfrm>
            <a:off x="9543536" y="5064852"/>
            <a:ext cx="1341854" cy="1547275"/>
          </a:xfrm>
          <a:prstGeom prst="rect">
            <a:avLst/>
          </a:prstGeom>
        </p:spPr>
      </p:pic>
      <p:sp>
        <p:nvSpPr>
          <p:cNvPr id="111" name="矩形 110"/>
          <p:cNvSpPr/>
          <p:nvPr/>
        </p:nvSpPr>
        <p:spPr>
          <a:xfrm>
            <a:off x="11449645" y="6084300"/>
            <a:ext cx="144016" cy="144028"/>
          </a:xfrm>
          <a:prstGeom prst="rect">
            <a:avLst/>
          </a:prstGeom>
          <a:solidFill>
            <a:srgbClr val="1E7C4A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矩形 111"/>
          <p:cNvSpPr/>
          <p:nvPr/>
        </p:nvSpPr>
        <p:spPr>
          <a:xfrm>
            <a:off x="11449645" y="6349722"/>
            <a:ext cx="144016" cy="144028"/>
          </a:xfrm>
          <a:prstGeom prst="rect">
            <a:avLst/>
          </a:prstGeom>
          <a:solidFill>
            <a:srgbClr val="CFCFCF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矩形 112"/>
          <p:cNvSpPr/>
          <p:nvPr/>
        </p:nvSpPr>
        <p:spPr>
          <a:xfrm>
            <a:off x="11559936" y="6051226"/>
            <a:ext cx="37863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30C</a:t>
            </a:r>
            <a:endParaRPr lang="zh-CN" altLang="en-US" sz="8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4" name="矩形 113"/>
          <p:cNvSpPr/>
          <p:nvPr/>
        </p:nvSpPr>
        <p:spPr>
          <a:xfrm>
            <a:off x="10006585" y="4952681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重量</a:t>
            </a:r>
            <a:endParaRPr lang="zh-CN" altLang="en-US" sz="1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5" name="矩形 114"/>
          <p:cNvSpPr/>
          <p:nvPr/>
        </p:nvSpPr>
        <p:spPr>
          <a:xfrm>
            <a:off x="10828175" y="5360960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缓震</a:t>
            </a:r>
            <a:endParaRPr lang="zh-CN" altLang="en-US" sz="1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6" name="矩形 115"/>
          <p:cNvSpPr/>
          <p:nvPr/>
        </p:nvSpPr>
        <p:spPr>
          <a:xfrm>
            <a:off x="10006585" y="6415247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包裹</a:t>
            </a:r>
            <a:endParaRPr lang="zh-CN" altLang="en-US" sz="1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9231515" y="5345353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刚性</a:t>
            </a:r>
            <a:endParaRPr lang="zh-CN" altLang="en-US" sz="1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8" name="矩形 117"/>
          <p:cNvSpPr/>
          <p:nvPr/>
        </p:nvSpPr>
        <p:spPr>
          <a:xfrm>
            <a:off x="9239311" y="6079241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止滑</a:t>
            </a:r>
            <a:endParaRPr lang="zh-CN" altLang="en-US" sz="1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9" name="矩形 118"/>
          <p:cNvSpPr/>
          <p:nvPr/>
        </p:nvSpPr>
        <p:spPr>
          <a:xfrm>
            <a:off x="10834477" y="6075538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回弹</a:t>
            </a:r>
            <a:endParaRPr lang="zh-CN" altLang="en-US" sz="1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0" name="矩形 119"/>
          <p:cNvSpPr/>
          <p:nvPr/>
        </p:nvSpPr>
        <p:spPr>
          <a:xfrm>
            <a:off x="11559936" y="6321759"/>
            <a:ext cx="37863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40C</a:t>
            </a:r>
            <a:endParaRPr lang="zh-CN" altLang="en-US" sz="8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1" name="矩形 120"/>
          <p:cNvSpPr/>
          <p:nvPr/>
        </p:nvSpPr>
        <p:spPr>
          <a:xfrm>
            <a:off x="9178454" y="2410569"/>
            <a:ext cx="2802984" cy="346249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11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30C </a:t>
            </a:r>
            <a:r>
              <a:rPr lang="en-US" altLang="zh-CN" sz="1100" b="1" dirty="0" smtClean="0">
                <a:solidFill>
                  <a:srgbClr val="1E7C4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VS</a:t>
            </a:r>
            <a:r>
              <a:rPr lang="en-US" altLang="zh-CN" sz="11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35C</a:t>
            </a:r>
          </a:p>
        </p:txBody>
      </p:sp>
      <p:sp>
        <p:nvSpPr>
          <p:cNvPr id="122" name="矩形 121"/>
          <p:cNvSpPr/>
          <p:nvPr/>
        </p:nvSpPr>
        <p:spPr>
          <a:xfrm>
            <a:off x="9178454" y="4547688"/>
            <a:ext cx="2802984" cy="346249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11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30C </a:t>
            </a:r>
            <a:r>
              <a:rPr lang="en-US" altLang="zh-CN" sz="1100" b="1" dirty="0" smtClean="0">
                <a:solidFill>
                  <a:srgbClr val="1E7C4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VS</a:t>
            </a:r>
            <a:r>
              <a:rPr lang="en-US" altLang="zh-CN" sz="11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40C</a:t>
            </a:r>
          </a:p>
        </p:txBody>
      </p:sp>
      <p:pic>
        <p:nvPicPr>
          <p:cNvPr id="22" name="图片 2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93092" y="1571695"/>
            <a:ext cx="1731021" cy="1479236"/>
          </a:xfrm>
          <a:prstGeom prst="rect">
            <a:avLst/>
          </a:prstGeom>
        </p:spPr>
      </p:pic>
      <p:sp>
        <p:nvSpPr>
          <p:cNvPr id="15" name="矩形 14"/>
          <p:cNvSpPr/>
          <p:nvPr/>
        </p:nvSpPr>
        <p:spPr>
          <a:xfrm>
            <a:off x="2409648" y="595529"/>
            <a:ext cx="692818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800" b="1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First round</a:t>
            </a:r>
            <a:endParaRPr lang="zh-CN" altLang="en-US" sz="800" b="1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014220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2528</TotalTime>
  <Words>304</Words>
  <Application>Microsoft Office PowerPoint</Application>
  <PresentationFormat>宽屏</PresentationFormat>
  <Paragraphs>40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等线</vt:lpstr>
      <vt:lpstr>等线 Light</vt:lpstr>
      <vt:lpstr>楷体</vt:lpstr>
      <vt:lpstr>微软雅黑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杨祖锐</dc:creator>
  <cp:lastModifiedBy>杨祖锐</cp:lastModifiedBy>
  <cp:revision>184</cp:revision>
  <dcterms:created xsi:type="dcterms:W3CDTF">2024-07-30T01:33:59Z</dcterms:created>
  <dcterms:modified xsi:type="dcterms:W3CDTF">2026-02-09T07:15:40Z</dcterms:modified>
</cp:coreProperties>
</file>