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1252" r:id="rId2"/>
    <p:sldId id="1253" r:id="rId3"/>
    <p:sldId id="1254" r:id="rId4"/>
    <p:sldId id="1255" r:id="rId5"/>
    <p:sldId id="1256" r:id="rId6"/>
    <p:sldId id="1257" r:id="rId7"/>
    <p:sldId id="1258" r:id="rId8"/>
    <p:sldId id="1259" r:id="rId9"/>
    <p:sldId id="1260" r:id="rId10"/>
    <p:sldId id="1261" r:id="rId11"/>
    <p:sldId id="1262" r:id="rId12"/>
    <p:sldId id="1263" r:id="rId13"/>
    <p:sldId id="1264" r:id="rId14"/>
    <p:sldId id="1265" r:id="rId15"/>
    <p:sldId id="1266" r:id="rId16"/>
    <p:sldId id="1267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24">
          <p15:clr>
            <a:srgbClr val="A4A3A4"/>
          </p15:clr>
        </p15:guide>
        <p15:guide id="2" pos="39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540"/>
    <a:srgbClr val="04B555"/>
    <a:srgbClr val="CACACA"/>
    <a:srgbClr val="C3E0FF"/>
    <a:srgbClr val="F5ADAF"/>
    <a:srgbClr val="E16776"/>
    <a:srgbClr val="E9BDDD"/>
    <a:srgbClr val="4BA1FF"/>
    <a:srgbClr val="6393BC"/>
    <a:srgbClr val="263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7" autoAdjust="0"/>
    <p:restoredTop sz="65688" autoAdjust="0"/>
  </p:normalViewPr>
  <p:slideViewPr>
    <p:cSldViewPr>
      <p:cViewPr varScale="1">
        <p:scale>
          <a:sx n="51" d="100"/>
          <a:sy n="51" d="100"/>
        </p:scale>
        <p:origin x="276" y="72"/>
      </p:cViewPr>
      <p:guideLst>
        <p:guide orient="horz" pos="2024"/>
        <p:guide pos="3939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&#12304;trash-bin&#12305;\&#38889;&#26195;+&#38539;&#26199;&#65288;&#26381;&#35013;&#27169;&#26495;&#65289;\&#27169;&#26495;2&#65306;&#38889;&#26195;20260521%20&#26381;&#35013;&#35797;&#31359;&#25253;&#21578;%20%20&#32039;&#36523;&#32972;&#24515;%202025%20&#25968;&#25454;%20v2.2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&#12304;trash-bin&#12305;\&#38889;&#26195;+&#38539;&#26199;&#65288;&#26381;&#35013;&#27169;&#26495;&#65289;\&#27169;&#26495;2&#65306;&#38889;&#26195;20260521%20&#26381;&#35013;&#35797;&#31359;&#25253;&#21578;%20%20&#32039;&#36523;&#32972;&#24515;%202025%20&#25968;&#25454;%20v2.2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&#12304;trash-bin&#12305;\&#38889;&#26195;+&#38539;&#26199;&#65288;&#26381;&#35013;&#27169;&#26495;&#65289;\&#27169;&#26495;2&#65306;&#38889;&#26195;20260521%20&#26381;&#35013;&#35797;&#31359;&#25253;&#21578;%20%20&#32039;&#36523;&#32972;&#24515;%202025%20&#25968;&#25454;%20v2.2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&#12304;trash-bin&#12305;\&#38889;&#26195;+&#38539;&#26199;&#65288;&#26381;&#35013;&#27169;&#26495;&#65289;\&#27169;&#26495;2&#65306;&#38889;&#26195;20260521%20&#26381;&#35013;&#35797;&#31359;&#25253;&#21578;%20%20&#32039;&#36523;&#32972;&#24515;%202025%20&#25968;&#25454;%20v2.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'服装试穿问卷--紧身背心'!$A$33</c:f>
              <c:strCache>
                <c:ptCount val="1"/>
                <c:pt idx="0">
                  <c:v>Tina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'服装试穿问卷--紧身背心'!$B$32:$R$32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'服装试穿问卷--紧身背心'!$B$33:$R$33</c:f>
              <c:numCache>
                <c:formatCode>General</c:formatCode>
                <c:ptCount val="17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1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3</c:v>
                </c:pt>
                <c:pt idx="15">
                  <c:v>4</c:v>
                </c:pt>
                <c:pt idx="1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EC-4FB7-8D6A-C98E69BBF6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77762528"/>
        <c:axId val="1977757728"/>
      </c:barChart>
      <c:catAx>
        <c:axId val="19777625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977757728"/>
        <c:crosses val="autoZero"/>
        <c:auto val="1"/>
        <c:lblAlgn val="ctr"/>
        <c:lblOffset val="100"/>
        <c:noMultiLvlLbl val="0"/>
      </c:catAx>
      <c:valAx>
        <c:axId val="1977757728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977762528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'服装试穿问卷--紧身背心'!$A$38</c:f>
              <c:strCache>
                <c:ptCount val="1"/>
                <c:pt idx="0">
                  <c:v>周琪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'服装试穿问卷--紧身背心'!$B$37:$R$37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'服装试穿问卷--紧身背心'!$B$38:$R$38</c:f>
              <c:numCache>
                <c:formatCode>General</c:formatCode>
                <c:ptCount val="17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3</c:v>
                </c:pt>
                <c:pt idx="12">
                  <c:v>4</c:v>
                </c:pt>
                <c:pt idx="13">
                  <c:v>3</c:v>
                </c:pt>
                <c:pt idx="14">
                  <c:v>4</c:v>
                </c:pt>
                <c:pt idx="15">
                  <c:v>3</c:v>
                </c:pt>
                <c:pt idx="1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F4-4A4B-A926-0846410FA6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77780288"/>
        <c:axId val="1977765888"/>
      </c:barChart>
      <c:catAx>
        <c:axId val="19777802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977765888"/>
        <c:crosses val="autoZero"/>
        <c:auto val="1"/>
        <c:lblAlgn val="ctr"/>
        <c:lblOffset val="100"/>
        <c:noMultiLvlLbl val="0"/>
      </c:catAx>
      <c:valAx>
        <c:axId val="1977765888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977780288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'服装试穿问卷--紧身背心'!$A$43</c:f>
              <c:strCache>
                <c:ptCount val="1"/>
                <c:pt idx="0">
                  <c:v>王雅津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'服装试穿问卷--紧身背心'!$B$42:$R$42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'服装试穿问卷--紧身背心'!$B$43:$R$43</c:f>
              <c:numCache>
                <c:formatCode>General</c:formatCode>
                <c:ptCount val="17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2</c:v>
                </c:pt>
                <c:pt idx="11">
                  <c:v>3</c:v>
                </c:pt>
                <c:pt idx="12">
                  <c:v>2</c:v>
                </c:pt>
                <c:pt idx="13">
                  <c:v>3</c:v>
                </c:pt>
                <c:pt idx="14">
                  <c:v>2</c:v>
                </c:pt>
                <c:pt idx="15">
                  <c:v>3</c:v>
                </c:pt>
                <c:pt idx="1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53-442C-8D5F-DA37CC49C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77774048"/>
        <c:axId val="1977776928"/>
      </c:barChart>
      <c:catAx>
        <c:axId val="19777740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977776928"/>
        <c:crosses val="autoZero"/>
        <c:auto val="1"/>
        <c:lblAlgn val="ctr"/>
        <c:lblOffset val="100"/>
        <c:noMultiLvlLbl val="0"/>
      </c:catAx>
      <c:valAx>
        <c:axId val="1977776928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977774048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'服装试穿问卷--紧身背心'!$A$48</c:f>
              <c:strCache>
                <c:ptCount val="1"/>
                <c:pt idx="0">
                  <c:v>陈玉儿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'服装试穿问卷--紧身背心'!$B$47:$R$47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'服装试穿问卷--紧身背心'!$B$48:$R$48</c:f>
              <c:numCache>
                <c:formatCode>General</c:formatCode>
                <c:ptCount val="17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5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3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B4-4290-BD8B-D14916387D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77769728"/>
        <c:axId val="1977772608"/>
      </c:barChart>
      <c:catAx>
        <c:axId val="19777697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977772608"/>
        <c:crosses val="autoZero"/>
        <c:auto val="1"/>
        <c:lblAlgn val="ctr"/>
        <c:lblOffset val="100"/>
        <c:noMultiLvlLbl val="0"/>
      </c:catAx>
      <c:valAx>
        <c:axId val="1977772608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977769728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'服装试穿问卷--紧身背心'!$A$53</c:f>
              <c:strCache>
                <c:ptCount val="1"/>
                <c:pt idx="0">
                  <c:v>赵国萍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'服装试穿问卷--紧身背心'!$B$52:$R$52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'服装试穿问卷--紧身背心'!$B$53:$R$53</c:f>
              <c:numCache>
                <c:formatCode>General</c:formatCode>
                <c:ptCount val="17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7B-449E-85D9-9C4AF1852B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77759168"/>
        <c:axId val="1977775008"/>
      </c:barChart>
      <c:catAx>
        <c:axId val="19777591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977775008"/>
        <c:crosses val="autoZero"/>
        <c:auto val="1"/>
        <c:lblAlgn val="ctr"/>
        <c:lblOffset val="100"/>
        <c:noMultiLvlLbl val="0"/>
      </c:catAx>
      <c:valAx>
        <c:axId val="1977775008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977759168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'服装试穿问卷--紧身背心'!$A$58</c:f>
              <c:strCache>
                <c:ptCount val="1"/>
                <c:pt idx="0">
                  <c:v>余婠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'服装试穿问卷--紧身背心'!$B$57:$R$57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'服装试穿问卷--紧身背心'!$B$58:$R$58</c:f>
              <c:numCache>
                <c:formatCode>General</c:formatCode>
                <c:ptCount val="17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  <c:pt idx="10">
                  <c:v>3</c:v>
                </c:pt>
                <c:pt idx="11">
                  <c:v>4</c:v>
                </c:pt>
                <c:pt idx="12">
                  <c:v>3</c:v>
                </c:pt>
                <c:pt idx="13">
                  <c:v>4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96-4899-AF4B-8FEB8CBB4C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77753888"/>
        <c:axId val="1977759648"/>
      </c:barChart>
      <c:catAx>
        <c:axId val="19777538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977759648"/>
        <c:crosses val="autoZero"/>
        <c:auto val="1"/>
        <c:lblAlgn val="ctr"/>
        <c:lblOffset val="100"/>
        <c:noMultiLvlLbl val="0"/>
      </c:catAx>
      <c:valAx>
        <c:axId val="1977759648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977753888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'服装试穿问卷--紧身背心'!$A$63</c:f>
              <c:strCache>
                <c:ptCount val="1"/>
                <c:pt idx="0">
                  <c:v>恬恬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'服装试穿问卷--紧身背心'!$B$62:$R$62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'服装试穿问卷--紧身背心'!$B$63:$R$63</c:f>
              <c:numCache>
                <c:formatCode>General</c:formatCode>
                <c:ptCount val="17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7D-4FA5-BDD9-F49583417F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77763008"/>
        <c:axId val="1977777408"/>
      </c:barChart>
      <c:catAx>
        <c:axId val="19777630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977777408"/>
        <c:crosses val="autoZero"/>
        <c:auto val="1"/>
        <c:lblAlgn val="ctr"/>
        <c:lblOffset val="100"/>
        <c:noMultiLvlLbl val="0"/>
      </c:catAx>
      <c:valAx>
        <c:axId val="1977777408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977763008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'服装试穿问卷--紧身背心'!$A$68</c:f>
              <c:strCache>
                <c:ptCount val="1"/>
                <c:pt idx="0">
                  <c:v>Alisa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'服装试穿问卷--紧身背心'!$B$67:$R$67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'服装试穿问卷--紧身背心'!$B$68:$R$68</c:f>
              <c:numCache>
                <c:formatCode>General</c:formatCode>
                <c:ptCount val="17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4</c:v>
                </c:pt>
                <c:pt idx="15">
                  <c:v>4</c:v>
                </c:pt>
                <c:pt idx="1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2C-4137-BE7D-5C5C46B11C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77766848"/>
        <c:axId val="1977768288"/>
      </c:barChart>
      <c:catAx>
        <c:axId val="19777668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977768288"/>
        <c:crosses val="autoZero"/>
        <c:auto val="1"/>
        <c:lblAlgn val="ctr"/>
        <c:lblOffset val="100"/>
        <c:noMultiLvlLbl val="0"/>
      </c:catAx>
      <c:valAx>
        <c:axId val="1977768288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977766848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'服装试穿问卷--紧身背心'!$A$73</c:f>
              <c:strCache>
                <c:ptCount val="1"/>
                <c:pt idx="0">
                  <c:v>周敏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'服装试穿问卷--紧身背心'!$B$72:$R$72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'服装试穿问卷--紧身背心'!$B$73:$R$73</c:f>
              <c:numCache>
                <c:formatCode>General</c:formatCode>
                <c:ptCount val="17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5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A3-43B1-99EA-AB57E50AD3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77756288"/>
        <c:axId val="1977761568"/>
      </c:barChart>
      <c:catAx>
        <c:axId val="19777562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977761568"/>
        <c:crosses val="autoZero"/>
        <c:auto val="1"/>
        <c:lblAlgn val="ctr"/>
        <c:lblOffset val="100"/>
        <c:noMultiLvlLbl val="0"/>
      </c:catAx>
      <c:valAx>
        <c:axId val="1977761568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977756288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Sheet1!$D$4</c:f>
              <c:strCache>
                <c:ptCount val="1"/>
                <c:pt idx="0">
                  <c:v>起点（占位）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Lit>
              <c:ptCount val="2"/>
              <c:pt idx="0">
                <c:v>体感适宜区间</c:v>
              </c:pt>
              <c:pt idx="1">
                <c:v>实际穿着区间</c:v>
              </c:pt>
            </c:strLit>
          </c:cat>
          <c:val>
            <c:numLit>
              <c:formatCode>General</c:formatCode>
              <c:ptCount val="2"/>
              <c:pt idx="0">
                <c:v>5</c:v>
              </c:pt>
              <c:pt idx="1">
                <c:v>15</c:v>
              </c:pt>
            </c:numLit>
          </c:val>
          <c:extLst>
            <c:ext xmlns:c16="http://schemas.microsoft.com/office/drawing/2014/chart" uri="{C3380CC4-5D6E-409C-BE32-E72D297353CC}">
              <c16:uniqueId val="{00000000-3DAA-4673-9EDA-08C3CF00FCFE}"/>
            </c:ext>
          </c:extLst>
        </c:ser>
        <c:ser>
          <c:idx val="1"/>
          <c:order val="1"/>
          <c:tx>
            <c:strRef>
              <c:f>Sheet1!$E$4</c:f>
              <c:strCache>
                <c:ptCount val="1"/>
                <c:pt idx="0">
                  <c:v>温度区间（℃）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Lit>
              <c:ptCount val="2"/>
              <c:pt idx="0">
                <c:v>体感适宜区间</c:v>
              </c:pt>
              <c:pt idx="1">
                <c:v>实际穿着区间</c:v>
              </c:pt>
            </c:strLit>
          </c:cat>
          <c:val>
            <c:numLit>
              <c:formatCode>General</c:formatCode>
              <c:ptCount val="2"/>
              <c:pt idx="0">
                <c:v>20</c:v>
              </c:pt>
              <c:pt idx="1">
                <c:v>17</c:v>
              </c:pt>
            </c:numLit>
          </c:val>
          <c:extLst>
            <c:ext xmlns:c16="http://schemas.microsoft.com/office/drawing/2014/chart" uri="{C3380CC4-5D6E-409C-BE32-E72D297353CC}">
              <c16:uniqueId val="{00000001-3DAA-4673-9EDA-08C3CF00FCFE}"/>
            </c:ext>
          </c:extLst>
        </c:ser>
        <c:ser>
          <c:idx val="2"/>
          <c:order val="2"/>
          <c:tx>
            <c:strRef>
              <c:f>Sheet1!$F$4</c:f>
              <c:strCache>
                <c:ptCount val="1"/>
                <c:pt idx="0">
                  <c:v>终点（占位）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Lit>
              <c:ptCount val="2"/>
              <c:pt idx="0">
                <c:v>体感适宜区间</c:v>
              </c:pt>
              <c:pt idx="1">
                <c:v>实际穿着区间</c:v>
              </c:pt>
            </c:strLit>
          </c:cat>
          <c:val>
            <c:numLit>
              <c:formatCode>General</c:formatCode>
              <c:ptCount val="2"/>
              <c:pt idx="0">
                <c:v>10</c:v>
              </c:pt>
              <c:pt idx="1">
                <c:v>3</c:v>
              </c:pt>
            </c:numLit>
          </c:val>
          <c:extLst>
            <c:ext xmlns:c16="http://schemas.microsoft.com/office/drawing/2014/chart" uri="{C3380CC4-5D6E-409C-BE32-E72D297353CC}">
              <c16:uniqueId val="{00000002-3DAA-4673-9EDA-08C3CF00F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17173839"/>
        <c:axId val="517184879"/>
      </c:barChart>
      <c:catAx>
        <c:axId val="5171738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7184879"/>
        <c:crosses val="autoZero"/>
        <c:auto val="1"/>
        <c:lblAlgn val="ctr"/>
        <c:lblOffset val="100"/>
        <c:noMultiLvlLbl val="0"/>
      </c:catAx>
      <c:valAx>
        <c:axId val="5171848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7173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'服装试穿问卷--紧身背心'!$B$61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'服装试穿问卷--紧身背心'!$A$62:$A$67</c:f>
              <c:strCache>
                <c:ptCount val="6"/>
                <c:pt idx="0">
                  <c:v>整体</c:v>
                </c:pt>
                <c:pt idx="1">
                  <c:v>领口</c:v>
                </c:pt>
                <c:pt idx="2">
                  <c:v>袖口</c:v>
                </c:pt>
                <c:pt idx="3">
                  <c:v>肩部</c:v>
                </c:pt>
                <c:pt idx="4">
                  <c:v>胸围</c:v>
                </c:pt>
                <c:pt idx="5">
                  <c:v>腰围</c:v>
                </c:pt>
              </c:strCache>
            </c:strRef>
          </c:cat>
          <c:val>
            <c:numRef>
              <c:f>'服装试穿问卷--紧身背心'!$B$62:$B$67</c:f>
              <c:numCache>
                <c:formatCode>General</c:formatCode>
                <c:ptCount val="6"/>
                <c:pt idx="0">
                  <c:v>4.1100000000000003</c:v>
                </c:pt>
                <c:pt idx="1">
                  <c:v>4</c:v>
                </c:pt>
                <c:pt idx="2">
                  <c:v>3.89</c:v>
                </c:pt>
                <c:pt idx="3">
                  <c:v>4.1100000000000003</c:v>
                </c:pt>
                <c:pt idx="4">
                  <c:v>3.67</c:v>
                </c:pt>
                <c:pt idx="5">
                  <c:v>4.1100000000000003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E0-4384-B0AF-2C69DC2374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77767808"/>
        <c:axId val="1977761088"/>
      </c:barChart>
      <c:catAx>
        <c:axId val="19777678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977761088"/>
        <c:crosses val="autoZero"/>
        <c:auto val="1"/>
        <c:lblAlgn val="ctr"/>
        <c:lblOffset val="100"/>
        <c:noMultiLvlLbl val="0"/>
      </c:catAx>
      <c:valAx>
        <c:axId val="1977761088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977767808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'服装试穿问卷--紧身背心'!$B$72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'服装试穿问卷--紧身背心'!$A$73:$A$75</c:f>
              <c:strCache>
                <c:ptCount val="3"/>
                <c:pt idx="0">
                  <c:v>手感/亲肤度</c:v>
                </c:pt>
                <c:pt idx="1">
                  <c:v>轻量化</c:v>
                </c:pt>
                <c:pt idx="2">
                  <c:v>透气性</c:v>
                </c:pt>
              </c:strCache>
            </c:strRef>
          </c:cat>
          <c:val>
            <c:numRef>
              <c:f>'服装试穿问卷--紧身背心'!$B$73:$B$75</c:f>
              <c:numCache>
                <c:formatCode>General</c:formatCode>
                <c:ptCount val="3"/>
                <c:pt idx="0">
                  <c:v>4.1100000000000003</c:v>
                </c:pt>
                <c:pt idx="1">
                  <c:v>3.89</c:v>
                </c:pt>
                <c:pt idx="2">
                  <c:v>3.89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74-4B60-A560-F03D9030F2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77807648"/>
        <c:axId val="1977806208"/>
      </c:barChart>
      <c:catAx>
        <c:axId val="19778076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977806208"/>
        <c:crosses val="autoZero"/>
        <c:auto val="1"/>
        <c:lblAlgn val="ctr"/>
        <c:lblOffset val="100"/>
        <c:noMultiLvlLbl val="0"/>
      </c:catAx>
      <c:valAx>
        <c:axId val="1977806208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977807648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'服装试穿问卷--紧身背心'!$B$80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'服装试穿问卷--紧身背心'!$A$81:$A$84</c:f>
              <c:strCache>
                <c:ptCount val="4"/>
                <c:pt idx="0">
                  <c:v>整体</c:v>
                </c:pt>
                <c:pt idx="1">
                  <c:v>腋下</c:v>
                </c:pt>
                <c:pt idx="2">
                  <c:v>后腰</c:v>
                </c:pt>
                <c:pt idx="3">
                  <c:v>前胸</c:v>
                </c:pt>
              </c:strCache>
            </c:strRef>
          </c:cat>
          <c:val>
            <c:numRef>
              <c:f>'服装试穿问卷--紧身背心'!$B$81:$B$84</c:f>
              <c:numCache>
                <c:formatCode>General</c:formatCode>
                <c:ptCount val="4"/>
                <c:pt idx="0">
                  <c:v>3.78</c:v>
                </c:pt>
                <c:pt idx="1">
                  <c:v>3.56</c:v>
                </c:pt>
                <c:pt idx="2">
                  <c:v>3.67</c:v>
                </c:pt>
                <c:pt idx="3">
                  <c:v>3.44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BD-42C2-8059-C6E4DD9E7D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77781728"/>
        <c:axId val="1977797568"/>
      </c:barChart>
      <c:catAx>
        <c:axId val="19777817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977797568"/>
        <c:crosses val="autoZero"/>
        <c:auto val="1"/>
        <c:lblAlgn val="ctr"/>
        <c:lblOffset val="100"/>
        <c:noMultiLvlLbl val="0"/>
      </c:catAx>
      <c:valAx>
        <c:axId val="1977797568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977781728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'服装试穿问卷--紧身背心'!$B$89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'服装试穿问卷--紧身背心'!$A$90:$A$93</c:f>
              <c:strCache>
                <c:ptCount val="4"/>
                <c:pt idx="0">
                  <c:v>整体</c:v>
                </c:pt>
                <c:pt idx="1">
                  <c:v>腋下</c:v>
                </c:pt>
                <c:pt idx="2">
                  <c:v>后腰</c:v>
                </c:pt>
                <c:pt idx="3">
                  <c:v>前胸</c:v>
                </c:pt>
              </c:strCache>
            </c:strRef>
          </c:cat>
          <c:val>
            <c:numRef>
              <c:f>'服装试穿问卷--紧身背心'!$B$90:$B$93</c:f>
              <c:numCache>
                <c:formatCode>General</c:formatCode>
                <c:ptCount val="4"/>
                <c:pt idx="0">
                  <c:v>3.67</c:v>
                </c:pt>
                <c:pt idx="1">
                  <c:v>3.56</c:v>
                </c:pt>
                <c:pt idx="2">
                  <c:v>3.67</c:v>
                </c:pt>
                <c:pt idx="3">
                  <c:v>3.22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85-46E6-B53E-3935C74D2E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77770208"/>
        <c:axId val="1977754368"/>
      </c:barChart>
      <c:catAx>
        <c:axId val="19777702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977754368"/>
        <c:crosses val="autoZero"/>
        <c:auto val="1"/>
        <c:lblAlgn val="ctr"/>
        <c:lblOffset val="100"/>
        <c:noMultiLvlLbl val="0"/>
      </c:catAx>
      <c:valAx>
        <c:axId val="1977754368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977770208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76199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92C97-A3F5-8226-C5E3-9B56F7B78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536302-4243-1774-4E99-C598A9A35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BA7664-1C16-8230-A9AA-96827D0A4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aseline="0" dirty="0"/>
          </a:p>
        </p:txBody>
      </p:sp>
    </p:spTree>
    <p:extLst>
      <p:ext uri="{BB962C8B-B14F-4D97-AF65-F5344CB8AC3E}">
        <p14:creationId xmlns:p14="http://schemas.microsoft.com/office/powerpoint/2010/main" val="1244242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D9452-CD67-7C3B-73D5-38DB25425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71C538-62B7-5561-377E-92190ECDA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FFFB4F-6F69-52BA-0C14-09E587FAC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56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974C2-5FA7-5F5A-0352-738D4A31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12820B-F9EB-039E-9114-541ED50B0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B39379-8334-1D3A-3CDA-8B6A8966E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73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4B0E-10F5-EB1A-8F37-E16D6F909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3FF610-80CC-485E-D377-66A9EC59D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98F9E3-B3FE-9754-9C1E-80FF3D5A0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430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5D2E1-ED5C-2E7B-B6D0-0780FC61E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69A199-1770-3937-83ED-1A5FB279A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15AB9F-148E-F1A6-3590-33A2ED781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0877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94277-9AE2-462F-4DE0-8AE2F7825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3A3C5B-6378-5EEC-8D0B-F210684E0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A435F6-0347-E924-FE4A-468746BE7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7357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1FF4E-63B1-6C4A-8B96-9BFB4315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F990ED-A717-C41D-1784-BA170B136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BABFFE-BA88-502A-C8F0-CAD50BD2E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2811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20776-9993-AD91-708B-A8A220A2C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586D20-1E3A-55EC-0E67-733CFC55A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B3115D-B3E3-8DD0-15A6-C2B0EC214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5547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82432-7CE6-556A-A03E-D69E6446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E1CBB3-3A02-56F5-665E-336D21049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58F82F-8802-7788-BB0E-2C61B720B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4805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55F61-3B78-7B69-5E05-59A9D68A8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053A4E-F9A8-5FA0-7C7B-042B108A1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0FCEBA-0A01-AF8E-2DDF-722F37D5B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6485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EAA88-F5E4-4B35-6963-C6B78830F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8450FA-F89B-3D26-2F52-FDA36CCDD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75D353-43E7-8F01-EEC7-C10E36898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9875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8BC35-3144-1EDE-156C-8E8E54774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317CA1-0AD0-1CCD-3AF3-FF6F5C5B8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D63B9A-23E1-A8FC-9347-24678B16E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54333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8AAB-48D0-D8DA-62D4-A0163E7C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643381-4952-39BE-48AE-2E421E4C7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2C55BF-FDB3-98DF-1D20-C22B686BE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89960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5E025-DAA5-BDCD-053B-ED0C86689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EF7721-50AE-6FEC-504E-620AD8613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39948D-C71A-ECEF-4EAC-B189A6FC7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7167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D0F76-383D-CF34-1FFE-33D4C98C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452159-B57C-6333-C153-1F1BF2959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02F491-C902-F17C-447C-736392FB5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071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11" name="Picture 2" descr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826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" name="Picture 2" descr="Picture 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175" y="18727"/>
            <a:ext cx="12188825" cy="6858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" name="直接连接符 3"/>
          <p:cNvSpPr/>
          <p:nvPr userDrawn="1"/>
        </p:nvSpPr>
        <p:spPr>
          <a:xfrm>
            <a:off x="918823" y="6006024"/>
            <a:ext cx="566497" cy="1"/>
          </a:xfrm>
          <a:prstGeom prst="line">
            <a:avLst/>
          </a:prstGeom>
          <a:ln w="28575">
            <a:solidFill>
              <a:srgbClr val="FAD6D7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16" name="Picture 3" descr="Picture 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583955" y="399810"/>
            <a:ext cx="1198866" cy="112601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4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sp>
        <p:nvSpPr>
          <p:cNvPr id="5" name="MH_Others_1"/>
          <p:cNvSpPr txBox="1"/>
          <p:nvPr userDrawn="1"/>
        </p:nvSpPr>
        <p:spPr>
          <a:xfrm>
            <a:off x="884526" y="2415447"/>
            <a:ext cx="2355376" cy="571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3200" b="1">
                <a:solidFill>
                  <a:schemeClr val="accent1"/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微软雅黑" charset="-122"/>
                <a:ea typeface="微软雅黑" charset="-122"/>
                <a:cs typeface="微软雅黑" charset="-122"/>
                <a:sym typeface="微软雅黑" charset="-122"/>
              </a:rPr>
              <a:t>目 录</a:t>
            </a:r>
          </a:p>
        </p:txBody>
      </p:sp>
      <p:sp>
        <p:nvSpPr>
          <p:cNvPr id="6" name="MH_Others_2"/>
          <p:cNvSpPr txBox="1"/>
          <p:nvPr userDrawn="1"/>
        </p:nvSpPr>
        <p:spPr>
          <a:xfrm>
            <a:off x="855951" y="2912113"/>
            <a:ext cx="4252686" cy="85137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6000"/>
            </a:lvl1pPr>
          </a:lstStyle>
          <a:p>
            <a:r>
              <a:rPr dirty="0"/>
              <a:t>CONTENTS</a:t>
            </a:r>
          </a:p>
        </p:txBody>
      </p:sp>
      <p:grpSp>
        <p:nvGrpSpPr>
          <p:cNvPr id="11" name="组合 3"/>
          <p:cNvGrpSpPr/>
          <p:nvPr userDrawn="1"/>
        </p:nvGrpSpPr>
        <p:grpSpPr>
          <a:xfrm>
            <a:off x="5667186" y="1678674"/>
            <a:ext cx="656829" cy="3496573"/>
            <a:chOff x="0" y="0"/>
            <a:chExt cx="656827" cy="3496572"/>
          </a:xfrm>
        </p:grpSpPr>
        <p:grpSp>
          <p:nvGrpSpPr>
            <p:cNvPr id="12" name="组合 7"/>
            <p:cNvGrpSpPr/>
            <p:nvPr/>
          </p:nvGrpSpPr>
          <p:grpSpPr>
            <a:xfrm>
              <a:off x="16783" y="0"/>
              <a:ext cx="627413" cy="563272"/>
              <a:chOff x="0" y="0"/>
              <a:chExt cx="627411" cy="563271"/>
            </a:xfrm>
          </p:grpSpPr>
          <p:grpSp>
            <p:nvGrpSpPr>
              <p:cNvPr id="30" name="组合 6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32" name="梯形 5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33" name="任意多边形 2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31" name="矩形 19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1</a:t>
                </a:r>
              </a:p>
            </p:txBody>
          </p:sp>
        </p:grpSp>
        <p:grpSp>
          <p:nvGrpSpPr>
            <p:cNvPr id="13" name="组合 34"/>
            <p:cNvGrpSpPr/>
            <p:nvPr/>
          </p:nvGrpSpPr>
          <p:grpSpPr>
            <a:xfrm>
              <a:off x="29415" y="957725"/>
              <a:ext cx="627413" cy="563273"/>
              <a:chOff x="0" y="0"/>
              <a:chExt cx="627411" cy="563271"/>
            </a:xfrm>
          </p:grpSpPr>
          <p:grpSp>
            <p:nvGrpSpPr>
              <p:cNvPr id="24" name="组合 35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28" name="梯形 37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29" name="任意多边形 38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25" name="矩形 36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2</a:t>
                </a:r>
              </a:p>
            </p:txBody>
          </p:sp>
        </p:grpSp>
        <p:grpSp>
          <p:nvGrpSpPr>
            <p:cNvPr id="14" name="组合 46"/>
            <p:cNvGrpSpPr/>
            <p:nvPr/>
          </p:nvGrpSpPr>
          <p:grpSpPr>
            <a:xfrm>
              <a:off x="0" y="1934295"/>
              <a:ext cx="627412" cy="986426"/>
              <a:chOff x="0" y="0"/>
              <a:chExt cx="627411" cy="986425"/>
            </a:xfrm>
          </p:grpSpPr>
          <p:grpSp>
            <p:nvGrpSpPr>
              <p:cNvPr id="20" name="组合 47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22" name="梯形 49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23" name="任意多边形 50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21" name="矩形 48"/>
              <p:cNvSpPr txBox="1"/>
              <p:nvPr/>
            </p:nvSpPr>
            <p:spPr>
              <a:xfrm>
                <a:off x="0" y="14865"/>
                <a:ext cx="581034" cy="97156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3</a:t>
                </a:r>
              </a:p>
            </p:txBody>
          </p:sp>
        </p:grpSp>
        <p:grpSp>
          <p:nvGrpSpPr>
            <p:cNvPr id="15" name="组合 52"/>
            <p:cNvGrpSpPr/>
            <p:nvPr/>
          </p:nvGrpSpPr>
          <p:grpSpPr>
            <a:xfrm>
              <a:off x="4152" y="2933300"/>
              <a:ext cx="627413" cy="563273"/>
              <a:chOff x="0" y="0"/>
              <a:chExt cx="627411" cy="563271"/>
            </a:xfrm>
          </p:grpSpPr>
          <p:grpSp>
            <p:nvGrpSpPr>
              <p:cNvPr id="16" name="组合 53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18" name="梯形 55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19" name="任意多边形 56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17" name="矩形 54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4</a:t>
                </a:r>
              </a:p>
            </p:txBody>
          </p:sp>
        </p:grpSp>
      </p:grpSp>
      <p:sp>
        <p:nvSpPr>
          <p:cNvPr id="34" name="直接连接符 63"/>
          <p:cNvSpPr/>
          <p:nvPr userDrawn="1"/>
        </p:nvSpPr>
        <p:spPr>
          <a:xfrm>
            <a:off x="889515" y="5521552"/>
            <a:ext cx="828676" cy="1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49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0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1" name="文本框 50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2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3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4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5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6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7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10" name="Picture 2" descr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175" y="0"/>
            <a:ext cx="12188825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矩形 23"/>
          <p:cNvSpPr/>
          <p:nvPr userDrawn="1"/>
        </p:nvSpPr>
        <p:spPr>
          <a:xfrm>
            <a:off x="1202795" y="1536895"/>
            <a:ext cx="9789584" cy="3771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698500" dist="215900" dir="5400000" rotWithShape="0">
              <a:srgbClr val="000000">
                <a:alpha val="14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2" name="文本框 7"/>
          <p:cNvSpPr txBox="1"/>
          <p:nvPr userDrawn="1"/>
        </p:nvSpPr>
        <p:spPr>
          <a:xfrm>
            <a:off x="1439290" y="1960453"/>
            <a:ext cx="3586878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dirty="0"/>
              <a:t>0</a:t>
            </a:r>
            <a:r>
              <a:rPr lang="en-US" dirty="0"/>
              <a:t>   </a:t>
            </a:r>
            <a:endParaRPr dirty="0"/>
          </a:p>
        </p:txBody>
      </p:sp>
      <p:sp>
        <p:nvSpPr>
          <p:cNvPr id="13" name="直接连接符 27"/>
          <p:cNvSpPr/>
          <p:nvPr userDrawn="1"/>
        </p:nvSpPr>
        <p:spPr>
          <a:xfrm>
            <a:off x="5759227" y="3600105"/>
            <a:ext cx="5233153" cy="1"/>
          </a:xfrm>
          <a:prstGeom prst="line">
            <a:avLst/>
          </a:prstGeom>
          <a:ln w="12700">
            <a:solidFill>
              <a:srgbClr val="BFBFBF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15" name="Picture 3" descr="C:\Users\Administrator\Desktop\战戟标（3V3标-01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63952" y="3789040"/>
            <a:ext cx="1368152" cy="437971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4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6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7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8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C0C0-F3C1-46A6-B1E0-38A19114CB16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5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7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8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9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FC0C0-F3C1-46A6-B1E0-38A19114CB16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7" Type="http://schemas.openxmlformats.org/officeDocument/2006/relationships/chart" Target="../charts/chart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9D95F-3D19-22E6-A6C1-D0D039BAC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1E6C206-A582-07D0-D57B-876D14DED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5744210"/>
            <a:ext cx="781050" cy="5619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772BB72-0A89-F788-8C5F-BD845B64EFCB}"/>
              </a:ext>
            </a:extLst>
          </p:cNvPr>
          <p:cNvSpPr/>
          <p:nvPr/>
        </p:nvSpPr>
        <p:spPr>
          <a:xfrm>
            <a:off x="7193280" y="6308725"/>
            <a:ext cx="3067685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科技中心   运动表现研究部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686977-6A08-EB2B-732D-94B0247F383F}"/>
              </a:ext>
            </a:extLst>
          </p:cNvPr>
          <p:cNvSpPr/>
          <p:nvPr/>
        </p:nvSpPr>
        <p:spPr>
          <a:xfrm>
            <a:off x="119336" y="6309320"/>
            <a:ext cx="398438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报告编号：</a:t>
            </a: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QD20250</a:t>
            </a:r>
            <a:r>
              <a:rPr 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XXX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7137E7-98D8-9DF0-E03B-1A6534FD3200}"/>
              </a:ext>
            </a:extLst>
          </p:cNvPr>
          <p:cNvSpPr txBox="1"/>
          <p:nvPr/>
        </p:nvSpPr>
        <p:spPr>
          <a:xfrm>
            <a:off x="10464306" y="6306185"/>
            <a:ext cx="1435648" cy="45845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45719" tIns="45719" rIns="45719" bIns="45719" numCol="1" spcCol="38100" rtlCol="0" anchor="t" forceAA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2026-05-28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4ABE6C-16D5-D104-89AB-A57AD69DFDBB}"/>
              </a:ext>
            </a:extLst>
          </p:cNvPr>
          <p:cNvSpPr txBox="1"/>
          <p:nvPr/>
        </p:nvSpPr>
        <p:spPr>
          <a:xfrm>
            <a:off x="977900" y="2057400"/>
            <a:ext cx="711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5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飞影服装试穿反馈功能性测试报告</a:t>
            </a:r>
          </a:p>
        </p:txBody>
      </p:sp>
    </p:spTree>
    <p:extLst>
      <p:ext uri="{BB962C8B-B14F-4D97-AF65-F5344CB8AC3E}">
        <p14:creationId xmlns:p14="http://schemas.microsoft.com/office/powerpoint/2010/main" val="6850360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E8E95-243C-2AB9-9B11-9AE3C9C36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392D09B-4EE2-F318-CB5D-57D2C2ACF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5013176"/>
            <a:ext cx="1310546" cy="1008112"/>
          </a:xfrm>
          <a:prstGeom prst="rect">
            <a:avLst/>
          </a:prstGeom>
        </p:spPr>
      </p:pic>
      <p:sp>
        <p:nvSpPr>
          <p:cNvPr id="3" name="矩形 259">
            <a:extLst>
              <a:ext uri="{FF2B5EF4-FFF2-40B4-BE49-F238E27FC236}">
                <a16:creationId xmlns:a16="http://schemas.microsoft.com/office/drawing/2014/main" id="{6D30EFB5-1C2E-9C23-185B-6863D9CE8013}"/>
              </a:ext>
            </a:extLst>
          </p:cNvPr>
          <p:cNvSpPr txBox="1"/>
          <p:nvPr/>
        </p:nvSpPr>
        <p:spPr>
          <a:xfrm>
            <a:off x="6672064" y="1556792"/>
            <a:ext cx="3528391" cy="615553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endParaRPr sz="40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5F5181-5C49-5371-74B6-19A709BC0E8E}"/>
              </a:ext>
            </a:extLst>
          </p:cNvPr>
          <p:cNvSpPr/>
          <p:nvPr/>
        </p:nvSpPr>
        <p:spPr>
          <a:xfrm>
            <a:off x="6600056" y="1582713"/>
            <a:ext cx="20070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背景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B55EEA-8E84-3AAC-8509-2A39AB959D87}"/>
              </a:ext>
            </a:extLst>
          </p:cNvPr>
          <p:cNvSpPr/>
          <p:nvPr/>
        </p:nvSpPr>
        <p:spPr>
          <a:xfrm>
            <a:off x="6600056" y="2628201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基本测试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F9A548-F536-CCFD-1EF4-4E02604641E4}"/>
              </a:ext>
            </a:extLst>
          </p:cNvPr>
          <p:cNvSpPr/>
          <p:nvPr/>
        </p:nvSpPr>
        <p:spPr>
          <a:xfrm>
            <a:off x="6600056" y="4005064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实战测评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B6733F-8F6A-DF68-629E-C2B3C23AF4CD}"/>
              </a:ext>
            </a:extLst>
          </p:cNvPr>
          <p:cNvSpPr/>
          <p:nvPr/>
        </p:nvSpPr>
        <p:spPr>
          <a:xfrm>
            <a:off x="6600056" y="3212976"/>
            <a:ext cx="3384376" cy="664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I   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基础物性测试</a:t>
            </a:r>
            <a:endParaRPr lang="en-US" altLang="zh-CN" sz="1400" b="1" dirty="0">
              <a:solidFill>
                <a:schemeClr val="tx2">
                  <a:lumMod val="75000"/>
                </a:schemeClr>
              </a:solidFill>
              <a:latin typeface="微软雅黑" charset="-122"/>
              <a:ea typeface="微软雅黑" charset="-122"/>
            </a:endParaRPr>
          </a:p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II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  生物力学 </a:t>
            </a: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/ 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运动捕捉测试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AA5A17A-2262-85BC-27DB-F187C2DAE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912" y="3410744"/>
            <a:ext cx="1076325" cy="24860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101E84B-A070-C408-C1DA-82F985F2E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928" y="3788757"/>
            <a:ext cx="1104900" cy="2095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D3C6916-21B8-14ED-07C7-32950B1DA778}"/>
              </a:ext>
            </a:extLst>
          </p:cNvPr>
          <p:cNvSpPr/>
          <p:nvPr/>
        </p:nvSpPr>
        <p:spPr>
          <a:xfrm>
            <a:off x="6600056" y="4932457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总结</a:t>
            </a:r>
            <a:endParaRPr lang="en-US" altLang="zh-CN" sz="32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397889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BC49D-8551-0016-0A2C-51ABA83CB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7">
            <a:extLst>
              <a:ext uri="{FF2B5EF4-FFF2-40B4-BE49-F238E27FC236}">
                <a16:creationId xmlns:a16="http://schemas.microsoft.com/office/drawing/2014/main" id="{1F93D797-3F9F-3218-2D11-4BE1E81D1E87}"/>
              </a:ext>
            </a:extLst>
          </p:cNvPr>
          <p:cNvSpPr txBox="1"/>
          <p:nvPr/>
        </p:nvSpPr>
        <p:spPr>
          <a:xfrm>
            <a:off x="2829514" y="1931243"/>
            <a:ext cx="1490150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1</a:t>
            </a:r>
            <a:endParaRPr dirty="0"/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F2409172-2054-EBFB-B300-D49D51524962}"/>
              </a:ext>
            </a:extLst>
          </p:cNvPr>
          <p:cNvSpPr txBox="1"/>
          <p:nvPr/>
        </p:nvSpPr>
        <p:spPr>
          <a:xfrm>
            <a:off x="5879976" y="2746850"/>
            <a:ext cx="4464496" cy="73866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4800" b="1">
                <a:solidFill>
                  <a:schemeClr val="tx1"/>
                </a:solidFill>
                <a:latin typeface="微软雅黑" charset="-122"/>
                <a:ea typeface="微软雅黑" charset="-122"/>
              </a:rPr>
              <a:t>项目背景</a:t>
            </a:r>
            <a:endParaRPr sz="4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807580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67EBB-9C7C-6D6A-995F-053C83EB1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03719EE-A119-4E20-E8BE-9188C4B40A2F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背景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064BC8-B435-727F-EE30-FB8CFB3DD694}"/>
              </a:ext>
            </a:extLst>
          </p:cNvPr>
          <p:cNvSpPr txBox="1"/>
          <p:nvPr/>
        </p:nvSpPr>
        <p:spPr>
          <a:xfrm>
            <a:off x="241300" y="927100"/>
            <a:ext cx="317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测试背景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87A777-16E2-3345-6364-5EFAE6F4C05B}"/>
              </a:ext>
            </a:extLst>
          </p:cNvPr>
          <p:cNvSpPr txBox="1"/>
          <p:nvPr/>
        </p:nvSpPr>
        <p:spPr>
          <a:xfrm>
            <a:off x="482600" y="2755900"/>
            <a:ext cx="11455400" cy="923328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科技中心收到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款 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飞影服装试穿反馈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(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底模编号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: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编号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XXXX - 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选填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),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根据项目进度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,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基于该产品的科技功能定位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,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现对该款产品进行功能性测试。此次测试的对比样品分别为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: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无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,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本品及竞品的鞋款信息如图所示。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4290B5-F1E6-71E5-AD58-1DC378023EC5}"/>
              </a:ext>
            </a:extLst>
          </p:cNvPr>
          <p:cNvSpPr txBox="1"/>
          <p:nvPr/>
        </p:nvSpPr>
        <p:spPr>
          <a:xfrm>
            <a:off x="241300" y="4152900"/>
            <a:ext cx="317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测试方法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0ABE5D-1C48-3E48-F169-5C153EA7798F}"/>
              </a:ext>
            </a:extLst>
          </p:cNvPr>
          <p:cNvSpPr txBox="1"/>
          <p:nvPr/>
        </p:nvSpPr>
        <p:spPr>
          <a:xfrm>
            <a:off x="5003800" y="4584700"/>
            <a:ext cx="11455400" cy="87630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基础数据测试、实战测评、运动生物力学测试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7EE598-AAD7-2054-C839-C36EEE15E461}"/>
              </a:ext>
            </a:extLst>
          </p:cNvPr>
          <p:cNvSpPr txBox="1"/>
          <p:nvPr/>
        </p:nvSpPr>
        <p:spPr>
          <a:xfrm>
            <a:off x="5130800" y="5003800"/>
            <a:ext cx="7102348" cy="830995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发放给专业运动爱好者，进行试穿体验，并反馈评分。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kumimoji="0" lang="zh-CN" altLang="en-US" sz="1600" b="0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0000000-0008-0000-0000-00001A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4775200"/>
            <a:ext cx="1171854" cy="157734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0000000-0008-0000-0000-000014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1130300"/>
            <a:ext cx="2582883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92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846A-7DB8-E7DE-8C7E-5E33908E6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7">
            <a:extLst>
              <a:ext uri="{FF2B5EF4-FFF2-40B4-BE49-F238E27FC236}">
                <a16:creationId xmlns:a16="http://schemas.microsoft.com/office/drawing/2014/main" id="{92D2523A-4C2C-6ED5-E906-38B56A05DFF1}"/>
              </a:ext>
            </a:extLst>
          </p:cNvPr>
          <p:cNvSpPr txBox="1"/>
          <p:nvPr/>
        </p:nvSpPr>
        <p:spPr>
          <a:xfrm>
            <a:off x="2829514" y="1931243"/>
            <a:ext cx="1490150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2</a:t>
            </a:r>
            <a:endParaRPr dirty="0"/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47177643-F8A4-0C72-51FF-3B3C43410491}"/>
              </a:ext>
            </a:extLst>
          </p:cNvPr>
          <p:cNvSpPr txBox="1"/>
          <p:nvPr/>
        </p:nvSpPr>
        <p:spPr>
          <a:xfrm>
            <a:off x="5879976" y="2746850"/>
            <a:ext cx="4464496" cy="73866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4800" b="1">
                <a:solidFill>
                  <a:schemeClr val="tx1"/>
                </a:solidFill>
                <a:latin typeface="微软雅黑" charset="-122"/>
                <a:ea typeface="微软雅黑" charset="-122"/>
              </a:rPr>
              <a:t>基础性能测试</a:t>
            </a:r>
            <a:endParaRPr sz="4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252036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E88CD-C1D3-695E-5B7D-AF88E03BB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7">
            <a:extLst>
              <a:ext uri="{FF2B5EF4-FFF2-40B4-BE49-F238E27FC236}">
                <a16:creationId xmlns:a16="http://schemas.microsoft.com/office/drawing/2014/main" id="{2FDC32C9-1800-8465-4826-612075104EE9}"/>
              </a:ext>
            </a:extLst>
          </p:cNvPr>
          <p:cNvSpPr txBox="1"/>
          <p:nvPr/>
        </p:nvSpPr>
        <p:spPr>
          <a:xfrm>
            <a:off x="2829514" y="1931243"/>
            <a:ext cx="1490150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3</a:t>
            </a:r>
            <a:endParaRPr dirty="0"/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BC407090-5286-3D26-AAD4-D5CD3EB34D24}"/>
              </a:ext>
            </a:extLst>
          </p:cNvPr>
          <p:cNvSpPr txBox="1"/>
          <p:nvPr/>
        </p:nvSpPr>
        <p:spPr>
          <a:xfrm>
            <a:off x="5879976" y="2746850"/>
            <a:ext cx="4464496" cy="73866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4800" b="1">
                <a:solidFill>
                  <a:schemeClr val="tx1"/>
                </a:solidFill>
                <a:latin typeface="微软雅黑" charset="-122"/>
                <a:ea typeface="微软雅黑" charset="-122"/>
              </a:rPr>
              <a:t>实战测试</a:t>
            </a:r>
            <a:endParaRPr sz="4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432762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6A0F0-D2D8-D373-686F-68D513C4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013A295-DC2A-04B2-E796-0D44A27459EC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实战测试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C529445-5154-26BA-243B-EFB9482DDB25}"/>
              </a:ext>
            </a:extLst>
          </p:cNvPr>
          <p:cNvCxnSpPr/>
          <p:nvPr/>
        </p:nvCxnSpPr>
        <p:spPr>
          <a:xfrm>
            <a:off x="6096000" y="381000"/>
            <a:ext cx="0" cy="5842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401FAEE-8A3E-1CA2-CF92-B4B6732DD140}"/>
              </a:ext>
            </a:extLst>
          </p:cNvPr>
          <p:cNvSpPr txBox="1"/>
          <p:nvPr/>
        </p:nvSpPr>
        <p:spPr>
          <a:xfrm>
            <a:off x="3302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Tina
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53.0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FAAC455A-A3EB-077B-8062-0110B6B613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6803609"/>
              </p:ext>
            </p:extLst>
          </p:nvPr>
        </p:nvGraphicFramePr>
        <p:xfrm>
          <a:off x="838200" y="2133600"/>
          <a:ext cx="317500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A203A7E-2DAC-55A4-2EB0-30D356AD03EF}"/>
              </a:ext>
            </a:extLst>
          </p:cNvPr>
          <p:cNvSpPr txBox="1"/>
          <p:nvPr/>
        </p:nvSpPr>
        <p:spPr>
          <a:xfrm>
            <a:off x="330200" y="4152900"/>
            <a:ext cx="5727700" cy="2677654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版型显瘦合身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，整体贴合度较好，领口、肩部表现较稳定。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面料顺滑亲肤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，轻量感和透气性表现不错，适合日常慢跑、恢复跑。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腋下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副乳区域易磨硌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，出汗后不适，大幅度动作时还有些移位。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吸湿排汗和速干性一般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，长距离或间歇后易粘身、闷汗，支撑性偏弱。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70C9B4-7FA3-6396-7509-A0729B5EE203}"/>
              </a:ext>
            </a:extLst>
          </p:cNvPr>
          <p:cNvSpPr txBox="1"/>
          <p:nvPr/>
        </p:nvSpPr>
        <p:spPr>
          <a:xfrm>
            <a:off x="63500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测试者姓名：周琪
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53.0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53DD89F6-4969-7CC2-0237-8A28E4B9E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3244516"/>
              </p:ext>
            </p:extLst>
          </p:nvPr>
        </p:nvGraphicFramePr>
        <p:xfrm>
          <a:off x="6896100" y="2133600"/>
          <a:ext cx="317500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F8B7D854-44DD-EDF5-3755-4F424C6EA3B0}"/>
              </a:ext>
            </a:extLst>
          </p:cNvPr>
          <p:cNvSpPr txBox="1"/>
          <p:nvPr/>
        </p:nvSpPr>
        <p:spPr>
          <a:xfrm>
            <a:off x="6350000" y="4152900"/>
            <a:ext cx="5727700" cy="2677654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上身好看显身材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，前侧下摆设计有修饰效果，整体版型较合身。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拉伸跑动较自如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，适合日常短距离训练慢跑，中等支撑可满足基础需求。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后背过高且口袋设计不合理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，影响舒适与排汗，跑动中不便取物。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速干性一般且掉色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，前胸下有染色印记，不适合比赛场景。</a:t>
            </a:r>
          </a:p>
        </p:txBody>
      </p:sp>
    </p:spTree>
    <p:extLst>
      <p:ext uri="{BB962C8B-B14F-4D97-AF65-F5344CB8AC3E}">
        <p14:creationId xmlns:p14="http://schemas.microsoft.com/office/powerpoint/2010/main" val="83858512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080A4-43DE-C08E-0728-0E0C726E9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052631-A39D-6A30-ED19-032C7E6889FB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实战测试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08B2E23-26A5-FCC8-8D2C-F2FD1F04C6D6}"/>
              </a:ext>
            </a:extLst>
          </p:cNvPr>
          <p:cNvCxnSpPr/>
          <p:nvPr/>
        </p:nvCxnSpPr>
        <p:spPr>
          <a:xfrm>
            <a:off x="6096000" y="381000"/>
            <a:ext cx="0" cy="5842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F6693E0-A302-5923-C163-07E28C931ED3}"/>
              </a:ext>
            </a:extLst>
          </p:cNvPr>
          <p:cNvSpPr txBox="1"/>
          <p:nvPr/>
        </p:nvSpPr>
        <p:spPr>
          <a:xfrm>
            <a:off x="3302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测试者姓名：王雅津
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56.0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79490B93-5C88-6F0A-A74D-C20AE3857F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3321225"/>
              </p:ext>
            </p:extLst>
          </p:nvPr>
        </p:nvGraphicFramePr>
        <p:xfrm>
          <a:off x="838200" y="2133600"/>
          <a:ext cx="317500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8FE70CB-BADC-C811-781C-091BE19BD6C1}"/>
              </a:ext>
            </a:extLst>
          </p:cNvPr>
          <p:cNvSpPr txBox="1"/>
          <p:nvPr/>
        </p:nvSpPr>
        <p:spPr>
          <a:xfrm>
            <a:off x="330200" y="4152900"/>
            <a:ext cx="5727700" cy="2677654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整体合身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，运动时包裹性尚可，肩部、胸腰围表现较稳定。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、适合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低强度训练场景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，基础支撑可满足日常慢跑恢复跑。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领口袖口偏高、腋下摩擦明显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，材质偏厚，摆臂时不适感强。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前胸闷热，排汗速干差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，有裹汗感；后背补给袋设计鸡肋，取物不便。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86051D-AEB3-A057-4DB2-F0C887560662}"/>
              </a:ext>
            </a:extLst>
          </p:cNvPr>
          <p:cNvSpPr txBox="1"/>
          <p:nvPr/>
        </p:nvSpPr>
        <p:spPr>
          <a:xfrm>
            <a:off x="63500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测试者姓名：陈玉儿
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45.0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2E3C99C9-9433-EA62-9BD9-C4D376632F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7407119"/>
              </p:ext>
            </p:extLst>
          </p:nvPr>
        </p:nvGraphicFramePr>
        <p:xfrm>
          <a:off x="6896100" y="2133600"/>
          <a:ext cx="317500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38B99DFC-930A-1FD7-84AF-F80B4463B213}"/>
              </a:ext>
            </a:extLst>
          </p:cNvPr>
          <p:cNvSpPr txBox="1"/>
          <p:nvPr/>
        </p:nvSpPr>
        <p:spPr>
          <a:xfrm>
            <a:off x="6350000" y="4152900"/>
            <a:ext cx="5727700" cy="2354489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版型修身合身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，整体包裹性好，穿着稳定。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面料舒适亲肤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，不磨皮肤、不限制动作，且洗后不起球。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前胸排汗较慢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，吸湿排汗表现相对一般。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前胸速干偏慢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，约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30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分钟后干爽感仍不明显。</a:t>
            </a:r>
          </a:p>
        </p:txBody>
      </p:sp>
    </p:spTree>
    <p:extLst>
      <p:ext uri="{BB962C8B-B14F-4D97-AF65-F5344CB8AC3E}">
        <p14:creationId xmlns:p14="http://schemas.microsoft.com/office/powerpoint/2010/main" val="143696758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2F9D9-E9C5-39EC-A562-667C250A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96A110-4C31-0974-B40D-5B3EF5B69172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实战测试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706E3E8-695A-6D46-ABC0-AC7234F75D19}"/>
              </a:ext>
            </a:extLst>
          </p:cNvPr>
          <p:cNvCxnSpPr/>
          <p:nvPr/>
        </p:nvCxnSpPr>
        <p:spPr>
          <a:xfrm>
            <a:off x="6096000" y="381000"/>
            <a:ext cx="0" cy="5842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9973E64-59C5-17D5-4CE9-78612E75503C}"/>
              </a:ext>
            </a:extLst>
          </p:cNvPr>
          <p:cNvSpPr txBox="1"/>
          <p:nvPr/>
        </p:nvSpPr>
        <p:spPr>
          <a:xfrm>
            <a:off x="3302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测试者姓名：赵国萍
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60.0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D0A732F2-0510-F800-27BA-E98D8A7332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643525"/>
              </p:ext>
            </p:extLst>
          </p:nvPr>
        </p:nvGraphicFramePr>
        <p:xfrm>
          <a:off x="838200" y="2133600"/>
          <a:ext cx="317500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DFA08225-12D0-6081-F014-4788E3C23154}"/>
              </a:ext>
            </a:extLst>
          </p:cNvPr>
          <p:cNvSpPr txBox="1"/>
          <p:nvPr/>
        </p:nvSpPr>
        <p:spPr>
          <a:xfrm>
            <a:off x="330200" y="4152900"/>
            <a:ext cx="5727700" cy="2354489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版型合身、支撑强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，动作舒展不受限，适合训练和竞速。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面料亲肤，排汗速干表现好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，高温下不贴身，洗后也不起球勾丝。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背后补给兜实用性差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，开口方向和位置不合理，跑动中难取物。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、长距离下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腋下仍需防磨处理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，补给放置还可能影响跑步节奏。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FBFC0C-80FD-2FDC-4DF6-65188A6B5363}"/>
              </a:ext>
            </a:extLst>
          </p:cNvPr>
          <p:cNvSpPr txBox="1"/>
          <p:nvPr/>
        </p:nvSpPr>
        <p:spPr>
          <a:xfrm>
            <a:off x="63500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测试者姓名：余婠
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55.0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53C8354B-D477-2B1C-03D2-C5961F233B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9587072"/>
              </p:ext>
            </p:extLst>
          </p:nvPr>
        </p:nvGraphicFramePr>
        <p:xfrm>
          <a:off x="6896100" y="2133600"/>
          <a:ext cx="317500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01AA1D2C-16D1-D5A5-3031-BC86774264C9}"/>
              </a:ext>
            </a:extLst>
          </p:cNvPr>
          <p:cNvSpPr txBox="1"/>
          <p:nvPr/>
        </p:nvSpPr>
        <p:spPr>
          <a:xfrm>
            <a:off x="6350000" y="4152900"/>
            <a:ext cx="5727700" cy="2354489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版型合身、大小合适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，包裹稳定，具备较强支撑。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吸湿排汗整体达标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，洗后不起球勾丝，适合日常训练穿着。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面料柔软性不足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，有轻微摩擦皮肤和手臂的问题。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速干表现不够突出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，出汗后会贴身，约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30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分钟才较为干爽。</a:t>
            </a:r>
          </a:p>
        </p:txBody>
      </p:sp>
    </p:spTree>
    <p:extLst>
      <p:ext uri="{BB962C8B-B14F-4D97-AF65-F5344CB8AC3E}">
        <p14:creationId xmlns:p14="http://schemas.microsoft.com/office/powerpoint/2010/main" val="121658146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AB7AB-5AF7-43CD-0EAB-9E8448F80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03D30F-8ED7-5287-E1B4-0F691DD081C6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实战测试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E550FAF-7FC6-A07A-4D88-AAFAFDC76069}"/>
              </a:ext>
            </a:extLst>
          </p:cNvPr>
          <p:cNvCxnSpPr/>
          <p:nvPr/>
        </p:nvCxnSpPr>
        <p:spPr>
          <a:xfrm>
            <a:off x="6096000" y="381000"/>
            <a:ext cx="0" cy="5842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A13FEB8-C038-3E8A-9E72-5A49878A7880}"/>
              </a:ext>
            </a:extLst>
          </p:cNvPr>
          <p:cNvSpPr txBox="1"/>
          <p:nvPr/>
        </p:nvSpPr>
        <p:spPr>
          <a:xfrm>
            <a:off x="3302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测试者姓名：恬恬
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100.0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7014DEE1-DED1-CDE6-4341-886832A382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3184624"/>
              </p:ext>
            </p:extLst>
          </p:nvPr>
        </p:nvGraphicFramePr>
        <p:xfrm>
          <a:off x="838200" y="2133600"/>
          <a:ext cx="317500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D9C44BFB-5756-4A60-A4CE-BCB7006FB94A}"/>
              </a:ext>
            </a:extLst>
          </p:cNvPr>
          <p:cNvSpPr txBox="1"/>
          <p:nvPr/>
        </p:nvSpPr>
        <p:spPr>
          <a:xfrm>
            <a:off x="330200" y="4152900"/>
            <a:ext cx="5727700" cy="2354489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版型合身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，不太限制动作，短距离穿着表现尚可。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吸湿排汗表现还可以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，外层面料速干性较好。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长距离胸下和腋下会磨皮肤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，面料贴身舒适度一般。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内层速干较弱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，后兜储物空间和拿取便利性也不足。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42D336-83FD-451A-F4B8-3ABA491E3802}"/>
              </a:ext>
            </a:extLst>
          </p:cNvPr>
          <p:cNvSpPr txBox="1"/>
          <p:nvPr/>
        </p:nvSpPr>
        <p:spPr>
          <a:xfrm>
            <a:off x="63500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Alisa
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50.0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D9F10E2D-B7F0-6224-7F1B-E34D898B72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096228"/>
              </p:ext>
            </p:extLst>
          </p:nvPr>
        </p:nvGraphicFramePr>
        <p:xfrm>
          <a:off x="6896100" y="2133600"/>
          <a:ext cx="317500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9ADF742D-D8A5-9829-3453-2B51198C5BB4}"/>
              </a:ext>
            </a:extLst>
          </p:cNvPr>
          <p:cNvSpPr txBox="1"/>
          <p:nvPr/>
        </p:nvSpPr>
        <p:spPr>
          <a:xfrm>
            <a:off x="6350000" y="4152900"/>
            <a:ext cx="5727700" cy="2354489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版型不错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，整体穿着合身，支撑表现较稳定。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无明显磨皮肤问题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，基础穿着舒适度尚可。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面料偏厚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，透气性一般，影响运动中的清爽感。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吸湿排汗和速干较弱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，有“只吸不排”感，干得不够快。</a:t>
            </a:r>
          </a:p>
        </p:txBody>
      </p:sp>
    </p:spTree>
    <p:extLst>
      <p:ext uri="{BB962C8B-B14F-4D97-AF65-F5344CB8AC3E}">
        <p14:creationId xmlns:p14="http://schemas.microsoft.com/office/powerpoint/2010/main" val="282727121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CC882-B353-7A04-1FB1-51E0E188F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06C651B-4870-B461-3C4D-B4F95691E617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实战测试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6D01133-CBCE-B501-DFB3-62A16CC63D50}"/>
              </a:ext>
            </a:extLst>
          </p:cNvPr>
          <p:cNvCxnSpPr/>
          <p:nvPr/>
        </p:nvCxnSpPr>
        <p:spPr>
          <a:xfrm>
            <a:off x="6096000" y="381000"/>
            <a:ext cx="0" cy="5842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B5EA1C28-DCDB-4097-3CA1-8CE561EDB041}"/>
              </a:ext>
            </a:extLst>
          </p:cNvPr>
          <p:cNvSpPr txBox="1"/>
          <p:nvPr/>
        </p:nvSpPr>
        <p:spPr>
          <a:xfrm>
            <a:off x="3302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测试者姓名：周敏
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58.0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B94C8217-D78F-92B2-C319-D1CF16B62F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7325561"/>
              </p:ext>
            </p:extLst>
          </p:nvPr>
        </p:nvGraphicFramePr>
        <p:xfrm>
          <a:off x="838200" y="2133600"/>
          <a:ext cx="317500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B9405AF-470C-8719-7EC2-C95BA491D437}"/>
              </a:ext>
            </a:extLst>
          </p:cNvPr>
          <p:cNvSpPr txBox="1"/>
          <p:nvPr/>
        </p:nvSpPr>
        <p:spPr>
          <a:xfrm>
            <a:off x="330200" y="4152900"/>
            <a:ext cx="5727700" cy="2354489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高强度支撑较好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，半马等剧烈运动中稳定，无明显磨肤。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速干表现不错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，赛后约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15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分钟湿热感消失，且不起球不勾丝。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罩杯未区分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ABC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C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杯穿着略挤，有压迫感。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面料偏厚、外层弹性不足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，透气性略差，室内穿着偏闷。</a:t>
            </a:r>
          </a:p>
        </p:txBody>
      </p:sp>
    </p:spTree>
    <p:extLst>
      <p:ext uri="{BB962C8B-B14F-4D97-AF65-F5344CB8AC3E}">
        <p14:creationId xmlns:p14="http://schemas.microsoft.com/office/powerpoint/2010/main" val="399840821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0D0-5C28-9ECD-78F0-51796642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图表 63">
            <a:extLst>
              <a:ext uri="{FF2B5EF4-FFF2-40B4-BE49-F238E27FC236}">
                <a16:creationId xmlns:a16="http://schemas.microsoft.com/office/drawing/2014/main" id="{16266E75-FCC3-EEC1-239E-03C3005505CB}"/>
              </a:ext>
            </a:extLst>
          </p:cNvPr>
          <p:cNvGraphicFramePr>
            <a:graphicFrameLocks/>
          </p:cNvGraphicFramePr>
          <p:nvPr/>
        </p:nvGraphicFramePr>
        <p:xfrm>
          <a:off x="2071400" y="5209016"/>
          <a:ext cx="5422924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93A12E4-D80A-46DC-C564-52D897747F70}"/>
              </a:ext>
            </a:extLst>
          </p:cNvPr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393DB3E-1F72-9622-ADAF-361813F7C9C1}"/>
              </a:ext>
            </a:extLst>
          </p:cNvPr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D4009ED-1EC6-A20C-35B5-8544DE1F4465}"/>
              </a:ext>
            </a:extLst>
          </p:cNvPr>
          <p:cNvSpPr txBox="1"/>
          <p:nvPr/>
        </p:nvSpPr>
        <p:spPr>
          <a:xfrm>
            <a:off x="546100" y="673100"/>
            <a:ext cx="3175000" cy="40010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服装试穿反馈结果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9F781AF-62DE-E793-A184-3E2D4C7C72FE}"/>
              </a:ext>
            </a:extLst>
          </p:cNvPr>
          <p:cNvSpPr/>
          <p:nvPr/>
        </p:nvSpPr>
        <p:spPr>
          <a:xfrm>
            <a:off x="453851" y="1298507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C6F24E-860F-B7B7-D42E-526CA14FEC37}"/>
              </a:ext>
            </a:extLst>
          </p:cNvPr>
          <p:cNvSpPr txBox="1"/>
          <p:nvPr/>
        </p:nvSpPr>
        <p:spPr>
          <a:xfrm>
            <a:off x="375542" y="1554393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版型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3.98 / 5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F62D714-E335-A051-773C-D6936D8D47C4}"/>
              </a:ext>
            </a:extLst>
          </p:cNvPr>
          <p:cNvSpPr/>
          <p:nvPr/>
        </p:nvSpPr>
        <p:spPr>
          <a:xfrm>
            <a:off x="4210385" y="1356455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C3AD92-1301-4248-DF53-38832AA7226D}"/>
              </a:ext>
            </a:extLst>
          </p:cNvPr>
          <p:cNvSpPr txBox="1"/>
          <p:nvPr/>
        </p:nvSpPr>
        <p:spPr>
          <a:xfrm>
            <a:off x="4158567" y="1589729"/>
            <a:ext cx="1587500" cy="877161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面料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3.96 / 5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D1C5901-55D0-C154-F312-BFF222FA5E0E}"/>
              </a:ext>
            </a:extLst>
          </p:cNvPr>
          <p:cNvSpPr/>
          <p:nvPr/>
        </p:nvSpPr>
        <p:spPr>
          <a:xfrm>
            <a:off x="453851" y="3306237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527B22E-F4F9-9899-FD00-6ED00D88E0D3}"/>
              </a:ext>
            </a:extLst>
          </p:cNvPr>
          <p:cNvSpPr txBox="1"/>
          <p:nvPr/>
        </p:nvSpPr>
        <p:spPr>
          <a:xfrm>
            <a:off x="383609" y="3584621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吸湿排汗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3.61 / 5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5F57F2E-D443-4809-92EF-7E26E02E156A}"/>
              </a:ext>
            </a:extLst>
          </p:cNvPr>
          <p:cNvSpPr/>
          <p:nvPr/>
        </p:nvSpPr>
        <p:spPr>
          <a:xfrm>
            <a:off x="4162251" y="3306237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9703C35-F859-9B84-8BF1-BAC443DB646C}"/>
              </a:ext>
            </a:extLst>
          </p:cNvPr>
          <p:cNvSpPr txBox="1"/>
          <p:nvPr/>
        </p:nvSpPr>
        <p:spPr>
          <a:xfrm>
            <a:off x="4148324" y="3560831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速干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3.53 / 5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A46BF49-7649-1ADC-F7DC-8F2EEF5C34E7}"/>
              </a:ext>
            </a:extLst>
          </p:cNvPr>
          <p:cNvSpPr txBox="1"/>
          <p:nvPr/>
        </p:nvSpPr>
        <p:spPr>
          <a:xfrm>
            <a:off x="10555698" y="679060"/>
            <a:ext cx="1589062" cy="3141880"/>
          </a:xfrm>
          <a:prstGeom prst="rect">
            <a:avLst/>
          </a:prstGeom>
          <a:solidFill>
            <a:srgbClr val="FFFF00">
              <a:alpha val="0"/>
            </a:srgbClr>
          </a:solidFill>
          <a:ln w="38100" cap="flat">
            <a:noFill/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受试者信息 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Information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A: 162CM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B: 161CM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C: 170CM / 56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D: 156CM / 45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E: 168CM / 60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F: 163CM / 55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G: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H: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I: 162CM / 58 KG</a:t>
            </a:r>
            <a:endParaRPr lang="en-US" altLang="zh-CN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3F254D7-9C9A-4BAF-DD55-5A28A3D180F1}"/>
              </a:ext>
            </a:extLst>
          </p:cNvPr>
          <p:cNvSpPr txBox="1"/>
          <p:nvPr/>
        </p:nvSpPr>
        <p:spPr>
          <a:xfrm>
            <a:off x="262961" y="113947"/>
            <a:ext cx="734520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试穿反馈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Athletes’ Feedback】</a:t>
            </a:r>
            <a:endParaRPr lang="zh-CN" alt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9B565E3F-30F3-0552-1B4D-54A2E0FBB74A}"/>
              </a:ext>
            </a:extLst>
          </p:cNvPr>
          <p:cNvSpPr/>
          <p:nvPr/>
        </p:nvSpPr>
        <p:spPr>
          <a:xfrm>
            <a:off x="427393" y="5103078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31C44DC-4284-C4ED-F4B9-8D9A2490ED86}"/>
              </a:ext>
            </a:extLst>
          </p:cNvPr>
          <p:cNvSpPr txBox="1"/>
          <p:nvPr/>
        </p:nvSpPr>
        <p:spPr>
          <a:xfrm>
            <a:off x="336539" y="5358964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charset="-122"/>
              </a:rPr>
              <a:t>适宜温度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5℃~15℃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6E900D9C-9264-6427-DE32-BF2C56F0730F}"/>
              </a:ext>
            </a:extLst>
          </p:cNvPr>
          <p:cNvSpPr/>
          <p:nvPr/>
        </p:nvSpPr>
        <p:spPr>
          <a:xfrm>
            <a:off x="10766043" y="2886560"/>
            <a:ext cx="1168371" cy="698061"/>
          </a:xfrm>
          <a:prstGeom prst="roundRect">
            <a:avLst/>
          </a:prstGeom>
          <a:solidFill>
            <a:schemeClr val="bg2"/>
          </a:solidFill>
          <a:ln w="38100" cap="flat">
            <a:solidFill>
              <a:schemeClr val="bg2"/>
            </a:solidFill>
            <a:prstDash val="solid"/>
            <a:round/>
          </a:ln>
          <a:effectLst>
            <a:outerShdw blurRad="50800" dist="38100" dir="5400000" rotWithShape="0">
              <a:srgbClr val="000000">
                <a:alpha val="43137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Arial" panose="020B0604020202020204"/>
                <a:cs typeface="Arial" panose="020B0604020202020204"/>
                <a:sym typeface="Arial" panose="020B0604020202020204"/>
              </a:rPr>
              <a:t>累计跑量</a:t>
            </a:r>
            <a:r>
              <a:rPr kumimoji="0" lang="en-US" altLang="zh-CN" sz="11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Arial" panose="020B0604020202020204"/>
                <a:cs typeface="Arial" panose="020B0604020202020204"/>
                <a:sym typeface="Arial" panose="020B0604020202020204"/>
              </a:rPr>
              <a:t>km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Arial" panose="020B0604020202020204"/>
                <a:cs typeface="Arial" panose="020B0604020202020204"/>
                <a:sym typeface="Arial" panose="020B0604020202020204"/>
              </a:rPr>
              <a:t>571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0C37F692-CDBA-BA0E-9514-93C0A1852F68}"/>
              </a:ext>
            </a:extLst>
          </p:cNvPr>
          <p:cNvSpPr/>
          <p:nvPr/>
        </p:nvSpPr>
        <p:spPr>
          <a:xfrm>
            <a:off x="10779395" y="3919187"/>
            <a:ext cx="1168371" cy="698061"/>
          </a:xfrm>
          <a:prstGeom prst="roundRect">
            <a:avLst/>
          </a:prstGeom>
          <a:solidFill>
            <a:schemeClr val="bg2"/>
          </a:solidFill>
          <a:ln w="38100" cap="flat">
            <a:solidFill>
              <a:schemeClr val="bg2"/>
            </a:solidFill>
            <a:prstDash val="solid"/>
            <a:round/>
          </a:ln>
          <a:effectLst>
            <a:outerShdw blurRad="50800" dist="38100" dir="5400000" rotWithShape="0">
              <a:srgbClr val="000000">
                <a:alpha val="43137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Arial" panose="020B0604020202020204"/>
                <a:cs typeface="Arial" panose="020B0604020202020204"/>
                <a:sym typeface="Arial" panose="020B0604020202020204"/>
              </a:rPr>
              <a:t>定位日常训练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Arial" panose="020B0604020202020204"/>
                <a:cs typeface="Arial" panose="020B0604020202020204"/>
                <a:sym typeface="Arial" panose="020B0604020202020204"/>
              </a:rPr>
              <a:t>9/9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0684636E-9971-99A2-102A-F0A3131D0C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3309681"/>
              </p:ext>
            </p:extLst>
          </p:nvPr>
        </p:nvGraphicFramePr>
        <p:xfrm>
          <a:off x="1596851" y="1069905"/>
          <a:ext cx="2413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AF57F97A-BA54-9EEB-8226-8E65A576D1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812304"/>
              </p:ext>
            </p:extLst>
          </p:nvPr>
        </p:nvGraphicFramePr>
        <p:xfrm>
          <a:off x="5152851" y="1350285"/>
          <a:ext cx="2845645" cy="12450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5ADF8128-E6CC-2035-E40D-24CB98E71A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3349871"/>
              </p:ext>
            </p:extLst>
          </p:nvPr>
        </p:nvGraphicFramePr>
        <p:xfrm>
          <a:off x="1844305" y="3442585"/>
          <a:ext cx="2413000" cy="124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图表 18">
            <a:extLst>
              <a:ext uri="{FF2B5EF4-FFF2-40B4-BE49-F238E27FC236}">
                <a16:creationId xmlns:a16="http://schemas.microsoft.com/office/drawing/2014/main" id="{33976130-B057-CB7D-C854-86EB7511DA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1495161"/>
              </p:ext>
            </p:extLst>
          </p:nvPr>
        </p:nvGraphicFramePr>
        <p:xfrm>
          <a:off x="5536152" y="3399947"/>
          <a:ext cx="2413000" cy="124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74821256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959F-39A6-E6DD-8D88-D406B8B6D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3EBB52D-D6F4-A858-AFE7-716AA47FC096}"/>
              </a:ext>
            </a:extLst>
          </p:cNvPr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096CB3A-F4A3-18EF-4441-A5F46994BB8C}"/>
              </a:ext>
            </a:extLst>
          </p:cNvPr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2857796-EF1D-3E9F-56E1-5214CF7A34DE}"/>
              </a:ext>
            </a:extLst>
          </p:cNvPr>
          <p:cNvSpPr txBox="1"/>
          <p:nvPr/>
        </p:nvSpPr>
        <p:spPr>
          <a:xfrm>
            <a:off x="546100" y="673100"/>
            <a:ext cx="3175000" cy="40010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服装试穿反馈结果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D59F95C-4851-08CB-6BD1-61A3DB6213B7}"/>
              </a:ext>
            </a:extLst>
          </p:cNvPr>
          <p:cNvSpPr txBox="1"/>
          <p:nvPr/>
        </p:nvSpPr>
        <p:spPr>
          <a:xfrm>
            <a:off x="426925" y="1627605"/>
            <a:ext cx="7055194" cy="1708158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E16776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优点 </a:t>
            </a:r>
            <a:r>
              <a:rPr lang="en-US" altLang="zh-CN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strengths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整体版型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合身修身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，多数反馈上身贴合、显身材，动作舒展不受限（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charset="-122"/>
              </a:rPr>
              <a:t>8/9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）。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具备一定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支撑性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与运动稳定性，可覆盖日常训练到较高强度跑步需求（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charset="-122"/>
              </a:rPr>
              <a:t>5/9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）。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面料有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亲肤性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、不易摩擦，且多次洗涤后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不起球不勾丝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charset="-122"/>
              </a:rPr>
              <a:t>6/9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）。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部分测试者认可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排汗速干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表现，出汗后不易明显粘身，恢复干爽较快（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charset="-122"/>
              </a:rPr>
              <a:t>6/9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）。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D2C6A16-0F9B-E3BE-E6A4-F285A6087290}"/>
              </a:ext>
            </a:extLst>
          </p:cNvPr>
          <p:cNvSpPr txBox="1"/>
          <p:nvPr/>
        </p:nvSpPr>
        <p:spPr>
          <a:xfrm>
            <a:off x="10555698" y="679060"/>
            <a:ext cx="1589062" cy="3141880"/>
          </a:xfrm>
          <a:prstGeom prst="rect">
            <a:avLst/>
          </a:prstGeom>
          <a:solidFill>
            <a:srgbClr val="FFFF00">
              <a:alpha val="0"/>
            </a:srgbClr>
          </a:solidFill>
          <a:ln w="38100" cap="flat">
            <a:noFill/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受试者信息 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Information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A: 162CM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B: 161CM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C: 170CM / 56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D: 156CM / 45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E: 168CM / 60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F: 163CM / 55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G: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H: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I: 162CM / 58 KG</a:t>
            </a:r>
            <a:endParaRPr lang="en-US" altLang="zh-CN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7C5701F-8DBB-A22E-2820-B499A65CE4C2}"/>
              </a:ext>
            </a:extLst>
          </p:cNvPr>
          <p:cNvSpPr txBox="1"/>
          <p:nvPr/>
        </p:nvSpPr>
        <p:spPr>
          <a:xfrm>
            <a:off x="442680" y="3890160"/>
            <a:ext cx="7039439" cy="2400655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C3E0FF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lnSpc>
                <a:spcPct val="150000"/>
              </a:lnSpc>
              <a:def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400">
                <a:solidFill>
                  <a:srgbClr val="0070C0"/>
                </a:solidFill>
                <a:latin typeface="微软雅黑" panose="020B0503020204020204" pitchFamily="34" charset="-122"/>
              </a:rPr>
              <a:t>缺点 </a:t>
            </a:r>
            <a:r>
              <a:rPr lang="en-US" altLang="zh-CN" sz="1400">
                <a:solidFill>
                  <a:srgbClr val="0070C0"/>
                </a:solidFill>
                <a:latin typeface="微软雅黑" panose="020B0503020204020204" pitchFamily="34" charset="-122"/>
              </a:rPr>
              <a:t>drawbacks</a:t>
            </a:r>
          </a:p>
          <a:p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腋下</a:t>
            </a:r>
            <a:r>
              <a:rPr lang="en-US" altLang="zh-CN" sz="1400" b="0">
                <a:solidFill>
                  <a:srgbClr val="000000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胸下</a:t>
            </a:r>
            <a:r>
              <a:rPr lang="en-US" altLang="zh-CN" sz="1400" b="0">
                <a:solidFill>
                  <a:srgbClr val="000000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副乳区域有</a:t>
            </a:r>
            <a:r>
              <a:rPr lang="zh-CN" altLang="en-US" sz="1400">
                <a:solidFill>
                  <a:srgbClr val="00B0F0"/>
                </a:solidFill>
                <a:latin typeface="微软雅黑" panose="020B0503020204020204" pitchFamily="34" charset="-122"/>
              </a:rPr>
              <a:t>摩擦硌感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问题，长距离、出汗后或摆臂时更明显（</a:t>
            </a:r>
            <a:r>
              <a:rPr lang="en-US" altLang="zh-CN" sz="1400" b="0">
                <a:solidFill>
                  <a:srgbClr val="000000"/>
                </a:solidFill>
                <a:latin typeface="微软雅黑" panose="020B0503020204020204" pitchFamily="34" charset="-122"/>
              </a:rPr>
              <a:t>6/9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）。</a:t>
            </a:r>
          </a:p>
          <a:p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前胸与双层结构存在</a:t>
            </a:r>
            <a:r>
              <a:rPr lang="zh-CN" altLang="en-US" sz="1400">
                <a:solidFill>
                  <a:srgbClr val="00B0F0"/>
                </a:solidFill>
                <a:latin typeface="微软雅黑" panose="020B0503020204020204" pitchFamily="34" charset="-122"/>
              </a:rPr>
              <a:t>闷热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、面料</a:t>
            </a:r>
            <a:r>
              <a:rPr lang="zh-CN" altLang="en-US" sz="1400">
                <a:solidFill>
                  <a:srgbClr val="00B0F0"/>
                </a:solidFill>
                <a:latin typeface="微软雅黑" panose="020B0503020204020204" pitchFamily="34" charset="-122"/>
              </a:rPr>
              <a:t>偏厚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情况，透气不足在中高强度下更突出（</a:t>
            </a:r>
            <a:r>
              <a:rPr lang="en-US" altLang="zh-CN" sz="1400" b="0">
                <a:solidFill>
                  <a:srgbClr val="000000"/>
                </a:solidFill>
                <a:latin typeface="微软雅黑" panose="020B0503020204020204" pitchFamily="34" charset="-122"/>
              </a:rPr>
              <a:t>5/9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）。</a:t>
            </a:r>
          </a:p>
          <a:p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吸湿排汗与</a:t>
            </a:r>
            <a:r>
              <a:rPr lang="zh-CN" altLang="en-US" sz="1400">
                <a:solidFill>
                  <a:srgbClr val="00B0F0"/>
                </a:solidFill>
                <a:latin typeface="微软雅黑" panose="020B0503020204020204" pitchFamily="34" charset="-122"/>
              </a:rPr>
              <a:t>速干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表现不稳定，出现粘身、裹汗不排、内层干得慢等反馈（</a:t>
            </a:r>
            <a:r>
              <a:rPr lang="en-US" altLang="zh-CN" sz="1400" b="0">
                <a:solidFill>
                  <a:srgbClr val="000000"/>
                </a:solidFill>
                <a:latin typeface="微软雅黑" panose="020B0503020204020204" pitchFamily="34" charset="-122"/>
              </a:rPr>
              <a:t>7/9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）。</a:t>
            </a:r>
          </a:p>
          <a:p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后背补给兜</a:t>
            </a:r>
            <a:r>
              <a:rPr lang="zh-CN" altLang="en-US" sz="1400">
                <a:solidFill>
                  <a:srgbClr val="00B0F0"/>
                </a:solidFill>
                <a:latin typeface="微软雅黑" panose="020B0503020204020204" pitchFamily="34" charset="-122"/>
              </a:rPr>
              <a:t>取物不便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、位置</a:t>
            </a:r>
            <a:r>
              <a:rPr lang="en-US" altLang="zh-CN" sz="1400" b="0">
                <a:solidFill>
                  <a:srgbClr val="000000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开口</a:t>
            </a:r>
            <a:r>
              <a:rPr lang="zh-CN" altLang="en-US" sz="1400">
                <a:solidFill>
                  <a:srgbClr val="00B0F0"/>
                </a:solidFill>
                <a:latin typeface="微软雅黑" panose="020B0503020204020204" pitchFamily="34" charset="-122"/>
              </a:rPr>
              <a:t>不合理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，且部分反馈会影响排汗或跑步节奏（</a:t>
            </a:r>
            <a:r>
              <a:rPr lang="en-US" altLang="zh-CN" sz="1400" b="0">
                <a:solidFill>
                  <a:srgbClr val="000000"/>
                </a:solidFill>
                <a:latin typeface="微软雅黑" panose="020B0503020204020204" pitchFamily="34" charset="-122"/>
              </a:rPr>
              <a:t>4/9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）。</a:t>
            </a:r>
          </a:p>
          <a:p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个别存在</a:t>
            </a:r>
            <a:r>
              <a:rPr lang="zh-CN" altLang="en-US" sz="1400">
                <a:solidFill>
                  <a:srgbClr val="00B0F0"/>
                </a:solidFill>
                <a:latin typeface="微软雅黑" panose="020B0503020204020204" pitchFamily="34" charset="-122"/>
              </a:rPr>
              <a:t>罩杯压迫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、外层弹性不足及掉色问题，适配性和细节完成度仍需提升（</a:t>
            </a:r>
            <a:r>
              <a:rPr lang="en-US" altLang="zh-CN" sz="1400" b="0">
                <a:solidFill>
                  <a:srgbClr val="000000"/>
                </a:solidFill>
                <a:latin typeface="微软雅黑" panose="020B0503020204020204" pitchFamily="34" charset="-122"/>
              </a:rPr>
              <a:t>2/9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）。</a:t>
            </a:r>
          </a:p>
          <a:p>
            <a:r>
              <a:rPr lang="zh-CN" altLang="en-US" b="0">
                <a:solidFill>
                  <a:srgbClr val="000000"/>
                </a:solidFill>
                <a:latin typeface="微软雅黑" panose="020B0503020204020204" pitchFamily="34" charset="-122"/>
              </a:rPr>
              <a:t>建议改为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</a:rPr>
              <a:t>更柔软透气</a:t>
            </a:r>
            <a:r>
              <a:rPr lang="zh-CN" altLang="en-US" b="0">
                <a:solidFill>
                  <a:srgbClr val="000000"/>
                </a:solidFill>
                <a:latin typeface="微软雅黑" panose="020B0503020204020204" pitchFamily="34" charset="-122"/>
              </a:rPr>
              <a:t>面料并优化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</a:rPr>
              <a:t>腋下</a:t>
            </a: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</a:rPr>
              <a:t>前胸剪裁</a:t>
            </a:r>
            <a:r>
              <a:rPr lang="zh-CN" altLang="en-US" b="0">
                <a:solidFill>
                  <a:srgbClr val="000000"/>
                </a:solidFill>
                <a:latin typeface="微软雅黑" panose="020B0503020204020204" pitchFamily="34" charset="-122"/>
              </a:rPr>
              <a:t>，降低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</a:rPr>
              <a:t>摩擦闷热</a:t>
            </a:r>
            <a:r>
              <a:rPr lang="zh-CN" altLang="en-US" b="0">
                <a:solidFill>
                  <a:srgbClr val="000000"/>
                </a:solidFill>
                <a:latin typeface="微软雅黑" panose="020B0503020204020204" pitchFamily="34" charset="-122"/>
              </a:rPr>
              <a:t>与贴身裹汗感。</a:t>
            </a:r>
            <a:endParaRPr lang="en-US" altLang="zh-CN" b="0" dirty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4385380-2C83-6DCE-A959-D17963FFD3C3}"/>
              </a:ext>
            </a:extLst>
          </p:cNvPr>
          <p:cNvSpPr txBox="1"/>
          <p:nvPr/>
        </p:nvSpPr>
        <p:spPr>
          <a:xfrm>
            <a:off x="262961" y="113947"/>
            <a:ext cx="734520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试穿反馈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Athletes’ Feedback】</a:t>
            </a:r>
            <a:endParaRPr lang="zh-CN" alt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69235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0A1C5-0EF8-281F-974C-25BB65FCD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7">
            <a:extLst>
              <a:ext uri="{FF2B5EF4-FFF2-40B4-BE49-F238E27FC236}">
                <a16:creationId xmlns:a16="http://schemas.microsoft.com/office/drawing/2014/main" id="{70AE837D-3985-E559-0916-7AF06D58B73B}"/>
              </a:ext>
            </a:extLst>
          </p:cNvPr>
          <p:cNvSpPr txBox="1"/>
          <p:nvPr/>
        </p:nvSpPr>
        <p:spPr>
          <a:xfrm>
            <a:off x="2829514" y="1931243"/>
            <a:ext cx="1490150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4</a:t>
            </a:r>
            <a:endParaRPr dirty="0"/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E17205DE-420E-0419-6D20-2AB2C1FAD5D2}"/>
              </a:ext>
            </a:extLst>
          </p:cNvPr>
          <p:cNvSpPr txBox="1"/>
          <p:nvPr/>
        </p:nvSpPr>
        <p:spPr>
          <a:xfrm>
            <a:off x="5879976" y="2746850"/>
            <a:ext cx="4464496" cy="73866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4800" b="1">
                <a:solidFill>
                  <a:schemeClr val="tx1"/>
                </a:solidFill>
                <a:latin typeface="微软雅黑" charset="-122"/>
                <a:ea typeface="微软雅黑" charset="-122"/>
              </a:rPr>
              <a:t>总结</a:t>
            </a:r>
            <a:endParaRPr sz="4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150664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8548A-69C9-F469-163B-95BBE7A8F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C79876B-83B0-CEFF-3320-511E82BD7212}"/>
              </a:ext>
            </a:extLst>
          </p:cNvPr>
          <p:cNvSpPr/>
          <p:nvPr/>
        </p:nvSpPr>
        <p:spPr>
          <a:xfrm>
            <a:off x="191344" y="188640"/>
            <a:ext cx="902811" cy="5232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B42A42-C702-C56C-D288-45FD74AF09CB}"/>
              </a:ext>
            </a:extLst>
          </p:cNvPr>
          <p:cNvSpPr/>
          <p:nvPr/>
        </p:nvSpPr>
        <p:spPr>
          <a:xfrm>
            <a:off x="407368" y="7304072"/>
            <a:ext cx="1130525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基础数据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生物力学数据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人体试穿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建议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 文字描述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 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 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        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000000-0008-0000-0000-000014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130300"/>
            <a:ext cx="2582883" cy="13716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2A80825-D111-AB2B-2BDA-3576F444F2DB}"/>
              </a:ext>
            </a:extLst>
          </p:cNvPr>
          <p:cNvSpPr txBox="1"/>
          <p:nvPr/>
        </p:nvSpPr>
        <p:spPr>
          <a:xfrm>
            <a:off x="647700" y="2603500"/>
            <a:ext cx="11455400" cy="3046986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【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】
1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、整体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版型合身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修身显身材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，多数反馈包裹稳定，动作舒展不受限。
</a:t>
            </a: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、产品具备一定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支撑性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，可覆盖日常慢跑、恢复跑到部分高强度训练场景。
</a:t>
            </a: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、部分测试者认可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亲肤性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耐用性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，洗后不起球不勾丝，外观表现较稳定。
</a:t>
            </a: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【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】
1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、腋下、胸下、副乳区域存在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摩擦硌感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，长距离、出汗后或摆臂时更明显。
</a:t>
            </a: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、前胸及双层结构易出现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闷热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透气不足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，部分反馈面料偏厚、清爽感不足。
</a:t>
            </a: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、整体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排汗速干一般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，有粘身、裹汗不排现象；后背补给兜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取物不便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、实用性弱。</a:t>
            </a:r>
          </a:p>
        </p:txBody>
      </p:sp>
    </p:spTree>
    <p:extLst>
      <p:ext uri="{BB962C8B-B14F-4D97-AF65-F5344CB8AC3E}">
        <p14:creationId xmlns:p14="http://schemas.microsoft.com/office/powerpoint/2010/main" val="140420854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70F3-F80B-5168-AC2D-04C0AECB7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矩形 259">
            <a:extLst>
              <a:ext uri="{FF2B5EF4-FFF2-40B4-BE49-F238E27FC236}">
                <a16:creationId xmlns:a16="http://schemas.microsoft.com/office/drawing/2014/main" id="{5EEC9042-9605-C749-6A14-3D23AF81ACE1}"/>
              </a:ext>
            </a:extLst>
          </p:cNvPr>
          <p:cNvSpPr txBox="1"/>
          <p:nvPr/>
        </p:nvSpPr>
        <p:spPr>
          <a:xfrm>
            <a:off x="904309" y="2569883"/>
            <a:ext cx="6479835" cy="9233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400"/>
              </a:spcBef>
              <a:defRPr sz="6000" b="1"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r>
              <a:rPr dirty="0">
                <a:latin typeface="微软雅黑" pitchFamily="34" charset="-122"/>
                <a:ea typeface="微软雅黑" pitchFamily="34" charset="-122"/>
              </a:rPr>
              <a:t>THANK YOU</a:t>
            </a:r>
          </a:p>
        </p:txBody>
      </p:sp>
      <p:pic>
        <p:nvPicPr>
          <p:cNvPr id="645" name="Picture 3" descr="Picture 3">
            <a:extLst>
              <a:ext uri="{FF2B5EF4-FFF2-40B4-BE49-F238E27FC236}">
                <a16:creationId xmlns:a16="http://schemas.microsoft.com/office/drawing/2014/main" id="{154CDBD1-5467-0793-F408-70D22FE133B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83955" y="399810"/>
            <a:ext cx="1198866" cy="112601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30CC1E4-2FC3-EFAA-AA32-AE0151DE773C}"/>
              </a:ext>
            </a:extLst>
          </p:cNvPr>
          <p:cNvSpPr/>
          <p:nvPr/>
        </p:nvSpPr>
        <p:spPr>
          <a:xfrm>
            <a:off x="767080" y="5300980"/>
            <a:ext cx="3067685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科技中心   </a:t>
            </a:r>
          </a:p>
        </p:txBody>
      </p:sp>
    </p:spTree>
    <p:extLst>
      <p:ext uri="{BB962C8B-B14F-4D97-AF65-F5344CB8AC3E}">
        <p14:creationId xmlns:p14="http://schemas.microsoft.com/office/powerpoint/2010/main" val="16058940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1635</Words>
  <Application>Microsoft Office PowerPoint</Application>
  <PresentationFormat>宽屏</PresentationFormat>
  <Paragraphs>107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微软雅黑</vt:lpstr>
      <vt:lpstr>Arial</vt:lpstr>
      <vt:lpstr>Wingdings</vt:lpstr>
      <vt:lpstr>1_包图主题2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K_OCEAN</dc:creator>
  <cp:lastModifiedBy>陈晶</cp:lastModifiedBy>
  <cp:revision>1085</cp:revision>
  <dcterms:created xsi:type="dcterms:W3CDTF">2019-03-25T05:53:00Z</dcterms:created>
  <dcterms:modified xsi:type="dcterms:W3CDTF">2026-05-28T05:37:56Z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2052-10.1.0.5740</vt:lpwstr>
  </property>
</Properties>
</file>