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21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5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7"/>
              <c:pt idx="0">
                <c:v>抓地性（Traction）</c:v>
              </c:pt>
              <c:pt idx="1">
                <c:v>重量&amp;透气性（Weight&amp;Ventilation）</c:v>
              </c:pt>
              <c:pt idx="2">
                <c:v>缓震性（Cushioning）</c:v>
              </c:pt>
              <c:pt idx="3">
                <c:v>包裹性（Lockdwon）</c:v>
              </c:pt>
              <c:pt idx="4">
                <c:v>抗扭转性（Torsional Support ）</c:v>
              </c:pt>
              <c:pt idx="5">
                <c:v>防侧翻性（Lateral Stability）</c:v>
              </c:pt>
              <c:pt idx="6">
                <c:v>耐久性（Durability）</c:v>
              </c:pt>
            </c:strLit>
          </c:cat>
          <c:val>
            <c:numLit>
              <c:formatCode>General</c:formatCode>
              <c:ptCount val="7"/>
              <c:pt idx="0">
                <c:v>4</c:v>
              </c:pt>
              <c:pt idx="1">
                <c:v>10</c:v>
              </c:pt>
              <c:pt idx="2">
                <c:v>5</c:v>
              </c:pt>
              <c:pt idx="3">
                <c:v>10</c:v>
              </c:pt>
              <c:pt idx="4">
                <c:v>10</c:v>
              </c:pt>
              <c:pt idx="5">
                <c:v>10</c:v>
              </c:pt>
              <c:pt idx="6">
                <c:v>10</c:v>
              </c:pt>
            </c:numLit>
          </c:val>
          <c:extLst>
            <c:ext xmlns:c16="http://schemas.microsoft.com/office/drawing/2014/chart" uri="{C3380CC4-5D6E-409C-BE32-E72D297353CC}">
              <c16:uniqueId val="{00000000-717A-4011-A90B-B56100D252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84554832"/>
        <c:axId val="584549424"/>
        <c:axId val="0"/>
      </c:bar3DChart>
      <c:catAx>
        <c:axId val="58455483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49424"/>
        <c:crosses val="autoZero"/>
        <c:auto val="1"/>
        <c:lblAlgn val="ctr"/>
        <c:lblOffset val="100"/>
        <c:noMultiLvlLbl val="0"/>
      </c:catAx>
      <c:valAx>
        <c:axId val="584549424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84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9144A-3D0F-4932-8CF7-26B43B4B45B4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1C4C1D-7F04-4838-93F3-AC05895795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07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7E194-F591-4967-BDE8-9E9553068FC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8844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952895-1884-D898-170A-48AD984EC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7A4714E-0D97-2FBA-095E-3EC4F2CC2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C473F0-0CF4-4E9C-9B5C-720A1D08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7DDD94-DDF1-FD3E-7D88-FA96F27ED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711E04-FFD8-79F3-C13B-99ACC6FC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459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02EF4-A366-F590-2BB3-8AFDC2336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39067-A880-BA9D-1BD3-CF8582852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FF0DBE-6A3C-F2CE-A723-9AE8859CA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9F7B25-0B23-388E-4EFE-5840FCA6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B2EEC1-947D-2FB1-C907-DDA113CE9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44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B6E32F-5585-1FDB-CD1C-8A8BE067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1DC7D8-C51C-184A-9A12-EED595696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FA18EA-E499-0BC6-5807-4CAFAC0CF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5A47AC-A4AB-B952-742D-CE2884F24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46333B-8FC8-2257-180C-ABD6F646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419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92CD7-F288-AFED-8CBC-33D65001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3F586A-B535-A5EA-BE6F-20E5DDAC5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5E2D8D-DD90-B7BC-FA70-6EB705F10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56A04B-AA70-EEA7-6B9B-EBA1660B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1E0BD7-0684-5FF7-5209-3A5679622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D26E3B-D9F2-C3C2-EB86-CEE5B03A9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62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3ED80-89DC-45B7-626B-A62BA0599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5358D1-DBE4-8C0C-6DFE-38AA65B72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F5224E-E756-E11E-6584-4FCABFBAC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6A11E2-CDBF-C57C-4D3D-5A2AC8C1B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8BB0F3D-0079-C588-6F88-CFEA36F2B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95A275-0959-5482-B879-D0DEB68E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607CCDC-F8A5-A9DC-F79D-9D38F0B8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B4388D-7895-1BFB-8325-DA58DE7C8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68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F5FC42-41F2-FAAB-E286-3B77AE5D0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464FCF-9737-42CB-8B6D-67005965E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FA02BBC-C2B6-1840-C9EC-0337B1C0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14F129-3034-E891-174A-DA670C6A2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14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641DA33-3C84-BF31-0AAD-A275D92D3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6C09D6-FD8E-F5D3-DFF3-87320913A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4B14D86-1D00-A17E-1CBD-54ED4A491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63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E4034F-A8DA-2CB8-7CAF-7EF2C5C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8A581B-115A-C104-50AD-DAAD35FB0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5A72A9-4D3F-C350-0635-ADBFAD649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F8CD0A-0E72-01FF-54C4-BA3044C7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6C07DC0-581F-FD0B-9903-F81126F5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EA8B32-2A8F-4F33-D7AD-17ED4207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862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627FB-5946-92B8-8E82-A39B7574C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CF8EB9B-9AAD-7A88-8066-BF0DD8DF5A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1D8E1E-5DA6-B0AA-117D-EE4FC663F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41E1E4-832D-3FAA-2B7D-20F8BA4C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64530E-F2B1-12CD-373C-767268FFB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96D15C-F32B-1704-3812-16987D007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98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6685B-71CE-2405-B9B4-408083DA8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D025A9-1D6A-4C31-6453-C7A5B9F59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36AD6B-C791-3099-2ABC-9EFF943EA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2D4D2A-A371-835E-1FDC-0F9AD7ED2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5F5732-68F2-6F2E-35F9-C7871BEC8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8730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A7C787-4F78-CE2A-E3A2-E36DB6B9C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605041-0E94-E12D-A705-4EA1E0BA6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9A1CB0-F662-2680-5B05-6571E0FFE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6D294-5554-E670-E107-5F154D986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6EEB17-0520-9986-C5EC-D4113F29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082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60945" y="58695"/>
            <a:ext cx="1228725" cy="990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9643" y="0"/>
            <a:ext cx="862357" cy="9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33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F6B72BB-8C10-1156-801C-6F618D00F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B36F22-EA9B-97D1-A6DD-5A6A07310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633300-F6C2-2BCA-5E95-3161403F2A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4F585-3DB0-4722-B399-FFF9AD06266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3A6190-CB05-3A1B-D7D4-BE4D1A826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473368-CAB8-19EC-2C36-47F6CE75F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807F76-B708-4EE4-B41F-29D8440934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12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92871-22AD-CD04-93E5-4F0D7DBE9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F50DEA5D-1F8C-E6C7-F38E-3BF5E45B9769}"/>
              </a:ext>
            </a:extLst>
          </p:cNvPr>
          <p:cNvCxnSpPr/>
          <p:nvPr/>
        </p:nvCxnSpPr>
        <p:spPr>
          <a:xfrm>
            <a:off x="263352" y="2337973"/>
            <a:ext cx="0" cy="4365023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07C47286-FC69-D4E4-D583-85C7677B7966}"/>
              </a:ext>
            </a:extLst>
          </p:cNvPr>
          <p:cNvCxnSpPr/>
          <p:nvPr/>
        </p:nvCxnSpPr>
        <p:spPr>
          <a:xfrm>
            <a:off x="263352" y="6697621"/>
            <a:ext cx="1173730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5DD6B7A-B688-6DA9-176F-5A5DFEEA00EE}"/>
              </a:ext>
            </a:extLst>
          </p:cNvPr>
          <p:cNvCxnSpPr/>
          <p:nvPr/>
        </p:nvCxnSpPr>
        <p:spPr>
          <a:xfrm>
            <a:off x="11986765" y="2420888"/>
            <a:ext cx="0" cy="428210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12C4E460-3A6C-A0B8-A199-E88E7D56AE50}"/>
              </a:ext>
            </a:extLst>
          </p:cNvPr>
          <p:cNvSpPr/>
          <p:nvPr/>
        </p:nvSpPr>
        <p:spPr>
          <a:xfrm>
            <a:off x="9314885" y="314655"/>
            <a:ext cx="1843150" cy="147616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452091F-39DE-516E-A86F-659BE408A02D}"/>
              </a:ext>
            </a:extLst>
          </p:cNvPr>
          <p:cNvCxnSpPr/>
          <p:nvPr/>
        </p:nvCxnSpPr>
        <p:spPr>
          <a:xfrm>
            <a:off x="9192344" y="188640"/>
            <a:ext cx="0" cy="6508981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9D531F9-36DA-34FB-E12A-04412C063202}"/>
              </a:ext>
            </a:extLst>
          </p:cNvPr>
          <p:cNvCxnSpPr/>
          <p:nvPr/>
        </p:nvCxnSpPr>
        <p:spPr>
          <a:xfrm>
            <a:off x="263352" y="188640"/>
            <a:ext cx="11017224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BFC7A53-AA8B-B0EF-CF11-90B5207603D7}"/>
              </a:ext>
            </a:extLst>
          </p:cNvPr>
          <p:cNvCxnSpPr/>
          <p:nvPr/>
        </p:nvCxnSpPr>
        <p:spPr>
          <a:xfrm>
            <a:off x="263352" y="185339"/>
            <a:ext cx="0" cy="579365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F159957-409B-9120-31A3-90231868E118}"/>
              </a:ext>
            </a:extLst>
          </p:cNvPr>
          <p:cNvCxnSpPr/>
          <p:nvPr/>
        </p:nvCxnSpPr>
        <p:spPr>
          <a:xfrm flipV="1">
            <a:off x="9192344" y="2415514"/>
            <a:ext cx="2789094" cy="5374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1DB6164-BA5C-E2C5-92D3-A62FBD08B5D1}"/>
              </a:ext>
            </a:extLst>
          </p:cNvPr>
          <p:cNvCxnSpPr/>
          <p:nvPr/>
        </p:nvCxnSpPr>
        <p:spPr>
          <a:xfrm>
            <a:off x="11280576" y="188640"/>
            <a:ext cx="0" cy="2232248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B44C807-C513-55F7-BB5A-5759370D75B2}"/>
              </a:ext>
            </a:extLst>
          </p:cNvPr>
          <p:cNvCxnSpPr/>
          <p:nvPr/>
        </p:nvCxnSpPr>
        <p:spPr>
          <a:xfrm>
            <a:off x="9192344" y="1916832"/>
            <a:ext cx="2088232" cy="0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35BB10F-EBCB-A4B1-E2DF-220535271FF7}"/>
              </a:ext>
            </a:extLst>
          </p:cNvPr>
          <p:cNvSpPr/>
          <p:nvPr/>
        </p:nvSpPr>
        <p:spPr>
          <a:xfrm>
            <a:off x="9230509" y="1893819"/>
            <a:ext cx="1974467" cy="4584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8.29/10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CEB8835-406A-564B-1896-E2E725C2CB96}"/>
              </a:ext>
            </a:extLst>
          </p:cNvPr>
          <p:cNvSpPr/>
          <p:nvPr/>
        </p:nvSpPr>
        <p:spPr>
          <a:xfrm>
            <a:off x="9840416" y="44624"/>
            <a:ext cx="773897" cy="155670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72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</a:t>
            </a:r>
            <a:endParaRPr lang="zh-CN" altLang="en-US" sz="7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648B9329-8CFE-4E4D-2103-764F17732125}"/>
              </a:ext>
            </a:extLst>
          </p:cNvPr>
          <p:cNvCxnSpPr/>
          <p:nvPr/>
        </p:nvCxnSpPr>
        <p:spPr>
          <a:xfrm>
            <a:off x="263352" y="3227063"/>
            <a:ext cx="8928992" cy="0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9BE1BE92-E54B-4677-2142-4852FA892F8B}"/>
              </a:ext>
            </a:extLst>
          </p:cNvPr>
          <p:cNvSpPr/>
          <p:nvPr/>
        </p:nvSpPr>
        <p:spPr>
          <a:xfrm>
            <a:off x="311218" y="2337973"/>
            <a:ext cx="2704623" cy="854080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试穿人数：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人
测试者平均体重：</a:t>
            </a:r>
            <a:r>
              <a:rPr lang="en-US" altLang="zh-CN" sz="1100">
                <a:latin typeface="微软雅黑" panose="020B0503020204020204" pitchFamily="34" charset="-122"/>
                <a:ea typeface="微软雅黑" panose="020B0503020204020204" pitchFamily="34" charset="-122"/>
              </a:rPr>
              <a:t>84.3KG
</a:t>
            </a:r>
            <a:r>
              <a:rPr lang="zh-CN" altLang="en-US" sz="1100">
                <a:latin typeface="微软雅黑" panose="020B0503020204020204" pitchFamily="34" charset="-122"/>
                <a:ea typeface="微软雅黑" panose="020B0503020204020204" pitchFamily="34" charset="-122"/>
              </a:rPr>
              <a:t>测试者球场定位：速度型后卫、突投结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FE8141-3EF8-DBB5-DC05-C376CE4943C0}"/>
              </a:ext>
            </a:extLst>
          </p:cNvPr>
          <p:cNvSpPr/>
          <p:nvPr/>
        </p:nvSpPr>
        <p:spPr>
          <a:xfrm>
            <a:off x="9196387" y="2415514"/>
            <a:ext cx="2785051" cy="326613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no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6DE70494-1D94-5B53-200B-3831A13B19F9}"/>
              </a:ext>
            </a:extLst>
          </p:cNvPr>
          <p:cNvCxnSpPr/>
          <p:nvPr/>
        </p:nvCxnSpPr>
        <p:spPr>
          <a:xfrm>
            <a:off x="5692599" y="3284417"/>
            <a:ext cx="0" cy="3447692"/>
          </a:xfrm>
          <a:prstGeom prst="line">
            <a:avLst/>
          </a:prstGeom>
          <a:ln w="9525">
            <a:solidFill>
              <a:srgbClr val="C00000"/>
            </a:solidFill>
            <a:prstDash val="dashDot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图片 39">
            <a:extLst>
              <a:ext uri="{FF2B5EF4-FFF2-40B4-BE49-F238E27FC236}">
                <a16:creationId xmlns:a16="http://schemas.microsoft.com/office/drawing/2014/main" id="{C5758638-8F56-A657-1C99-5CCB8D6C370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28" b="24973"/>
          <a:stretch/>
        </p:blipFill>
        <p:spPr>
          <a:xfrm>
            <a:off x="278790" y="987483"/>
            <a:ext cx="2614510" cy="1127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2B42C03E-06F3-D01E-F474-736165E793C2}"/>
              </a:ext>
            </a:extLst>
          </p:cNvPr>
          <p:cNvSpPr/>
          <p:nvPr/>
        </p:nvSpPr>
        <p:spPr>
          <a:xfrm>
            <a:off x="263352" y="192792"/>
            <a:ext cx="2752489" cy="571912"/>
          </a:xfrm>
          <a:prstGeom prst="rect">
            <a:avLst/>
          </a:prstGeom>
          <a:solidFill>
            <a:srgbClr val="B01A2B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58502D-576B-6C89-24AF-E760030EC50F}"/>
              </a:ext>
            </a:extLst>
          </p:cNvPr>
          <p:cNvSpPr txBox="1"/>
          <p:nvPr/>
        </p:nvSpPr>
        <p:spPr>
          <a:xfrm>
            <a:off x="188387" y="241588"/>
            <a:ext cx="3200492" cy="461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t">
            <a:noAutofit/>
          </a:bodyPr>
          <a:lstStyle/>
          <a:p>
            <a:pPr defTabSz="457200" hangingPunct="0"/>
            <a:r>
              <a:rPr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‘SUPER GRASS’</a:t>
            </a:r>
            <a:endParaRPr kumimoji="0" lang="zh-CN" altLang="en-US" sz="4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楷体" panose="02010609060101010101" pitchFamily="49" charset="-122"/>
              <a:ea typeface="楷体" panose="02010609060101010101" pitchFamily="49" charset="-122"/>
              <a:sym typeface="Arial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11E37340-F6D0-F899-62FA-DA4731BEE932}"/>
              </a:ext>
            </a:extLst>
          </p:cNvPr>
          <p:cNvCxnSpPr/>
          <p:nvPr/>
        </p:nvCxnSpPr>
        <p:spPr>
          <a:xfrm>
            <a:off x="3015841" y="185339"/>
            <a:ext cx="0" cy="1812349"/>
          </a:xfrm>
          <a:prstGeom prst="line">
            <a:avLst/>
          </a:prstGeom>
          <a:ln w="19050">
            <a:solidFill>
              <a:srgbClr val="B01A2B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36896C7-0B6C-262C-802E-48BF59BAAEF2}"/>
              </a:ext>
            </a:extLst>
          </p:cNvPr>
          <p:cNvSpPr/>
          <p:nvPr/>
        </p:nvSpPr>
        <p:spPr>
          <a:xfrm>
            <a:off x="256585" y="3310258"/>
            <a:ext cx="5294413" cy="31393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整体脚感舒适（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
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抓地表现较好（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6B25D678-3B68-D983-3D9D-A325506B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0" y="3115693"/>
            <a:ext cx="379660" cy="404154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505BE928-C9B9-002F-6818-DB405601F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1111" y="3148091"/>
            <a:ext cx="379660" cy="404154"/>
          </a:xfrm>
          <a:prstGeom prst="rect">
            <a:avLst/>
          </a:prstGeom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98A7A975-90D3-C2F4-28A0-5B741523D152}"/>
              </a:ext>
            </a:extLst>
          </p:cNvPr>
          <p:cNvSpPr/>
          <p:nvPr/>
        </p:nvSpPr>
        <p:spPr>
          <a:xfrm>
            <a:off x="5725020" y="3310258"/>
            <a:ext cx="3484386" cy="286232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止滑性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抓地表现较好（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
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舒适性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】
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整体脚感舒适（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1/3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solidFill>
                <a:srgbClr val="1E7C4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CFB63C-5BA7-CCAE-C088-64467DEF277C}"/>
              </a:ext>
            </a:extLst>
          </p:cNvPr>
          <p:cNvSpPr/>
          <p:nvPr/>
        </p:nvSpPr>
        <p:spPr>
          <a:xfrm>
            <a:off x="2409648" y="595529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800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First round</a:t>
            </a:r>
            <a:endParaRPr lang="zh-CN" altLang="en-US" sz="800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aphicFrame>
        <p:nvGraphicFramePr>
          <p:cNvPr id="19" name="图表 44">
            <a:extLst>
              <a:ext uri="{FF2B5EF4-FFF2-40B4-BE49-F238E27FC236}">
                <a16:creationId xmlns:a16="http://schemas.microsoft.com/office/drawing/2014/main" id="{C1BC75A2-27B3-3F68-EFE7-7569403389C6}"/>
              </a:ext>
            </a:extLst>
          </p:cNvPr>
          <p:cNvGraphicFramePr>
            <a:graphicFrameLocks/>
          </p:cNvGraphicFramePr>
          <p:nvPr/>
        </p:nvGraphicFramePr>
        <p:xfrm>
          <a:off x="3071664" y="290013"/>
          <a:ext cx="5934011" cy="28509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758356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楷体</vt:lpstr>
      <vt:lpstr>微软雅黑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陈晶</dc:creator>
  <cp:lastModifiedBy>陈晶</cp:lastModifiedBy>
  <cp:revision>1</cp:revision>
  <dcterms:created xsi:type="dcterms:W3CDTF">2026-03-17T09:20:56Z</dcterms:created>
  <dcterms:modified xsi:type="dcterms:W3CDTF">2026-03-17T09:21:03Z</dcterms:modified>
</cp:coreProperties>
</file>