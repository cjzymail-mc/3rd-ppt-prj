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1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5376"/>
    <a:srgbClr val="DCB04B"/>
    <a:srgbClr val="1A1C20"/>
    <a:srgbClr val="F2F2F2"/>
    <a:srgbClr val="A6A6A6"/>
    <a:srgbClr val="FFC000"/>
    <a:srgbClr val="6C968B"/>
    <a:srgbClr val="46BDE7"/>
    <a:srgbClr val="385A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75" autoAdjust="0"/>
    <p:restoredTop sz="95455" autoAdjust="0"/>
  </p:normalViewPr>
  <p:slideViewPr>
    <p:cSldViewPr snapToGrid="0">
      <p:cViewPr varScale="1">
        <p:scale>
          <a:sx n="112" d="100"/>
          <a:sy n="112" d="100"/>
        </p:scale>
        <p:origin x="11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Documents%20and%20Settings\xy29\Desktop\&#31726;&#29699;&#38795;&#35797;&#31359;&#21453;&#39304;_20250812144545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bg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篮球鞋试穿反馈!$B$13:$B$19</c:f>
              <c:strCache>
                <c:ptCount val="7"/>
                <c:pt idx="0">
                  <c:v>抓地性</c:v>
                </c:pt>
                <c:pt idx="1">
                  <c:v>缓震性</c:v>
                </c:pt>
                <c:pt idx="2">
                  <c:v>包裹性</c:v>
                </c:pt>
                <c:pt idx="3">
                  <c:v>抗扭转性</c:v>
                </c:pt>
                <c:pt idx="4">
                  <c:v>重量</c:v>
                </c:pt>
                <c:pt idx="5">
                  <c:v>防侧翻性</c:v>
                </c:pt>
                <c:pt idx="6">
                  <c:v>耐久性</c:v>
                </c:pt>
              </c:strCache>
            </c:strRef>
          </c:cat>
          <c:val>
            <c:numRef>
              <c:f>篮球鞋试穿反馈!$C$13:$C$19</c:f>
              <c:numCache>
                <c:formatCode>General</c:formatCode>
                <c:ptCount val="7"/>
                <c:pt idx="0">
                  <c:v>7</c:v>
                </c:pt>
                <c:pt idx="1">
                  <c:v>7</c:v>
                </c:pt>
                <c:pt idx="2">
                  <c:v>8</c:v>
                </c:pt>
                <c:pt idx="3">
                  <c:v>8</c:v>
                </c:pt>
                <c:pt idx="4">
                  <c:v>7</c:v>
                </c:pt>
                <c:pt idx="5">
                  <c:v>7</c:v>
                </c:pt>
                <c:pt idx="6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24-4E07-8FC3-CCB368F3BE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231379776"/>
        <c:axId val="231375616"/>
      </c:barChart>
      <c:catAx>
        <c:axId val="2313797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31375616"/>
        <c:crosses val="autoZero"/>
        <c:auto val="1"/>
        <c:lblAlgn val="ctr"/>
        <c:lblOffset val="100"/>
        <c:noMultiLvlLbl val="0"/>
      </c:catAx>
      <c:valAx>
        <c:axId val="231375616"/>
        <c:scaling>
          <c:orientation val="minMax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3137977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220CF9-A20F-463D-9A66-6C44E8B29DB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227E47-7A88-49AF-9514-EBCEF63D2C3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6899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png"/><Relationship Id="rId5" Type="http://schemas.microsoft.com/office/2007/relationships/hdphoto" Target="../media/hdphoto1.wdp"/><Relationship Id="rId4" Type="http://schemas.openxmlformats.org/officeDocument/2006/relationships/image" Target="../media/image1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microsoft.com/office/2007/relationships/hdphoto" Target="../media/hdphoto1.wdp"/><Relationship Id="rId5" Type="http://schemas.openxmlformats.org/officeDocument/2006/relationships/image" Target="../media/image12.png"/><Relationship Id="rId4" Type="http://schemas.microsoft.com/office/2007/relationships/hdphoto" Target="../media/hdphoto3.wdp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png"/><Relationship Id="rId5" Type="http://schemas.openxmlformats.org/officeDocument/2006/relationships/image" Target="../media/image16.png"/><Relationship Id="rId4" Type="http://schemas.microsoft.com/office/2007/relationships/hdphoto" Target="../media/hdphoto3.wdp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锋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818" r="32792"/>
          <a:stretch/>
        </p:blipFill>
        <p:spPr>
          <a:xfrm rot="13839941">
            <a:off x="8267748" y="904743"/>
            <a:ext cx="1069397" cy="6858000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>
              <a:alpha val="8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1" t="14131" r="54230" b="64673"/>
          <a:stretch/>
        </p:blipFill>
        <p:spPr>
          <a:xfrm>
            <a:off x="1115872" y="2622666"/>
            <a:ext cx="878666" cy="3295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sp>
        <p:nvSpPr>
          <p:cNvPr id="13" name="矩形 12"/>
          <p:cNvSpPr/>
          <p:nvPr userDrawn="1"/>
        </p:nvSpPr>
        <p:spPr>
          <a:xfrm>
            <a:off x="4587922" y="6611779"/>
            <a:ext cx="235192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0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 QD SPORTS SCIENCE LABORATORY</a:t>
            </a:r>
            <a:endParaRPr lang="zh-CN" altLang="en-US" sz="10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14" name="直接箭头连接符 13"/>
          <p:cNvCxnSpPr/>
          <p:nvPr userDrawn="1"/>
        </p:nvCxnSpPr>
        <p:spPr>
          <a:xfrm>
            <a:off x="11830026" y="6684861"/>
            <a:ext cx="259398" cy="0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/>
          <p:cNvSpPr/>
          <p:nvPr userDrawn="1"/>
        </p:nvSpPr>
        <p:spPr>
          <a:xfrm>
            <a:off x="11313538" y="6549111"/>
            <a:ext cx="516488" cy="253916"/>
          </a:xfrm>
          <a:prstGeom prst="rect">
            <a:avLst/>
          </a:prstGeom>
        </p:spPr>
        <p:txBody>
          <a:bodyPr vert="horz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Enter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3745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风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 rotWithShape="1">
          <a:blip r:embed="rId2"/>
          <a:srcRect l="32296" t="1361" r="1947" b="2744"/>
          <a:stretch/>
        </p:blipFill>
        <p:spPr>
          <a:xfrm rot="16200000">
            <a:off x="2666999" y="-2667001"/>
            <a:ext cx="6858001" cy="12192000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>
              <a:alpha val="8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 userDrawn="1"/>
        </p:nvSpPr>
        <p:spPr>
          <a:xfrm>
            <a:off x="4587922" y="6611779"/>
            <a:ext cx="235192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0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 QD SPORTS SCIENCE LABORATORY</a:t>
            </a:r>
            <a:endParaRPr lang="zh-CN" altLang="en-US" sz="10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12" name="直接箭头连接符 11"/>
          <p:cNvCxnSpPr/>
          <p:nvPr userDrawn="1"/>
        </p:nvCxnSpPr>
        <p:spPr>
          <a:xfrm>
            <a:off x="11830026" y="6684861"/>
            <a:ext cx="259398" cy="0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31" t="4336" r="6882" b="55627"/>
          <a:stretch/>
        </p:blipFill>
        <p:spPr>
          <a:xfrm>
            <a:off x="1207400" y="2476222"/>
            <a:ext cx="695610" cy="622388"/>
          </a:xfrm>
          <a:prstGeom prst="rect">
            <a:avLst/>
          </a:prstGeom>
        </p:spPr>
      </p:pic>
      <p:sp>
        <p:nvSpPr>
          <p:cNvPr id="14" name="矩形 13"/>
          <p:cNvSpPr/>
          <p:nvPr userDrawn="1"/>
        </p:nvSpPr>
        <p:spPr>
          <a:xfrm>
            <a:off x="11313538" y="6549111"/>
            <a:ext cx="516488" cy="253916"/>
          </a:xfrm>
          <a:prstGeom prst="rect">
            <a:avLst/>
          </a:prstGeom>
        </p:spPr>
        <p:txBody>
          <a:bodyPr vert="horz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Enter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995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磨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-2"/>
            <a:ext cx="12192000" cy="6858000"/>
          </a:xfrm>
          <a:prstGeom prst="rect">
            <a:avLst/>
          </a:prstGeom>
          <a:solidFill>
            <a:srgbClr val="1A1C20">
              <a:alpha val="8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5"/>
            <a:ext cx="431472" cy="465748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4587922" y="6611780"/>
            <a:ext cx="2351926" cy="246221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0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 QD SPORTS SCIENCE LABORATORY</a:t>
            </a:r>
            <a:endParaRPr lang="zh-CN" altLang="en-US" sz="10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12" name="直接箭头连接符 11"/>
          <p:cNvCxnSpPr/>
          <p:nvPr userDrawn="1"/>
        </p:nvCxnSpPr>
        <p:spPr>
          <a:xfrm>
            <a:off x="11830026" y="6684862"/>
            <a:ext cx="259398" cy="0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/>
          <p:cNvSpPr/>
          <p:nvPr userDrawn="1"/>
        </p:nvSpPr>
        <p:spPr>
          <a:xfrm>
            <a:off x="11313538" y="6549112"/>
            <a:ext cx="516488" cy="253916"/>
          </a:xfrm>
          <a:prstGeom prst="rect">
            <a:avLst/>
          </a:prstGeom>
        </p:spPr>
        <p:txBody>
          <a:bodyPr vert="horz" wrap="non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Enter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82" t="51812" r="55809" b="19927"/>
          <a:stretch/>
        </p:blipFill>
        <p:spPr>
          <a:xfrm>
            <a:off x="1261852" y="2567751"/>
            <a:ext cx="658999" cy="43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47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战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342238" cy="6858000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>
              <a:alpha val="8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4587922" y="6611779"/>
            <a:ext cx="235192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0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 QD SPORTS SCIENCE LABORATORY</a:t>
            </a:r>
            <a:endParaRPr lang="zh-CN" altLang="en-US" sz="10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287" t="58504" r="8460" b="8524"/>
          <a:stretch/>
        </p:blipFill>
        <p:spPr>
          <a:xfrm>
            <a:off x="1248833" y="2519341"/>
            <a:ext cx="612744" cy="536151"/>
          </a:xfrm>
          <a:prstGeom prst="rect">
            <a:avLst/>
          </a:prstGeom>
        </p:spPr>
      </p:pic>
      <p:cxnSp>
        <p:nvCxnSpPr>
          <p:cNvPr id="14" name="直接箭头连接符 13"/>
          <p:cNvCxnSpPr/>
          <p:nvPr userDrawn="1"/>
        </p:nvCxnSpPr>
        <p:spPr>
          <a:xfrm>
            <a:off x="11830026" y="6684861"/>
            <a:ext cx="259398" cy="0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/>
          <p:cNvSpPr/>
          <p:nvPr userDrawn="1"/>
        </p:nvSpPr>
        <p:spPr>
          <a:xfrm>
            <a:off x="11313538" y="6549111"/>
            <a:ext cx="516488" cy="253916"/>
          </a:xfrm>
          <a:prstGeom prst="rect">
            <a:avLst/>
          </a:prstGeom>
        </p:spPr>
        <p:txBody>
          <a:bodyPr vert="horz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Enter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7530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/>
          <a:srcRect t="19705"/>
          <a:stretch/>
        </p:blipFill>
        <p:spPr>
          <a:xfrm>
            <a:off x="0" y="-8791"/>
            <a:ext cx="12192000" cy="6858376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-17206"/>
            <a:ext cx="12192000" cy="6875206"/>
          </a:xfrm>
          <a:prstGeom prst="rect">
            <a:avLst/>
          </a:prstGeom>
          <a:solidFill>
            <a:srgbClr val="1A1C20">
              <a:alpha val="8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50" y="2622666"/>
            <a:ext cx="994109" cy="394869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4587922" y="6611779"/>
            <a:ext cx="235192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0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 QD SPORTS SCIENCE LABORATORY</a:t>
            </a:r>
            <a:endParaRPr lang="zh-CN" altLang="en-US" sz="10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8" name="直接箭头连接符 7"/>
          <p:cNvCxnSpPr/>
          <p:nvPr userDrawn="1"/>
        </p:nvCxnSpPr>
        <p:spPr>
          <a:xfrm>
            <a:off x="11830026" y="6684861"/>
            <a:ext cx="259398" cy="0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1313538" y="6549111"/>
            <a:ext cx="516488" cy="253916"/>
          </a:xfrm>
          <a:prstGeom prst="rect">
            <a:avLst/>
          </a:prstGeom>
        </p:spPr>
        <p:txBody>
          <a:bodyPr vert="horz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Enter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13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毒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/>
          <a:srcRect l="3415" t="7724" b="887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>
              <a:alpha val="8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sp>
        <p:nvSpPr>
          <p:cNvPr id="6" name="矩形 5"/>
          <p:cNvSpPr/>
          <p:nvPr userDrawn="1"/>
        </p:nvSpPr>
        <p:spPr>
          <a:xfrm>
            <a:off x="4587922" y="6611779"/>
            <a:ext cx="235192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0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 QD SPORTS SCIENCE LABORATORY</a:t>
            </a:r>
            <a:endParaRPr lang="zh-CN" altLang="en-US" sz="10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7" name="直接箭头连接符 6"/>
          <p:cNvCxnSpPr/>
          <p:nvPr userDrawn="1"/>
        </p:nvCxnSpPr>
        <p:spPr>
          <a:xfrm>
            <a:off x="11830026" y="6684861"/>
            <a:ext cx="259398" cy="0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/>
          <p:cNvSpPr/>
          <p:nvPr userDrawn="1"/>
        </p:nvSpPr>
        <p:spPr>
          <a:xfrm>
            <a:off x="11313538" y="6549111"/>
            <a:ext cx="516488" cy="253916"/>
          </a:xfrm>
          <a:prstGeom prst="rect">
            <a:avLst/>
          </a:prstGeom>
        </p:spPr>
        <p:txBody>
          <a:bodyPr vert="horz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Enter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40" t="26126" r="28031" b="16576"/>
          <a:stretch/>
        </p:blipFill>
        <p:spPr>
          <a:xfrm>
            <a:off x="1251075" y="2590576"/>
            <a:ext cx="608258" cy="45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55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角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 userDrawn="1"/>
        </p:nvCxnSpPr>
        <p:spPr>
          <a:xfrm>
            <a:off x="2716823" y="4826978"/>
            <a:ext cx="0" cy="1433146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 userDrawn="1"/>
        </p:nvCxnSpPr>
        <p:spPr>
          <a:xfrm>
            <a:off x="852854" y="4826978"/>
            <a:ext cx="10392507" cy="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/>
        </p:nvCxnSpPr>
        <p:spPr>
          <a:xfrm>
            <a:off x="4932485" y="4826977"/>
            <a:ext cx="0" cy="14328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/>
        </p:nvCxnSpPr>
        <p:spPr>
          <a:xfrm>
            <a:off x="7165731" y="4826977"/>
            <a:ext cx="0" cy="14328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 userDrawn="1"/>
        </p:nvCxnSpPr>
        <p:spPr>
          <a:xfrm>
            <a:off x="9311054" y="4826977"/>
            <a:ext cx="0" cy="14328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/>
          <p:cNvSpPr/>
          <p:nvPr userDrawn="1"/>
        </p:nvSpPr>
        <p:spPr>
          <a:xfrm>
            <a:off x="3264786" y="4826978"/>
            <a:ext cx="1107996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基础参数测试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基础框架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物性测试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止滑测试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</p:txBody>
      </p:sp>
      <p:sp>
        <p:nvSpPr>
          <p:cNvPr id="16" name="矩形 15"/>
          <p:cNvSpPr/>
          <p:nvPr userDrawn="1"/>
        </p:nvSpPr>
        <p:spPr>
          <a:xfrm>
            <a:off x="5354507" y="4826978"/>
            <a:ext cx="1415772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运动生物力学测试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上篮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侧切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</p:txBody>
      </p:sp>
      <p:sp>
        <p:nvSpPr>
          <p:cNvPr id="17" name="矩形 16"/>
          <p:cNvSpPr/>
          <p:nvPr userDrawn="1"/>
        </p:nvSpPr>
        <p:spPr>
          <a:xfrm>
            <a:off x="7838283" y="4826978"/>
            <a:ext cx="800219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试穿评测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强度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场地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周期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</p:txBody>
      </p:sp>
      <p:sp>
        <p:nvSpPr>
          <p:cNvPr id="18" name="矩形 17"/>
          <p:cNvSpPr/>
          <p:nvPr userDrawn="1"/>
        </p:nvSpPr>
        <p:spPr>
          <a:xfrm>
            <a:off x="9739644" y="4826978"/>
            <a:ext cx="126188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总结意见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问题点分析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修改点建议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</p:txBody>
      </p:sp>
      <p:sp>
        <p:nvSpPr>
          <p:cNvPr id="19" name="矩形 18"/>
          <p:cNvSpPr/>
          <p:nvPr userDrawn="1"/>
        </p:nvSpPr>
        <p:spPr>
          <a:xfrm>
            <a:off x="4587922" y="6611779"/>
            <a:ext cx="235192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0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 QD SPORTS SCIENCE LABORATORY</a:t>
            </a:r>
            <a:endParaRPr lang="zh-CN" altLang="en-US" sz="10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8715" y="146214"/>
            <a:ext cx="834118" cy="514223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9831" y="217736"/>
            <a:ext cx="762497" cy="362344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9990" y="85408"/>
            <a:ext cx="635107" cy="575029"/>
          </a:xfrm>
          <a:prstGeom prst="rect">
            <a:avLst/>
          </a:prstGeom>
        </p:spPr>
      </p:pic>
      <p:sp>
        <p:nvSpPr>
          <p:cNvPr id="24" name="矩形 23"/>
          <p:cNvSpPr/>
          <p:nvPr userDrawn="1"/>
        </p:nvSpPr>
        <p:spPr>
          <a:xfrm>
            <a:off x="2303378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25" name="矩形 24"/>
          <p:cNvSpPr/>
          <p:nvPr userDrawn="1"/>
        </p:nvSpPr>
        <p:spPr>
          <a:xfrm>
            <a:off x="2215455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26" name="矩形 25"/>
          <p:cNvSpPr/>
          <p:nvPr userDrawn="1"/>
        </p:nvSpPr>
        <p:spPr>
          <a:xfrm>
            <a:off x="4518832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27" name="矩形 26"/>
          <p:cNvSpPr/>
          <p:nvPr userDrawn="1"/>
        </p:nvSpPr>
        <p:spPr>
          <a:xfrm>
            <a:off x="4430909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28" name="矩形 27"/>
          <p:cNvSpPr/>
          <p:nvPr userDrawn="1"/>
        </p:nvSpPr>
        <p:spPr>
          <a:xfrm>
            <a:off x="6787454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29" name="矩形 28"/>
          <p:cNvSpPr/>
          <p:nvPr userDrawn="1"/>
        </p:nvSpPr>
        <p:spPr>
          <a:xfrm>
            <a:off x="6699531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0" name="矩形 29"/>
          <p:cNvSpPr/>
          <p:nvPr userDrawn="1"/>
        </p:nvSpPr>
        <p:spPr>
          <a:xfrm>
            <a:off x="8932982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1" name="矩形 30"/>
          <p:cNvSpPr/>
          <p:nvPr userDrawn="1"/>
        </p:nvSpPr>
        <p:spPr>
          <a:xfrm>
            <a:off x="8845059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2" name="矩形 31"/>
          <p:cNvSpPr/>
          <p:nvPr userDrawn="1"/>
        </p:nvSpPr>
        <p:spPr>
          <a:xfrm>
            <a:off x="11153246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3" name="矩形 32"/>
          <p:cNvSpPr/>
          <p:nvPr userDrawn="1"/>
        </p:nvSpPr>
        <p:spPr>
          <a:xfrm>
            <a:off x="11065323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cxnSp>
        <p:nvCxnSpPr>
          <p:cNvPr id="34" name="直接连接符 33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37" name="直接连接符 36"/>
          <p:cNvCxnSpPr/>
          <p:nvPr userDrawn="1"/>
        </p:nvCxnSpPr>
        <p:spPr>
          <a:xfrm>
            <a:off x="4587922" y="741804"/>
            <a:ext cx="414979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矩形 40"/>
          <p:cNvSpPr/>
          <p:nvPr userDrawn="1"/>
        </p:nvSpPr>
        <p:spPr>
          <a:xfrm>
            <a:off x="1389602" y="4826978"/>
            <a:ext cx="800219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矩阵背景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marL="0" algn="l" defTabSz="914400" rtl="0" eaLnBrk="1" latinLnBrk="0" hangingPunct="1">
              <a:lnSpc>
                <a:spcPct val="150000"/>
              </a:lnSpc>
            </a:pPr>
            <a:r>
              <a:rPr lang="en-US" altLang="zh-CN" sz="1200" b="1" kern="1200" dirty="0">
                <a:solidFill>
                  <a:srgbClr val="8E8E8E"/>
                </a:solidFill>
                <a:latin typeface="Nirmala UI" panose="020B0502040204020203" pitchFamily="34" charset="0"/>
                <a:ea typeface="+mn-ea"/>
                <a:cs typeface="Nirmala UI" panose="020B0502040204020203" pitchFamily="34" charset="0"/>
              </a:rPr>
              <a:t>【</a:t>
            </a:r>
            <a:r>
              <a:rPr lang="zh-CN" altLang="en-US" sz="1200" b="1" kern="1200" dirty="0">
                <a:solidFill>
                  <a:srgbClr val="8E8E8E"/>
                </a:solidFill>
                <a:latin typeface="Nirmala UI" panose="020B0502040204020203" pitchFamily="34" charset="0"/>
                <a:ea typeface="+mn-ea"/>
                <a:cs typeface="Nirmala UI" panose="020B0502040204020203" pitchFamily="34" charset="0"/>
              </a:rPr>
              <a:t>游猎</a:t>
            </a:r>
            <a:r>
              <a:rPr lang="en-US" altLang="zh-CN" sz="1200" b="1" kern="1200" dirty="0">
                <a:solidFill>
                  <a:srgbClr val="8E8E8E"/>
                </a:solidFill>
                <a:latin typeface="Nirmala UI" panose="020B0502040204020203" pitchFamily="34" charset="0"/>
                <a:ea typeface="+mn-ea"/>
                <a:cs typeface="Nirmala UI" panose="020B0502040204020203" pitchFamily="34" charset="0"/>
              </a:rPr>
              <a:t>】</a:t>
            </a:r>
          </a:p>
          <a:p>
            <a:pPr marL="0" algn="l" defTabSz="914400" rtl="0" eaLnBrk="1" latinLnBrk="0" hangingPunct="1">
              <a:lnSpc>
                <a:spcPct val="150000"/>
              </a:lnSpc>
            </a:pPr>
            <a:r>
              <a:rPr lang="en-US" altLang="zh-CN" sz="1200" b="1" kern="1200" dirty="0">
                <a:solidFill>
                  <a:srgbClr val="8E8E8E"/>
                </a:solidFill>
                <a:latin typeface="Nirmala UI" panose="020B0502040204020203" pitchFamily="34" charset="0"/>
                <a:ea typeface="+mn-ea"/>
                <a:cs typeface="Nirmala UI" panose="020B0502040204020203" pitchFamily="34" charset="0"/>
              </a:rPr>
              <a:t>【</a:t>
            </a:r>
            <a:r>
              <a:rPr lang="zh-CN" altLang="en-US" sz="1200" b="1" kern="1200" dirty="0">
                <a:solidFill>
                  <a:srgbClr val="8E8E8E"/>
                </a:solidFill>
                <a:latin typeface="Nirmala UI" panose="020B0502040204020203" pitchFamily="34" charset="0"/>
                <a:ea typeface="+mn-ea"/>
                <a:cs typeface="Nirmala UI" panose="020B0502040204020203" pitchFamily="34" charset="0"/>
              </a:rPr>
              <a:t>猛攻</a:t>
            </a:r>
            <a:r>
              <a:rPr lang="en-US" altLang="zh-CN" sz="1200" b="1" kern="1200" dirty="0">
                <a:solidFill>
                  <a:srgbClr val="8E8E8E"/>
                </a:solidFill>
                <a:latin typeface="Nirmala UI" panose="020B0502040204020203" pitchFamily="34" charset="0"/>
                <a:ea typeface="+mn-ea"/>
                <a:cs typeface="Nirmala UI" panose="020B0502040204020203" pitchFamily="34" charset="0"/>
              </a:rPr>
              <a:t>】</a:t>
            </a:r>
          </a:p>
          <a:p>
            <a:pPr algn="l">
              <a:lnSpc>
                <a:spcPct val="150000"/>
              </a:lnSpc>
            </a:pPr>
            <a:r>
              <a:rPr lang="en-US" altLang="zh-CN" sz="1200" b="1" dirty="0">
                <a:solidFill>
                  <a:schemeClr val="bg1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角逐</a:t>
            </a:r>
            <a:r>
              <a:rPr lang="en-US" altLang="zh-CN" sz="1200" b="1" dirty="0">
                <a:solidFill>
                  <a:schemeClr val="bg1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  <a:endParaRPr lang="zh-CN" altLang="en-US" sz="1200" b="1" dirty="0">
              <a:solidFill>
                <a:schemeClr val="bg1"/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993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游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2716823" y="4826978"/>
            <a:ext cx="0" cy="1433146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 userDrawn="1"/>
        </p:nvCxnSpPr>
        <p:spPr>
          <a:xfrm>
            <a:off x="852854" y="4826978"/>
            <a:ext cx="10392507" cy="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 userDrawn="1"/>
        </p:nvCxnSpPr>
        <p:spPr>
          <a:xfrm>
            <a:off x="4932485" y="4826977"/>
            <a:ext cx="0" cy="14328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 userDrawn="1"/>
        </p:nvCxnSpPr>
        <p:spPr>
          <a:xfrm>
            <a:off x="7165731" y="4826977"/>
            <a:ext cx="0" cy="14328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 userDrawn="1"/>
        </p:nvCxnSpPr>
        <p:spPr>
          <a:xfrm>
            <a:off x="9311054" y="4826977"/>
            <a:ext cx="0" cy="14328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 userDrawn="1"/>
        </p:nvSpPr>
        <p:spPr>
          <a:xfrm>
            <a:off x="1389602" y="4826978"/>
            <a:ext cx="800219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矩阵背景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l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游猎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l">
              <a:lnSpc>
                <a:spcPct val="150000"/>
              </a:lnSpc>
            </a:pPr>
            <a:r>
              <a:rPr lang="en-US" altLang="zh-CN" sz="1200" b="1" dirty="0">
                <a:solidFill>
                  <a:srgbClr val="8E8E8E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rgbClr val="8E8E8E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猛攻</a:t>
            </a:r>
            <a:r>
              <a:rPr lang="en-US" altLang="zh-CN" sz="1200" b="1" dirty="0">
                <a:solidFill>
                  <a:srgbClr val="8E8E8E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l">
              <a:lnSpc>
                <a:spcPct val="150000"/>
              </a:lnSpc>
            </a:pPr>
            <a:r>
              <a:rPr lang="en-US" altLang="zh-CN" sz="1200" b="1" dirty="0">
                <a:solidFill>
                  <a:srgbClr val="8E8E8E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rgbClr val="8E8E8E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角逐</a:t>
            </a:r>
            <a:r>
              <a:rPr lang="en-US" altLang="zh-CN" sz="1200" b="1" dirty="0">
                <a:solidFill>
                  <a:srgbClr val="8E8E8E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  <a:endParaRPr lang="zh-CN" altLang="en-US" sz="1200" b="1" dirty="0">
              <a:solidFill>
                <a:srgbClr val="8E8E8E"/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20" name="矩形 19"/>
          <p:cNvSpPr/>
          <p:nvPr userDrawn="1"/>
        </p:nvSpPr>
        <p:spPr>
          <a:xfrm>
            <a:off x="3264786" y="4826978"/>
            <a:ext cx="1107996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基础参数测试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基础框架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物性测试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止滑测试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</p:txBody>
      </p:sp>
      <p:sp>
        <p:nvSpPr>
          <p:cNvPr id="21" name="矩形 20"/>
          <p:cNvSpPr/>
          <p:nvPr userDrawn="1"/>
        </p:nvSpPr>
        <p:spPr>
          <a:xfrm>
            <a:off x="5354507" y="4826978"/>
            <a:ext cx="1415772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运动生物力学测试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上篮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侧切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</p:txBody>
      </p:sp>
      <p:sp>
        <p:nvSpPr>
          <p:cNvPr id="22" name="矩形 21"/>
          <p:cNvSpPr/>
          <p:nvPr userDrawn="1"/>
        </p:nvSpPr>
        <p:spPr>
          <a:xfrm>
            <a:off x="7838283" y="4826978"/>
            <a:ext cx="800219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试穿评测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强度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场地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周期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</p:txBody>
      </p:sp>
      <p:sp>
        <p:nvSpPr>
          <p:cNvPr id="23" name="矩形 22"/>
          <p:cNvSpPr/>
          <p:nvPr userDrawn="1"/>
        </p:nvSpPr>
        <p:spPr>
          <a:xfrm>
            <a:off x="9739644" y="4826978"/>
            <a:ext cx="126188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总结意见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问题点分析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修改点建议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</p:txBody>
      </p:sp>
      <p:sp>
        <p:nvSpPr>
          <p:cNvPr id="24" name="矩形 23"/>
          <p:cNvSpPr/>
          <p:nvPr userDrawn="1"/>
        </p:nvSpPr>
        <p:spPr>
          <a:xfrm>
            <a:off x="4587922" y="6611779"/>
            <a:ext cx="235192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0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 QD SPORTS SCIENCE LABORATORY</a:t>
            </a:r>
            <a:endParaRPr lang="zh-CN" altLang="en-US" sz="10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pic>
        <p:nvPicPr>
          <p:cNvPr id="25" name="图片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 userDrawn="1"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8715" y="146214"/>
            <a:ext cx="834118" cy="514223"/>
          </a:xfrm>
          <a:prstGeom prst="rect">
            <a:avLst/>
          </a:prstGeom>
        </p:spPr>
      </p:pic>
      <p:pic>
        <p:nvPicPr>
          <p:cNvPr id="27" name="图片 26"/>
          <p:cNvPicPr>
            <a:picLocks noChangeAspect="1"/>
          </p:cNvPicPr>
          <p:nvPr userDrawn="1"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9831" y="217736"/>
            <a:ext cx="762497" cy="362344"/>
          </a:xfrm>
          <a:prstGeom prst="rect">
            <a:avLst/>
          </a:prstGeom>
        </p:spPr>
      </p:pic>
      <p:pic>
        <p:nvPicPr>
          <p:cNvPr id="28" name="图片 27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9990" y="85408"/>
            <a:ext cx="635107" cy="575029"/>
          </a:xfrm>
          <a:prstGeom prst="rect">
            <a:avLst/>
          </a:prstGeom>
        </p:spPr>
      </p:pic>
      <p:sp>
        <p:nvSpPr>
          <p:cNvPr id="29" name="矩形 28"/>
          <p:cNvSpPr/>
          <p:nvPr userDrawn="1"/>
        </p:nvSpPr>
        <p:spPr>
          <a:xfrm>
            <a:off x="2303378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0" name="矩形 29"/>
          <p:cNvSpPr/>
          <p:nvPr userDrawn="1"/>
        </p:nvSpPr>
        <p:spPr>
          <a:xfrm>
            <a:off x="2215455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1" name="矩形 30"/>
          <p:cNvSpPr/>
          <p:nvPr userDrawn="1"/>
        </p:nvSpPr>
        <p:spPr>
          <a:xfrm>
            <a:off x="4518832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2" name="矩形 31"/>
          <p:cNvSpPr/>
          <p:nvPr userDrawn="1"/>
        </p:nvSpPr>
        <p:spPr>
          <a:xfrm>
            <a:off x="4430909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3" name="矩形 32"/>
          <p:cNvSpPr/>
          <p:nvPr userDrawn="1"/>
        </p:nvSpPr>
        <p:spPr>
          <a:xfrm>
            <a:off x="6787454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4" name="矩形 33"/>
          <p:cNvSpPr/>
          <p:nvPr userDrawn="1"/>
        </p:nvSpPr>
        <p:spPr>
          <a:xfrm>
            <a:off x="6699531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5" name="矩形 34"/>
          <p:cNvSpPr/>
          <p:nvPr userDrawn="1"/>
        </p:nvSpPr>
        <p:spPr>
          <a:xfrm>
            <a:off x="8932982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6" name="矩形 35"/>
          <p:cNvSpPr/>
          <p:nvPr userDrawn="1"/>
        </p:nvSpPr>
        <p:spPr>
          <a:xfrm>
            <a:off x="8845059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7" name="矩形 36"/>
          <p:cNvSpPr/>
          <p:nvPr userDrawn="1"/>
        </p:nvSpPr>
        <p:spPr>
          <a:xfrm>
            <a:off x="11153246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8" name="矩形 37"/>
          <p:cNvSpPr/>
          <p:nvPr userDrawn="1"/>
        </p:nvSpPr>
        <p:spPr>
          <a:xfrm>
            <a:off x="11065323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cxnSp>
        <p:nvCxnSpPr>
          <p:cNvPr id="39" name="直接连接符 38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矩形 40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42" name="直接连接符 41"/>
          <p:cNvCxnSpPr/>
          <p:nvPr userDrawn="1"/>
        </p:nvCxnSpPr>
        <p:spPr>
          <a:xfrm>
            <a:off x="1389602" y="741804"/>
            <a:ext cx="414979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06350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猛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2716823" y="4826978"/>
            <a:ext cx="0" cy="1433146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/>
        </p:nvCxnSpPr>
        <p:spPr>
          <a:xfrm>
            <a:off x="852854" y="4826978"/>
            <a:ext cx="10392507" cy="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/>
        </p:nvCxnSpPr>
        <p:spPr>
          <a:xfrm>
            <a:off x="4932485" y="4826977"/>
            <a:ext cx="0" cy="14328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 userDrawn="1"/>
        </p:nvCxnSpPr>
        <p:spPr>
          <a:xfrm>
            <a:off x="7165731" y="4826977"/>
            <a:ext cx="0" cy="14328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 userDrawn="1"/>
        </p:nvCxnSpPr>
        <p:spPr>
          <a:xfrm>
            <a:off x="9311054" y="4826977"/>
            <a:ext cx="0" cy="14328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 userDrawn="1"/>
        </p:nvSpPr>
        <p:spPr>
          <a:xfrm>
            <a:off x="3264786" y="4826978"/>
            <a:ext cx="1107996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基础参数测试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基础框架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物性测试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止滑测试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</p:txBody>
      </p:sp>
      <p:sp>
        <p:nvSpPr>
          <p:cNvPr id="17" name="矩形 16"/>
          <p:cNvSpPr/>
          <p:nvPr userDrawn="1"/>
        </p:nvSpPr>
        <p:spPr>
          <a:xfrm>
            <a:off x="5354507" y="4826978"/>
            <a:ext cx="1415772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运动生物力学测试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上篮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侧切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</p:txBody>
      </p:sp>
      <p:sp>
        <p:nvSpPr>
          <p:cNvPr id="18" name="矩形 17"/>
          <p:cNvSpPr/>
          <p:nvPr userDrawn="1"/>
        </p:nvSpPr>
        <p:spPr>
          <a:xfrm>
            <a:off x="7838283" y="4826978"/>
            <a:ext cx="800219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试穿评测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强度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场地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周期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</p:txBody>
      </p:sp>
      <p:sp>
        <p:nvSpPr>
          <p:cNvPr id="19" name="矩形 18"/>
          <p:cNvSpPr/>
          <p:nvPr userDrawn="1"/>
        </p:nvSpPr>
        <p:spPr>
          <a:xfrm>
            <a:off x="9739644" y="4826978"/>
            <a:ext cx="126188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总结意见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问题点分析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修改点建议</a:t>
            </a: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</p:txBody>
      </p:sp>
      <p:sp>
        <p:nvSpPr>
          <p:cNvPr id="20" name="矩形 19"/>
          <p:cNvSpPr/>
          <p:nvPr userDrawn="1"/>
        </p:nvSpPr>
        <p:spPr>
          <a:xfrm>
            <a:off x="4587922" y="6611779"/>
            <a:ext cx="235192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0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 QD SPORTS SCIENCE LABORATORY</a:t>
            </a:r>
            <a:endParaRPr lang="zh-CN" altLang="en-US" sz="10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8715" y="146214"/>
            <a:ext cx="834118" cy="514223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9831" y="217736"/>
            <a:ext cx="762497" cy="362344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 userDrawn="1"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9990" y="85408"/>
            <a:ext cx="635107" cy="575029"/>
          </a:xfrm>
          <a:prstGeom prst="rect">
            <a:avLst/>
          </a:prstGeom>
        </p:spPr>
      </p:pic>
      <p:sp>
        <p:nvSpPr>
          <p:cNvPr id="25" name="矩形 24"/>
          <p:cNvSpPr/>
          <p:nvPr userDrawn="1"/>
        </p:nvSpPr>
        <p:spPr>
          <a:xfrm>
            <a:off x="2303378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26" name="矩形 25"/>
          <p:cNvSpPr/>
          <p:nvPr userDrawn="1"/>
        </p:nvSpPr>
        <p:spPr>
          <a:xfrm>
            <a:off x="2215455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27" name="矩形 26"/>
          <p:cNvSpPr/>
          <p:nvPr userDrawn="1"/>
        </p:nvSpPr>
        <p:spPr>
          <a:xfrm>
            <a:off x="4518832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28" name="矩形 27"/>
          <p:cNvSpPr/>
          <p:nvPr userDrawn="1"/>
        </p:nvSpPr>
        <p:spPr>
          <a:xfrm>
            <a:off x="4430909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29" name="矩形 28"/>
          <p:cNvSpPr/>
          <p:nvPr userDrawn="1"/>
        </p:nvSpPr>
        <p:spPr>
          <a:xfrm>
            <a:off x="6787454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0" name="矩形 29"/>
          <p:cNvSpPr/>
          <p:nvPr userDrawn="1"/>
        </p:nvSpPr>
        <p:spPr>
          <a:xfrm>
            <a:off x="6699531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1" name="矩形 30"/>
          <p:cNvSpPr/>
          <p:nvPr userDrawn="1"/>
        </p:nvSpPr>
        <p:spPr>
          <a:xfrm>
            <a:off x="8932982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2" name="矩形 31"/>
          <p:cNvSpPr/>
          <p:nvPr userDrawn="1"/>
        </p:nvSpPr>
        <p:spPr>
          <a:xfrm>
            <a:off x="8845059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3" name="矩形 32"/>
          <p:cNvSpPr/>
          <p:nvPr userDrawn="1"/>
        </p:nvSpPr>
        <p:spPr>
          <a:xfrm>
            <a:off x="11153246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sp>
        <p:nvSpPr>
          <p:cNvPr id="34" name="矩形 33"/>
          <p:cNvSpPr/>
          <p:nvPr userDrawn="1"/>
        </p:nvSpPr>
        <p:spPr>
          <a:xfrm>
            <a:off x="11065323" y="6128972"/>
            <a:ext cx="32573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＞</a:t>
            </a:r>
          </a:p>
        </p:txBody>
      </p:sp>
      <p:cxnSp>
        <p:nvCxnSpPr>
          <p:cNvPr id="35" name="直接连接符 34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38" name="直接连接符 37"/>
          <p:cNvCxnSpPr/>
          <p:nvPr userDrawn="1"/>
        </p:nvCxnSpPr>
        <p:spPr>
          <a:xfrm>
            <a:off x="2916125" y="741804"/>
            <a:ext cx="414979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矩形 41"/>
          <p:cNvSpPr/>
          <p:nvPr userDrawn="1"/>
        </p:nvSpPr>
        <p:spPr>
          <a:xfrm>
            <a:off x="1389602" y="4826978"/>
            <a:ext cx="800219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矩阵背景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marL="0" algn="l" defTabSz="914400" rtl="0" eaLnBrk="1" latinLnBrk="0" hangingPunct="1">
              <a:lnSpc>
                <a:spcPct val="150000"/>
              </a:lnSpc>
            </a:pPr>
            <a:r>
              <a:rPr lang="en-US" altLang="zh-CN" sz="1200" b="1" kern="1200" dirty="0">
                <a:solidFill>
                  <a:srgbClr val="8E8E8E"/>
                </a:solidFill>
                <a:latin typeface="Nirmala UI" panose="020B0502040204020203" pitchFamily="34" charset="0"/>
                <a:ea typeface="+mn-ea"/>
                <a:cs typeface="Nirmala UI" panose="020B0502040204020203" pitchFamily="34" charset="0"/>
              </a:rPr>
              <a:t>【</a:t>
            </a:r>
            <a:r>
              <a:rPr lang="zh-CN" altLang="en-US" sz="1200" b="1" kern="1200" dirty="0">
                <a:solidFill>
                  <a:srgbClr val="8E8E8E"/>
                </a:solidFill>
                <a:latin typeface="Nirmala UI" panose="020B0502040204020203" pitchFamily="34" charset="0"/>
                <a:ea typeface="+mn-ea"/>
                <a:cs typeface="Nirmala UI" panose="020B0502040204020203" pitchFamily="34" charset="0"/>
              </a:rPr>
              <a:t>游猎</a:t>
            </a:r>
            <a:r>
              <a:rPr lang="en-US" altLang="zh-CN" sz="1200" b="1" kern="1200" dirty="0">
                <a:solidFill>
                  <a:srgbClr val="8E8E8E"/>
                </a:solidFill>
                <a:latin typeface="Nirmala UI" panose="020B0502040204020203" pitchFamily="34" charset="0"/>
                <a:ea typeface="+mn-ea"/>
                <a:cs typeface="Nirmala UI" panose="020B0502040204020203" pitchFamily="34" charset="0"/>
              </a:rPr>
              <a:t>】</a:t>
            </a:r>
          </a:p>
          <a:p>
            <a:pPr algn="l">
              <a:lnSpc>
                <a:spcPct val="150000"/>
              </a:lnSpc>
            </a:pPr>
            <a:r>
              <a:rPr lang="en-US" altLang="zh-CN" sz="1200" b="1" dirty="0">
                <a:solidFill>
                  <a:schemeClr val="bg1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chemeClr val="bg1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猛攻</a:t>
            </a:r>
            <a:r>
              <a:rPr lang="en-US" altLang="zh-CN" sz="1200" b="1" dirty="0">
                <a:solidFill>
                  <a:schemeClr val="bg1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</a:p>
          <a:p>
            <a:pPr algn="l">
              <a:lnSpc>
                <a:spcPct val="150000"/>
              </a:lnSpc>
            </a:pPr>
            <a:r>
              <a:rPr lang="en-US" altLang="zh-CN" sz="1200" b="1" dirty="0">
                <a:solidFill>
                  <a:srgbClr val="8E8E8E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【</a:t>
            </a:r>
            <a:r>
              <a:rPr lang="zh-CN" altLang="en-US" sz="1200" b="1" dirty="0">
                <a:solidFill>
                  <a:srgbClr val="8E8E8E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角逐</a:t>
            </a:r>
            <a:r>
              <a:rPr lang="en-US" altLang="zh-CN" sz="1200" b="1" dirty="0">
                <a:solidFill>
                  <a:srgbClr val="8E8E8E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】</a:t>
            </a:r>
            <a:endParaRPr lang="zh-CN" altLang="en-US" sz="1200" b="1" dirty="0">
              <a:solidFill>
                <a:srgbClr val="8E8E8E"/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980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基础参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cxnSp>
        <p:nvCxnSpPr>
          <p:cNvPr id="10" name="直接连接符 9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13" name="矩形 12"/>
          <p:cNvSpPr/>
          <p:nvPr userDrawn="1"/>
        </p:nvSpPr>
        <p:spPr>
          <a:xfrm>
            <a:off x="3048000" y="3340885"/>
            <a:ext cx="6096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基础框架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：采用电子厚度计、精密电子称、游标卡尺等测量鞋款的基础信息。</a:t>
            </a:r>
          </a:p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物性测试：采用机械对鞋款的减震、回弹、弯折及抗扭性能进行测试。</a:t>
            </a:r>
          </a:p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止滑测试：采用人体止滑性能测试仪，对鞋底的临界滑动坡度进行测量。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  <a:sym typeface="Arial"/>
            </a:endParaRPr>
          </a:p>
        </p:txBody>
      </p:sp>
      <p:sp>
        <p:nvSpPr>
          <p:cNvPr id="14" name="矩形 13"/>
          <p:cNvSpPr/>
          <p:nvPr userDrawn="1"/>
        </p:nvSpPr>
        <p:spPr>
          <a:xfrm>
            <a:off x="3048000" y="2753545"/>
            <a:ext cx="2031326" cy="58734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基础参数测试</a:t>
            </a:r>
            <a:endParaRPr lang="en-US" altLang="zh-CN" sz="24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15" name="圆角矩形 14"/>
          <p:cNvSpPr/>
          <p:nvPr userDrawn="1"/>
        </p:nvSpPr>
        <p:spPr>
          <a:xfrm>
            <a:off x="8572500" y="4536831"/>
            <a:ext cx="967154" cy="290146"/>
          </a:xfrm>
          <a:prstGeom prst="roundRect">
            <a:avLst>
              <a:gd name="adj" fmla="val 50000"/>
            </a:avLst>
          </a:prstGeom>
          <a:solidFill>
            <a:srgbClr val="8E8E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/>
          <p:cNvSpPr/>
          <p:nvPr userDrawn="1"/>
        </p:nvSpPr>
        <p:spPr>
          <a:xfrm>
            <a:off x="8783382" y="4475285"/>
            <a:ext cx="562975" cy="3349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Enter</a:t>
            </a:r>
          </a:p>
        </p:txBody>
      </p:sp>
    </p:spTree>
    <p:extLst>
      <p:ext uri="{BB962C8B-B14F-4D97-AF65-F5344CB8AC3E}">
        <p14:creationId xmlns:p14="http://schemas.microsoft.com/office/powerpoint/2010/main" val="3844776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框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 userDrawn="1"/>
        </p:nvCxnSpPr>
        <p:spPr>
          <a:xfrm>
            <a:off x="11776841" y="398908"/>
            <a:ext cx="219807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 userDrawn="1"/>
        </p:nvCxnSpPr>
        <p:spPr>
          <a:xfrm>
            <a:off x="11831609" y="470346"/>
            <a:ext cx="165039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sp>
        <p:nvSpPr>
          <p:cNvPr id="13" name="椭圆 12"/>
          <p:cNvSpPr/>
          <p:nvPr userDrawn="1"/>
        </p:nvSpPr>
        <p:spPr>
          <a:xfrm>
            <a:off x="317840" y="2337032"/>
            <a:ext cx="262894" cy="262894"/>
          </a:xfrm>
          <a:prstGeom prst="ellipse">
            <a:avLst/>
          </a:prstGeom>
          <a:noFill/>
          <a:ln w="15240">
            <a:solidFill>
              <a:schemeClr val="bg1">
                <a:lumMod val="95000"/>
                <a:alpha val="5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弧形 13"/>
          <p:cNvSpPr/>
          <p:nvPr userDrawn="1"/>
        </p:nvSpPr>
        <p:spPr>
          <a:xfrm>
            <a:off x="317840" y="2337032"/>
            <a:ext cx="262894" cy="262894"/>
          </a:xfrm>
          <a:prstGeom prst="arc">
            <a:avLst>
              <a:gd name="adj1" fmla="val 16200000"/>
              <a:gd name="adj2" fmla="val 10194549"/>
            </a:avLst>
          </a:prstGeom>
          <a:noFill/>
          <a:ln w="254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/>
          <p:cNvSpPr/>
          <p:nvPr userDrawn="1"/>
        </p:nvSpPr>
        <p:spPr>
          <a:xfrm>
            <a:off x="426427" y="2445619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椭圆 15"/>
          <p:cNvSpPr/>
          <p:nvPr userDrawn="1"/>
        </p:nvSpPr>
        <p:spPr>
          <a:xfrm>
            <a:off x="426427" y="294092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/>
          <p:cNvSpPr/>
          <p:nvPr userDrawn="1"/>
        </p:nvSpPr>
        <p:spPr>
          <a:xfrm>
            <a:off x="426427" y="343821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/>
          <p:cNvSpPr/>
          <p:nvPr userDrawn="1"/>
        </p:nvSpPr>
        <p:spPr>
          <a:xfrm>
            <a:off x="426427" y="393550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/>
          <p:cNvSpPr/>
          <p:nvPr userDrawn="1"/>
        </p:nvSpPr>
        <p:spPr>
          <a:xfrm>
            <a:off x="1583575" y="354783"/>
            <a:ext cx="148309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Foundation frame</a:t>
            </a:r>
            <a:endParaRPr lang="zh-CN" altLang="en-US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20" name="矩形 19"/>
          <p:cNvSpPr/>
          <p:nvPr userDrawn="1"/>
        </p:nvSpPr>
        <p:spPr>
          <a:xfrm>
            <a:off x="3443778" y="354783"/>
            <a:ext cx="175400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Physical property test</a:t>
            </a:r>
            <a:endParaRPr lang="zh-CN" altLang="en-US" sz="1200" b="1" dirty="0">
              <a:solidFill>
                <a:schemeClr val="tx1">
                  <a:lumMod val="65000"/>
                  <a:lumOff val="3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21" name="矩形 20"/>
          <p:cNvSpPr/>
          <p:nvPr userDrawn="1"/>
        </p:nvSpPr>
        <p:spPr>
          <a:xfrm>
            <a:off x="5574889" y="354783"/>
            <a:ext cx="111280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Anti-slip test</a:t>
            </a:r>
            <a:endParaRPr lang="zh-CN" altLang="en-US" sz="1200" b="1" dirty="0">
              <a:solidFill>
                <a:schemeClr val="tx1">
                  <a:lumMod val="65000"/>
                  <a:lumOff val="3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22" name="直接连接符 21"/>
          <p:cNvCxnSpPr/>
          <p:nvPr userDrawn="1"/>
        </p:nvCxnSpPr>
        <p:spPr>
          <a:xfrm>
            <a:off x="1702870" y="631782"/>
            <a:ext cx="1216176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77862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物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/>
        </p:nvCxnSpPr>
        <p:spPr>
          <a:xfrm>
            <a:off x="11776841" y="398908"/>
            <a:ext cx="219807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 userDrawn="1"/>
        </p:nvCxnSpPr>
        <p:spPr>
          <a:xfrm>
            <a:off x="11831609" y="470346"/>
            <a:ext cx="165039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sp>
        <p:nvSpPr>
          <p:cNvPr id="12" name="椭圆 11"/>
          <p:cNvSpPr/>
          <p:nvPr userDrawn="1"/>
        </p:nvSpPr>
        <p:spPr>
          <a:xfrm>
            <a:off x="317840" y="2337032"/>
            <a:ext cx="262894" cy="262894"/>
          </a:xfrm>
          <a:prstGeom prst="ellipse">
            <a:avLst/>
          </a:prstGeom>
          <a:noFill/>
          <a:ln w="15240">
            <a:solidFill>
              <a:schemeClr val="bg1">
                <a:lumMod val="95000"/>
                <a:alpha val="5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弧形 12"/>
          <p:cNvSpPr/>
          <p:nvPr userDrawn="1"/>
        </p:nvSpPr>
        <p:spPr>
          <a:xfrm>
            <a:off x="317840" y="2337032"/>
            <a:ext cx="262894" cy="262894"/>
          </a:xfrm>
          <a:prstGeom prst="arc">
            <a:avLst>
              <a:gd name="adj1" fmla="val 16200000"/>
              <a:gd name="adj2" fmla="val 10194549"/>
            </a:avLst>
          </a:prstGeom>
          <a:noFill/>
          <a:ln w="254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 userDrawn="1"/>
        </p:nvSpPr>
        <p:spPr>
          <a:xfrm>
            <a:off x="426427" y="2445619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/>
          <p:cNvSpPr/>
          <p:nvPr userDrawn="1"/>
        </p:nvSpPr>
        <p:spPr>
          <a:xfrm>
            <a:off x="426427" y="294092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椭圆 15"/>
          <p:cNvSpPr/>
          <p:nvPr userDrawn="1"/>
        </p:nvSpPr>
        <p:spPr>
          <a:xfrm>
            <a:off x="426427" y="343821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/>
          <p:cNvSpPr/>
          <p:nvPr userDrawn="1"/>
        </p:nvSpPr>
        <p:spPr>
          <a:xfrm>
            <a:off x="426427" y="393550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 userDrawn="1"/>
        </p:nvSpPr>
        <p:spPr>
          <a:xfrm>
            <a:off x="1583575" y="354783"/>
            <a:ext cx="148309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Foundation frame</a:t>
            </a:r>
            <a:endParaRPr lang="zh-CN" altLang="en-US" sz="1200" b="1" dirty="0">
              <a:solidFill>
                <a:schemeClr val="tx1">
                  <a:lumMod val="65000"/>
                  <a:lumOff val="3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19" name="矩形 18"/>
          <p:cNvSpPr/>
          <p:nvPr userDrawn="1"/>
        </p:nvSpPr>
        <p:spPr>
          <a:xfrm>
            <a:off x="3443778" y="354783"/>
            <a:ext cx="175400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Physical property test</a:t>
            </a:r>
            <a:endParaRPr lang="zh-CN" altLang="en-US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20" name="矩形 19"/>
          <p:cNvSpPr/>
          <p:nvPr userDrawn="1"/>
        </p:nvSpPr>
        <p:spPr>
          <a:xfrm>
            <a:off x="5574889" y="354783"/>
            <a:ext cx="111280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Anti-slip test</a:t>
            </a:r>
            <a:endParaRPr lang="zh-CN" altLang="en-US" sz="1200" b="1" dirty="0">
              <a:solidFill>
                <a:schemeClr val="tx1">
                  <a:lumMod val="65000"/>
                  <a:lumOff val="3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21" name="直接连接符 20"/>
          <p:cNvCxnSpPr/>
          <p:nvPr userDrawn="1"/>
        </p:nvCxnSpPr>
        <p:spPr>
          <a:xfrm>
            <a:off x="3566838" y="631782"/>
            <a:ext cx="1515115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94214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止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/>
        </p:nvCxnSpPr>
        <p:spPr>
          <a:xfrm>
            <a:off x="11776841" y="398908"/>
            <a:ext cx="219807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 userDrawn="1"/>
        </p:nvCxnSpPr>
        <p:spPr>
          <a:xfrm>
            <a:off x="11831609" y="470346"/>
            <a:ext cx="165039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sp>
        <p:nvSpPr>
          <p:cNvPr id="12" name="椭圆 11"/>
          <p:cNvSpPr/>
          <p:nvPr userDrawn="1"/>
        </p:nvSpPr>
        <p:spPr>
          <a:xfrm>
            <a:off x="317840" y="2337032"/>
            <a:ext cx="262894" cy="262894"/>
          </a:xfrm>
          <a:prstGeom prst="ellipse">
            <a:avLst/>
          </a:prstGeom>
          <a:noFill/>
          <a:ln w="15240">
            <a:solidFill>
              <a:schemeClr val="bg1">
                <a:lumMod val="95000"/>
                <a:alpha val="5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弧形 12"/>
          <p:cNvSpPr/>
          <p:nvPr userDrawn="1"/>
        </p:nvSpPr>
        <p:spPr>
          <a:xfrm>
            <a:off x="317840" y="2337032"/>
            <a:ext cx="262894" cy="262894"/>
          </a:xfrm>
          <a:prstGeom prst="arc">
            <a:avLst>
              <a:gd name="adj1" fmla="val 16200000"/>
              <a:gd name="adj2" fmla="val 10194549"/>
            </a:avLst>
          </a:prstGeom>
          <a:noFill/>
          <a:ln w="254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 userDrawn="1"/>
        </p:nvSpPr>
        <p:spPr>
          <a:xfrm>
            <a:off x="426427" y="2445619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/>
          <p:cNvSpPr/>
          <p:nvPr userDrawn="1"/>
        </p:nvSpPr>
        <p:spPr>
          <a:xfrm>
            <a:off x="426427" y="294092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椭圆 15"/>
          <p:cNvSpPr/>
          <p:nvPr userDrawn="1"/>
        </p:nvSpPr>
        <p:spPr>
          <a:xfrm>
            <a:off x="426427" y="343821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/>
          <p:cNvSpPr/>
          <p:nvPr userDrawn="1"/>
        </p:nvSpPr>
        <p:spPr>
          <a:xfrm>
            <a:off x="426427" y="393550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 userDrawn="1"/>
        </p:nvSpPr>
        <p:spPr>
          <a:xfrm>
            <a:off x="1583575" y="354783"/>
            <a:ext cx="148309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Foundation frame</a:t>
            </a:r>
            <a:endParaRPr lang="zh-CN" altLang="en-US" sz="1200" b="1" dirty="0">
              <a:solidFill>
                <a:schemeClr val="tx1">
                  <a:lumMod val="65000"/>
                  <a:lumOff val="3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19" name="矩形 18"/>
          <p:cNvSpPr/>
          <p:nvPr userDrawn="1"/>
        </p:nvSpPr>
        <p:spPr>
          <a:xfrm>
            <a:off x="3443778" y="354783"/>
            <a:ext cx="175400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Physical property test</a:t>
            </a:r>
            <a:endParaRPr lang="zh-CN" altLang="en-US" sz="1200" b="1" dirty="0">
              <a:solidFill>
                <a:schemeClr val="tx1">
                  <a:lumMod val="65000"/>
                  <a:lumOff val="3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20" name="矩形 19"/>
          <p:cNvSpPr/>
          <p:nvPr userDrawn="1"/>
        </p:nvSpPr>
        <p:spPr>
          <a:xfrm>
            <a:off x="5574889" y="354783"/>
            <a:ext cx="111280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Anti-slip test</a:t>
            </a:r>
            <a:endParaRPr lang="zh-CN" altLang="en-US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21" name="直接连接符 20"/>
          <p:cNvCxnSpPr/>
          <p:nvPr userDrawn="1"/>
        </p:nvCxnSpPr>
        <p:spPr>
          <a:xfrm>
            <a:off x="5694576" y="631782"/>
            <a:ext cx="864486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12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运动生物力学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箭头连接符 4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3048000" y="2753545"/>
            <a:ext cx="264687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运动生物力学测试</a:t>
            </a:r>
            <a:endParaRPr lang="en-US" altLang="zh-CN" sz="24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3048000" y="3340885"/>
            <a:ext cx="6096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采用</a:t>
            </a:r>
            <a:r>
              <a:rPr lang="en-US" altLang="zh-CN" sz="1200" b="1" dirty="0" err="1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vicon</a:t>
            </a: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运动捕捉系统，对鞋款两大重要指标上进行分析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上篮阶段：触地时间所反映的响应速度、加载率所反映的缓冲效果。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侧切阶段：稳定角折射防侧翻、位移量反映帮面强度、摩擦系数所呈现的止滑效果。</a:t>
            </a:r>
          </a:p>
        </p:txBody>
      </p:sp>
      <p:sp>
        <p:nvSpPr>
          <p:cNvPr id="9" name="圆角矩形 8"/>
          <p:cNvSpPr/>
          <p:nvPr userDrawn="1"/>
        </p:nvSpPr>
        <p:spPr>
          <a:xfrm>
            <a:off x="8572500" y="4536831"/>
            <a:ext cx="967154" cy="290146"/>
          </a:xfrm>
          <a:prstGeom prst="roundRect">
            <a:avLst>
              <a:gd name="adj" fmla="val 50000"/>
            </a:avLst>
          </a:prstGeom>
          <a:solidFill>
            <a:srgbClr val="8E8E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8783382" y="4475285"/>
            <a:ext cx="562975" cy="3349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Enter</a:t>
            </a:r>
          </a:p>
        </p:txBody>
      </p:sp>
    </p:spTree>
    <p:extLst>
      <p:ext uri="{BB962C8B-B14F-4D97-AF65-F5344CB8AC3E}">
        <p14:creationId xmlns:p14="http://schemas.microsoft.com/office/powerpoint/2010/main" val="26068790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 userDrawn="1"/>
        </p:nvCxnSpPr>
        <p:spPr>
          <a:xfrm>
            <a:off x="11776841" y="398908"/>
            <a:ext cx="219807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11831609" y="470346"/>
            <a:ext cx="165039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sp>
        <p:nvSpPr>
          <p:cNvPr id="7" name="椭圆 6"/>
          <p:cNvSpPr/>
          <p:nvPr userDrawn="1"/>
        </p:nvSpPr>
        <p:spPr>
          <a:xfrm>
            <a:off x="317840" y="2827064"/>
            <a:ext cx="262894" cy="262894"/>
          </a:xfrm>
          <a:prstGeom prst="ellipse">
            <a:avLst/>
          </a:prstGeom>
          <a:noFill/>
          <a:ln w="15240">
            <a:solidFill>
              <a:schemeClr val="bg1">
                <a:lumMod val="95000"/>
                <a:alpha val="5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弧形 7"/>
          <p:cNvSpPr/>
          <p:nvPr userDrawn="1"/>
        </p:nvSpPr>
        <p:spPr>
          <a:xfrm>
            <a:off x="317840" y="2827064"/>
            <a:ext cx="262894" cy="262894"/>
          </a:xfrm>
          <a:prstGeom prst="arc">
            <a:avLst>
              <a:gd name="adj1" fmla="val 16200000"/>
              <a:gd name="adj2" fmla="val 10194549"/>
            </a:avLst>
          </a:prstGeom>
          <a:noFill/>
          <a:ln w="254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/>
          <p:cNvSpPr/>
          <p:nvPr userDrawn="1"/>
        </p:nvSpPr>
        <p:spPr>
          <a:xfrm>
            <a:off x="426427" y="2445619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 userDrawn="1"/>
        </p:nvSpPr>
        <p:spPr>
          <a:xfrm>
            <a:off x="426427" y="294092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/>
          <p:cNvSpPr/>
          <p:nvPr userDrawn="1"/>
        </p:nvSpPr>
        <p:spPr>
          <a:xfrm>
            <a:off x="426427" y="343821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 userDrawn="1"/>
        </p:nvSpPr>
        <p:spPr>
          <a:xfrm>
            <a:off x="426427" y="393550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 userDrawn="1"/>
        </p:nvSpPr>
        <p:spPr>
          <a:xfrm>
            <a:off x="1583575" y="354783"/>
            <a:ext cx="66075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Lay up</a:t>
            </a:r>
            <a:endParaRPr lang="zh-CN" altLang="en-US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14" name="矩形 13"/>
          <p:cNvSpPr/>
          <p:nvPr userDrawn="1"/>
        </p:nvSpPr>
        <p:spPr>
          <a:xfrm>
            <a:off x="2852234" y="354783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Cutting</a:t>
            </a:r>
            <a:endParaRPr lang="zh-CN" altLang="en-US" sz="1200" b="1" dirty="0">
              <a:solidFill>
                <a:schemeClr val="tx1">
                  <a:lumMod val="65000"/>
                  <a:lumOff val="3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15" name="直接连接符 14"/>
          <p:cNvCxnSpPr/>
          <p:nvPr userDrawn="1"/>
        </p:nvCxnSpPr>
        <p:spPr>
          <a:xfrm>
            <a:off x="1702870" y="631782"/>
            <a:ext cx="389699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26518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侧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 userDrawn="1"/>
        </p:nvCxnSpPr>
        <p:spPr>
          <a:xfrm>
            <a:off x="11776841" y="398908"/>
            <a:ext cx="219807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11831609" y="470346"/>
            <a:ext cx="165039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sp>
        <p:nvSpPr>
          <p:cNvPr id="7" name="椭圆 6"/>
          <p:cNvSpPr/>
          <p:nvPr userDrawn="1"/>
        </p:nvSpPr>
        <p:spPr>
          <a:xfrm>
            <a:off x="317840" y="2827064"/>
            <a:ext cx="262894" cy="262894"/>
          </a:xfrm>
          <a:prstGeom prst="ellipse">
            <a:avLst/>
          </a:prstGeom>
          <a:noFill/>
          <a:ln w="15240">
            <a:solidFill>
              <a:schemeClr val="bg1">
                <a:lumMod val="95000"/>
                <a:alpha val="5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弧形 7"/>
          <p:cNvSpPr/>
          <p:nvPr userDrawn="1"/>
        </p:nvSpPr>
        <p:spPr>
          <a:xfrm>
            <a:off x="317840" y="2827064"/>
            <a:ext cx="262894" cy="262894"/>
          </a:xfrm>
          <a:prstGeom prst="arc">
            <a:avLst>
              <a:gd name="adj1" fmla="val 16200000"/>
              <a:gd name="adj2" fmla="val 10194549"/>
            </a:avLst>
          </a:prstGeom>
          <a:noFill/>
          <a:ln w="254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/>
          <p:cNvSpPr/>
          <p:nvPr userDrawn="1"/>
        </p:nvSpPr>
        <p:spPr>
          <a:xfrm>
            <a:off x="426427" y="2445619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 userDrawn="1"/>
        </p:nvSpPr>
        <p:spPr>
          <a:xfrm>
            <a:off x="426427" y="294092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/>
          <p:cNvSpPr/>
          <p:nvPr userDrawn="1"/>
        </p:nvSpPr>
        <p:spPr>
          <a:xfrm>
            <a:off x="426427" y="343821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 userDrawn="1"/>
        </p:nvSpPr>
        <p:spPr>
          <a:xfrm>
            <a:off x="426427" y="393550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 userDrawn="1"/>
        </p:nvSpPr>
        <p:spPr>
          <a:xfrm>
            <a:off x="1583575" y="354783"/>
            <a:ext cx="66075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Lay up</a:t>
            </a:r>
            <a:endParaRPr lang="zh-CN" altLang="en-US" sz="1200" b="1" dirty="0">
              <a:solidFill>
                <a:schemeClr val="tx1">
                  <a:lumMod val="65000"/>
                  <a:lumOff val="3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14" name="矩形 13"/>
          <p:cNvSpPr/>
          <p:nvPr userDrawn="1"/>
        </p:nvSpPr>
        <p:spPr>
          <a:xfrm>
            <a:off x="2852234" y="354783"/>
            <a:ext cx="7232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bg1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Cutting</a:t>
            </a:r>
            <a:endParaRPr lang="zh-CN" altLang="en-US" sz="1200" b="1" dirty="0">
              <a:solidFill>
                <a:schemeClr val="bg1"/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15" name="直接连接符 14"/>
          <p:cNvCxnSpPr/>
          <p:nvPr userDrawn="1"/>
        </p:nvCxnSpPr>
        <p:spPr>
          <a:xfrm>
            <a:off x="2986547" y="631782"/>
            <a:ext cx="433661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3045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试穿评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箭头连接符 4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3048000" y="3340885"/>
            <a:ext cx="6096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选取若干名（基数）业余、专业、职业运动员进行鞋款的实际上脚试穿。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在规定的场地、周期、强度要求下，对鞋款进行真实体验评测。</a:t>
            </a:r>
          </a:p>
        </p:txBody>
      </p:sp>
      <p:sp>
        <p:nvSpPr>
          <p:cNvPr id="8" name="圆角矩形 7"/>
          <p:cNvSpPr/>
          <p:nvPr userDrawn="1"/>
        </p:nvSpPr>
        <p:spPr>
          <a:xfrm>
            <a:off x="8572500" y="4536831"/>
            <a:ext cx="967154" cy="290146"/>
          </a:xfrm>
          <a:prstGeom prst="roundRect">
            <a:avLst>
              <a:gd name="adj" fmla="val 50000"/>
            </a:avLst>
          </a:prstGeom>
          <a:solidFill>
            <a:srgbClr val="8E8E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8783382" y="4475285"/>
            <a:ext cx="562975" cy="3349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Enter</a:t>
            </a:r>
          </a:p>
        </p:txBody>
      </p:sp>
      <p:sp>
        <p:nvSpPr>
          <p:cNvPr id="10" name="矩形 9"/>
          <p:cNvSpPr/>
          <p:nvPr userDrawn="1"/>
        </p:nvSpPr>
        <p:spPr>
          <a:xfrm>
            <a:off x="3048000" y="2753545"/>
            <a:ext cx="141577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试穿评测</a:t>
            </a:r>
            <a:endParaRPr lang="en-US" altLang="zh-CN" sz="24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29173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试穿评测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11776841" y="398908"/>
            <a:ext cx="219807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 userDrawn="1"/>
        </p:nvCxnSpPr>
        <p:spPr>
          <a:xfrm>
            <a:off x="11831609" y="470346"/>
            <a:ext cx="165039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sp>
        <p:nvSpPr>
          <p:cNvPr id="22" name="椭圆 21"/>
          <p:cNvSpPr/>
          <p:nvPr userDrawn="1"/>
        </p:nvSpPr>
        <p:spPr>
          <a:xfrm>
            <a:off x="317840" y="3315381"/>
            <a:ext cx="262894" cy="262894"/>
          </a:xfrm>
          <a:prstGeom prst="ellipse">
            <a:avLst/>
          </a:prstGeom>
          <a:noFill/>
          <a:ln w="15240">
            <a:solidFill>
              <a:schemeClr val="bg1">
                <a:lumMod val="95000"/>
                <a:alpha val="5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弧形 22"/>
          <p:cNvSpPr/>
          <p:nvPr userDrawn="1"/>
        </p:nvSpPr>
        <p:spPr>
          <a:xfrm>
            <a:off x="317840" y="3315381"/>
            <a:ext cx="262894" cy="262894"/>
          </a:xfrm>
          <a:prstGeom prst="arc">
            <a:avLst>
              <a:gd name="adj1" fmla="val 16200000"/>
              <a:gd name="adj2" fmla="val 10194549"/>
            </a:avLst>
          </a:prstGeom>
          <a:noFill/>
          <a:ln w="254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 userDrawn="1"/>
        </p:nvSpPr>
        <p:spPr>
          <a:xfrm>
            <a:off x="426427" y="2445619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 userDrawn="1"/>
        </p:nvSpPr>
        <p:spPr>
          <a:xfrm>
            <a:off x="426427" y="294092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 userDrawn="1"/>
        </p:nvSpPr>
        <p:spPr>
          <a:xfrm>
            <a:off x="426427" y="343821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/>
          <p:cNvSpPr/>
          <p:nvPr userDrawn="1"/>
        </p:nvSpPr>
        <p:spPr>
          <a:xfrm>
            <a:off x="426427" y="393550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/>
          <p:cNvSpPr/>
          <p:nvPr userDrawn="1"/>
        </p:nvSpPr>
        <p:spPr>
          <a:xfrm>
            <a:off x="1583575" y="354783"/>
            <a:ext cx="145905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Fitting evaluation</a:t>
            </a:r>
          </a:p>
          <a:p>
            <a:endParaRPr lang="zh-CN" altLang="en-US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29" name="直接连接符 28"/>
          <p:cNvCxnSpPr/>
          <p:nvPr userDrawn="1"/>
        </p:nvCxnSpPr>
        <p:spPr>
          <a:xfrm>
            <a:off x="1702870" y="631782"/>
            <a:ext cx="1189799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 30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32" name="圆角矩形 31"/>
          <p:cNvSpPr/>
          <p:nvPr userDrawn="1"/>
        </p:nvSpPr>
        <p:spPr>
          <a:xfrm>
            <a:off x="5091062" y="436186"/>
            <a:ext cx="2153800" cy="29014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/>
          <p:cNvSpPr/>
          <p:nvPr userDrawn="1"/>
        </p:nvSpPr>
        <p:spPr>
          <a:xfrm>
            <a:off x="1524637" y="1080000"/>
            <a:ext cx="784189" cy="5386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T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raction</a:t>
            </a:r>
            <a:endParaRPr lang="en-US" altLang="zh-CN" sz="11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抓地</a:t>
            </a:r>
          </a:p>
        </p:txBody>
      </p:sp>
      <p:sp>
        <p:nvSpPr>
          <p:cNvPr id="34" name="矩形 33"/>
          <p:cNvSpPr/>
          <p:nvPr userDrawn="1"/>
        </p:nvSpPr>
        <p:spPr>
          <a:xfrm>
            <a:off x="1524637" y="2520000"/>
            <a:ext cx="906017" cy="5386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L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ockdwon</a:t>
            </a:r>
            <a:endParaRPr lang="en-US" altLang="zh-CN" sz="11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包裹</a:t>
            </a:r>
          </a:p>
        </p:txBody>
      </p:sp>
      <p:cxnSp>
        <p:nvCxnSpPr>
          <p:cNvPr id="35" name="直接连接符 34"/>
          <p:cNvCxnSpPr/>
          <p:nvPr userDrawn="1"/>
        </p:nvCxnSpPr>
        <p:spPr>
          <a:xfrm>
            <a:off x="1520475" y="1080000"/>
            <a:ext cx="0" cy="436723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/>
          <p:cNvSpPr/>
          <p:nvPr userDrawn="1"/>
        </p:nvSpPr>
        <p:spPr>
          <a:xfrm>
            <a:off x="1524637" y="3960000"/>
            <a:ext cx="984564" cy="5386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C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ushioning</a:t>
            </a:r>
            <a:endParaRPr lang="en-US" altLang="zh-CN" sz="11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缓震</a:t>
            </a:r>
          </a:p>
        </p:txBody>
      </p:sp>
      <p:sp>
        <p:nvSpPr>
          <p:cNvPr id="38" name="矩形 37"/>
          <p:cNvSpPr/>
          <p:nvPr userDrawn="1"/>
        </p:nvSpPr>
        <p:spPr>
          <a:xfrm>
            <a:off x="10389693" y="3960000"/>
            <a:ext cx="1266693" cy="5386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L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ateral Stability</a:t>
            </a:r>
            <a:endParaRPr lang="en-US" altLang="zh-CN" sz="11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r"/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防侧翻</a:t>
            </a:r>
          </a:p>
        </p:txBody>
      </p:sp>
      <p:sp>
        <p:nvSpPr>
          <p:cNvPr id="39" name="矩形 38"/>
          <p:cNvSpPr/>
          <p:nvPr userDrawn="1"/>
        </p:nvSpPr>
        <p:spPr>
          <a:xfrm>
            <a:off x="10896243" y="2520000"/>
            <a:ext cx="760143" cy="5386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W</a:t>
            </a:r>
            <a:r>
              <a:rPr lang="en-US" altLang="zh-CN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eight</a:t>
            </a:r>
          </a:p>
          <a:p>
            <a:pPr algn="r"/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重量</a:t>
            </a:r>
          </a:p>
        </p:txBody>
      </p:sp>
      <p:sp>
        <p:nvSpPr>
          <p:cNvPr id="40" name="矩形 39"/>
          <p:cNvSpPr/>
          <p:nvPr userDrawn="1"/>
        </p:nvSpPr>
        <p:spPr>
          <a:xfrm>
            <a:off x="10747163" y="5400000"/>
            <a:ext cx="909223" cy="5386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D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urability</a:t>
            </a:r>
            <a:endParaRPr lang="en-US" altLang="zh-CN" sz="11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r"/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耐久</a:t>
            </a:r>
          </a:p>
        </p:txBody>
      </p:sp>
      <p:sp>
        <p:nvSpPr>
          <p:cNvPr id="41" name="矩形 40"/>
          <p:cNvSpPr/>
          <p:nvPr userDrawn="1"/>
        </p:nvSpPr>
        <p:spPr>
          <a:xfrm>
            <a:off x="10105997" y="1080000"/>
            <a:ext cx="155038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T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orsional</a:t>
            </a:r>
            <a:r>
              <a:rPr lang="zh-CN" altLang="en-US" sz="1600" dirty="0"/>
              <a:t> 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Support</a:t>
            </a:r>
            <a:endParaRPr lang="en-US" altLang="zh-CN" sz="11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 algn="r"/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抗扭</a:t>
            </a:r>
          </a:p>
        </p:txBody>
      </p:sp>
      <p:cxnSp>
        <p:nvCxnSpPr>
          <p:cNvPr id="42" name="直接连接符 41"/>
          <p:cNvCxnSpPr/>
          <p:nvPr userDrawn="1"/>
        </p:nvCxnSpPr>
        <p:spPr>
          <a:xfrm>
            <a:off x="1520475" y="2520000"/>
            <a:ext cx="0" cy="436723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520475" y="3960000"/>
            <a:ext cx="0" cy="436723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 userDrawn="1"/>
        </p:nvCxnSpPr>
        <p:spPr>
          <a:xfrm>
            <a:off x="11656386" y="1080000"/>
            <a:ext cx="0" cy="436723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/>
          <p:nvPr userDrawn="1"/>
        </p:nvCxnSpPr>
        <p:spPr>
          <a:xfrm>
            <a:off x="11656386" y="2520000"/>
            <a:ext cx="0" cy="436723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/>
          <p:cNvCxnSpPr/>
          <p:nvPr userDrawn="1"/>
        </p:nvCxnSpPr>
        <p:spPr>
          <a:xfrm>
            <a:off x="11656386" y="5400000"/>
            <a:ext cx="0" cy="436723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/>
          <p:cNvCxnSpPr/>
          <p:nvPr userDrawn="1"/>
        </p:nvCxnSpPr>
        <p:spPr>
          <a:xfrm>
            <a:off x="11656386" y="3960000"/>
            <a:ext cx="0" cy="436723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/>
          <p:cNvSpPr/>
          <p:nvPr userDrawn="1"/>
        </p:nvSpPr>
        <p:spPr>
          <a:xfrm>
            <a:off x="5091062" y="381682"/>
            <a:ext cx="164179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Nirmala UI" panose="020B0502040204020203" pitchFamily="34" charset="0"/>
                <a:cs typeface="Nirmala UI" panose="020B0502040204020203" pitchFamily="34" charset="0"/>
              </a:rPr>
              <a:t>C</a:t>
            </a:r>
            <a:r>
              <a:rPr lang="zh-CN" altLang="en-US" sz="1200" b="1" dirty="0">
                <a:latin typeface="Nirmala UI" panose="020B0502040204020203" pitchFamily="34" charset="0"/>
                <a:cs typeface="Nirmala UI" panose="020B0502040204020203" pitchFamily="34" charset="0"/>
              </a:rPr>
              <a:t>omposite score ：</a:t>
            </a:r>
          </a:p>
        </p:txBody>
      </p:sp>
      <p:sp>
        <p:nvSpPr>
          <p:cNvPr id="49" name="矩形 48"/>
          <p:cNvSpPr/>
          <p:nvPr userDrawn="1"/>
        </p:nvSpPr>
        <p:spPr>
          <a:xfrm>
            <a:off x="6880271" y="436186"/>
            <a:ext cx="41069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0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/10</a:t>
            </a:r>
          </a:p>
        </p:txBody>
      </p:sp>
      <p:sp>
        <p:nvSpPr>
          <p:cNvPr id="51" name="矩形 50"/>
          <p:cNvSpPr/>
          <p:nvPr userDrawn="1"/>
        </p:nvSpPr>
        <p:spPr>
          <a:xfrm>
            <a:off x="1001485" y="5882131"/>
            <a:ext cx="51750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休闲</a:t>
            </a:r>
          </a:p>
        </p:txBody>
      </p:sp>
      <p:sp>
        <p:nvSpPr>
          <p:cNvPr id="52" name="矩形 51"/>
          <p:cNvSpPr/>
          <p:nvPr userDrawn="1"/>
        </p:nvSpPr>
        <p:spPr>
          <a:xfrm>
            <a:off x="1170656" y="5738131"/>
            <a:ext cx="144000" cy="1440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/>
          <p:cNvSpPr/>
          <p:nvPr userDrawn="1"/>
        </p:nvSpPr>
        <p:spPr>
          <a:xfrm>
            <a:off x="1518994" y="5882131"/>
            <a:ext cx="51750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半场</a:t>
            </a:r>
          </a:p>
        </p:txBody>
      </p:sp>
      <p:sp>
        <p:nvSpPr>
          <p:cNvPr id="54" name="矩形 53"/>
          <p:cNvSpPr/>
          <p:nvPr userDrawn="1"/>
        </p:nvSpPr>
        <p:spPr>
          <a:xfrm>
            <a:off x="1688165" y="5738131"/>
            <a:ext cx="144000" cy="1440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矩形 54"/>
          <p:cNvSpPr/>
          <p:nvPr userDrawn="1"/>
        </p:nvSpPr>
        <p:spPr>
          <a:xfrm>
            <a:off x="2036503" y="5882131"/>
            <a:ext cx="51750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全场</a:t>
            </a:r>
          </a:p>
        </p:txBody>
      </p:sp>
      <p:sp>
        <p:nvSpPr>
          <p:cNvPr id="56" name="矩形 55"/>
          <p:cNvSpPr/>
          <p:nvPr userDrawn="1"/>
        </p:nvSpPr>
        <p:spPr>
          <a:xfrm>
            <a:off x="2205674" y="5738131"/>
            <a:ext cx="144000" cy="1440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 56"/>
          <p:cNvSpPr/>
          <p:nvPr userDrawn="1"/>
        </p:nvSpPr>
        <p:spPr>
          <a:xfrm>
            <a:off x="2554012" y="5882131"/>
            <a:ext cx="51750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赛事</a:t>
            </a:r>
          </a:p>
        </p:txBody>
      </p:sp>
      <p:sp>
        <p:nvSpPr>
          <p:cNvPr id="58" name="矩形 57"/>
          <p:cNvSpPr/>
          <p:nvPr userDrawn="1"/>
        </p:nvSpPr>
        <p:spPr>
          <a:xfrm>
            <a:off x="2723183" y="5738131"/>
            <a:ext cx="144000" cy="1440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/>
          <p:cNvSpPr/>
          <p:nvPr userDrawn="1"/>
        </p:nvSpPr>
        <p:spPr>
          <a:xfrm>
            <a:off x="899316" y="6512415"/>
            <a:ext cx="68668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木地板</a:t>
            </a:r>
          </a:p>
        </p:txBody>
      </p:sp>
      <p:sp>
        <p:nvSpPr>
          <p:cNvPr id="60" name="矩形 59"/>
          <p:cNvSpPr/>
          <p:nvPr userDrawn="1"/>
        </p:nvSpPr>
        <p:spPr>
          <a:xfrm>
            <a:off x="1170656" y="6368415"/>
            <a:ext cx="144000" cy="1440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/>
          <p:cNvSpPr/>
          <p:nvPr userDrawn="1"/>
        </p:nvSpPr>
        <p:spPr>
          <a:xfrm>
            <a:off x="1688165" y="6368415"/>
            <a:ext cx="144000" cy="1440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/>
          <p:cNvSpPr/>
          <p:nvPr userDrawn="1"/>
        </p:nvSpPr>
        <p:spPr>
          <a:xfrm>
            <a:off x="2205674" y="6368415"/>
            <a:ext cx="144000" cy="1440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/>
          <p:cNvSpPr/>
          <p:nvPr userDrawn="1"/>
        </p:nvSpPr>
        <p:spPr>
          <a:xfrm>
            <a:off x="2723183" y="6368415"/>
            <a:ext cx="144000" cy="1440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 userDrawn="1"/>
        </p:nvSpPr>
        <p:spPr>
          <a:xfrm>
            <a:off x="1518994" y="6512415"/>
            <a:ext cx="51750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塑胶</a:t>
            </a:r>
          </a:p>
        </p:txBody>
      </p:sp>
      <p:sp>
        <p:nvSpPr>
          <p:cNvPr id="65" name="矩形 64"/>
          <p:cNvSpPr/>
          <p:nvPr userDrawn="1"/>
        </p:nvSpPr>
        <p:spPr>
          <a:xfrm>
            <a:off x="2036503" y="6512414"/>
            <a:ext cx="51750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方格</a:t>
            </a:r>
          </a:p>
        </p:txBody>
      </p:sp>
      <p:sp>
        <p:nvSpPr>
          <p:cNvPr id="66" name="矩形 65"/>
          <p:cNvSpPr/>
          <p:nvPr userDrawn="1"/>
        </p:nvSpPr>
        <p:spPr>
          <a:xfrm>
            <a:off x="2554012" y="6512413"/>
            <a:ext cx="51750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水泥</a:t>
            </a:r>
          </a:p>
        </p:txBody>
      </p:sp>
      <p:sp>
        <p:nvSpPr>
          <p:cNvPr id="67" name="上下箭头 66"/>
          <p:cNvSpPr/>
          <p:nvPr userDrawn="1"/>
        </p:nvSpPr>
        <p:spPr>
          <a:xfrm rot="16200000" flipH="1">
            <a:off x="1946368" y="5261129"/>
            <a:ext cx="135051" cy="1917529"/>
          </a:xfrm>
          <a:prstGeom prst="upDownArrow">
            <a:avLst/>
          </a:prstGeom>
          <a:gradFill>
            <a:gsLst>
              <a:gs pos="48000">
                <a:schemeClr val="accent1">
                  <a:lumMod val="5000"/>
                  <a:lumOff val="95000"/>
                </a:schemeClr>
              </a:gs>
              <a:gs pos="0">
                <a:srgbClr val="7030A0"/>
              </a:gs>
              <a:gs pos="100000">
                <a:srgbClr val="00B050"/>
              </a:gs>
            </a:gsLst>
            <a:lin ang="5400000" scaled="1"/>
          </a:gradFill>
          <a:ln w="38100" cap="flat">
            <a:noFill/>
            <a:prstDash val="solid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57129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试阿萨德穿评测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sp>
        <p:nvSpPr>
          <p:cNvPr id="22" name="椭圆 21"/>
          <p:cNvSpPr/>
          <p:nvPr userDrawn="1"/>
        </p:nvSpPr>
        <p:spPr>
          <a:xfrm>
            <a:off x="317840" y="3315381"/>
            <a:ext cx="262894" cy="262894"/>
          </a:xfrm>
          <a:prstGeom prst="ellipse">
            <a:avLst/>
          </a:prstGeom>
          <a:noFill/>
          <a:ln w="15240">
            <a:solidFill>
              <a:schemeClr val="bg1">
                <a:lumMod val="95000"/>
                <a:alpha val="5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弧形 22"/>
          <p:cNvSpPr/>
          <p:nvPr userDrawn="1"/>
        </p:nvSpPr>
        <p:spPr>
          <a:xfrm>
            <a:off x="317840" y="3315381"/>
            <a:ext cx="262894" cy="262894"/>
          </a:xfrm>
          <a:prstGeom prst="arc">
            <a:avLst>
              <a:gd name="adj1" fmla="val 16200000"/>
              <a:gd name="adj2" fmla="val 10194549"/>
            </a:avLst>
          </a:prstGeom>
          <a:noFill/>
          <a:ln w="254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 userDrawn="1"/>
        </p:nvSpPr>
        <p:spPr>
          <a:xfrm>
            <a:off x="426427" y="2445619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 userDrawn="1"/>
        </p:nvSpPr>
        <p:spPr>
          <a:xfrm>
            <a:off x="426427" y="294092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 userDrawn="1"/>
        </p:nvSpPr>
        <p:spPr>
          <a:xfrm>
            <a:off x="426427" y="343821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/>
          <p:cNvSpPr/>
          <p:nvPr userDrawn="1"/>
        </p:nvSpPr>
        <p:spPr>
          <a:xfrm>
            <a:off x="426427" y="393550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" name="直接箭头连接符 29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 30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68" name="直接连接符 67"/>
          <p:cNvCxnSpPr/>
          <p:nvPr userDrawn="1"/>
        </p:nvCxnSpPr>
        <p:spPr>
          <a:xfrm>
            <a:off x="1125415" y="3677281"/>
            <a:ext cx="8764089" cy="0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/>
          <p:cNvCxnSpPr/>
          <p:nvPr userDrawn="1"/>
        </p:nvCxnSpPr>
        <p:spPr>
          <a:xfrm>
            <a:off x="9889504" y="2570765"/>
            <a:ext cx="2088232" cy="0"/>
          </a:xfrm>
          <a:prstGeom prst="line">
            <a:avLst/>
          </a:prstGeom>
          <a:ln w="19050">
            <a:solidFill>
              <a:schemeClr val="bg1">
                <a:lumMod val="95000"/>
              </a:schemeClr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/>
          <p:cNvCxnSpPr/>
          <p:nvPr userDrawn="1"/>
        </p:nvCxnSpPr>
        <p:spPr>
          <a:xfrm>
            <a:off x="9889504" y="856856"/>
            <a:ext cx="0" cy="5840765"/>
          </a:xfrm>
          <a:prstGeom prst="line">
            <a:avLst/>
          </a:prstGeom>
          <a:ln w="19050">
            <a:solidFill>
              <a:schemeClr val="bg1">
                <a:lumMod val="95000"/>
              </a:schemeClr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/>
          <p:cNvCxnSpPr/>
          <p:nvPr userDrawn="1"/>
        </p:nvCxnSpPr>
        <p:spPr>
          <a:xfrm>
            <a:off x="9889504" y="2963931"/>
            <a:ext cx="2088232" cy="0"/>
          </a:xfrm>
          <a:prstGeom prst="line">
            <a:avLst/>
          </a:prstGeom>
          <a:ln w="19050">
            <a:solidFill>
              <a:schemeClr val="bg1">
                <a:lumMod val="95000"/>
              </a:schemeClr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/>
          <p:cNvCxnSpPr/>
          <p:nvPr userDrawn="1"/>
        </p:nvCxnSpPr>
        <p:spPr>
          <a:xfrm>
            <a:off x="1125415" y="6692830"/>
            <a:ext cx="10858546" cy="0"/>
          </a:xfrm>
          <a:prstGeom prst="line">
            <a:avLst/>
          </a:prstGeom>
          <a:ln w="19050">
            <a:solidFill>
              <a:schemeClr val="bg1">
                <a:lumMod val="95000"/>
              </a:schemeClr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/>
          <p:cNvCxnSpPr/>
          <p:nvPr userDrawn="1"/>
        </p:nvCxnSpPr>
        <p:spPr>
          <a:xfrm>
            <a:off x="11977736" y="856856"/>
            <a:ext cx="0" cy="5840765"/>
          </a:xfrm>
          <a:prstGeom prst="line">
            <a:avLst/>
          </a:prstGeom>
          <a:ln w="19050">
            <a:solidFill>
              <a:schemeClr val="bg1">
                <a:lumMod val="95000"/>
              </a:schemeClr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 userDrawn="1"/>
        </p:nvSpPr>
        <p:spPr>
          <a:xfrm>
            <a:off x="1125415" y="856857"/>
            <a:ext cx="2585355" cy="5059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75" name="直接连接符 74"/>
          <p:cNvCxnSpPr/>
          <p:nvPr userDrawn="1"/>
        </p:nvCxnSpPr>
        <p:spPr>
          <a:xfrm>
            <a:off x="3710770" y="856856"/>
            <a:ext cx="0" cy="2009436"/>
          </a:xfrm>
          <a:prstGeom prst="line">
            <a:avLst/>
          </a:prstGeom>
          <a:ln w="19050">
            <a:solidFill>
              <a:schemeClr val="bg1">
                <a:lumMod val="95000"/>
              </a:schemeClr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 userDrawn="1"/>
        </p:nvCxnSpPr>
        <p:spPr>
          <a:xfrm>
            <a:off x="1125415" y="856856"/>
            <a:ext cx="10858546" cy="0"/>
          </a:xfrm>
          <a:prstGeom prst="line">
            <a:avLst/>
          </a:prstGeom>
          <a:ln w="19050">
            <a:solidFill>
              <a:schemeClr val="bg1">
                <a:lumMod val="95000"/>
              </a:schemeClr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矩形 76"/>
          <p:cNvSpPr/>
          <p:nvPr userDrawn="1"/>
        </p:nvSpPr>
        <p:spPr>
          <a:xfrm>
            <a:off x="10028331" y="972493"/>
            <a:ext cx="1814907" cy="14717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78" name="图片 77"/>
          <p:cNvPicPr>
            <a:picLocks noChangeAspect="1"/>
          </p:cNvPicPr>
          <p:nvPr userDrawn="1"/>
        </p:nvPicPr>
        <p:blipFill rotWithShape="1">
          <a:blip r:embed="rId3"/>
          <a:srcRect b="22097"/>
          <a:stretch/>
        </p:blipFill>
        <p:spPr>
          <a:xfrm>
            <a:off x="9961778" y="2571790"/>
            <a:ext cx="1957501" cy="364841"/>
          </a:xfrm>
          <a:prstGeom prst="rect">
            <a:avLst/>
          </a:prstGeom>
        </p:spPr>
      </p:pic>
      <p:cxnSp>
        <p:nvCxnSpPr>
          <p:cNvPr id="79" name="直接连接符 78"/>
          <p:cNvCxnSpPr/>
          <p:nvPr userDrawn="1"/>
        </p:nvCxnSpPr>
        <p:spPr>
          <a:xfrm>
            <a:off x="1125415" y="3033346"/>
            <a:ext cx="0" cy="3664275"/>
          </a:xfrm>
          <a:prstGeom prst="line">
            <a:avLst/>
          </a:prstGeom>
          <a:ln w="19050">
            <a:solidFill>
              <a:schemeClr val="bg1">
                <a:lumMod val="95000"/>
              </a:schemeClr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矩形 79"/>
          <p:cNvSpPr/>
          <p:nvPr userDrawn="1"/>
        </p:nvSpPr>
        <p:spPr>
          <a:xfrm>
            <a:off x="1583575" y="354783"/>
            <a:ext cx="145905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Fitting evaluation</a:t>
            </a:r>
          </a:p>
          <a:p>
            <a:endParaRPr lang="zh-CN" altLang="en-US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81" name="直接连接符 80"/>
          <p:cNvCxnSpPr/>
          <p:nvPr userDrawn="1"/>
        </p:nvCxnSpPr>
        <p:spPr>
          <a:xfrm>
            <a:off x="1702870" y="631782"/>
            <a:ext cx="1189799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366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总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箭头连接符 4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3048000" y="3340885"/>
            <a:ext cx="6096000" cy="3398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基于上述各项测试结果进行区块分析，输出相应调整、修改建议。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8" name="圆角矩形 7"/>
          <p:cNvSpPr/>
          <p:nvPr userDrawn="1"/>
        </p:nvSpPr>
        <p:spPr>
          <a:xfrm>
            <a:off x="8572500" y="4536831"/>
            <a:ext cx="967154" cy="290146"/>
          </a:xfrm>
          <a:prstGeom prst="roundRect">
            <a:avLst>
              <a:gd name="adj" fmla="val 50000"/>
            </a:avLst>
          </a:prstGeom>
          <a:solidFill>
            <a:srgbClr val="8E8E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8783382" y="4475285"/>
            <a:ext cx="562975" cy="3349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Enter</a:t>
            </a:r>
          </a:p>
        </p:txBody>
      </p:sp>
      <p:sp>
        <p:nvSpPr>
          <p:cNvPr id="10" name="矩形 9"/>
          <p:cNvSpPr/>
          <p:nvPr userDrawn="1"/>
        </p:nvSpPr>
        <p:spPr>
          <a:xfrm>
            <a:off x="3048000" y="2753545"/>
            <a:ext cx="800219" cy="58734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总结</a:t>
            </a:r>
            <a:endParaRPr lang="en-US" altLang="zh-CN" sz="24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68960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总结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/>
          <p:cNvCxnSpPr/>
          <p:nvPr userDrawn="1"/>
        </p:nvCxnSpPr>
        <p:spPr>
          <a:xfrm>
            <a:off x="852854" y="0"/>
            <a:ext cx="0" cy="6858000"/>
          </a:xfrm>
          <a:prstGeom prst="line">
            <a:avLst/>
          </a:prstGeom>
          <a:ln w="19050">
            <a:solidFill>
              <a:schemeClr val="bg1">
                <a:lumMod val="85000"/>
                <a:alpha val="43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 userDrawn="1"/>
        </p:nvCxnSpPr>
        <p:spPr>
          <a:xfrm>
            <a:off x="11776841" y="398908"/>
            <a:ext cx="219807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11831609" y="470346"/>
            <a:ext cx="165039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sp>
        <p:nvSpPr>
          <p:cNvPr id="7" name="椭圆 6"/>
          <p:cNvSpPr/>
          <p:nvPr userDrawn="1"/>
        </p:nvSpPr>
        <p:spPr>
          <a:xfrm>
            <a:off x="317840" y="3821644"/>
            <a:ext cx="262894" cy="262894"/>
          </a:xfrm>
          <a:prstGeom prst="ellipse">
            <a:avLst/>
          </a:prstGeom>
          <a:noFill/>
          <a:ln w="15240">
            <a:solidFill>
              <a:schemeClr val="bg1">
                <a:lumMod val="95000"/>
                <a:alpha val="5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弧形 7"/>
          <p:cNvSpPr/>
          <p:nvPr userDrawn="1"/>
        </p:nvSpPr>
        <p:spPr>
          <a:xfrm>
            <a:off x="317840" y="3821644"/>
            <a:ext cx="262894" cy="262894"/>
          </a:xfrm>
          <a:prstGeom prst="arc">
            <a:avLst>
              <a:gd name="adj1" fmla="val 16200000"/>
              <a:gd name="adj2" fmla="val 10194549"/>
            </a:avLst>
          </a:prstGeom>
          <a:noFill/>
          <a:ln w="254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/>
          <p:cNvSpPr/>
          <p:nvPr userDrawn="1"/>
        </p:nvSpPr>
        <p:spPr>
          <a:xfrm>
            <a:off x="426427" y="2445619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 userDrawn="1"/>
        </p:nvSpPr>
        <p:spPr>
          <a:xfrm>
            <a:off x="426427" y="294092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/>
          <p:cNvSpPr/>
          <p:nvPr userDrawn="1"/>
        </p:nvSpPr>
        <p:spPr>
          <a:xfrm>
            <a:off x="426427" y="343821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 userDrawn="1"/>
        </p:nvSpPr>
        <p:spPr>
          <a:xfrm>
            <a:off x="426427" y="3935507"/>
            <a:ext cx="45719" cy="457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 userDrawn="1"/>
        </p:nvSpPr>
        <p:spPr>
          <a:xfrm>
            <a:off x="1583575" y="354783"/>
            <a:ext cx="73609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Sum up</a:t>
            </a:r>
            <a:endParaRPr lang="zh-CN" altLang="en-US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14" name="直接连接符 13"/>
          <p:cNvCxnSpPr/>
          <p:nvPr userDrawn="1"/>
        </p:nvCxnSpPr>
        <p:spPr>
          <a:xfrm>
            <a:off x="1702870" y="631782"/>
            <a:ext cx="468830" cy="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/>
          <p:nvPr userDrawn="1"/>
        </p:nvCxnSpPr>
        <p:spPr>
          <a:xfrm>
            <a:off x="439615" y="6478241"/>
            <a:ext cx="0" cy="21980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 userDrawn="1"/>
        </p:nvSpPr>
        <p:spPr>
          <a:xfrm rot="10800000">
            <a:off x="266490" y="6087749"/>
            <a:ext cx="346249" cy="390492"/>
          </a:xfrm>
          <a:prstGeom prst="rect">
            <a:avLst/>
          </a:prstGeom>
        </p:spPr>
        <p:txBody>
          <a:bodyPr vert="eaVert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447557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谢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C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1" y="166034"/>
            <a:ext cx="431472" cy="465748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2714797" y="2467337"/>
            <a:ext cx="1617752" cy="7392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3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THANK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4587922" y="6611779"/>
            <a:ext cx="235192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0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 QD SPORTS SCIENCE LABORATORY</a:t>
            </a:r>
            <a:endParaRPr lang="zh-CN" altLang="en-US" sz="10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cxnSp>
        <p:nvCxnSpPr>
          <p:cNvPr id="6" name="直接箭头连接符 5"/>
          <p:cNvCxnSpPr/>
          <p:nvPr userDrawn="1"/>
        </p:nvCxnSpPr>
        <p:spPr>
          <a:xfrm>
            <a:off x="11830026" y="6684861"/>
            <a:ext cx="259398" cy="0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/>
          <p:cNvSpPr/>
          <p:nvPr userDrawn="1"/>
        </p:nvSpPr>
        <p:spPr>
          <a:xfrm>
            <a:off x="10555318" y="6549111"/>
            <a:ext cx="1274708" cy="253916"/>
          </a:xfrm>
          <a:prstGeom prst="rect">
            <a:avLst/>
          </a:prstGeom>
        </p:spPr>
        <p:txBody>
          <a:bodyPr vert="horz" wrap="none">
            <a:spAutoFit/>
          </a:bodyPr>
          <a:lstStyle/>
          <a:p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Back to page one</a:t>
            </a:r>
            <a:endParaRPr lang="zh-CN" altLang="en-US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136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7202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64" r:id="rId5"/>
    <p:sldLayoutId id="2147483669" r:id="rId6"/>
    <p:sldLayoutId id="2147483655" r:id="rId7"/>
    <p:sldLayoutId id="2147483653" r:id="rId8"/>
    <p:sldLayoutId id="2147483654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5" r:id="rId15"/>
    <p:sldLayoutId id="2147483666" r:id="rId16"/>
    <p:sldLayoutId id="2147483667" r:id="rId17"/>
    <p:sldLayoutId id="2147483668" r:id="rId18"/>
    <p:sldLayoutId id="2147483670" r:id="rId19"/>
    <p:sldLayoutId id="2147483661" r:id="rId20"/>
    <p:sldLayoutId id="2147483662" r:id="rId21"/>
    <p:sldLayoutId id="2147483663" r:id="rId2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21.png"/><Relationship Id="rId5" Type="http://schemas.openxmlformats.org/officeDocument/2006/relationships/chart" Target="../charts/chart1.xml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119191" y="2883666"/>
            <a:ext cx="2380147" cy="819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试穿人数：</a:t>
            </a:r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5</a:t>
            </a:r>
            <a:r>
              <a:rPr lang="zh-CN" altLang="en-US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人（与</a:t>
            </a:r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5</a:t>
            </a:r>
            <a:r>
              <a:rPr lang="zh-CN" altLang="en-US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代相同测试者）</a:t>
            </a:r>
            <a:endParaRPr lang="en-US" altLang="zh-CN" sz="105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测试者平均体重：</a:t>
            </a:r>
            <a:r>
              <a:rPr lang="en-US" altLang="zh-CN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67±5KG</a:t>
            </a:r>
          </a:p>
          <a:p>
            <a:pPr>
              <a:lnSpc>
                <a:spcPct val="150000"/>
              </a:lnSpc>
            </a:pPr>
            <a:r>
              <a:rPr lang="zh-CN" altLang="en-US" sz="105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测试者球场定位：后卫</a:t>
            </a:r>
          </a:p>
        </p:txBody>
      </p:sp>
      <p:sp>
        <p:nvSpPr>
          <p:cNvPr id="4" name="矩形 3"/>
          <p:cNvSpPr/>
          <p:nvPr/>
        </p:nvSpPr>
        <p:spPr>
          <a:xfrm>
            <a:off x="1451195" y="887933"/>
            <a:ext cx="189325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latin typeface="Nirmala UI" panose="020B0502040204020203" pitchFamily="34" charset="0"/>
                <a:cs typeface="Nirmala UI" panose="020B0502040204020203" pitchFamily="34" charset="0"/>
              </a:rPr>
              <a:t>风刃</a:t>
            </a:r>
            <a:r>
              <a:rPr lang="en-US" altLang="zh-CN" sz="1600" b="1" dirty="0">
                <a:latin typeface="Nirmala UI" panose="020B0502040204020203" pitchFamily="34" charset="0"/>
                <a:cs typeface="Nirmala UI" panose="020B0502040204020203" pitchFamily="34" charset="0"/>
              </a:rPr>
              <a:t>6PRO </a:t>
            </a:r>
            <a:r>
              <a:rPr lang="zh-CN" altLang="en-US" sz="1600" b="1" dirty="0">
                <a:latin typeface="Nirmala UI" panose="020B0502040204020203" pitchFamily="34" charset="0"/>
                <a:cs typeface="Nirmala UI" panose="020B0502040204020203" pitchFamily="34" charset="0"/>
              </a:rPr>
              <a:t>第一轮</a:t>
            </a:r>
          </a:p>
        </p:txBody>
      </p:sp>
      <p:cxnSp>
        <p:nvCxnSpPr>
          <p:cNvPr id="7" name="直接连接符 6"/>
          <p:cNvCxnSpPr/>
          <p:nvPr/>
        </p:nvCxnSpPr>
        <p:spPr>
          <a:xfrm>
            <a:off x="5460876" y="3703121"/>
            <a:ext cx="0" cy="2996617"/>
          </a:xfrm>
          <a:prstGeom prst="line">
            <a:avLst/>
          </a:prstGeom>
          <a:ln w="9525" cap="flat" cmpd="sng" algn="ctr">
            <a:solidFill>
              <a:schemeClr val="bg1">
                <a:lumMod val="8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1119190" y="3735991"/>
            <a:ext cx="4341686" cy="26314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b="1" dirty="0">
                <a:solidFill>
                  <a:srgbClr val="DCB04B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【</a:t>
            </a:r>
            <a:r>
              <a:rPr lang="zh-CN" altLang="en-US" sz="1100" b="1" dirty="0">
                <a:solidFill>
                  <a:srgbClr val="DCB04B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稳定性</a:t>
            </a:r>
            <a:r>
              <a:rPr lang="en-US" altLang="zh-CN" sz="1100" b="1" dirty="0">
                <a:solidFill>
                  <a:srgbClr val="DCB04B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】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鞋底中后段稳定性较差，尤其出现在后跟内侧</a:t>
            </a:r>
            <a:r>
              <a:rPr lang="zh-CN" altLang="en-US" sz="9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（</a:t>
            </a:r>
            <a:r>
              <a:rPr lang="en-US" altLang="zh-CN" sz="9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3/5</a:t>
            </a:r>
            <a:r>
              <a:rPr lang="zh-CN" altLang="en-US" sz="9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）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。</a:t>
            </a:r>
            <a:endParaRPr lang="en-US" altLang="zh-CN" sz="11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  <a:sym typeface="Arial"/>
            </a:endParaRPr>
          </a:p>
          <a:p>
            <a:pPr>
              <a:lnSpc>
                <a:spcPct val="150000"/>
              </a:lnSpc>
            </a:pPr>
            <a:r>
              <a:rPr lang="en-US" altLang="zh-CN" sz="1100" b="1" dirty="0">
                <a:solidFill>
                  <a:srgbClr val="DCB04B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【</a:t>
            </a:r>
            <a:r>
              <a:rPr lang="zh-CN" altLang="en-US" sz="1100" b="1" dirty="0">
                <a:solidFill>
                  <a:srgbClr val="DCB04B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舒适性</a:t>
            </a:r>
            <a:r>
              <a:rPr lang="en-US" altLang="zh-CN" sz="1100" b="1" dirty="0">
                <a:solidFill>
                  <a:srgbClr val="DCB04B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】</a:t>
            </a:r>
          </a:p>
          <a:p>
            <a:pPr>
              <a:lnSpc>
                <a:spcPct val="150000"/>
              </a:lnSpc>
            </a:pP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鞋底：整体脚感十分硬、且后跟碳板位置偏后，在落地时有明显的震脚触感（</a:t>
            </a:r>
            <a:r>
              <a:rPr lang="en-US" altLang="zh-CN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3/5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） 。</a:t>
            </a:r>
            <a:endParaRPr lang="en-US" altLang="zh-CN" sz="11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  <a:sym typeface="Arial"/>
            </a:endParaRPr>
          </a:p>
          <a:p>
            <a:pPr>
              <a:lnSpc>
                <a:spcPct val="150000"/>
              </a:lnSpc>
            </a:pP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鞋面：脚部进入鞋身时有明显的卡脚背情况，同时鞋面鞋舌处开口材料较硬，舒适度低（</a:t>
            </a:r>
            <a:r>
              <a:rPr lang="en-US" altLang="zh-CN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4/5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） 。</a:t>
            </a:r>
            <a:endParaRPr lang="en-US" altLang="zh-CN" sz="11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  <a:sym typeface="Arial"/>
            </a:endParaRPr>
          </a:p>
          <a:p>
            <a:pPr>
              <a:lnSpc>
                <a:spcPct val="150000"/>
              </a:lnSpc>
            </a:pPr>
            <a:r>
              <a:rPr lang="en-US" altLang="zh-CN" sz="1100" b="1" dirty="0">
                <a:solidFill>
                  <a:srgbClr val="DCB04B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【</a:t>
            </a:r>
            <a:r>
              <a:rPr lang="zh-CN" altLang="en-US" sz="1100" b="1" dirty="0">
                <a:solidFill>
                  <a:srgbClr val="DCB04B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包裹性</a:t>
            </a:r>
            <a:r>
              <a:rPr lang="en-US" altLang="zh-CN" sz="1100" b="1" dirty="0">
                <a:solidFill>
                  <a:srgbClr val="DCB04B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】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前掌包裹始终没办法进行收紧，可能与鞋带孔的间距较小有关。同时后跟坐深较浅，会出现轻微的掉跟情况（</a:t>
            </a:r>
            <a:r>
              <a:rPr lang="en-US" altLang="zh-CN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1/5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） 。</a:t>
            </a:r>
            <a:endParaRPr lang="en-US" altLang="zh-CN" sz="11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  <a:sym typeface="Arial"/>
            </a:endParaRPr>
          </a:p>
          <a:p>
            <a:pPr>
              <a:lnSpc>
                <a:spcPct val="150000"/>
              </a:lnSpc>
            </a:pPr>
            <a:r>
              <a:rPr lang="en-US" altLang="zh-CN" sz="1100" b="1" dirty="0">
                <a:solidFill>
                  <a:srgbClr val="DCB04B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【</a:t>
            </a:r>
            <a:r>
              <a:rPr lang="zh-CN" altLang="en-US" sz="1100" b="1" dirty="0">
                <a:solidFill>
                  <a:srgbClr val="DCB04B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抓地性</a:t>
            </a:r>
            <a:r>
              <a:rPr lang="en-US" altLang="zh-CN" sz="1100" b="1" dirty="0">
                <a:solidFill>
                  <a:srgbClr val="DCB04B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】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在室内有灰的场地，会出现明显的打滑情况，尤其出现在快攻上篮的最后一步（</a:t>
            </a:r>
            <a:r>
              <a:rPr lang="en-US" altLang="zh-CN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3/5</a:t>
            </a:r>
            <a:r>
              <a:rPr lang="zh-CN" altLang="en-US" sz="11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） 。</a:t>
            </a:r>
            <a:endParaRPr lang="en-US" altLang="zh-CN" sz="11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  <a:sym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1210658" y="2642183"/>
            <a:ext cx="49084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latin typeface="Nirmala UI" panose="020B0502040204020203" pitchFamily="34" charset="0"/>
                <a:cs typeface="Nirmala UI" panose="020B0502040204020203" pitchFamily="34" charset="0"/>
              </a:rPr>
              <a:t>7.42</a:t>
            </a:r>
            <a:endParaRPr lang="zh-CN" altLang="en-US" sz="1200" b="1" dirty="0"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0577611" y="1183281"/>
            <a:ext cx="728084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irmala UI" panose="020B0502040204020203" pitchFamily="34" charset="0"/>
                <a:cs typeface="Nirmala UI" panose="020B0502040204020203" pitchFamily="34" charset="0"/>
              </a:rPr>
              <a:t>B</a:t>
            </a:r>
            <a:endParaRPr lang="zh-CN" altLang="en-US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1131609" y="1256917"/>
            <a:ext cx="2776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irmala UI" panose="020B0502040204020203" pitchFamily="34" charset="0"/>
                <a:cs typeface="Nirmala UI" panose="020B0502040204020203" pitchFamily="34" charset="0"/>
              </a:rPr>
              <a:t>-</a:t>
            </a:r>
            <a:endParaRPr lang="zh-CN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330" y="3600490"/>
            <a:ext cx="254578" cy="271002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02" y="3600490"/>
            <a:ext cx="254578" cy="271002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10738602" y="3505693"/>
            <a:ext cx="38985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8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重量</a:t>
            </a:r>
          </a:p>
        </p:txBody>
      </p:sp>
      <p:sp>
        <p:nvSpPr>
          <p:cNvPr id="30" name="矩形 29"/>
          <p:cNvSpPr/>
          <p:nvPr/>
        </p:nvSpPr>
        <p:spPr>
          <a:xfrm>
            <a:off x="11532853" y="3923724"/>
            <a:ext cx="38985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8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缓震</a:t>
            </a:r>
          </a:p>
        </p:txBody>
      </p:sp>
      <p:sp>
        <p:nvSpPr>
          <p:cNvPr id="31" name="矩形 30"/>
          <p:cNvSpPr/>
          <p:nvPr/>
        </p:nvSpPr>
        <p:spPr>
          <a:xfrm>
            <a:off x="10750258" y="4886398"/>
            <a:ext cx="38985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8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包裹</a:t>
            </a:r>
          </a:p>
        </p:txBody>
      </p:sp>
      <p:sp>
        <p:nvSpPr>
          <p:cNvPr id="32" name="矩形 31"/>
          <p:cNvSpPr/>
          <p:nvPr/>
        </p:nvSpPr>
        <p:spPr>
          <a:xfrm>
            <a:off x="9974358" y="3878911"/>
            <a:ext cx="38985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8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刚性</a:t>
            </a:r>
          </a:p>
        </p:txBody>
      </p:sp>
      <p:sp>
        <p:nvSpPr>
          <p:cNvPr id="33" name="矩形 32"/>
          <p:cNvSpPr/>
          <p:nvPr/>
        </p:nvSpPr>
        <p:spPr>
          <a:xfrm>
            <a:off x="9974358" y="4512918"/>
            <a:ext cx="38985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8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止滑</a:t>
            </a:r>
          </a:p>
        </p:txBody>
      </p:sp>
      <p:sp>
        <p:nvSpPr>
          <p:cNvPr id="34" name="矩形 33"/>
          <p:cNvSpPr/>
          <p:nvPr/>
        </p:nvSpPr>
        <p:spPr>
          <a:xfrm>
            <a:off x="11532853" y="4512918"/>
            <a:ext cx="38985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8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回弹</a:t>
            </a:r>
          </a:p>
        </p:txBody>
      </p:sp>
      <p:sp>
        <p:nvSpPr>
          <p:cNvPr id="35" name="矩形 34"/>
          <p:cNvSpPr/>
          <p:nvPr/>
        </p:nvSpPr>
        <p:spPr>
          <a:xfrm>
            <a:off x="10143545" y="5177491"/>
            <a:ext cx="112115" cy="112124"/>
          </a:xfrm>
          <a:prstGeom prst="rect">
            <a:avLst/>
          </a:prstGeom>
          <a:solidFill>
            <a:srgbClr val="DCB04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11162651" y="5177491"/>
            <a:ext cx="112115" cy="112124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10210551" y="5112369"/>
            <a:ext cx="65755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8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风刃</a:t>
            </a:r>
            <a:r>
              <a:rPr lang="en-US" altLang="zh-CN" sz="8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6PRO</a:t>
            </a:r>
            <a:endParaRPr lang="zh-CN" altLang="en-US" sz="8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11210658" y="5112369"/>
            <a:ext cx="65755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8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风刃</a:t>
            </a:r>
            <a:r>
              <a:rPr lang="en-US" altLang="zh-CN" sz="8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5PRO</a:t>
            </a:r>
            <a:endParaRPr lang="zh-CN" altLang="en-US" sz="8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</a:endParaRPr>
          </a:p>
        </p:txBody>
      </p:sp>
      <p:pic>
        <p:nvPicPr>
          <p:cNvPr id="48" name="图片 47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33" t="17464" r="14283" b="23189"/>
          <a:stretch/>
        </p:blipFill>
        <p:spPr>
          <a:xfrm>
            <a:off x="1451195" y="1592337"/>
            <a:ext cx="2078049" cy="1015934"/>
          </a:xfrm>
          <a:prstGeom prst="rect">
            <a:avLst/>
          </a:prstGeom>
        </p:spPr>
      </p:pic>
      <p:graphicFrame>
        <p:nvGraphicFramePr>
          <p:cNvPr id="50" name="图表 4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8503014"/>
              </p:ext>
            </p:extLst>
          </p:nvPr>
        </p:nvGraphicFramePr>
        <p:xfrm>
          <a:off x="3915990" y="1040168"/>
          <a:ext cx="4155892" cy="24172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pic>
        <p:nvPicPr>
          <p:cNvPr id="15" name="图片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1882" y="1299502"/>
            <a:ext cx="1684503" cy="1888962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4495" y="5397999"/>
            <a:ext cx="689508" cy="34074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33" t="17464" r="14283" b="23189"/>
          <a:stretch/>
        </p:blipFill>
        <p:spPr>
          <a:xfrm>
            <a:off x="10087105" y="5399813"/>
            <a:ext cx="693270" cy="338931"/>
          </a:xfrm>
          <a:prstGeom prst="rect">
            <a:avLst/>
          </a:prstGeom>
        </p:spPr>
      </p:pic>
      <p:sp>
        <p:nvSpPr>
          <p:cNvPr id="53" name="矩形 52"/>
          <p:cNvSpPr/>
          <p:nvPr/>
        </p:nvSpPr>
        <p:spPr>
          <a:xfrm>
            <a:off x="9996503" y="5773293"/>
            <a:ext cx="189069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chemeClr val="bg1">
                    <a:lumMod val="95000"/>
                  </a:schemeClr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轻量化、刚性上有所提升，适配门槛相应会比上一代有所提高。</a:t>
            </a:r>
            <a:endParaRPr lang="en-US" altLang="zh-CN" sz="1200" b="1" dirty="0">
              <a:solidFill>
                <a:schemeClr val="bg1">
                  <a:lumMod val="95000"/>
                </a:schemeClr>
              </a:solidFill>
              <a:latin typeface="Nirmala UI" panose="020B0502040204020203" pitchFamily="34" charset="0"/>
              <a:cs typeface="Nirmala UI" panose="020B0502040204020203" pitchFamily="34" charset="0"/>
              <a:sym typeface="Arial"/>
            </a:endParaRPr>
          </a:p>
        </p:txBody>
      </p:sp>
      <p:pic>
        <p:nvPicPr>
          <p:cNvPr id="54" name="图片 53"/>
          <p:cNvPicPr>
            <a:picLocks noChangeAspect="1"/>
          </p:cNvPicPr>
          <p:nvPr/>
        </p:nvPicPr>
        <p:blipFill rotWithShape="1">
          <a:blip r:embed="rId9"/>
          <a:srcRect l="25241" r="22383"/>
          <a:stretch/>
        </p:blipFill>
        <p:spPr>
          <a:xfrm>
            <a:off x="10433740" y="3655320"/>
            <a:ext cx="1130040" cy="1294522"/>
          </a:xfrm>
          <a:prstGeom prst="rect">
            <a:avLst/>
          </a:prstGeom>
        </p:spPr>
      </p:pic>
      <p:sp>
        <p:nvSpPr>
          <p:cNvPr id="55" name="矩形 54"/>
          <p:cNvSpPr/>
          <p:nvPr/>
        </p:nvSpPr>
        <p:spPr>
          <a:xfrm>
            <a:off x="5516731" y="3735991"/>
            <a:ext cx="434168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solidFill>
                  <a:srgbClr val="00B050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【</a:t>
            </a:r>
            <a:r>
              <a:rPr lang="zh-CN" altLang="en-US" sz="1200" b="1" dirty="0">
                <a:solidFill>
                  <a:srgbClr val="00B050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外观</a:t>
            </a:r>
            <a:r>
              <a:rPr lang="en-US" altLang="zh-CN" sz="1200" b="1" dirty="0">
                <a:solidFill>
                  <a:srgbClr val="00B050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】</a:t>
            </a:r>
            <a:r>
              <a:rPr lang="zh-CN" altLang="en-US" sz="1200" b="1" dirty="0">
                <a:solidFill>
                  <a:schemeClr val="bg1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颜值高、外观造型有特点，期待出好看的配色。</a:t>
            </a:r>
            <a:endParaRPr lang="en-US" altLang="zh-CN" sz="1200" b="1" dirty="0">
              <a:solidFill>
                <a:schemeClr val="bg1"/>
              </a:solidFill>
              <a:latin typeface="Nirmala UI" panose="020B0502040204020203" pitchFamily="34" charset="0"/>
              <a:cs typeface="Nirmala UI" panose="020B0502040204020203" pitchFamily="34" charset="0"/>
              <a:sym typeface="Arial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solidFill>
                  <a:srgbClr val="00B050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【</a:t>
            </a:r>
            <a:r>
              <a:rPr lang="zh-CN" altLang="en-US" sz="1200" b="1" dirty="0">
                <a:solidFill>
                  <a:srgbClr val="00B050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稳定性</a:t>
            </a:r>
            <a:r>
              <a:rPr lang="en-US" altLang="zh-CN" sz="1200" b="1" dirty="0">
                <a:solidFill>
                  <a:srgbClr val="00B050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】</a:t>
            </a:r>
            <a:r>
              <a:rPr lang="zh-CN" altLang="en-US" sz="1200" b="1" dirty="0">
                <a:solidFill>
                  <a:schemeClr val="bg1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前掌在做急停时的稳定性较好，足够宽。</a:t>
            </a:r>
            <a:endParaRPr lang="en-US" altLang="zh-CN" sz="1200" b="1" dirty="0">
              <a:solidFill>
                <a:schemeClr val="bg1"/>
              </a:solidFill>
              <a:latin typeface="Nirmala UI" panose="020B0502040204020203" pitchFamily="34" charset="0"/>
              <a:cs typeface="Nirmala UI" panose="020B0502040204020203" pitchFamily="34" charset="0"/>
              <a:sym typeface="Arial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solidFill>
                  <a:srgbClr val="00B050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【</a:t>
            </a:r>
            <a:r>
              <a:rPr lang="zh-CN" altLang="en-US" sz="1200" b="1" dirty="0">
                <a:solidFill>
                  <a:srgbClr val="00B050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重量</a:t>
            </a:r>
            <a:r>
              <a:rPr lang="en-US" altLang="zh-CN" sz="1200" b="1" dirty="0">
                <a:solidFill>
                  <a:srgbClr val="00B050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】</a:t>
            </a:r>
            <a:r>
              <a:rPr lang="zh-CN" altLang="en-US" sz="1200" b="1" dirty="0">
                <a:solidFill>
                  <a:schemeClr val="bg1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轻量化相对较为优秀，跑动全场下来不会坠脚。</a:t>
            </a:r>
            <a:endParaRPr lang="en-US" altLang="zh-CN" sz="1200" b="1" dirty="0">
              <a:solidFill>
                <a:schemeClr val="bg1"/>
              </a:solidFill>
              <a:latin typeface="Nirmala UI" panose="020B0502040204020203" pitchFamily="34" charset="0"/>
              <a:cs typeface="Nirmala UI" panose="020B0502040204020203" pitchFamily="34" charset="0"/>
              <a:sym typeface="Arial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solidFill>
                  <a:srgbClr val="00B050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【</a:t>
            </a:r>
            <a:r>
              <a:rPr lang="zh-CN" altLang="en-US" sz="1200" b="1" dirty="0">
                <a:solidFill>
                  <a:srgbClr val="00B050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抓地</a:t>
            </a:r>
            <a:r>
              <a:rPr lang="en-US" altLang="zh-CN" sz="1200" b="1" dirty="0">
                <a:solidFill>
                  <a:srgbClr val="00B050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】</a:t>
            </a:r>
            <a:r>
              <a:rPr lang="zh-CN" altLang="en-US" sz="1200" b="1" dirty="0">
                <a:solidFill>
                  <a:schemeClr val="bg1"/>
                </a:solidFill>
                <a:latin typeface="Nirmala UI" panose="020B0502040204020203" pitchFamily="34" charset="0"/>
                <a:cs typeface="Nirmala UI" panose="020B0502040204020203" pitchFamily="34" charset="0"/>
                <a:sym typeface="Arial"/>
              </a:rPr>
              <a:t>在室外水泥场地上，抓地以及耐磨情况非常好，得益于其较粗的底花纹路。</a:t>
            </a:r>
            <a:endParaRPr lang="en-US" altLang="zh-CN" sz="1200" b="1" dirty="0">
              <a:solidFill>
                <a:schemeClr val="bg1"/>
              </a:solidFill>
              <a:latin typeface="Nirmala UI" panose="020B0502040204020203" pitchFamily="34" charset="0"/>
              <a:cs typeface="Nirmala UI" panose="020B0502040204020203" pitchFamily="34" charset="0"/>
              <a:sym typeface="Arial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9905480" y="2958625"/>
            <a:ext cx="2060097" cy="422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Nirmala UI" panose="020B0502040204020203" pitchFamily="34" charset="0"/>
                <a:cs typeface="Nirmala UI" panose="020B0502040204020203" pitchFamily="34" charset="0"/>
              </a:rPr>
              <a:t>对比分析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81227" y="5280417"/>
            <a:ext cx="2329695" cy="1298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509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2015</TotalTime>
  <Words>295</Words>
  <Application>Microsoft Office PowerPoint</Application>
  <PresentationFormat>宽屏</PresentationFormat>
  <Paragraphs>27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Arial</vt:lpstr>
      <vt:lpstr>Nirmala UI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杨祖锐</dc:creator>
  <cp:lastModifiedBy>陈晶</cp:lastModifiedBy>
  <cp:revision>146</cp:revision>
  <dcterms:created xsi:type="dcterms:W3CDTF">2025-01-14T08:18:08Z</dcterms:created>
  <dcterms:modified xsi:type="dcterms:W3CDTF">2026-02-09T07:06:16Z</dcterms:modified>
</cp:coreProperties>
</file>