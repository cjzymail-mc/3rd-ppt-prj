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96" r:id="rId3"/>
    <p:sldId id="297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48"/>
    <a:srgbClr val="1E7C4A"/>
    <a:srgbClr val="CFCFCF"/>
    <a:srgbClr val="F3F3F3"/>
    <a:srgbClr val="B01A2B"/>
    <a:srgbClr val="5B9BD5"/>
    <a:srgbClr val="8FC31E"/>
    <a:srgbClr val="84B028"/>
    <a:srgbClr val="737373"/>
    <a:srgbClr val="5E5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5338" autoAdjust="0"/>
  </p:normalViewPr>
  <p:slideViewPr>
    <p:cSldViewPr snapToGrid="0">
      <p:cViewPr>
        <p:scale>
          <a:sx n="100" d="100"/>
          <a:sy n="100" d="100"/>
        </p:scale>
        <p:origin x="63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%20and%20Settings\xy29\Desktop\SUPER%20GRASS\&#36229;&#32423;&#33609;&#26681;&#35797;&#3135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%20and%20Settings\xy29\Desktop\&#31726;&#29699;&#38795;&#35797;&#31359;&#21453;&#39304;_2025081214454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篮球鞋试穿反馈!$C$13:$C$19</c:f>
              <c:strCache>
                <c:ptCount val="7"/>
                <c:pt idx="0">
                  <c:v>抓地性（Traction）</c:v>
                </c:pt>
                <c:pt idx="1">
                  <c:v>缓震性（Cushioning）</c:v>
                </c:pt>
                <c:pt idx="2">
                  <c:v>包裹性（Lockdwon）</c:v>
                </c:pt>
                <c:pt idx="3">
                  <c:v>抗扭转性（Torsional Support ）</c:v>
                </c:pt>
                <c:pt idx="4">
                  <c:v>重量&amp;透气性（Weight&amp;Ventilation）</c:v>
                </c:pt>
                <c:pt idx="5">
                  <c:v>防侧翻性（Lateral Stability）</c:v>
                </c:pt>
                <c:pt idx="6">
                  <c:v>耐久性（Durability）</c:v>
                </c:pt>
              </c:strCache>
            </c:strRef>
          </c:cat>
          <c:val>
            <c:numRef>
              <c:f>篮球鞋试穿反馈!$D$13:$D$19</c:f>
              <c:numCache>
                <c:formatCode>0.00_ </c:formatCode>
                <c:ptCount val="7"/>
                <c:pt idx="0">
                  <c:v>8.3333333333333339</c:v>
                </c:pt>
                <c:pt idx="1">
                  <c:v>8.6666666666666661</c:v>
                </c:pt>
                <c:pt idx="2">
                  <c:v>8.3333333333333339</c:v>
                </c:pt>
                <c:pt idx="3">
                  <c:v>8.3333333333333339</c:v>
                </c:pt>
                <c:pt idx="4">
                  <c:v>8.3333333333333339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1-4921-A61F-9A8A229C9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篮球鞋试穿反馈!$B$13:$B$19</c:f>
              <c:strCache>
                <c:ptCount val="7"/>
                <c:pt idx="0">
                  <c:v>抓地性</c:v>
                </c:pt>
                <c:pt idx="1">
                  <c:v>缓震性</c:v>
                </c:pt>
                <c:pt idx="2">
                  <c:v>包裹性</c:v>
                </c:pt>
                <c:pt idx="3">
                  <c:v>抗扭转性</c:v>
                </c:pt>
                <c:pt idx="4">
                  <c:v>重量</c:v>
                </c:pt>
                <c:pt idx="5">
                  <c:v>防侧翻性</c:v>
                </c:pt>
                <c:pt idx="6">
                  <c:v>耐久性</c:v>
                </c:pt>
              </c:strCache>
            </c:strRef>
          </c:cat>
          <c:val>
            <c:numRef>
              <c:f>篮球鞋试穿反馈!$C$13:$C$19</c:f>
              <c:numCache>
                <c:formatCode>General</c:formatCode>
                <c:ptCount val="7"/>
                <c:pt idx="0">
                  <c:v>7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24-4E07-8FC3-CCB368F3BE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31379776"/>
        <c:axId val="231375616"/>
      </c:barChart>
      <c:catAx>
        <c:axId val="231379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1375616"/>
        <c:crosses val="autoZero"/>
        <c:auto val="1"/>
        <c:lblAlgn val="ctr"/>
        <c:lblOffset val="100"/>
        <c:noMultiLvlLbl val="0"/>
      </c:catAx>
      <c:valAx>
        <c:axId val="2313756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1379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E6856-B405-4FBA-87E6-EBB2FA2EFF5F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7E194-F591-4967-BDE8-9E9553068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8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19.png"/><Relationship Id="rId4" Type="http://schemas.microsoft.com/office/2007/relationships/hdphoto" Target="../media/hdphoto4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microsoft.com/office/2007/relationships/hdphoto" Target="../media/hdphoto4.wdp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1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0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226776" y="1960685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3226776" y="4088424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43" y="85359"/>
            <a:ext cx="862357" cy="916965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/>
        </p:nvCxnSpPr>
        <p:spPr>
          <a:xfrm>
            <a:off x="2927837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8132883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3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7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5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6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5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锋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18" r="32792"/>
          <a:stretch/>
        </p:blipFill>
        <p:spPr>
          <a:xfrm rot="13839941">
            <a:off x="8267748" y="904743"/>
            <a:ext cx="1069397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1" t="14131" r="54230" b="64673"/>
          <a:stretch/>
        </p:blipFill>
        <p:spPr>
          <a:xfrm>
            <a:off x="1115872" y="2622666"/>
            <a:ext cx="878666" cy="329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4" name="直接箭头连接符 13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77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风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/>
          <a:srcRect l="32296" t="1361" r="1947" b="2744"/>
          <a:stretch/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2" name="直接箭头连接符 11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31" t="4336" r="6882" b="55627"/>
          <a:stretch/>
        </p:blipFill>
        <p:spPr>
          <a:xfrm>
            <a:off x="1207400" y="2476222"/>
            <a:ext cx="695610" cy="622388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61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磨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5"/>
            <a:ext cx="431472" cy="465748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4587922" y="6611780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2" name="直接箭头连接符 11"/>
          <p:cNvCxnSpPr/>
          <p:nvPr userDrawn="1"/>
        </p:nvCxnSpPr>
        <p:spPr>
          <a:xfrm>
            <a:off x="11830026" y="6684862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 userDrawn="1"/>
        </p:nvSpPr>
        <p:spPr>
          <a:xfrm>
            <a:off x="11313538" y="6549112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2" t="51812" r="55809" b="19927"/>
          <a:stretch/>
        </p:blipFill>
        <p:spPr>
          <a:xfrm>
            <a:off x="1261852" y="2567751"/>
            <a:ext cx="658999" cy="43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3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战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42238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87" t="58504" r="8460" b="8524"/>
          <a:stretch/>
        </p:blipFill>
        <p:spPr>
          <a:xfrm>
            <a:off x="1248833" y="2519341"/>
            <a:ext cx="612744" cy="536151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933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9705"/>
          <a:stretch/>
        </p:blipFill>
        <p:spPr>
          <a:xfrm>
            <a:off x="0" y="-8791"/>
            <a:ext cx="12192000" cy="6858376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-17206"/>
            <a:ext cx="12192000" cy="6875206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50" y="2622666"/>
            <a:ext cx="994109" cy="3948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8" name="直接箭头连接符 7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1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毒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3415" t="7724" b="88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0" t="26126" r="28031" b="16576"/>
          <a:stretch/>
        </p:blipFill>
        <p:spPr>
          <a:xfrm>
            <a:off x="1251075" y="2590576"/>
            <a:ext cx="608258" cy="45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55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角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2716823" y="4826978"/>
            <a:ext cx="0" cy="1433146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852854" y="4826978"/>
            <a:ext cx="10392507" cy="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32485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7165731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9311054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3264786" y="4826978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物性测试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止滑测试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5354507" y="4826978"/>
            <a:ext cx="14157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7838283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强度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场地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周期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9739644" y="4826978"/>
            <a:ext cx="12618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总结意见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问题点分析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修改点建议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15" y="146214"/>
            <a:ext cx="834118" cy="51422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831" y="217736"/>
            <a:ext cx="762497" cy="36234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90" y="85408"/>
            <a:ext cx="635107" cy="575029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2303378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5" name="矩形 24"/>
          <p:cNvSpPr/>
          <p:nvPr userDrawn="1"/>
        </p:nvSpPr>
        <p:spPr>
          <a:xfrm>
            <a:off x="2215455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451883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443090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6787454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99531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893298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884505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11153246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11065323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cxnSp>
        <p:nvCxnSpPr>
          <p:cNvPr id="34" name="直接连接符 3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37" name="直接连接符 36"/>
          <p:cNvCxnSpPr/>
          <p:nvPr userDrawn="1"/>
        </p:nvCxnSpPr>
        <p:spPr>
          <a:xfrm>
            <a:off x="4587922" y="741804"/>
            <a:ext cx="41497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 userDrawn="1"/>
        </p:nvSpPr>
        <p:spPr>
          <a:xfrm>
            <a:off x="1389602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矩阵背景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【</a:t>
            </a:r>
            <a:r>
              <a:rPr lang="zh-CN" altLang="en-US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游猎</a:t>
            </a: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】</a:t>
            </a:r>
          </a:p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【</a:t>
            </a:r>
            <a:r>
              <a:rPr lang="zh-CN" altLang="en-US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猛攻</a:t>
            </a: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角逐</a:t>
            </a: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  <a:endParaRPr lang="zh-CN" altLang="en-US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11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游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716823" y="4826978"/>
            <a:ext cx="0" cy="1433146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852854" y="4826978"/>
            <a:ext cx="10392507" cy="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4932485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7165731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9311054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>
            <a:off x="1389602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矩阵背景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游猎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猛攻</a:t>
            </a: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角逐</a:t>
            </a: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  <a:endParaRPr lang="zh-CN" altLang="en-US" sz="1200" b="1" dirty="0">
              <a:solidFill>
                <a:srgbClr val="8E8E8E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3264786" y="4826978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物性测试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止滑测试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1" name="矩形 20"/>
          <p:cNvSpPr/>
          <p:nvPr userDrawn="1"/>
        </p:nvSpPr>
        <p:spPr>
          <a:xfrm>
            <a:off x="5354507" y="4826978"/>
            <a:ext cx="14157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7838283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强度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场地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周期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3" name="矩形 22"/>
          <p:cNvSpPr/>
          <p:nvPr userDrawn="1"/>
        </p:nvSpPr>
        <p:spPr>
          <a:xfrm>
            <a:off x="9739644" y="4826978"/>
            <a:ext cx="12618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总结意见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问题点分析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修改点建议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15" y="146214"/>
            <a:ext cx="834118" cy="514223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831" y="217736"/>
            <a:ext cx="762497" cy="36234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90" y="85408"/>
            <a:ext cx="635107" cy="575029"/>
          </a:xfrm>
          <a:prstGeom prst="rect">
            <a:avLst/>
          </a:prstGeom>
        </p:spPr>
      </p:pic>
      <p:sp>
        <p:nvSpPr>
          <p:cNvPr id="29" name="矩形 28"/>
          <p:cNvSpPr/>
          <p:nvPr userDrawn="1"/>
        </p:nvSpPr>
        <p:spPr>
          <a:xfrm>
            <a:off x="2303378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2215455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451883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443090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6787454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4" name="矩形 33"/>
          <p:cNvSpPr/>
          <p:nvPr userDrawn="1"/>
        </p:nvSpPr>
        <p:spPr>
          <a:xfrm>
            <a:off x="6699531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5" name="矩形 34"/>
          <p:cNvSpPr/>
          <p:nvPr userDrawn="1"/>
        </p:nvSpPr>
        <p:spPr>
          <a:xfrm>
            <a:off x="893298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6" name="矩形 35"/>
          <p:cNvSpPr/>
          <p:nvPr userDrawn="1"/>
        </p:nvSpPr>
        <p:spPr>
          <a:xfrm>
            <a:off x="884505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7" name="矩形 36"/>
          <p:cNvSpPr/>
          <p:nvPr userDrawn="1"/>
        </p:nvSpPr>
        <p:spPr>
          <a:xfrm>
            <a:off x="11153246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8" name="矩形 37"/>
          <p:cNvSpPr/>
          <p:nvPr userDrawn="1"/>
        </p:nvSpPr>
        <p:spPr>
          <a:xfrm>
            <a:off x="11065323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1389602" y="741804"/>
            <a:ext cx="41497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071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猛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716823" y="4826978"/>
            <a:ext cx="0" cy="1433146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852854" y="4826978"/>
            <a:ext cx="10392507" cy="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4932485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7165731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9311054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>
            <a:off x="3264786" y="4826978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物性测试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止滑测试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5354507" y="4826978"/>
            <a:ext cx="14157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7838283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强度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场地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周期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9739644" y="4826978"/>
            <a:ext cx="12618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总结意见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问题点分析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修改点建议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15" y="146214"/>
            <a:ext cx="834118" cy="51422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831" y="217736"/>
            <a:ext cx="762497" cy="36234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90" y="85408"/>
            <a:ext cx="635107" cy="575029"/>
          </a:xfrm>
          <a:prstGeom prst="rect">
            <a:avLst/>
          </a:prstGeom>
        </p:spPr>
      </p:pic>
      <p:sp>
        <p:nvSpPr>
          <p:cNvPr id="25" name="矩形 24"/>
          <p:cNvSpPr/>
          <p:nvPr userDrawn="1"/>
        </p:nvSpPr>
        <p:spPr>
          <a:xfrm>
            <a:off x="2303378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2215455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451883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443090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787454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6699531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893298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884505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11153246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4" name="矩形 33"/>
          <p:cNvSpPr/>
          <p:nvPr userDrawn="1"/>
        </p:nvSpPr>
        <p:spPr>
          <a:xfrm>
            <a:off x="11065323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2916125" y="741804"/>
            <a:ext cx="41497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 userDrawn="1"/>
        </p:nvSpPr>
        <p:spPr>
          <a:xfrm>
            <a:off x="1389602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矩阵背景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【</a:t>
            </a:r>
            <a:r>
              <a:rPr lang="zh-CN" altLang="en-US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游猎</a:t>
            </a: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猛攻</a:t>
            </a: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角逐</a:t>
            </a: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  <a:endParaRPr lang="zh-CN" altLang="en-US" sz="1200" b="1" dirty="0">
              <a:solidFill>
                <a:srgbClr val="8E8E8E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5886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础参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3048000" y="3340885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：采用电子厚度计、精密电子称、游标卡尺等测量鞋款的基础信息。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物性测试：采用机械对鞋款的减震、回弹、弯折及抗扭性能进行测试。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止滑测试：采用人体止滑性能测试仪，对鞋底的临界滑动坡度进行测量。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3048000" y="2753545"/>
            <a:ext cx="2031326" cy="5873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5" name="圆角矩形 14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</p:spTree>
    <p:extLst>
      <p:ext uri="{BB962C8B-B14F-4D97-AF65-F5344CB8AC3E}">
        <p14:creationId xmlns:p14="http://schemas.microsoft.com/office/powerpoint/2010/main" val="1878023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框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3" name="椭圆 12"/>
          <p:cNvSpPr/>
          <p:nvPr userDrawn="1"/>
        </p:nvSpPr>
        <p:spPr>
          <a:xfrm>
            <a:off x="317840" y="2337032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/>
          <p:cNvSpPr/>
          <p:nvPr userDrawn="1"/>
        </p:nvSpPr>
        <p:spPr>
          <a:xfrm>
            <a:off x="317840" y="2337032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583575" y="354783"/>
            <a:ext cx="1483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Foundation frame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3443778" y="354783"/>
            <a:ext cx="17540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Physical property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5574889" y="354783"/>
            <a:ext cx="11128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Anti-slip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1702870" y="631782"/>
            <a:ext cx="1216176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2750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2" name="椭圆 11"/>
          <p:cNvSpPr/>
          <p:nvPr userDrawn="1"/>
        </p:nvSpPr>
        <p:spPr>
          <a:xfrm>
            <a:off x="317840" y="2337032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/>
          <p:cNvSpPr/>
          <p:nvPr userDrawn="1"/>
        </p:nvSpPr>
        <p:spPr>
          <a:xfrm>
            <a:off x="317840" y="2337032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583575" y="354783"/>
            <a:ext cx="1483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Foundation frame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3443778" y="354783"/>
            <a:ext cx="17540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Physical property test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5574889" y="354783"/>
            <a:ext cx="11128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Anti-slip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66838" y="631782"/>
            <a:ext cx="1515115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92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止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2" name="椭圆 11"/>
          <p:cNvSpPr/>
          <p:nvPr userDrawn="1"/>
        </p:nvSpPr>
        <p:spPr>
          <a:xfrm>
            <a:off x="317840" y="2337032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/>
          <p:cNvSpPr/>
          <p:nvPr userDrawn="1"/>
        </p:nvSpPr>
        <p:spPr>
          <a:xfrm>
            <a:off x="317840" y="2337032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583575" y="354783"/>
            <a:ext cx="1483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Foundation frame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3443778" y="354783"/>
            <a:ext cx="17540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Physical property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5574889" y="354783"/>
            <a:ext cx="11128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Anti-slip test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5694576" y="631782"/>
            <a:ext cx="864486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829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运动生物力学测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048000" y="2753545"/>
            <a:ext cx="26468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048000" y="3340885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采用</a:t>
            </a:r>
            <a:r>
              <a:rPr lang="en-US" altLang="zh-CN" sz="1200" b="1" dirty="0" err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vicon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运动捕捉系统，对鞋款两大重要指标上进行分析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上篮阶段：触地时间所反映的响应速度、加载率所反映的缓冲效果。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侧切阶段：稳定角折射防侧翻、位移量反映帮面强度、摩擦系数所呈现的止滑效果。</a:t>
            </a:r>
          </a:p>
        </p:txBody>
      </p:sp>
      <p:sp>
        <p:nvSpPr>
          <p:cNvPr id="9" name="圆角矩形 8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</p:spTree>
    <p:extLst>
      <p:ext uri="{BB962C8B-B14F-4D97-AF65-F5344CB8AC3E}">
        <p14:creationId xmlns:p14="http://schemas.microsoft.com/office/powerpoint/2010/main" val="22720696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椭圆 6"/>
          <p:cNvSpPr/>
          <p:nvPr userDrawn="1"/>
        </p:nvSpPr>
        <p:spPr>
          <a:xfrm>
            <a:off x="317840" y="2827064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 userDrawn="1"/>
        </p:nvSpPr>
        <p:spPr>
          <a:xfrm>
            <a:off x="317840" y="2827064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583575" y="354783"/>
            <a:ext cx="6607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Lay up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2852234" y="354783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Cutting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1702870" y="631782"/>
            <a:ext cx="38969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5315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侧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椭圆 6"/>
          <p:cNvSpPr/>
          <p:nvPr userDrawn="1"/>
        </p:nvSpPr>
        <p:spPr>
          <a:xfrm>
            <a:off x="317840" y="2827064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 userDrawn="1"/>
        </p:nvSpPr>
        <p:spPr>
          <a:xfrm>
            <a:off x="317840" y="2827064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583575" y="354783"/>
            <a:ext cx="6607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Lay up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2852234" y="354783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Cutting</a:t>
            </a:r>
            <a:endParaRPr lang="zh-CN" altLang="en-US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2986547" y="631782"/>
            <a:ext cx="433661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947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试穿评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048000" y="3340885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选取若干名（基数）业余、专业、职业运动员进行鞋款的实际上脚试穿。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在规定的场地、周期、强度要求下，对鞋款进行真实体验评测。</a:t>
            </a:r>
          </a:p>
        </p:txBody>
      </p:sp>
      <p:sp>
        <p:nvSpPr>
          <p:cNvPr id="8" name="圆角矩形 7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3048000" y="2753545"/>
            <a:ext cx="1415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776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试穿评测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22" name="椭圆 21"/>
          <p:cNvSpPr/>
          <p:nvPr userDrawn="1"/>
        </p:nvSpPr>
        <p:spPr>
          <a:xfrm>
            <a:off x="317840" y="3315381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/>
          <p:cNvSpPr/>
          <p:nvPr userDrawn="1"/>
        </p:nvSpPr>
        <p:spPr>
          <a:xfrm>
            <a:off x="317840" y="3315381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1583575" y="354783"/>
            <a:ext cx="1459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Fitting evaluation</a:t>
            </a:r>
          </a:p>
          <a:p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9" name="直接连接符 28"/>
          <p:cNvCxnSpPr/>
          <p:nvPr userDrawn="1"/>
        </p:nvCxnSpPr>
        <p:spPr>
          <a:xfrm>
            <a:off x="1702870" y="631782"/>
            <a:ext cx="118979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2" name="圆角矩形 31"/>
          <p:cNvSpPr/>
          <p:nvPr userDrawn="1"/>
        </p:nvSpPr>
        <p:spPr>
          <a:xfrm>
            <a:off x="5091062" y="436186"/>
            <a:ext cx="2153800" cy="2901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 userDrawn="1"/>
        </p:nvSpPr>
        <p:spPr>
          <a:xfrm>
            <a:off x="1524637" y="1080000"/>
            <a:ext cx="784189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T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raction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抓地</a:t>
            </a:r>
          </a:p>
        </p:txBody>
      </p:sp>
      <p:sp>
        <p:nvSpPr>
          <p:cNvPr id="34" name="矩形 33"/>
          <p:cNvSpPr/>
          <p:nvPr userDrawn="1"/>
        </p:nvSpPr>
        <p:spPr>
          <a:xfrm>
            <a:off x="1524637" y="2520000"/>
            <a:ext cx="906017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ockdwon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包裹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1520475" y="108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 userDrawn="1"/>
        </p:nvSpPr>
        <p:spPr>
          <a:xfrm>
            <a:off x="1524637" y="3960000"/>
            <a:ext cx="984564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C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ushioning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缓震</a:t>
            </a:r>
          </a:p>
        </p:txBody>
      </p:sp>
      <p:sp>
        <p:nvSpPr>
          <p:cNvPr id="38" name="矩形 37"/>
          <p:cNvSpPr/>
          <p:nvPr userDrawn="1"/>
        </p:nvSpPr>
        <p:spPr>
          <a:xfrm>
            <a:off x="10389693" y="3960000"/>
            <a:ext cx="1266693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ateral Stability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防侧翻</a:t>
            </a:r>
          </a:p>
        </p:txBody>
      </p:sp>
      <p:sp>
        <p:nvSpPr>
          <p:cNvPr id="39" name="矩形 38"/>
          <p:cNvSpPr/>
          <p:nvPr userDrawn="1"/>
        </p:nvSpPr>
        <p:spPr>
          <a:xfrm>
            <a:off x="10896243" y="2520000"/>
            <a:ext cx="760143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W</a:t>
            </a:r>
            <a:r>
              <a:rPr lang="en-US" altLang="zh-CN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eight</a:t>
            </a: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重量</a:t>
            </a:r>
          </a:p>
        </p:txBody>
      </p:sp>
      <p:sp>
        <p:nvSpPr>
          <p:cNvPr id="40" name="矩形 39"/>
          <p:cNvSpPr/>
          <p:nvPr userDrawn="1"/>
        </p:nvSpPr>
        <p:spPr>
          <a:xfrm>
            <a:off x="10747163" y="5400000"/>
            <a:ext cx="909223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D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urability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耐久</a:t>
            </a:r>
          </a:p>
        </p:txBody>
      </p:sp>
      <p:sp>
        <p:nvSpPr>
          <p:cNvPr id="41" name="矩形 40"/>
          <p:cNvSpPr/>
          <p:nvPr userDrawn="1"/>
        </p:nvSpPr>
        <p:spPr>
          <a:xfrm>
            <a:off x="10105997" y="1080000"/>
            <a:ext cx="15503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T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orsional</a:t>
            </a:r>
            <a:r>
              <a:rPr lang="zh-CN" altLang="en-US" sz="1600" dirty="0"/>
              <a:t> 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Support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抗扭</a:t>
            </a: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1520475" y="252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20475" y="396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11656386" y="108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 userDrawn="1"/>
        </p:nvCxnSpPr>
        <p:spPr>
          <a:xfrm>
            <a:off x="11656386" y="252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>
            <a:off x="11656386" y="540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 userDrawn="1"/>
        </p:nvCxnSpPr>
        <p:spPr>
          <a:xfrm>
            <a:off x="11656386" y="396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5091062" y="381682"/>
            <a:ext cx="16417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Nirmala UI" panose="020B0502040204020203" pitchFamily="34" charset="0"/>
                <a:cs typeface="Nirmala UI" panose="020B0502040204020203" pitchFamily="34" charset="0"/>
              </a:rPr>
              <a:t>C</a:t>
            </a:r>
            <a:r>
              <a:rPr lang="zh-CN" altLang="en-US" sz="1200" b="1" dirty="0">
                <a:latin typeface="Nirmala UI" panose="020B0502040204020203" pitchFamily="34" charset="0"/>
                <a:cs typeface="Nirmala UI" panose="020B0502040204020203" pitchFamily="34" charset="0"/>
              </a:rPr>
              <a:t>omposite score ：</a:t>
            </a:r>
          </a:p>
        </p:txBody>
      </p:sp>
      <p:sp>
        <p:nvSpPr>
          <p:cNvPr id="49" name="矩形 48"/>
          <p:cNvSpPr/>
          <p:nvPr userDrawn="1"/>
        </p:nvSpPr>
        <p:spPr>
          <a:xfrm>
            <a:off x="6880271" y="436186"/>
            <a:ext cx="4106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/10</a:t>
            </a:r>
          </a:p>
        </p:txBody>
      </p:sp>
      <p:sp>
        <p:nvSpPr>
          <p:cNvPr id="51" name="矩形 50"/>
          <p:cNvSpPr/>
          <p:nvPr userDrawn="1"/>
        </p:nvSpPr>
        <p:spPr>
          <a:xfrm>
            <a:off x="1001485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休闲</a:t>
            </a:r>
          </a:p>
        </p:txBody>
      </p:sp>
      <p:sp>
        <p:nvSpPr>
          <p:cNvPr id="52" name="矩形 51"/>
          <p:cNvSpPr/>
          <p:nvPr userDrawn="1"/>
        </p:nvSpPr>
        <p:spPr>
          <a:xfrm>
            <a:off x="1170656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1518994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半场</a:t>
            </a:r>
          </a:p>
        </p:txBody>
      </p:sp>
      <p:sp>
        <p:nvSpPr>
          <p:cNvPr id="54" name="矩形 53"/>
          <p:cNvSpPr/>
          <p:nvPr userDrawn="1"/>
        </p:nvSpPr>
        <p:spPr>
          <a:xfrm>
            <a:off x="1688165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2036503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全场</a:t>
            </a:r>
          </a:p>
        </p:txBody>
      </p:sp>
      <p:sp>
        <p:nvSpPr>
          <p:cNvPr id="56" name="矩形 55"/>
          <p:cNvSpPr/>
          <p:nvPr userDrawn="1"/>
        </p:nvSpPr>
        <p:spPr>
          <a:xfrm>
            <a:off x="2205674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2554012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赛事</a:t>
            </a:r>
          </a:p>
        </p:txBody>
      </p:sp>
      <p:sp>
        <p:nvSpPr>
          <p:cNvPr id="58" name="矩形 57"/>
          <p:cNvSpPr/>
          <p:nvPr userDrawn="1"/>
        </p:nvSpPr>
        <p:spPr>
          <a:xfrm>
            <a:off x="2723183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899316" y="6512415"/>
            <a:ext cx="686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木地板</a:t>
            </a:r>
          </a:p>
        </p:txBody>
      </p:sp>
      <p:sp>
        <p:nvSpPr>
          <p:cNvPr id="60" name="矩形 59"/>
          <p:cNvSpPr/>
          <p:nvPr userDrawn="1"/>
        </p:nvSpPr>
        <p:spPr>
          <a:xfrm>
            <a:off x="1170656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1688165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05674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723183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1518994" y="6512415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塑胶</a:t>
            </a:r>
          </a:p>
        </p:txBody>
      </p:sp>
      <p:sp>
        <p:nvSpPr>
          <p:cNvPr id="65" name="矩形 64"/>
          <p:cNvSpPr/>
          <p:nvPr userDrawn="1"/>
        </p:nvSpPr>
        <p:spPr>
          <a:xfrm>
            <a:off x="2036503" y="6512414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方格</a:t>
            </a:r>
          </a:p>
        </p:txBody>
      </p:sp>
      <p:sp>
        <p:nvSpPr>
          <p:cNvPr id="66" name="矩形 65"/>
          <p:cNvSpPr/>
          <p:nvPr userDrawn="1"/>
        </p:nvSpPr>
        <p:spPr>
          <a:xfrm>
            <a:off x="2554012" y="6512413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水泥</a:t>
            </a:r>
          </a:p>
        </p:txBody>
      </p:sp>
      <p:sp>
        <p:nvSpPr>
          <p:cNvPr id="67" name="上下箭头 66"/>
          <p:cNvSpPr/>
          <p:nvPr userDrawn="1"/>
        </p:nvSpPr>
        <p:spPr>
          <a:xfrm rot="16200000" flipH="1">
            <a:off x="1946368" y="5261129"/>
            <a:ext cx="135051" cy="1917529"/>
          </a:xfrm>
          <a:prstGeom prst="upDownArrow">
            <a:avLst/>
          </a:prstGeom>
          <a:gradFill>
            <a:gsLst>
              <a:gs pos="48000">
                <a:schemeClr val="accent1">
                  <a:lumMod val="5000"/>
                  <a:lumOff val="95000"/>
                </a:schemeClr>
              </a:gs>
              <a:gs pos="0">
                <a:srgbClr val="7030A0"/>
              </a:gs>
              <a:gs pos="100000">
                <a:srgbClr val="00B050"/>
              </a:gs>
            </a:gsLst>
            <a:lin ang="5400000" scaled="1"/>
          </a:gradFill>
          <a:ln w="381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0299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试阿萨德穿评测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22" name="椭圆 21"/>
          <p:cNvSpPr/>
          <p:nvPr userDrawn="1"/>
        </p:nvSpPr>
        <p:spPr>
          <a:xfrm>
            <a:off x="317840" y="3315381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/>
          <p:cNvSpPr/>
          <p:nvPr userDrawn="1"/>
        </p:nvSpPr>
        <p:spPr>
          <a:xfrm>
            <a:off x="317840" y="3315381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25415" y="3677281"/>
            <a:ext cx="8764089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 userDrawn="1"/>
        </p:nvCxnSpPr>
        <p:spPr>
          <a:xfrm>
            <a:off x="9889504" y="2570765"/>
            <a:ext cx="2088232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 userDrawn="1"/>
        </p:nvCxnSpPr>
        <p:spPr>
          <a:xfrm>
            <a:off x="9889504" y="856856"/>
            <a:ext cx="0" cy="5840765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 userDrawn="1"/>
        </p:nvCxnSpPr>
        <p:spPr>
          <a:xfrm>
            <a:off x="9889504" y="2963931"/>
            <a:ext cx="2088232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 userDrawn="1"/>
        </p:nvCxnSpPr>
        <p:spPr>
          <a:xfrm>
            <a:off x="1125415" y="6692830"/>
            <a:ext cx="10858546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 userDrawn="1"/>
        </p:nvCxnSpPr>
        <p:spPr>
          <a:xfrm>
            <a:off x="11977736" y="856856"/>
            <a:ext cx="0" cy="5840765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 73"/>
          <p:cNvSpPr/>
          <p:nvPr userDrawn="1"/>
        </p:nvSpPr>
        <p:spPr>
          <a:xfrm>
            <a:off x="1125415" y="856857"/>
            <a:ext cx="2585355" cy="50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5" name="直接连接符 74"/>
          <p:cNvCxnSpPr/>
          <p:nvPr userDrawn="1"/>
        </p:nvCxnSpPr>
        <p:spPr>
          <a:xfrm>
            <a:off x="3710770" y="856856"/>
            <a:ext cx="0" cy="2009436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 userDrawn="1"/>
        </p:nvCxnSpPr>
        <p:spPr>
          <a:xfrm>
            <a:off x="1125415" y="856856"/>
            <a:ext cx="10858546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矩形 76"/>
          <p:cNvSpPr/>
          <p:nvPr userDrawn="1"/>
        </p:nvSpPr>
        <p:spPr>
          <a:xfrm>
            <a:off x="10028331" y="972493"/>
            <a:ext cx="1814907" cy="1471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8" name="图片 77"/>
          <p:cNvPicPr>
            <a:picLocks noChangeAspect="1"/>
          </p:cNvPicPr>
          <p:nvPr userDrawn="1"/>
        </p:nvPicPr>
        <p:blipFill rotWithShape="1">
          <a:blip r:embed="rId3"/>
          <a:srcRect b="22097"/>
          <a:stretch/>
        </p:blipFill>
        <p:spPr>
          <a:xfrm>
            <a:off x="9961778" y="2571790"/>
            <a:ext cx="1957501" cy="364841"/>
          </a:xfrm>
          <a:prstGeom prst="rect">
            <a:avLst/>
          </a:prstGeom>
        </p:spPr>
      </p:pic>
      <p:cxnSp>
        <p:nvCxnSpPr>
          <p:cNvPr id="79" name="直接连接符 78"/>
          <p:cNvCxnSpPr/>
          <p:nvPr userDrawn="1"/>
        </p:nvCxnSpPr>
        <p:spPr>
          <a:xfrm>
            <a:off x="1125415" y="3033346"/>
            <a:ext cx="0" cy="3664275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矩形 79"/>
          <p:cNvSpPr/>
          <p:nvPr userDrawn="1"/>
        </p:nvSpPr>
        <p:spPr>
          <a:xfrm>
            <a:off x="1583575" y="354783"/>
            <a:ext cx="1459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Fitting evaluation</a:t>
            </a:r>
          </a:p>
          <a:p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81" name="直接连接符 80"/>
          <p:cNvCxnSpPr/>
          <p:nvPr userDrawn="1"/>
        </p:nvCxnSpPr>
        <p:spPr>
          <a:xfrm>
            <a:off x="1702870" y="631782"/>
            <a:ext cx="118979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1379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048000" y="3340885"/>
            <a:ext cx="6096000" cy="339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基于上述各项测试结果进行区块分析，输出相应调整、修改建议。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" name="圆角矩形 7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3048000" y="2753545"/>
            <a:ext cx="800219" cy="5873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9032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椭圆 6"/>
          <p:cNvSpPr/>
          <p:nvPr userDrawn="1"/>
        </p:nvSpPr>
        <p:spPr>
          <a:xfrm>
            <a:off x="317840" y="3821644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 userDrawn="1"/>
        </p:nvSpPr>
        <p:spPr>
          <a:xfrm>
            <a:off x="317840" y="3821644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583575" y="354783"/>
            <a:ext cx="7360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Sum up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1702870" y="631782"/>
            <a:ext cx="468830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0417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2714797" y="2467337"/>
            <a:ext cx="1617752" cy="739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THANK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0555318" y="6549111"/>
            <a:ext cx="127470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 to page one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16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6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9.png"/><Relationship Id="rId5" Type="http://schemas.openxmlformats.org/officeDocument/2006/relationships/chart" Target="../charts/chart2.xml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B2C9E-A068-AFF8-8ECC-84E106305DF8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1422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930614" y="185339"/>
            <a:ext cx="552069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7F11FC-39D1-14D7-640A-8979FC05C52A}"/>
              </a:ext>
            </a:extLst>
          </p:cNvPr>
          <p:cNvSpPr/>
          <p:nvPr/>
        </p:nvSpPr>
        <p:spPr>
          <a:xfrm>
            <a:off x="10449581" y="375019"/>
            <a:ext cx="288032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测试者平均体重：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84.3KG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测试者球场定位：锋、卫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 hangingPunct="0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SUPER GRASS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1367595"/>
              </p:ext>
            </p:extLst>
          </p:nvPr>
        </p:nvGraphicFramePr>
        <p:xfrm>
          <a:off x="3041567" y="314654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包裹性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前掌内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外侧弯折处均出现卡脚情况（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鞋带孔生涩，在绑缚过程中较难对鞋带进行高效的收紧与放松（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在进行内收步、剪刀步时，前掌外侧橡胶出现明显的挤压第五跖趾关节现象（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在进行一些特定的动作时（行进间急停摆脱防守），出现轻微足外翻，具体位置在相比较前掌而言，后跟内侧支撑略低，但尚能接受（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鞋底容易吸灰，导致打滑（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鞋底在与地面摩擦时无“吱吱吱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”声响，对篮球爱好者来说安全感低。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在室内干净木地板、室外水泥地上均能牢牢地锁定在地面。但在灰尘较大的木地板或塑胶场地上，需要频繁的擦拭鞋底灰尘。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场地感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静态下，前掌填覆材料异物感不明显。在动态下，前掌有明显的马蹄形“气垫”回弹反馈，在无碳板的结构下能给到足够澎湃的触地反馈。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注：三种不同硬度的填覆材料，测试结果为：</a:t>
            </a:r>
            <a:r>
              <a:rPr lang="en-US" altLang="zh-CN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30C</a:t>
            </a: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硬度下，所给到的脚感反馈最佳！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9191" y="2883666"/>
            <a:ext cx="2380147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试穿人数：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5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人（与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5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代相同测试者）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测试者平均体重：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67±5KG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测试者球场定位：后卫</a:t>
            </a:r>
          </a:p>
        </p:txBody>
      </p:sp>
      <p:sp>
        <p:nvSpPr>
          <p:cNvPr id="4" name="矩形 3"/>
          <p:cNvSpPr/>
          <p:nvPr/>
        </p:nvSpPr>
        <p:spPr>
          <a:xfrm>
            <a:off x="1451195" y="887933"/>
            <a:ext cx="1893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风刃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6PRO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第一轮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460876" y="3703121"/>
            <a:ext cx="0" cy="2996617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19190" y="3735991"/>
            <a:ext cx="4341686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稳定性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鞋底中后段稳定性较差，尤其出现在后跟内侧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（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3/5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。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舒适性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鞋底：整体脚感十分硬、且后跟碳板位置偏后，在落地时有明显的震脚触感（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3/5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 。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鞋面：脚部进入鞋身时有明显的卡脚背情况，同时鞋面鞋舌处开口材料较硬，舒适度低（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4/5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 。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包裹性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前掌包裹始终没办法进行收紧，可能与鞋带孔的间距较小有关。同时后跟坐深较浅，会出现轻微的掉跟情况（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1/5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 。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抓地性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DCB04B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在室内有灰的场地，会出现明显的打滑情况，尤其出现在快攻上篮的最后一步（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3/5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 。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210658" y="2642183"/>
            <a:ext cx="4908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7.42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577611" y="1183281"/>
            <a:ext cx="72808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B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31609" y="1256917"/>
            <a:ext cx="277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-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330" y="3600490"/>
            <a:ext cx="254578" cy="2710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02" y="3600490"/>
            <a:ext cx="254578" cy="271002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10738602" y="3505693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重量</a:t>
            </a:r>
          </a:p>
        </p:txBody>
      </p:sp>
      <p:sp>
        <p:nvSpPr>
          <p:cNvPr id="30" name="矩形 29"/>
          <p:cNvSpPr/>
          <p:nvPr/>
        </p:nvSpPr>
        <p:spPr>
          <a:xfrm>
            <a:off x="11532853" y="3923724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缓震</a:t>
            </a:r>
          </a:p>
        </p:txBody>
      </p:sp>
      <p:sp>
        <p:nvSpPr>
          <p:cNvPr id="31" name="矩形 30"/>
          <p:cNvSpPr/>
          <p:nvPr/>
        </p:nvSpPr>
        <p:spPr>
          <a:xfrm>
            <a:off x="10750258" y="488639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包裹</a:t>
            </a:r>
          </a:p>
        </p:txBody>
      </p:sp>
      <p:sp>
        <p:nvSpPr>
          <p:cNvPr id="32" name="矩形 31"/>
          <p:cNvSpPr/>
          <p:nvPr/>
        </p:nvSpPr>
        <p:spPr>
          <a:xfrm>
            <a:off x="9974358" y="3878911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刚性</a:t>
            </a:r>
          </a:p>
        </p:txBody>
      </p:sp>
      <p:sp>
        <p:nvSpPr>
          <p:cNvPr id="33" name="矩形 32"/>
          <p:cNvSpPr/>
          <p:nvPr/>
        </p:nvSpPr>
        <p:spPr>
          <a:xfrm>
            <a:off x="9974358" y="451291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止滑</a:t>
            </a:r>
          </a:p>
        </p:txBody>
      </p:sp>
      <p:sp>
        <p:nvSpPr>
          <p:cNvPr id="34" name="矩形 33"/>
          <p:cNvSpPr/>
          <p:nvPr/>
        </p:nvSpPr>
        <p:spPr>
          <a:xfrm>
            <a:off x="11532853" y="451291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回弹</a:t>
            </a:r>
          </a:p>
        </p:txBody>
      </p:sp>
      <p:sp>
        <p:nvSpPr>
          <p:cNvPr id="35" name="矩形 34"/>
          <p:cNvSpPr/>
          <p:nvPr/>
        </p:nvSpPr>
        <p:spPr>
          <a:xfrm>
            <a:off x="10143545" y="5177491"/>
            <a:ext cx="112115" cy="112124"/>
          </a:xfrm>
          <a:prstGeom prst="rect">
            <a:avLst/>
          </a:prstGeom>
          <a:solidFill>
            <a:srgbClr val="DCB04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162651" y="5177491"/>
            <a:ext cx="112115" cy="11212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210551" y="5112369"/>
            <a:ext cx="6575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风刃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6PRO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1210658" y="5112369"/>
            <a:ext cx="6575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风刃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5PRO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t="17464" r="14283" b="23189"/>
          <a:stretch/>
        </p:blipFill>
        <p:spPr>
          <a:xfrm>
            <a:off x="1451195" y="1592337"/>
            <a:ext cx="2078049" cy="1015934"/>
          </a:xfrm>
          <a:prstGeom prst="rect">
            <a:avLst/>
          </a:prstGeom>
        </p:spPr>
      </p:pic>
      <p:graphicFrame>
        <p:nvGraphicFramePr>
          <p:cNvPr id="50" name="图表 49"/>
          <p:cNvGraphicFramePr>
            <a:graphicFrameLocks/>
          </p:cNvGraphicFramePr>
          <p:nvPr/>
        </p:nvGraphicFramePr>
        <p:xfrm>
          <a:off x="3915990" y="1040168"/>
          <a:ext cx="4155892" cy="2417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882" y="1299502"/>
            <a:ext cx="1684503" cy="188896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495" y="5397999"/>
            <a:ext cx="689508" cy="34074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t="17464" r="14283" b="23189"/>
          <a:stretch/>
        </p:blipFill>
        <p:spPr>
          <a:xfrm>
            <a:off x="10087105" y="5399813"/>
            <a:ext cx="693270" cy="338931"/>
          </a:xfrm>
          <a:prstGeom prst="rect">
            <a:avLst/>
          </a:prstGeom>
        </p:spPr>
      </p:pic>
      <p:sp>
        <p:nvSpPr>
          <p:cNvPr id="53" name="矩形 52"/>
          <p:cNvSpPr/>
          <p:nvPr/>
        </p:nvSpPr>
        <p:spPr>
          <a:xfrm>
            <a:off x="9996503" y="5773293"/>
            <a:ext cx="18906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轻量化、刚性上有所提升，适配门槛相应会比上一代有所提高。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 rotWithShape="1">
          <a:blip r:embed="rId9"/>
          <a:srcRect l="25241" r="22383"/>
          <a:stretch/>
        </p:blipFill>
        <p:spPr>
          <a:xfrm>
            <a:off x="10433740" y="3655320"/>
            <a:ext cx="1130040" cy="1294522"/>
          </a:xfrm>
          <a:prstGeom prst="rect">
            <a:avLst/>
          </a:prstGeom>
        </p:spPr>
      </p:pic>
      <p:sp>
        <p:nvSpPr>
          <p:cNvPr id="55" name="矩形 54"/>
          <p:cNvSpPr/>
          <p:nvPr/>
        </p:nvSpPr>
        <p:spPr>
          <a:xfrm>
            <a:off x="5516731" y="3735991"/>
            <a:ext cx="43416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外观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颜值高、外观造型有特点，期待出好看的配色。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稳定性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前掌在做急停时的稳定性较好，足够宽。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重量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轻量化相对较为优秀，跑动全场下来不会坠脚。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抓地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】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在室外水泥场地上，抓地以及耐磨情况非常好，得益于其较粗的底花纹路。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905480" y="2958625"/>
            <a:ext cx="2060097" cy="422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对比分析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1227" y="5280417"/>
            <a:ext cx="2329695" cy="129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0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576</Words>
  <Application>Microsoft Office PowerPoint</Application>
  <PresentationFormat>宽屏</PresentationFormat>
  <Paragraphs>51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楷体</vt:lpstr>
      <vt:lpstr>微软雅黑</vt:lpstr>
      <vt:lpstr>Arial</vt:lpstr>
      <vt:lpstr>Nirmala UI</vt:lpstr>
      <vt:lpstr>Office 主题​​</vt:lpstr>
      <vt:lpstr>1_Office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杨祖锐</dc:creator>
  <cp:lastModifiedBy>陈晶</cp:lastModifiedBy>
  <cp:revision>187</cp:revision>
  <dcterms:created xsi:type="dcterms:W3CDTF">2024-07-30T01:33:59Z</dcterms:created>
  <dcterms:modified xsi:type="dcterms:W3CDTF">2026-02-11T01:09:24Z</dcterms:modified>
</cp:coreProperties>
</file>