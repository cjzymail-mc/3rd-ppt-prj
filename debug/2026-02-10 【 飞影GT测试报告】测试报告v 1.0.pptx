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950" r:id="rId2"/>
    <p:sldId id="951" r:id="rId3"/>
    <p:sldId id="952" r:id="rId4"/>
    <p:sldId id="953" r:id="rId5"/>
    <p:sldId id="954" r:id="rId6"/>
    <p:sldId id="955" r:id="rId7"/>
    <p:sldId id="956" r:id="rId8"/>
    <p:sldId id="957" r:id="rId9"/>
    <p:sldId id="958" r:id="rId10"/>
    <p:sldId id="959" r:id="rId11"/>
    <p:sldId id="960" r:id="rId12"/>
    <p:sldId id="961" r:id="rId13"/>
    <p:sldId id="9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39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540"/>
    <a:srgbClr val="04B555"/>
    <a:srgbClr val="CACACA"/>
    <a:srgbClr val="C3E0FF"/>
    <a:srgbClr val="F5ADAF"/>
    <a:srgbClr val="E16776"/>
    <a:srgbClr val="E9BDDD"/>
    <a:srgbClr val="4BA1FF"/>
    <a:srgbClr val="6393BC"/>
    <a:srgbClr val="263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65688" autoAdjust="0"/>
  </p:normalViewPr>
  <p:slideViewPr>
    <p:cSldViewPr>
      <p:cViewPr varScale="1">
        <p:scale>
          <a:sx n="84" d="100"/>
          <a:sy n="84" d="100"/>
        </p:scale>
        <p:origin x="1830" y="78"/>
      </p:cViewPr>
      <p:guideLst>
        <p:guide orient="horz" pos="2024"/>
        <p:guide pos="393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2025%20&#25968;&#25454;%20v2.2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2025%20&#25968;&#25454;%20v2.2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2025%20&#25968;&#25454;%20v2.2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2025%20&#25968;&#25454;%20v2.2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2025%20&#25968;&#25454;%20v2.2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s%20and%20Settings\xy29\Desktop\&#12304;2023&#24180;4&#26376;21&#26085;&#38155;&#21050;7pro&#27979;&#35797;&#25253;&#21578;&#12305;\20230317&#38155;&#21050;7Pro&#12289;&#23545;&#27604;&#25968;&#2545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2025%20&#25968;&#25454;%20v2.2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2025%20&#25968;&#25454;%20v2.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问卷!$A$14</c:f>
              <c:strCache>
                <c:ptCount val="1"/>
                <c:pt idx="0">
                  <c:v>周永芳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问卷!$B$13:$K$13</c:f>
              <c:strCache>
                <c:ptCount val="10"/>
                <c:pt idx="0">
                  <c:v>舒适度</c:v>
                </c:pt>
                <c:pt idx="1">
                  <c:v>合脚性</c:v>
                </c:pt>
                <c:pt idx="2">
                  <c:v>轻量感</c:v>
                </c:pt>
                <c:pt idx="3">
                  <c:v>包裹感</c:v>
                </c:pt>
                <c:pt idx="4">
                  <c:v>缓冲性能</c:v>
                </c:pt>
                <c:pt idx="5">
                  <c:v>回弹性能</c:v>
                </c:pt>
                <c:pt idx="6">
                  <c:v>稳定性</c:v>
                </c:pt>
                <c:pt idx="7">
                  <c:v>过渡性</c:v>
                </c:pt>
                <c:pt idx="8">
                  <c:v>地面反馈</c:v>
                </c:pt>
                <c:pt idx="9">
                  <c:v>耐久性</c:v>
                </c:pt>
              </c:strCache>
            </c:strRef>
          </c:cat>
          <c:val>
            <c:numRef>
              <c:f>问卷!$B$14:$K$14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8</c:v>
                </c:pt>
                <c:pt idx="5">
                  <c:v>8</c:v>
                </c:pt>
                <c:pt idx="6">
                  <c:v>9</c:v>
                </c:pt>
                <c:pt idx="7">
                  <c:v>8</c:v>
                </c:pt>
                <c:pt idx="8">
                  <c:v>9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B7-43AF-ABB5-9ECA42DA4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5713472"/>
        <c:axId val="725694272"/>
      </c:barChart>
      <c:catAx>
        <c:axId val="7257134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725694272"/>
        <c:crosses val="autoZero"/>
        <c:auto val="1"/>
        <c:lblAlgn val="ctr"/>
        <c:lblOffset val="100"/>
        <c:noMultiLvlLbl val="0"/>
      </c:catAx>
      <c:valAx>
        <c:axId val="7256942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25713472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问卷!$A$19</c:f>
              <c:strCache>
                <c:ptCount val="1"/>
                <c:pt idx="0">
                  <c:v>舒适度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问卷!$B$18:$K$18</c:f>
              <c:strCache>
                <c:ptCount val="10"/>
                <c:pt idx="0">
                  <c:v>8.8</c:v>
                </c:pt>
                <c:pt idx="1">
                  <c:v>合脚性</c:v>
                </c:pt>
                <c:pt idx="2">
                  <c:v>轻量感</c:v>
                </c:pt>
                <c:pt idx="3">
                  <c:v>包裹感</c:v>
                </c:pt>
                <c:pt idx="4">
                  <c:v>缓冲性能</c:v>
                </c:pt>
                <c:pt idx="5">
                  <c:v>回弹性能</c:v>
                </c:pt>
                <c:pt idx="6">
                  <c:v>稳定性</c:v>
                </c:pt>
                <c:pt idx="7">
                  <c:v>过渡性</c:v>
                </c:pt>
                <c:pt idx="8">
                  <c:v>地面反馈</c:v>
                </c:pt>
                <c:pt idx="9">
                  <c:v>耐久性</c:v>
                </c:pt>
              </c:strCache>
            </c:strRef>
          </c:cat>
          <c:val>
            <c:numRef>
              <c:f>问卷!$B$19:$K$19</c:f>
              <c:numCache>
                <c:formatCode>General</c:formatCode>
                <c:ptCount val="10"/>
                <c:pt idx="0">
                  <c:v>8.6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15-4586-92F9-BDB84281CB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5702432"/>
        <c:axId val="725688032"/>
      </c:barChart>
      <c:catAx>
        <c:axId val="7257024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725688032"/>
        <c:crosses val="autoZero"/>
        <c:auto val="1"/>
        <c:lblAlgn val="ctr"/>
        <c:lblOffset val="100"/>
        <c:noMultiLvlLbl val="0"/>
      </c:catAx>
      <c:valAx>
        <c:axId val="7256880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25702432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问卷!$A$24</c:f>
              <c:strCache>
                <c:ptCount val="1"/>
                <c:pt idx="0">
                  <c:v>耐久性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问卷!$B$23:$K$23</c:f>
              <c:strCache>
                <c:ptCount val="10"/>
                <c:pt idx="0">
                  <c:v>8.2</c:v>
                </c:pt>
                <c:pt idx="1">
                  <c:v>合脚性</c:v>
                </c:pt>
                <c:pt idx="2">
                  <c:v>轻量感</c:v>
                </c:pt>
                <c:pt idx="3">
                  <c:v>包裹感</c:v>
                </c:pt>
                <c:pt idx="4">
                  <c:v>缓冲性能</c:v>
                </c:pt>
                <c:pt idx="5">
                  <c:v>回弹性能</c:v>
                </c:pt>
                <c:pt idx="6">
                  <c:v>稳定性</c:v>
                </c:pt>
                <c:pt idx="7">
                  <c:v>过渡性</c:v>
                </c:pt>
                <c:pt idx="8">
                  <c:v>地面反馈</c:v>
                </c:pt>
                <c:pt idx="9">
                  <c:v>耐久性</c:v>
                </c:pt>
              </c:strCache>
            </c:strRef>
          </c:cat>
          <c:val>
            <c:numRef>
              <c:f>问卷!$B$24:$K$24</c:f>
              <c:numCache>
                <c:formatCode>General</c:formatCode>
                <c:ptCount val="10"/>
                <c:pt idx="0">
                  <c:v>8</c:v>
                </c:pt>
                <c:pt idx="1">
                  <c:v>9</c:v>
                </c:pt>
                <c:pt idx="2">
                  <c:v>9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9</c:v>
                </c:pt>
                <c:pt idx="8">
                  <c:v>9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EA-4618-9AB1-AD8525516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5698112"/>
        <c:axId val="725687072"/>
      </c:barChart>
      <c:catAx>
        <c:axId val="7256981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725687072"/>
        <c:crosses val="autoZero"/>
        <c:auto val="1"/>
        <c:lblAlgn val="ctr"/>
        <c:lblOffset val="100"/>
        <c:noMultiLvlLbl val="0"/>
      </c:catAx>
      <c:valAx>
        <c:axId val="7256870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25698112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问卷!$A$29</c:f>
              <c:strCache>
                <c:ptCount val="1"/>
                <c:pt idx="0">
                  <c:v>合脚性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问卷!$B$28:$K$28</c:f>
              <c:strCache>
                <c:ptCount val="10"/>
                <c:pt idx="0">
                  <c:v>高分占比(%)</c:v>
                </c:pt>
                <c:pt idx="1">
                  <c:v>合脚性</c:v>
                </c:pt>
                <c:pt idx="2">
                  <c:v>轻量感</c:v>
                </c:pt>
                <c:pt idx="3">
                  <c:v>包裹感</c:v>
                </c:pt>
                <c:pt idx="4">
                  <c:v>缓冲性能</c:v>
                </c:pt>
                <c:pt idx="5">
                  <c:v>回弹性能</c:v>
                </c:pt>
                <c:pt idx="6">
                  <c:v>稳定性</c:v>
                </c:pt>
                <c:pt idx="7">
                  <c:v>过渡性</c:v>
                </c:pt>
                <c:pt idx="8">
                  <c:v>地面反馈</c:v>
                </c:pt>
                <c:pt idx="9">
                  <c:v>耐久性</c:v>
                </c:pt>
              </c:strCache>
            </c:strRef>
          </c:cat>
          <c:val>
            <c:numRef>
              <c:f>问卷!$B$29:$K$29</c:f>
              <c:numCache>
                <c:formatCode>General</c:formatCode>
                <c:ptCount val="10"/>
                <c:pt idx="0">
                  <c:v>100</c:v>
                </c:pt>
                <c:pt idx="1">
                  <c:v>9</c:v>
                </c:pt>
                <c:pt idx="2">
                  <c:v>8</c:v>
                </c:pt>
                <c:pt idx="3">
                  <c:v>9</c:v>
                </c:pt>
                <c:pt idx="4">
                  <c:v>7</c:v>
                </c:pt>
                <c:pt idx="5">
                  <c:v>7</c:v>
                </c:pt>
                <c:pt idx="6">
                  <c:v>5</c:v>
                </c:pt>
                <c:pt idx="7">
                  <c:v>5</c:v>
                </c:pt>
                <c:pt idx="8">
                  <c:v>7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35-46A9-BE36-896CCA5792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5707712"/>
        <c:axId val="725708192"/>
      </c:barChart>
      <c:catAx>
        <c:axId val="7257077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725708192"/>
        <c:crosses val="autoZero"/>
        <c:auto val="1"/>
        <c:lblAlgn val="ctr"/>
        <c:lblOffset val="100"/>
        <c:noMultiLvlLbl val="0"/>
      </c:catAx>
      <c:valAx>
        <c:axId val="7257081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25707712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问卷!$A$34</c:f>
              <c:strCache>
                <c:ptCount val="1"/>
                <c:pt idx="0">
                  <c:v>过渡性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问卷!$B$33:$K$33</c:f>
              <c:strCache>
                <c:ptCount val="10"/>
                <c:pt idx="0">
                  <c:v>80</c:v>
                </c:pt>
                <c:pt idx="1">
                  <c:v>合脚性</c:v>
                </c:pt>
                <c:pt idx="2">
                  <c:v>轻量感</c:v>
                </c:pt>
                <c:pt idx="3">
                  <c:v>包裹感</c:v>
                </c:pt>
                <c:pt idx="4">
                  <c:v>缓冲性能</c:v>
                </c:pt>
                <c:pt idx="5">
                  <c:v>回弹性能</c:v>
                </c:pt>
                <c:pt idx="6">
                  <c:v>稳定性</c:v>
                </c:pt>
                <c:pt idx="7">
                  <c:v>过渡性</c:v>
                </c:pt>
                <c:pt idx="8">
                  <c:v>地面反馈</c:v>
                </c:pt>
                <c:pt idx="9">
                  <c:v>耐久性</c:v>
                </c:pt>
              </c:strCache>
            </c:strRef>
          </c:cat>
          <c:val>
            <c:numRef>
              <c:f>问卷!$B$34:$K$34</c:f>
              <c:numCache>
                <c:formatCode>General</c:formatCode>
                <c:ptCount val="10"/>
                <c:pt idx="0">
                  <c:v>80</c:v>
                </c:pt>
                <c:pt idx="1">
                  <c:v>8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5</c:v>
                </c:pt>
                <c:pt idx="6">
                  <c:v>8</c:v>
                </c:pt>
                <c:pt idx="7">
                  <c:v>9</c:v>
                </c:pt>
                <c:pt idx="8">
                  <c:v>6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DC-469D-872A-B48B66B7A3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5712512"/>
        <c:axId val="725690912"/>
      </c:barChart>
      <c:catAx>
        <c:axId val="7257125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725690912"/>
        <c:crosses val="autoZero"/>
        <c:auto val="1"/>
        <c:lblAlgn val="ctr"/>
        <c:lblOffset val="100"/>
        <c:noMultiLvlLbl val="0"/>
      </c:catAx>
      <c:valAx>
        <c:axId val="7256909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25712512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Sheet1!$B$22:$H$22</c:f>
              <c:strCache>
                <c:ptCount val="7"/>
                <c:pt idx="0">
                  <c:v>抓地性（Traction）</c:v>
                </c:pt>
                <c:pt idx="1">
                  <c:v>耐久性（Durability）</c:v>
                </c:pt>
                <c:pt idx="2">
                  <c:v>重量&amp;透气性（Weight&amp;Ventilation）</c:v>
                </c:pt>
                <c:pt idx="3">
                  <c:v>缓震性（Cushioning）</c:v>
                </c:pt>
                <c:pt idx="4">
                  <c:v>防侧翻性（Lateral Stability）</c:v>
                </c:pt>
                <c:pt idx="5">
                  <c:v>抗扭转性（Torsional Support ）</c:v>
                </c:pt>
                <c:pt idx="6">
                  <c:v>包裹性（Lockdwon）</c:v>
                </c:pt>
              </c:strCache>
            </c:strRef>
          </c:cat>
          <c:val>
            <c:numRef>
              <c:f>Sheet1!$B$23:$H$23</c:f>
              <c:numCache>
                <c:formatCode>General</c:formatCode>
                <c:ptCount val="7"/>
                <c:pt idx="0">
                  <c:v>8.6</c:v>
                </c:pt>
                <c:pt idx="1">
                  <c:v>8.6</c:v>
                </c:pt>
                <c:pt idx="2">
                  <c:v>8.4</c:v>
                </c:pt>
                <c:pt idx="3">
                  <c:v>8.1999999999999993</c:v>
                </c:pt>
                <c:pt idx="4">
                  <c:v>7</c:v>
                </c:pt>
                <c:pt idx="5">
                  <c:v>6.6</c:v>
                </c:pt>
                <c:pt idx="6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27-4657-87D0-05A6EEB07D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5361536"/>
        <c:axId val="205362096"/>
      </c:barChart>
      <c:catAx>
        <c:axId val="205361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pPr>
            <a:endParaRPr lang="zh-CN"/>
          </a:p>
        </c:txPr>
        <c:crossAx val="205362096"/>
        <c:crosses val="autoZero"/>
        <c:auto val="1"/>
        <c:lblAlgn val="ctr"/>
        <c:lblOffset val="100"/>
        <c:tickMarkSkip val="1"/>
        <c:noMultiLvlLbl val="0"/>
      </c:catAx>
      <c:valAx>
        <c:axId val="2053620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pPr>
            <a:endParaRPr lang="zh-CN"/>
          </a:p>
        </c:txPr>
        <c:crossAx val="205361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问卷!$A$24</c:f>
              <c:strCache>
                <c:ptCount val="1"/>
                <c:pt idx="0">
                  <c:v>耐久性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问卷!$B$13:$K$23</c:f>
              <c:multiLvlStrCache>
                <c:ptCount val="10"/>
                <c:lvl>
                  <c:pt idx="0">
                    <c:v>8.2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  <c:lvl>
                  <c:pt idx="0">
                    <c:v>8.2</c:v>
                  </c:pt>
                </c:lvl>
                <c:lvl>
                  <c:pt idx="0">
                    <c:v>8.2</c:v>
                  </c:pt>
                </c:lvl>
                <c:lvl>
                  <c:pt idx="0">
                    <c:v>8.4</c:v>
                  </c:pt>
                </c:lvl>
                <c:lvl>
                  <c:pt idx="0">
                    <c:v>8.6</c:v>
                  </c:pt>
                  <c:pt idx="1">
                    <c:v>8</c:v>
                  </c:pt>
                  <c:pt idx="2">
                    <c:v>9</c:v>
                  </c:pt>
                  <c:pt idx="3">
                    <c:v>9</c:v>
                  </c:pt>
                  <c:pt idx="4">
                    <c:v>10</c:v>
                  </c:pt>
                  <c:pt idx="5">
                    <c:v>10</c:v>
                  </c:pt>
                  <c:pt idx="6">
                    <c:v>10</c:v>
                  </c:pt>
                  <c:pt idx="7">
                    <c:v>10</c:v>
                  </c:pt>
                  <c:pt idx="8">
                    <c:v>10</c:v>
                  </c:pt>
                  <c:pt idx="9">
                    <c:v>10</c:v>
                  </c:pt>
                </c:lvl>
                <c:lvl>
                  <c:pt idx="0">
                    <c:v>8.8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  <c:lvl>
                  <c:pt idx="0">
                    <c:v>9</c:v>
                  </c:pt>
                </c:lvl>
                <c:lvl>
                  <c:pt idx="0">
                    <c:v>9.2</c:v>
                  </c:pt>
                </c:lvl>
                <c:lvl>
                  <c:pt idx="0">
                    <c:v>均值</c:v>
                  </c:pt>
                </c:lvl>
                <c:lvl>
                  <c:pt idx="0">
                    <c:v>10</c:v>
                  </c:pt>
                  <c:pt idx="1">
                    <c:v>10</c:v>
                  </c:pt>
                  <c:pt idx="2">
                    <c:v>10</c:v>
                  </c:pt>
                  <c:pt idx="3">
                    <c:v>10</c:v>
                  </c:pt>
                  <c:pt idx="4">
                    <c:v>8</c:v>
                  </c:pt>
                  <c:pt idx="5">
                    <c:v>8</c:v>
                  </c:pt>
                  <c:pt idx="6">
                    <c:v>9</c:v>
                  </c:pt>
                  <c:pt idx="7">
                    <c:v>8</c:v>
                  </c:pt>
                  <c:pt idx="8">
                    <c:v>9</c:v>
                  </c:pt>
                  <c:pt idx="9">
                    <c:v>8</c:v>
                  </c:pt>
                </c:lvl>
                <c:lvl>
                  <c:pt idx="0">
                    <c:v>舒适度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</c:multiLvlStrCache>
            </c:multiLvlStrRef>
          </c:cat>
          <c:val>
            <c:numRef>
              <c:f>问卷!$B$24:$K$24</c:f>
              <c:numCache>
                <c:formatCode>General</c:formatCode>
                <c:ptCount val="10"/>
                <c:pt idx="0">
                  <c:v>8</c:v>
                </c:pt>
                <c:pt idx="1">
                  <c:v>9</c:v>
                </c:pt>
                <c:pt idx="2">
                  <c:v>9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9</c:v>
                </c:pt>
                <c:pt idx="8">
                  <c:v>9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E3-435F-BCAB-306A405CB424}"/>
            </c:ext>
          </c:extLst>
        </c:ser>
        <c:ser>
          <c:idx val="1"/>
          <c:order val="1"/>
          <c:tx>
            <c:strRef>
              <c:f>问卷!$A$25</c:f>
              <c:strCache>
                <c:ptCount val="1"/>
                <c:pt idx="0">
                  <c:v>回弹性能</c:v>
                </c:pt>
              </c:strCache>
            </c:strRef>
          </c:tx>
          <c:invertIfNegative val="0"/>
          <c:cat>
            <c:multiLvlStrRef>
              <c:f>问卷!$B$13:$K$23</c:f>
              <c:multiLvlStrCache>
                <c:ptCount val="10"/>
                <c:lvl>
                  <c:pt idx="0">
                    <c:v>8.2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  <c:lvl>
                  <c:pt idx="0">
                    <c:v>8.2</c:v>
                  </c:pt>
                </c:lvl>
                <c:lvl>
                  <c:pt idx="0">
                    <c:v>8.2</c:v>
                  </c:pt>
                </c:lvl>
                <c:lvl>
                  <c:pt idx="0">
                    <c:v>8.4</c:v>
                  </c:pt>
                </c:lvl>
                <c:lvl>
                  <c:pt idx="0">
                    <c:v>8.6</c:v>
                  </c:pt>
                  <c:pt idx="1">
                    <c:v>8</c:v>
                  </c:pt>
                  <c:pt idx="2">
                    <c:v>9</c:v>
                  </c:pt>
                  <c:pt idx="3">
                    <c:v>9</c:v>
                  </c:pt>
                  <c:pt idx="4">
                    <c:v>10</c:v>
                  </c:pt>
                  <c:pt idx="5">
                    <c:v>10</c:v>
                  </c:pt>
                  <c:pt idx="6">
                    <c:v>10</c:v>
                  </c:pt>
                  <c:pt idx="7">
                    <c:v>10</c:v>
                  </c:pt>
                  <c:pt idx="8">
                    <c:v>10</c:v>
                  </c:pt>
                  <c:pt idx="9">
                    <c:v>10</c:v>
                  </c:pt>
                </c:lvl>
                <c:lvl>
                  <c:pt idx="0">
                    <c:v>8.8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  <c:lvl>
                  <c:pt idx="0">
                    <c:v>9</c:v>
                  </c:pt>
                </c:lvl>
                <c:lvl>
                  <c:pt idx="0">
                    <c:v>9.2</c:v>
                  </c:pt>
                </c:lvl>
                <c:lvl>
                  <c:pt idx="0">
                    <c:v>均值</c:v>
                  </c:pt>
                </c:lvl>
                <c:lvl>
                  <c:pt idx="0">
                    <c:v>10</c:v>
                  </c:pt>
                  <c:pt idx="1">
                    <c:v>10</c:v>
                  </c:pt>
                  <c:pt idx="2">
                    <c:v>10</c:v>
                  </c:pt>
                  <c:pt idx="3">
                    <c:v>10</c:v>
                  </c:pt>
                  <c:pt idx="4">
                    <c:v>8</c:v>
                  </c:pt>
                  <c:pt idx="5">
                    <c:v>8</c:v>
                  </c:pt>
                  <c:pt idx="6">
                    <c:v>9</c:v>
                  </c:pt>
                  <c:pt idx="7">
                    <c:v>8</c:v>
                  </c:pt>
                  <c:pt idx="8">
                    <c:v>9</c:v>
                  </c:pt>
                  <c:pt idx="9">
                    <c:v>8</c:v>
                  </c:pt>
                </c:lvl>
                <c:lvl>
                  <c:pt idx="0">
                    <c:v>舒适度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</c:multiLvlStrCache>
            </c:multiLvlStrRef>
          </c:cat>
          <c:val>
            <c:numRef>
              <c:f>问卷!$B$25:$K$25</c:f>
              <c:numCache>
                <c:formatCode>General</c:formatCode>
                <c:ptCount val="10"/>
                <c:pt idx="0">
                  <c:v>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E3-435F-BCAB-306A405CB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5703392"/>
        <c:axId val="725691392"/>
      </c:barChart>
      <c:catAx>
        <c:axId val="7257033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725691392"/>
        <c:crosses val="autoZero"/>
        <c:auto val="1"/>
        <c:lblAlgn val="ctr"/>
        <c:lblOffset val="100"/>
        <c:noMultiLvlLbl val="0"/>
      </c:catAx>
      <c:valAx>
        <c:axId val="7256913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25703392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问卷!$A$34</c:f>
              <c:strCache>
                <c:ptCount val="1"/>
                <c:pt idx="0">
                  <c:v>过渡性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问卷!$B$28:$K$33</c:f>
              <c:multiLvlStrCache>
                <c:ptCount val="10"/>
                <c:lvl>
                  <c:pt idx="0">
                    <c:v>80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  <c:lvl>
                  <c:pt idx="0">
                    <c:v>80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  <c:pt idx="1">
                    <c:v>9</c:v>
                  </c:pt>
                  <c:pt idx="2">
                    <c:v>8</c:v>
                  </c:pt>
                  <c:pt idx="3">
                    <c:v>9</c:v>
                  </c:pt>
                  <c:pt idx="4">
                    <c:v>7</c:v>
                  </c:pt>
                  <c:pt idx="5">
                    <c:v>7</c:v>
                  </c:pt>
                  <c:pt idx="6">
                    <c:v>5</c:v>
                  </c:pt>
                  <c:pt idx="7">
                    <c:v>5</c:v>
                  </c:pt>
                  <c:pt idx="8">
                    <c:v>7</c:v>
                  </c:pt>
                  <c:pt idx="9">
                    <c:v>6</c:v>
                  </c:pt>
                </c:lvl>
                <c:lvl>
                  <c:pt idx="0">
                    <c:v>高分占比(%)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</c:multiLvlStrCache>
            </c:multiLvlStrRef>
          </c:cat>
          <c:val>
            <c:numRef>
              <c:f>问卷!$B$34:$K$34</c:f>
              <c:numCache>
                <c:formatCode>General</c:formatCode>
                <c:ptCount val="10"/>
                <c:pt idx="0">
                  <c:v>80</c:v>
                </c:pt>
                <c:pt idx="1">
                  <c:v>8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5</c:v>
                </c:pt>
                <c:pt idx="6">
                  <c:v>8</c:v>
                </c:pt>
                <c:pt idx="7">
                  <c:v>9</c:v>
                </c:pt>
                <c:pt idx="8">
                  <c:v>6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28-4EBB-B1A9-F1A5907E6B8A}"/>
            </c:ext>
          </c:extLst>
        </c:ser>
        <c:ser>
          <c:idx val="1"/>
          <c:order val="1"/>
          <c:tx>
            <c:strRef>
              <c:f>问卷!$A$35</c:f>
              <c:strCache>
                <c:ptCount val="1"/>
                <c:pt idx="0">
                  <c:v>耐久性</c:v>
                </c:pt>
              </c:strCache>
            </c:strRef>
          </c:tx>
          <c:invertIfNegative val="0"/>
          <c:cat>
            <c:multiLvlStrRef>
              <c:f>问卷!$B$28:$K$33</c:f>
              <c:multiLvlStrCache>
                <c:ptCount val="10"/>
                <c:lvl>
                  <c:pt idx="0">
                    <c:v>80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  <c:lvl>
                  <c:pt idx="0">
                    <c:v>80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  <c:pt idx="1">
                    <c:v>9</c:v>
                  </c:pt>
                  <c:pt idx="2">
                    <c:v>8</c:v>
                  </c:pt>
                  <c:pt idx="3">
                    <c:v>9</c:v>
                  </c:pt>
                  <c:pt idx="4">
                    <c:v>7</c:v>
                  </c:pt>
                  <c:pt idx="5">
                    <c:v>7</c:v>
                  </c:pt>
                  <c:pt idx="6">
                    <c:v>5</c:v>
                  </c:pt>
                  <c:pt idx="7">
                    <c:v>5</c:v>
                  </c:pt>
                  <c:pt idx="8">
                    <c:v>7</c:v>
                  </c:pt>
                  <c:pt idx="9">
                    <c:v>6</c:v>
                  </c:pt>
                </c:lvl>
                <c:lvl>
                  <c:pt idx="0">
                    <c:v>高分占比(%)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</c:multiLvlStrCache>
            </c:multiLvlStrRef>
          </c:cat>
          <c:val>
            <c:numRef>
              <c:f>问卷!$B$35:$K$35</c:f>
              <c:numCache>
                <c:formatCode>General</c:formatCode>
                <c:ptCount val="10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28-4EBB-B1A9-F1A5907E6B8A}"/>
            </c:ext>
          </c:extLst>
        </c:ser>
        <c:ser>
          <c:idx val="2"/>
          <c:order val="2"/>
          <c:tx>
            <c:strRef>
              <c:f>问卷!$A$36</c:f>
              <c:strCache>
                <c:ptCount val="1"/>
                <c:pt idx="0">
                  <c:v>舒适度</c:v>
                </c:pt>
              </c:strCache>
            </c:strRef>
          </c:tx>
          <c:invertIfNegative val="0"/>
          <c:cat>
            <c:multiLvlStrRef>
              <c:f>问卷!$B$28:$K$33</c:f>
              <c:multiLvlStrCache>
                <c:ptCount val="10"/>
                <c:lvl>
                  <c:pt idx="0">
                    <c:v>80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  <c:lvl>
                  <c:pt idx="0">
                    <c:v>80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  <c:pt idx="1">
                    <c:v>9</c:v>
                  </c:pt>
                  <c:pt idx="2">
                    <c:v>8</c:v>
                  </c:pt>
                  <c:pt idx="3">
                    <c:v>9</c:v>
                  </c:pt>
                  <c:pt idx="4">
                    <c:v>7</c:v>
                  </c:pt>
                  <c:pt idx="5">
                    <c:v>7</c:v>
                  </c:pt>
                  <c:pt idx="6">
                    <c:v>5</c:v>
                  </c:pt>
                  <c:pt idx="7">
                    <c:v>5</c:v>
                  </c:pt>
                  <c:pt idx="8">
                    <c:v>7</c:v>
                  </c:pt>
                  <c:pt idx="9">
                    <c:v>6</c:v>
                  </c:pt>
                </c:lvl>
                <c:lvl>
                  <c:pt idx="0">
                    <c:v>高分占比(%)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</c:multiLvlStrCache>
            </c:multiLvlStrRef>
          </c:cat>
          <c:val>
            <c:numRef>
              <c:f>问卷!$B$36:$K$36</c:f>
              <c:numCache>
                <c:formatCode>General</c:formatCode>
                <c:ptCount val="10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28-4EBB-B1A9-F1A5907E6B8A}"/>
            </c:ext>
          </c:extLst>
        </c:ser>
        <c:ser>
          <c:idx val="3"/>
          <c:order val="3"/>
          <c:tx>
            <c:strRef>
              <c:f>问卷!$A$37</c:f>
              <c:strCache>
                <c:ptCount val="1"/>
                <c:pt idx="0">
                  <c:v>回弹性能</c:v>
                </c:pt>
              </c:strCache>
            </c:strRef>
          </c:tx>
          <c:invertIfNegative val="0"/>
          <c:cat>
            <c:multiLvlStrRef>
              <c:f>问卷!$B$28:$K$33</c:f>
              <c:multiLvlStrCache>
                <c:ptCount val="10"/>
                <c:lvl>
                  <c:pt idx="0">
                    <c:v>80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  <c:lvl>
                  <c:pt idx="0">
                    <c:v>80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  <c:pt idx="1">
                    <c:v>9</c:v>
                  </c:pt>
                  <c:pt idx="2">
                    <c:v>8</c:v>
                  </c:pt>
                  <c:pt idx="3">
                    <c:v>9</c:v>
                  </c:pt>
                  <c:pt idx="4">
                    <c:v>7</c:v>
                  </c:pt>
                  <c:pt idx="5">
                    <c:v>7</c:v>
                  </c:pt>
                  <c:pt idx="6">
                    <c:v>5</c:v>
                  </c:pt>
                  <c:pt idx="7">
                    <c:v>5</c:v>
                  </c:pt>
                  <c:pt idx="8">
                    <c:v>7</c:v>
                  </c:pt>
                  <c:pt idx="9">
                    <c:v>6</c:v>
                  </c:pt>
                </c:lvl>
                <c:lvl>
                  <c:pt idx="0">
                    <c:v>高分占比(%)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</c:multiLvlStrCache>
            </c:multiLvlStrRef>
          </c:cat>
          <c:val>
            <c:numRef>
              <c:f>问卷!$B$37:$K$37</c:f>
              <c:numCache>
                <c:formatCode>General</c:formatCode>
                <c:ptCount val="10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A28-4EBB-B1A9-F1A5907E6B8A}"/>
            </c:ext>
          </c:extLst>
        </c:ser>
        <c:ser>
          <c:idx val="4"/>
          <c:order val="4"/>
          <c:tx>
            <c:strRef>
              <c:f>问卷!$A$38</c:f>
              <c:strCache>
                <c:ptCount val="1"/>
                <c:pt idx="0">
                  <c:v>地面反馈</c:v>
                </c:pt>
              </c:strCache>
            </c:strRef>
          </c:tx>
          <c:invertIfNegative val="0"/>
          <c:cat>
            <c:multiLvlStrRef>
              <c:f>问卷!$B$28:$K$33</c:f>
              <c:multiLvlStrCache>
                <c:ptCount val="10"/>
                <c:lvl>
                  <c:pt idx="0">
                    <c:v>80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  <c:lvl>
                  <c:pt idx="0">
                    <c:v>80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</c:lvl>
                <c:lvl>
                  <c:pt idx="0">
                    <c:v>100</c:v>
                  </c:pt>
                  <c:pt idx="1">
                    <c:v>9</c:v>
                  </c:pt>
                  <c:pt idx="2">
                    <c:v>8</c:v>
                  </c:pt>
                  <c:pt idx="3">
                    <c:v>9</c:v>
                  </c:pt>
                  <c:pt idx="4">
                    <c:v>7</c:v>
                  </c:pt>
                  <c:pt idx="5">
                    <c:v>7</c:v>
                  </c:pt>
                  <c:pt idx="6">
                    <c:v>5</c:v>
                  </c:pt>
                  <c:pt idx="7">
                    <c:v>5</c:v>
                  </c:pt>
                  <c:pt idx="8">
                    <c:v>7</c:v>
                  </c:pt>
                  <c:pt idx="9">
                    <c:v>6</c:v>
                  </c:pt>
                </c:lvl>
                <c:lvl>
                  <c:pt idx="0">
                    <c:v>高分占比(%)</c:v>
                  </c:pt>
                  <c:pt idx="1">
                    <c:v>合脚性</c:v>
                  </c:pt>
                  <c:pt idx="2">
                    <c:v>轻量感</c:v>
                  </c:pt>
                  <c:pt idx="3">
                    <c:v>包裹感</c:v>
                  </c:pt>
                  <c:pt idx="4">
                    <c:v>缓冲性能</c:v>
                  </c:pt>
                  <c:pt idx="5">
                    <c:v>回弹性能</c:v>
                  </c:pt>
                  <c:pt idx="6">
                    <c:v>稳定性</c:v>
                  </c:pt>
                  <c:pt idx="7">
                    <c:v>过渡性</c:v>
                  </c:pt>
                  <c:pt idx="8">
                    <c:v>地面反馈</c:v>
                  </c:pt>
                  <c:pt idx="9">
                    <c:v>耐久性</c:v>
                  </c:pt>
                </c:lvl>
              </c:multiLvlStrCache>
            </c:multiLvlStrRef>
          </c:cat>
          <c:val>
            <c:numRef>
              <c:f>问卷!$B$38:$K$38</c:f>
              <c:numCache>
                <c:formatCode>General</c:formatCode>
                <c:ptCount val="10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A28-4EBB-B1A9-F1A5907E6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5675552"/>
        <c:axId val="725667392"/>
      </c:barChart>
      <c:catAx>
        <c:axId val="7256755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725667392"/>
        <c:crosses val="autoZero"/>
        <c:auto val="1"/>
        <c:lblAlgn val="ctr"/>
        <c:lblOffset val="100"/>
        <c:noMultiLvlLbl val="0"/>
      </c:catAx>
      <c:valAx>
        <c:axId val="7256673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25675552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7619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2EF95-9A64-79C9-EA22-62DED5E9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5E2FC0-FEC0-ED60-F5EB-4146BF863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F32CDA-83DE-2003-5A50-03CEB5E8C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aseline="0" dirty="0"/>
          </a:p>
        </p:txBody>
      </p:sp>
    </p:spTree>
    <p:extLst>
      <p:ext uri="{BB962C8B-B14F-4D97-AF65-F5344CB8AC3E}">
        <p14:creationId xmlns:p14="http://schemas.microsoft.com/office/powerpoint/2010/main" val="169314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EDCD6-FC0C-CA0B-09B1-60101251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430A5-14EA-2A9B-B799-D342C473E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C88BD4-760E-BCD0-D8F2-B26F8C294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2803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C57B-2DFF-814A-9D91-AB260182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ED06EC-E3A9-C62E-9172-021E4AAD8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6E225F-796D-38AA-0AAD-C88984380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5300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4F071-9193-8478-BD41-F640CFF9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1F5B50-86ED-4EAF-5EB4-41777CE3C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AF32D6-328F-624B-B471-6A23F9F00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528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8C91-429B-CCEE-6327-EC90F959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B078A7-D372-1FA4-B4CB-3094D5B33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34C05A-677D-84D8-ACE4-4F4A53A31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9889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4324-87DD-CFBD-BD0A-2E1734169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A7674F-588C-205E-B939-7D0A22FBF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59E819-513F-A4F1-2499-63405422B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0324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9CA40-74E4-43B6-7706-14BEE7942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F5823C-E287-9FF6-3825-EEDA94865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6D35F8-BC50-7CF5-F877-A5679A66C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8486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877AA-6D75-1418-26A2-26772268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B41F5F-4ABC-32FC-32A7-8C0A5EA24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D25A28-F985-541E-7100-464DCD727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1492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EAAA-7A33-4087-680B-BA78B664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EBB885-9AA6-2DB8-F3C0-52C3F02D0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4B28DA-FB05-C56C-E8DB-F3F18ACF3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7224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69BA-2DF5-1B81-F6DF-789D39D3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F2C3C0-1DA1-1F8E-B376-5207D0575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57B658-412B-DAA6-55B8-CFE2D6E5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96189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7F6C-D95F-E41B-885E-77613D8D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8C2958-3A9D-2BDE-FDB7-479752F35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258017-10EA-9BDC-3027-46D7805BD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9310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CD5B4-7E60-89D3-721E-94C6266D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CAF5E0-384D-5442-29EB-A81424946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7E21EE-F43C-C38B-3AD4-1962DF7A1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13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1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826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Picture 2" descr="Picture 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175" y="18727"/>
            <a:ext cx="12188825" cy="6858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" name="直接连接符 3"/>
          <p:cNvSpPr/>
          <p:nvPr userDrawn="1"/>
        </p:nvSpPr>
        <p:spPr>
          <a:xfrm>
            <a:off x="918823" y="6006024"/>
            <a:ext cx="566497" cy="1"/>
          </a:xfrm>
          <a:prstGeom prst="line">
            <a:avLst/>
          </a:prstGeom>
          <a:ln w="28575">
            <a:solidFill>
              <a:srgbClr val="FAD6D7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6" name="Picture 3" descr="Picture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4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sp>
        <p:nvSpPr>
          <p:cNvPr id="5" name="MH_Others_1"/>
          <p:cNvSpPr txBox="1"/>
          <p:nvPr userDrawn="1"/>
        </p:nvSpPr>
        <p:spPr>
          <a:xfrm>
            <a:off x="884526" y="2415447"/>
            <a:ext cx="2355376" cy="571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微软雅黑" charset="-122"/>
                <a:ea typeface="微软雅黑" charset="-122"/>
                <a:cs typeface="微软雅黑" charset="-122"/>
                <a:sym typeface="微软雅黑" charset="-122"/>
              </a:rPr>
              <a:t>目 录</a:t>
            </a:r>
          </a:p>
        </p:txBody>
      </p:sp>
      <p:sp>
        <p:nvSpPr>
          <p:cNvPr id="6" name="MH_Others_2"/>
          <p:cNvSpPr txBox="1"/>
          <p:nvPr userDrawn="1"/>
        </p:nvSpPr>
        <p:spPr>
          <a:xfrm>
            <a:off x="855951" y="2912113"/>
            <a:ext cx="4252686" cy="85137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6000"/>
            </a:lvl1pPr>
          </a:lstStyle>
          <a:p>
            <a:r>
              <a:rPr dirty="0"/>
              <a:t>CONTENTS</a:t>
            </a:r>
          </a:p>
        </p:txBody>
      </p:sp>
      <p:grpSp>
        <p:nvGrpSpPr>
          <p:cNvPr id="11" name="组合 3"/>
          <p:cNvGrpSpPr/>
          <p:nvPr userDrawn="1"/>
        </p:nvGrpSpPr>
        <p:grpSpPr>
          <a:xfrm>
            <a:off x="5667186" y="1678674"/>
            <a:ext cx="656829" cy="3496573"/>
            <a:chOff x="0" y="0"/>
            <a:chExt cx="656827" cy="3496572"/>
          </a:xfrm>
        </p:grpSpPr>
        <p:grpSp>
          <p:nvGrpSpPr>
            <p:cNvPr id="12" name="组合 7"/>
            <p:cNvGrpSpPr/>
            <p:nvPr/>
          </p:nvGrpSpPr>
          <p:grpSpPr>
            <a:xfrm>
              <a:off x="16783" y="0"/>
              <a:ext cx="627413" cy="563272"/>
              <a:chOff x="0" y="0"/>
              <a:chExt cx="627411" cy="563271"/>
            </a:xfrm>
          </p:grpSpPr>
          <p:grpSp>
            <p:nvGrpSpPr>
              <p:cNvPr id="30" name="组合 6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32" name="梯形 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33" name="任意多边形 2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31" name="矩形 19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1</a:t>
                </a:r>
              </a:p>
            </p:txBody>
          </p:sp>
        </p:grpSp>
        <p:grpSp>
          <p:nvGrpSpPr>
            <p:cNvPr id="13" name="组合 34"/>
            <p:cNvGrpSpPr/>
            <p:nvPr/>
          </p:nvGrpSpPr>
          <p:grpSpPr>
            <a:xfrm>
              <a:off x="29415" y="957725"/>
              <a:ext cx="627413" cy="563273"/>
              <a:chOff x="0" y="0"/>
              <a:chExt cx="627411" cy="563271"/>
            </a:xfrm>
          </p:grpSpPr>
          <p:grpSp>
            <p:nvGrpSpPr>
              <p:cNvPr id="24" name="组合 35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8" name="梯形 37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9" name="任意多边形 38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5" name="矩形 36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2</a:t>
                </a:r>
              </a:p>
            </p:txBody>
          </p:sp>
        </p:grpSp>
        <p:grpSp>
          <p:nvGrpSpPr>
            <p:cNvPr id="14" name="组合 46"/>
            <p:cNvGrpSpPr/>
            <p:nvPr/>
          </p:nvGrpSpPr>
          <p:grpSpPr>
            <a:xfrm>
              <a:off x="0" y="1934295"/>
              <a:ext cx="627412" cy="986426"/>
              <a:chOff x="0" y="0"/>
              <a:chExt cx="627411" cy="986425"/>
            </a:xfrm>
          </p:grpSpPr>
          <p:grpSp>
            <p:nvGrpSpPr>
              <p:cNvPr id="20" name="组合 47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2" name="梯形 49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3" name="任意多边形 50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1" name="矩形 48"/>
              <p:cNvSpPr txBox="1"/>
              <p:nvPr/>
            </p:nvSpPr>
            <p:spPr>
              <a:xfrm>
                <a:off x="0" y="14865"/>
                <a:ext cx="581034" cy="9715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3</a:t>
                </a:r>
              </a:p>
            </p:txBody>
          </p:sp>
        </p:grpSp>
        <p:grpSp>
          <p:nvGrpSpPr>
            <p:cNvPr id="15" name="组合 52"/>
            <p:cNvGrpSpPr/>
            <p:nvPr/>
          </p:nvGrpSpPr>
          <p:grpSpPr>
            <a:xfrm>
              <a:off x="4152" y="2933300"/>
              <a:ext cx="627413" cy="563273"/>
              <a:chOff x="0" y="0"/>
              <a:chExt cx="627411" cy="563271"/>
            </a:xfrm>
          </p:grpSpPr>
          <p:grpSp>
            <p:nvGrpSpPr>
              <p:cNvPr id="16" name="组合 53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18" name="梯形 5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19" name="任意多边形 56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17" name="矩形 54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4</a:t>
                </a:r>
              </a:p>
            </p:txBody>
          </p:sp>
        </p:grpSp>
      </p:grpSp>
      <p:sp>
        <p:nvSpPr>
          <p:cNvPr id="34" name="直接连接符 63"/>
          <p:cNvSpPr/>
          <p:nvPr userDrawn="1"/>
        </p:nvSpPr>
        <p:spPr>
          <a:xfrm>
            <a:off x="889515" y="5521552"/>
            <a:ext cx="828676" cy="1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49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0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1" name="文本框 50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2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3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4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5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6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7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0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矩形 23"/>
          <p:cNvSpPr/>
          <p:nvPr userDrawn="1"/>
        </p:nvSpPr>
        <p:spPr>
          <a:xfrm>
            <a:off x="1202795" y="1536895"/>
            <a:ext cx="9789584" cy="3771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98500" dist="215900" dir="5400000" rotWithShape="0">
              <a:srgbClr val="000000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2" name="文本框 7"/>
          <p:cNvSpPr txBox="1"/>
          <p:nvPr userDrawn="1"/>
        </p:nvSpPr>
        <p:spPr>
          <a:xfrm>
            <a:off x="1439290" y="1960453"/>
            <a:ext cx="3586878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dirty="0"/>
              <a:t>0</a:t>
            </a:r>
            <a:r>
              <a:rPr lang="en-US" dirty="0"/>
              <a:t>   </a:t>
            </a:r>
            <a:endParaRPr dirty="0"/>
          </a:p>
        </p:txBody>
      </p:sp>
      <p:sp>
        <p:nvSpPr>
          <p:cNvPr id="13" name="直接连接符 27"/>
          <p:cNvSpPr/>
          <p:nvPr userDrawn="1"/>
        </p:nvSpPr>
        <p:spPr>
          <a:xfrm>
            <a:off x="5759227" y="3600105"/>
            <a:ext cx="5233153" cy="1"/>
          </a:xfrm>
          <a:prstGeom prst="line">
            <a:avLst/>
          </a:prstGeom>
          <a:ln w="12700">
            <a:solidFill>
              <a:srgbClr val="BFBFBF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5" name="Picture 3" descr="C:\Users\Administrator\Desktop\战戟标（3V3标-0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63952" y="3789040"/>
            <a:ext cx="1368152" cy="437971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4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6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7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8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C0C0-F3C1-46A6-B1E0-38A19114CB16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5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7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8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9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C0C0-F3C1-46A6-B1E0-38A19114CB16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image" Target="../media/image17.pn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93F3-6FAE-2743-B032-58C38D4D2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4237A8A-BECD-54CE-D2F2-11560A3D9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5744210"/>
            <a:ext cx="781050" cy="5619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5A1E90A-1AE5-9D61-BE15-BA0820E8216E}"/>
              </a:ext>
            </a:extLst>
          </p:cNvPr>
          <p:cNvSpPr/>
          <p:nvPr/>
        </p:nvSpPr>
        <p:spPr>
          <a:xfrm>
            <a:off x="7193280" y="6308725"/>
            <a:ext cx="3067685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运动表现研究部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4DA206-9B4A-9796-0900-3A0D3C95E6BA}"/>
              </a:ext>
            </a:extLst>
          </p:cNvPr>
          <p:cNvSpPr/>
          <p:nvPr/>
        </p:nvSpPr>
        <p:spPr>
          <a:xfrm>
            <a:off x="119336" y="6309320"/>
            <a:ext cx="398438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报告编号：</a:t>
            </a: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QD20250</a:t>
            </a:r>
            <a:r>
              <a:rPr 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B0E660-0DEC-4CBD-D9FB-9F4F39E50E52}"/>
              </a:ext>
            </a:extLst>
          </p:cNvPr>
          <p:cNvSpPr txBox="1"/>
          <p:nvPr/>
        </p:nvSpPr>
        <p:spPr>
          <a:xfrm>
            <a:off x="10464306" y="6306185"/>
            <a:ext cx="1435648" cy="45845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2026-02-10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F2C3CC-346F-D890-BA9D-777829562764}"/>
              </a:ext>
            </a:extLst>
          </p:cNvPr>
          <p:cNvSpPr txBox="1"/>
          <p:nvPr/>
        </p:nvSpPr>
        <p:spPr>
          <a:xfrm>
            <a:off x="977900" y="2057400"/>
            <a:ext cx="711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5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 飞影</a:t>
            </a:r>
            <a:r>
              <a:rPr kumimoji="0" lang="en-US" altLang="zh-CN" sz="5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GT</a:t>
            </a:r>
            <a:r>
              <a:rPr kumimoji="0" lang="zh-CN" altLang="en-US" sz="5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测试报告功能性测试报告</a:t>
            </a:r>
          </a:p>
        </p:txBody>
      </p:sp>
    </p:spTree>
    <p:extLst>
      <p:ext uri="{BB962C8B-B14F-4D97-AF65-F5344CB8AC3E}">
        <p14:creationId xmlns:p14="http://schemas.microsoft.com/office/powerpoint/2010/main" val="390970019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F2B36-BD3B-FD0E-E34C-60AAA5A9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E5F4874-E365-AB77-3F41-42CB206BC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5013176"/>
            <a:ext cx="1310546" cy="1008112"/>
          </a:xfrm>
          <a:prstGeom prst="rect">
            <a:avLst/>
          </a:prstGeom>
        </p:spPr>
      </p:pic>
      <p:sp>
        <p:nvSpPr>
          <p:cNvPr id="3" name="矩形 259">
            <a:extLst>
              <a:ext uri="{FF2B5EF4-FFF2-40B4-BE49-F238E27FC236}">
                <a16:creationId xmlns:a16="http://schemas.microsoft.com/office/drawing/2014/main" id="{1D015F45-3655-1BF7-1E35-A1AF3B015CC1}"/>
              </a:ext>
            </a:extLst>
          </p:cNvPr>
          <p:cNvSpPr txBox="1"/>
          <p:nvPr/>
        </p:nvSpPr>
        <p:spPr>
          <a:xfrm>
            <a:off x="6672064" y="1556792"/>
            <a:ext cx="3528391" cy="61555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endParaRPr sz="40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1CCC72-5836-E1AE-AAB2-B33290EF6174}"/>
              </a:ext>
            </a:extLst>
          </p:cNvPr>
          <p:cNvSpPr/>
          <p:nvPr/>
        </p:nvSpPr>
        <p:spPr>
          <a:xfrm>
            <a:off x="6600056" y="1582713"/>
            <a:ext cx="2007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背景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A4E9A0-41B9-1F24-B2F0-E4A4387A5852}"/>
              </a:ext>
            </a:extLst>
          </p:cNvPr>
          <p:cNvSpPr/>
          <p:nvPr/>
        </p:nvSpPr>
        <p:spPr>
          <a:xfrm>
            <a:off x="6600056" y="2628201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基本测试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AC9583-E0F2-C209-4BE5-77DA9446EF46}"/>
              </a:ext>
            </a:extLst>
          </p:cNvPr>
          <p:cNvSpPr/>
          <p:nvPr/>
        </p:nvSpPr>
        <p:spPr>
          <a:xfrm>
            <a:off x="6600056" y="4005064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实战测评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B6B036-BFF5-E9E9-A123-22508006FE61}"/>
              </a:ext>
            </a:extLst>
          </p:cNvPr>
          <p:cNvSpPr/>
          <p:nvPr/>
        </p:nvSpPr>
        <p:spPr>
          <a:xfrm>
            <a:off x="6600056" y="3212976"/>
            <a:ext cx="3384376" cy="664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  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基础物性测试</a:t>
            </a:r>
            <a:endParaRPr lang="en-US" altLang="zh-CN" sz="1400" b="1" dirty="0">
              <a:solidFill>
                <a:schemeClr val="tx2">
                  <a:lumMod val="75000"/>
                </a:schemeClr>
              </a:solidFill>
              <a:latin typeface="微软雅黑" charset="-122"/>
              <a:ea typeface="微软雅黑" charset="-122"/>
            </a:endParaRPr>
          </a:p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II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  生物力学 </a:t>
            </a: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/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运动捕捉测试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D1AD659-C2D8-80CA-EF6A-C1B778A1E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912" y="3410744"/>
            <a:ext cx="1076325" cy="24860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6A9DCB5-B77D-EB7C-CA04-12BE09BE6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28" y="3788757"/>
            <a:ext cx="1104900" cy="2095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E323AA7-06C7-763E-B9D6-0DD4CBA7E21B}"/>
              </a:ext>
            </a:extLst>
          </p:cNvPr>
          <p:cNvSpPr/>
          <p:nvPr/>
        </p:nvSpPr>
        <p:spPr>
          <a:xfrm>
            <a:off x="6600056" y="4932457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总结</a:t>
            </a:r>
            <a:endParaRPr lang="en-US" altLang="zh-CN" sz="32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796176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EBD4-987A-B037-CF86-25C131BE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C13D438A-7379-866D-1FDE-FF90AE4E4E4D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1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86769BF9-79AF-CA73-2E86-F928A53D3BDB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项目背景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309814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A6A6-298A-3E4E-179E-67DB862A0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1C4BB5-C4DE-1ED4-7568-40011F4CCE2A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背景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918A65-6911-1D6B-5980-0B32B870CE9B}"/>
              </a:ext>
            </a:extLst>
          </p:cNvPr>
          <p:cNvSpPr txBox="1"/>
          <p:nvPr/>
        </p:nvSpPr>
        <p:spPr>
          <a:xfrm>
            <a:off x="241300" y="927100"/>
            <a:ext cx="317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测试背景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E89194-68D9-91AF-7B87-2DDB3E39FC29}"/>
              </a:ext>
            </a:extLst>
          </p:cNvPr>
          <p:cNvSpPr txBox="1"/>
          <p:nvPr/>
        </p:nvSpPr>
        <p:spPr>
          <a:xfrm>
            <a:off x="482600" y="2755900"/>
            <a:ext cx="11455400" cy="923328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科技中心收到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款 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 飞影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GT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测试报告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(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底模编号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: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编号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XXXX - 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选填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),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根据项目进度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基于该产品的科技功能定位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现对该款产品进行功能性测试。此次测试的对比样品分别为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: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飞燃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4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本品及竞品的鞋款信息如图所示。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E04E5E-82B0-BACE-EF66-C6E1425CD79C}"/>
              </a:ext>
            </a:extLst>
          </p:cNvPr>
          <p:cNvSpPr txBox="1"/>
          <p:nvPr/>
        </p:nvSpPr>
        <p:spPr>
          <a:xfrm>
            <a:off x="241300" y="4152900"/>
            <a:ext cx="317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测试方法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E081BC-B16D-153F-C0D1-F8BCF7F3E0A3}"/>
              </a:ext>
            </a:extLst>
          </p:cNvPr>
          <p:cNvSpPr txBox="1"/>
          <p:nvPr/>
        </p:nvSpPr>
        <p:spPr>
          <a:xfrm>
            <a:off x="5003800" y="4584700"/>
            <a:ext cx="11455400" cy="87630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基础数据测试、实战测评、运动生物力学测试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77EDD7-1538-5D1B-E963-62437C85806F}"/>
              </a:ext>
            </a:extLst>
          </p:cNvPr>
          <p:cNvSpPr txBox="1"/>
          <p:nvPr/>
        </p:nvSpPr>
        <p:spPr>
          <a:xfrm>
            <a:off x="5130800" y="5003800"/>
            <a:ext cx="7102348" cy="193899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采用电子厚度计、精密电子称、游标卡尺等测量鞋款的基础信息。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采用机械对鞋款的减震、回弹、弯折及抗扭性能进行测试。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采用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vicon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运动捕捉系统，对鞋款跑步经济性运动学指标进行分析。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人体舒适性试穿测试（高水平跑者实战路跑测试）。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kumimoji="0" lang="zh-CN" altLang="en-US" sz="1600" b="0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0000000-0008-0000-0000-00001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4775200"/>
            <a:ext cx="864686" cy="15773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0000000-0008-0000-0000-000015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536" y="4775200"/>
            <a:ext cx="751402" cy="15773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5688" y="4775200"/>
            <a:ext cx="839735" cy="15773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7173" y="4775200"/>
            <a:ext cx="1171854" cy="157734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0000000-0008-0000-0000-0000160000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1130300"/>
            <a:ext cx="2842404" cy="13716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0000000-0008-0000-0000-0000170000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8154" y="1130300"/>
            <a:ext cx="297107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34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68B2-6BC5-933E-CEB6-1DDE770A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25948FFF-3C34-1830-26E1-BEA827ED6DAC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2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F8036439-A161-44A4-A1A6-58C7B65426B8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基础性能测试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956040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700A8-F5EE-93DA-41AD-E80765607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5246BAF6-7371-5B3C-4E46-758DD8C8711B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3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ECC69F68-92B7-BEC8-7740-4DCC11E7D6DD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实战测试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618790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6919-E865-359D-11F0-2696A73D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A7BD43-A9D5-711F-7B7D-2C923DC5F808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972F6E-805C-CD59-7A27-1226BCDCDD5E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D7FFA23-7DEE-9523-F35C-0C07200A4151}"/>
              </a:ext>
            </a:extLst>
          </p:cNvPr>
          <p:cNvSpPr txBox="1"/>
          <p:nvPr/>
        </p:nvSpPr>
        <p:spPr>
          <a:xfrm>
            <a:off x="330200" y="1028700"/>
            <a:ext cx="4762500" cy="1323437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跑者姓名：周永芳
跑者体重：
平均距离：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10-21km
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配速区间：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4min30-5min30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A39264DC-E868-8206-3D4E-9099F76409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7993278"/>
              </p:ext>
            </p:extLst>
          </p:nvPr>
        </p:nvGraphicFramePr>
        <p:xfrm>
          <a:off x="838200" y="2133600"/>
          <a:ext cx="3162300" cy="193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5BE6CEBC-D5FF-675D-0C5B-94D7F94CCF0C}"/>
              </a:ext>
            </a:extLst>
          </p:cNvPr>
          <p:cNvSpPr txBox="1"/>
          <p:nvPr/>
        </p:nvSpPr>
        <p:spPr>
          <a:xfrm>
            <a:off x="330200" y="4152900"/>
            <a:ext cx="5727700" cy="2031323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风行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14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整体评分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，舒适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合脚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轻量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包裹感均为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、缓冲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回弹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耐久为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8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，稳定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路感为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，适合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4:30-5:30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配速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-21km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、雨天会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打滑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C648EB-8A31-36B6-56A7-5E88278FB22D}"/>
              </a:ext>
            </a:extLst>
          </p:cNvPr>
          <p:cNvSpPr txBox="1"/>
          <p:nvPr/>
        </p:nvSpPr>
        <p:spPr>
          <a:xfrm>
            <a:off x="6350000" y="1028700"/>
            <a:ext cx="4762500" cy="1323437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跑者姓名：郭德芳
跑者体重：
平均距离：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10-21km
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配速区间：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4min30-5min30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14D9AAE8-E726-33E3-5CE8-0E9B16BE5A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0808504"/>
              </p:ext>
            </p:extLst>
          </p:nvPr>
        </p:nvGraphicFramePr>
        <p:xfrm>
          <a:off x="6896100" y="2133600"/>
          <a:ext cx="3162300" cy="193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AD4A8338-1510-4E4E-69EC-76DC34FC146A}"/>
              </a:ext>
            </a:extLst>
          </p:cNvPr>
          <p:cNvSpPr txBox="1"/>
          <p:nvPr/>
        </p:nvSpPr>
        <p:spPr>
          <a:xfrm>
            <a:off x="6350000" y="4152900"/>
            <a:ext cx="5727700" cy="2031323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、综合评分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，舒适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缓冲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回弹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稳定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过渡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路感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耐久均为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、轻量感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，包裹感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，适配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4:30-5:30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配速、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10-21km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、合脚性相对较弱为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8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，无其他明显缺点</a:t>
            </a:r>
          </a:p>
        </p:txBody>
      </p:sp>
    </p:spTree>
    <p:extLst>
      <p:ext uri="{BB962C8B-B14F-4D97-AF65-F5344CB8AC3E}">
        <p14:creationId xmlns:p14="http://schemas.microsoft.com/office/powerpoint/2010/main" val="40371784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03D17-2A53-0661-9FF4-DAD4FB09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83AC76-D75A-5125-8020-C1AABBD50FC2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DD7558-3BFE-E04E-BE49-6C863719E3A6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66024A2-6AA1-5CC4-8FB4-6E1344FE9698}"/>
              </a:ext>
            </a:extLst>
          </p:cNvPr>
          <p:cNvSpPr txBox="1"/>
          <p:nvPr/>
        </p:nvSpPr>
        <p:spPr>
          <a:xfrm>
            <a:off x="330200" y="1028700"/>
            <a:ext cx="4762500" cy="1323437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跑者姓名：杨清建
跑者体重：
平均距离：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5-10km
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配速区间：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5min30-6min30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5D4230D7-BBCB-9596-63EA-182B6097F3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9599215"/>
              </p:ext>
            </p:extLst>
          </p:nvPr>
        </p:nvGraphicFramePr>
        <p:xfrm>
          <a:off x="838200" y="2133600"/>
          <a:ext cx="3162300" cy="193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E54E31C-D865-E9A3-11CA-5BA251DDC6E0}"/>
              </a:ext>
            </a:extLst>
          </p:cNvPr>
          <p:cNvSpPr txBox="1"/>
          <p:nvPr/>
        </p:nvSpPr>
        <p:spPr>
          <a:xfrm>
            <a:off x="330200" y="4152900"/>
            <a:ext cx="5727700" cy="2031323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风行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14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综合评分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，包裹感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，舒适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缓冲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回弹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稳定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过渡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路感均为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，轻量透气，配色年轻。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、入脚口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较窄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，穿脱不便；耐久性略低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8</a:t>
            </a:r>
            <a:endParaRPr kumimoji="0" lang="zh-CN" altLang="en-US" sz="14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198F67-518C-9F98-E844-64C07518FD35}"/>
              </a:ext>
            </a:extLst>
          </p:cNvPr>
          <p:cNvSpPr txBox="1"/>
          <p:nvPr/>
        </p:nvSpPr>
        <p:spPr>
          <a:xfrm>
            <a:off x="6350000" y="1028700"/>
            <a:ext cx="4762500" cy="1323437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跑者姓名：隋晗
跑者体重：
平均距离：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10-21km
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配速区间：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4min30-5min30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30139088-6E3A-796B-CC3E-73369CDE47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934281"/>
              </p:ext>
            </p:extLst>
          </p:nvPr>
        </p:nvGraphicFramePr>
        <p:xfrm>
          <a:off x="6896100" y="2133600"/>
          <a:ext cx="3162300" cy="193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E731998E-51FB-EB2A-01E9-B2FD62A1C3C3}"/>
              </a:ext>
            </a:extLst>
          </p:cNvPr>
          <p:cNvSpPr txBox="1"/>
          <p:nvPr/>
        </p:nvSpPr>
        <p:spPr>
          <a:xfrm>
            <a:off x="6350000" y="4152900"/>
            <a:ext cx="5727700" cy="267765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约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200g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轻量，品控稳定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、鞋楦贴合、包裹性强，合脚性好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、后跟泡棉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过软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形变大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导致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稳定性差、过渡差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、长距前掌逐渐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变硬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回弹不足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，耐久堪忧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、鞋舌薄、鞋面贴脚背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压脚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透气差</a:t>
            </a:r>
          </a:p>
        </p:txBody>
      </p:sp>
    </p:spTree>
    <p:extLst>
      <p:ext uri="{BB962C8B-B14F-4D97-AF65-F5344CB8AC3E}">
        <p14:creationId xmlns:p14="http://schemas.microsoft.com/office/powerpoint/2010/main" val="209785292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662D4-517E-39CE-3351-710DDEBB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2CED86-5B33-92FF-76DB-B877459DFE2B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A170B1B-5AFA-B822-A8F3-B25307C684BB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513593C-FC6F-D683-61B4-8394B39C8D69}"/>
              </a:ext>
            </a:extLst>
          </p:cNvPr>
          <p:cNvSpPr txBox="1"/>
          <p:nvPr/>
        </p:nvSpPr>
        <p:spPr>
          <a:xfrm>
            <a:off x="330200" y="1028700"/>
            <a:ext cx="4762500" cy="1323437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跑者姓名：罗勇
跑者体重：
平均距离：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10-21km
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配速区间：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5min30-6min30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10F255EA-BC31-6BD5-6FAC-237782E305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0855717"/>
              </p:ext>
            </p:extLst>
          </p:nvPr>
        </p:nvGraphicFramePr>
        <p:xfrm>
          <a:off x="838200" y="2133600"/>
          <a:ext cx="3162300" cy="193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573FC2B-77B1-294C-3A30-B8DC4F6AB3EF}"/>
              </a:ext>
            </a:extLst>
          </p:cNvPr>
          <p:cNvSpPr txBox="1"/>
          <p:nvPr/>
        </p:nvSpPr>
        <p:spPr>
          <a:xfrm>
            <a:off x="330200" y="4152900"/>
            <a:ext cx="5727700" cy="267765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、轻量感高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，跑感灵活。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、过渡性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稳定性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缓冲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耐久较好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9/8/8/8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、合脚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包裹度合适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8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、回弹性能差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、脱鞋时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鞋垫会带出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，影响便利性与舒适。</a:t>
            </a:r>
          </a:p>
        </p:txBody>
      </p:sp>
    </p:spTree>
    <p:extLst>
      <p:ext uri="{BB962C8B-B14F-4D97-AF65-F5344CB8AC3E}">
        <p14:creationId xmlns:p14="http://schemas.microsoft.com/office/powerpoint/2010/main" val="125625404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D46B8-7AF4-EFA5-56B0-125FBA6F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0E22D0B-8F51-19E1-FC49-BA5930010E78}"/>
              </a:ext>
            </a:extLst>
          </p:cNvPr>
          <p:cNvSpPr/>
          <p:nvPr/>
        </p:nvSpPr>
        <p:spPr>
          <a:xfrm>
            <a:off x="3586848" y="6038105"/>
            <a:ext cx="5281570" cy="196703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08DE9B6-8B18-B93A-8232-59E29D50A64D}"/>
              </a:ext>
            </a:extLst>
          </p:cNvPr>
          <p:cNvSpPr/>
          <p:nvPr/>
        </p:nvSpPr>
        <p:spPr>
          <a:xfrm>
            <a:off x="277812" y="6331332"/>
            <a:ext cx="4882084" cy="228205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363B44A-5EB8-BED5-C5E6-229BFDE111EB}"/>
              </a:ext>
            </a:extLst>
          </p:cNvPr>
          <p:cNvCxnSpPr/>
          <p:nvPr/>
        </p:nvCxnSpPr>
        <p:spPr>
          <a:xfrm>
            <a:off x="198716" y="1124744"/>
            <a:ext cx="181174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71CBC77-C847-0C98-EACD-7DF6D107FD25}"/>
              </a:ext>
            </a:extLst>
          </p:cNvPr>
          <p:cNvCxnSpPr/>
          <p:nvPr/>
        </p:nvCxnSpPr>
        <p:spPr>
          <a:xfrm flipV="1">
            <a:off x="184811" y="222090"/>
            <a:ext cx="10375685" cy="881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E4D36F2-B637-FCD1-4924-E4EFA231915B}"/>
              </a:ext>
            </a:extLst>
          </p:cNvPr>
          <p:cNvCxnSpPr/>
          <p:nvPr/>
        </p:nvCxnSpPr>
        <p:spPr>
          <a:xfrm flipV="1">
            <a:off x="9111056" y="222091"/>
            <a:ext cx="0" cy="91943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3CE0F6C-2884-205C-0379-5EF5ACADAADE}"/>
              </a:ext>
            </a:extLst>
          </p:cNvPr>
          <p:cNvCxnSpPr/>
          <p:nvPr/>
        </p:nvCxnSpPr>
        <p:spPr>
          <a:xfrm flipV="1">
            <a:off x="191344" y="692698"/>
            <a:ext cx="0" cy="4488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CB1245C-68D5-7F72-BF89-97BEBE493509}"/>
              </a:ext>
            </a:extLst>
          </p:cNvPr>
          <p:cNvCxnSpPr/>
          <p:nvPr/>
        </p:nvCxnSpPr>
        <p:spPr>
          <a:xfrm flipV="1">
            <a:off x="191344" y="2636914"/>
            <a:ext cx="0" cy="41044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82770E5-31D8-BC67-FDC6-F5FBC707276A}"/>
              </a:ext>
            </a:extLst>
          </p:cNvPr>
          <p:cNvCxnSpPr/>
          <p:nvPr/>
        </p:nvCxnSpPr>
        <p:spPr>
          <a:xfrm>
            <a:off x="191344" y="6741368"/>
            <a:ext cx="1186232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884EB02-6EC9-920A-85F4-34324CD24BF5}"/>
              </a:ext>
            </a:extLst>
          </p:cNvPr>
          <p:cNvSpPr txBox="1"/>
          <p:nvPr/>
        </p:nvSpPr>
        <p:spPr>
          <a:xfrm>
            <a:off x="191344" y="233638"/>
            <a:ext cx="1800200" cy="461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锋刺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7pro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Arial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C5DB65-072C-22E0-965A-A92680E5B39A}"/>
              </a:ext>
            </a:extLst>
          </p:cNvPr>
          <p:cNvSpPr txBox="1"/>
          <p:nvPr/>
        </p:nvSpPr>
        <p:spPr>
          <a:xfrm>
            <a:off x="613461" y="740256"/>
            <a:ext cx="1464619" cy="369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实战测评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Arial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F3E9134-8E21-96DD-A0F5-A7710EA32C34}"/>
              </a:ext>
            </a:extLst>
          </p:cNvPr>
          <p:cNvCxnSpPr/>
          <p:nvPr/>
        </p:nvCxnSpPr>
        <p:spPr>
          <a:xfrm flipV="1">
            <a:off x="2010461" y="230902"/>
            <a:ext cx="0" cy="89384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CAEE5F0-274F-8623-C664-D4CA4F5F6A72}"/>
              </a:ext>
            </a:extLst>
          </p:cNvPr>
          <p:cNvCxnSpPr/>
          <p:nvPr/>
        </p:nvCxnSpPr>
        <p:spPr>
          <a:xfrm>
            <a:off x="10544682" y="230902"/>
            <a:ext cx="0" cy="1685930"/>
          </a:xfrm>
          <a:prstGeom prst="line">
            <a:avLst/>
          </a:prstGeom>
          <a:ln>
            <a:solidFill>
              <a:schemeClr val="dk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D9CD6F2-6518-3B3E-6606-2C2A6156CE88}"/>
              </a:ext>
            </a:extLst>
          </p:cNvPr>
          <p:cNvCxnSpPr/>
          <p:nvPr/>
        </p:nvCxnSpPr>
        <p:spPr>
          <a:xfrm flipH="1">
            <a:off x="9104522" y="1916832"/>
            <a:ext cx="1440160" cy="0"/>
          </a:xfrm>
          <a:prstGeom prst="line">
            <a:avLst/>
          </a:prstGeom>
          <a:ln>
            <a:solidFill>
              <a:schemeClr val="dk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E9E4086-03F0-1074-84CA-7A80C9710E53}"/>
              </a:ext>
            </a:extLst>
          </p:cNvPr>
          <p:cNvCxnSpPr/>
          <p:nvPr/>
        </p:nvCxnSpPr>
        <p:spPr>
          <a:xfrm flipV="1">
            <a:off x="9104522" y="230902"/>
            <a:ext cx="0" cy="6510466"/>
          </a:xfrm>
          <a:prstGeom prst="line">
            <a:avLst/>
          </a:prstGeom>
          <a:ln>
            <a:solidFill>
              <a:schemeClr val="dk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07F8816B-A6F3-B733-EE94-5AD68FD8BF66}"/>
              </a:ext>
            </a:extLst>
          </p:cNvPr>
          <p:cNvSpPr/>
          <p:nvPr/>
        </p:nvSpPr>
        <p:spPr>
          <a:xfrm>
            <a:off x="9128195" y="231337"/>
            <a:ext cx="1404903" cy="11919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5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3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36F19EC-97EA-1259-2F96-873EC0CA35EF}"/>
              </a:ext>
            </a:extLst>
          </p:cNvPr>
          <p:cNvSpPr txBox="1"/>
          <p:nvPr/>
        </p:nvSpPr>
        <p:spPr>
          <a:xfrm>
            <a:off x="9088708" y="1481911"/>
            <a:ext cx="1471788" cy="4001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7.57 / 10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Arial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2611A41-C1AC-96FA-D8A9-DE48E7123018}"/>
              </a:ext>
            </a:extLst>
          </p:cNvPr>
          <p:cNvSpPr/>
          <p:nvPr/>
        </p:nvSpPr>
        <p:spPr>
          <a:xfrm>
            <a:off x="207159" y="3622372"/>
            <a:ext cx="881089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缓震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回弹：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重心较高，尤其在后跟厚度上（更换较薄鞋垫或去掉鞋垫情况好转）、后跟支撑轻微偏弱（</a:t>
            </a:r>
            <a:r>
              <a:rPr lang="en-US" altLang="zh-CN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x1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）、且存在泄力的情况（木地板上泄力较为明显）。</a:t>
            </a:r>
            <a:endParaRPr lang="en-US" altLang="zh-CN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抓地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耐磨：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抓地较好，无打滑现象，吸灰时抓地性也不错。耐磨情况较好。</a:t>
            </a:r>
            <a:endParaRPr lang="en-US" altLang="zh-CN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防侧翻：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防侧翻点略微靠后，穿着虽影响并不太大，但在有角度的急停与变相时出现不稳定现象。</a:t>
            </a:r>
            <a:endParaRPr lang="en-US" altLang="zh-CN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包裹：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中段包裹良好，前掌以及后跟包裹较弱，后跟出现较为明显的掉跟情况。</a:t>
            </a:r>
            <a:endParaRPr lang="en-US" altLang="zh-CN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抗扭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稳定：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整体脚感偏板，推进感存在但体感上抗扭偏弱，与包裹性有关。前掌较宽，灵活性差一些。</a:t>
            </a:r>
            <a:endParaRPr lang="en-US" altLang="zh-CN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轻量化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透气：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整体轻量化突出，体感重量非常轻，透气性较好，暂未出现烧脚、闷脚现象。</a:t>
            </a:r>
            <a:endParaRPr lang="en-US" altLang="zh-CN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小结：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锋刺</a:t>
            </a:r>
            <a:r>
              <a:rPr lang="en-US" altLang="zh-CN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7pro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重量较轻、抓地优秀，但整体重心偏高（鞋垫厚度较厚，且无压缩形变），前、后段包裹较差，进而导致鞋</a:t>
            </a:r>
            <a:r>
              <a:rPr lang="en-US" altLang="zh-CN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脚一体性差、稳定性下降、体感上抗扭性较弱。突破安全性偏弱。</a:t>
            </a:r>
            <a:endParaRPr lang="en-US" altLang="zh-CN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B38CB8-0CDF-28C2-3294-0B877158B374}"/>
              </a:ext>
            </a:extLst>
          </p:cNvPr>
          <p:cNvSpPr/>
          <p:nvPr/>
        </p:nvSpPr>
        <p:spPr>
          <a:xfrm>
            <a:off x="271256" y="2472676"/>
            <a:ext cx="2683300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试穿人数：</a:t>
            </a:r>
            <a:r>
              <a:rPr lang="en-US" altLang="zh-CN" sz="1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人 </a:t>
            </a:r>
            <a:r>
              <a:rPr lang="en-US" altLang="zh-CN" sz="1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+</a:t>
            </a:r>
          </a:p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测试者体重：</a:t>
            </a:r>
            <a:r>
              <a:rPr lang="en-US" altLang="zh-CN" sz="1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75±5KG</a:t>
            </a:r>
          </a:p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测试者球场定位：小前锋、重型后卫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E5F95BA-2359-3DD9-1E7A-FA6316149B7D}"/>
              </a:ext>
            </a:extLst>
          </p:cNvPr>
          <p:cNvCxnSpPr/>
          <p:nvPr/>
        </p:nvCxnSpPr>
        <p:spPr>
          <a:xfrm flipV="1">
            <a:off x="12039600" y="1916832"/>
            <a:ext cx="0" cy="48245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D5B68DA-A7BA-4F46-5157-184597DF7422}"/>
              </a:ext>
            </a:extLst>
          </p:cNvPr>
          <p:cNvCxnSpPr/>
          <p:nvPr/>
        </p:nvCxnSpPr>
        <p:spPr>
          <a:xfrm>
            <a:off x="11424592" y="1927895"/>
            <a:ext cx="62907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3D9CE074-AD29-5FEE-4318-ED166530F724}"/>
              </a:ext>
            </a:extLst>
          </p:cNvPr>
          <p:cNvSpPr/>
          <p:nvPr/>
        </p:nvSpPr>
        <p:spPr>
          <a:xfrm>
            <a:off x="238103" y="3192962"/>
            <a:ext cx="1210588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实战反馈：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78D4BA7-66E2-ECB5-1FB2-43E6EA2FF170}"/>
              </a:ext>
            </a:extLst>
          </p:cNvPr>
          <p:cNvSpPr/>
          <p:nvPr/>
        </p:nvSpPr>
        <p:spPr>
          <a:xfrm>
            <a:off x="9120337" y="1918630"/>
            <a:ext cx="2919262" cy="30617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锋刺</a:t>
            </a:r>
            <a:r>
              <a:rPr lang="en-US" altLang="zh-CN" sz="105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7pro vs </a:t>
            </a:r>
            <a:r>
              <a:rPr lang="zh-CN" altLang="en-US" sz="105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锋刺</a:t>
            </a:r>
            <a:r>
              <a:rPr lang="en-US" altLang="zh-CN" sz="105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6pro</a:t>
            </a:r>
            <a:endParaRPr lang="zh-CN" altLang="en-US" sz="105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CEB0C5D-9A44-89A2-8256-49FA41DC1995}"/>
              </a:ext>
            </a:extLst>
          </p:cNvPr>
          <p:cNvCxnSpPr/>
          <p:nvPr/>
        </p:nvCxnSpPr>
        <p:spPr>
          <a:xfrm>
            <a:off x="1199456" y="3573016"/>
            <a:ext cx="216024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F135AD7-DD62-F48D-431A-C23F11AD6E41}"/>
              </a:ext>
            </a:extLst>
          </p:cNvPr>
          <p:cNvCxnSpPr/>
          <p:nvPr/>
        </p:nvCxnSpPr>
        <p:spPr>
          <a:xfrm>
            <a:off x="198110" y="3573016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6509D310-A000-614E-34AF-DFAE7DA9B3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0" y="1329338"/>
            <a:ext cx="2137244" cy="1046814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CDF0FA16-C06B-523C-EDFE-8F0A64350FDE}"/>
              </a:ext>
            </a:extLst>
          </p:cNvPr>
          <p:cNvSpPr/>
          <p:nvPr/>
        </p:nvSpPr>
        <p:spPr>
          <a:xfrm>
            <a:off x="9113837" y="4325051"/>
            <a:ext cx="2939829" cy="30617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锋刺</a:t>
            </a:r>
            <a:r>
              <a:rPr lang="en-US" altLang="zh-CN" sz="105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7pro vs GTcut2.0</a:t>
            </a:r>
            <a:endParaRPr lang="zh-CN" altLang="en-US" sz="105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3" name="图表 52">
            <a:extLst>
              <a:ext uri="{FF2B5EF4-FFF2-40B4-BE49-F238E27FC236}">
                <a16:creationId xmlns:a16="http://schemas.microsoft.com/office/drawing/2014/main" id="{9ADD3661-55CE-8B8C-ADE0-6CEBF298F82B}"/>
              </a:ext>
            </a:extLst>
          </p:cNvPr>
          <p:cNvGraphicFramePr/>
          <p:nvPr/>
        </p:nvGraphicFramePr>
        <p:xfrm>
          <a:off x="2395105" y="381440"/>
          <a:ext cx="4572000" cy="2945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8" name="图片 37">
            <a:extLst>
              <a:ext uri="{FF2B5EF4-FFF2-40B4-BE49-F238E27FC236}">
                <a16:creationId xmlns:a16="http://schemas.microsoft.com/office/drawing/2014/main" id="{D59FC182-8A44-D210-E9F6-8D479B6F5A9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202" r="22678"/>
          <a:stretch>
            <a:fillRect/>
          </a:stretch>
        </p:blipFill>
        <p:spPr>
          <a:xfrm>
            <a:off x="9335797" y="2306418"/>
            <a:ext cx="1841882" cy="2004971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4B50F287-7EEC-0DB3-45AE-1F43277A0D22}"/>
              </a:ext>
            </a:extLst>
          </p:cNvPr>
          <p:cNvSpPr/>
          <p:nvPr/>
        </p:nvSpPr>
        <p:spPr>
          <a:xfrm>
            <a:off x="11208568" y="3057909"/>
            <a:ext cx="144016" cy="144028"/>
          </a:xfrm>
          <a:prstGeom prst="rect">
            <a:avLst/>
          </a:prstGeom>
          <a:solidFill>
            <a:srgbClr val="D7253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4A42EAA-B3E9-9E4C-1EEF-C24332824A82}"/>
              </a:ext>
            </a:extLst>
          </p:cNvPr>
          <p:cNvSpPr/>
          <p:nvPr/>
        </p:nvSpPr>
        <p:spPr>
          <a:xfrm>
            <a:off x="11208568" y="3323331"/>
            <a:ext cx="144016" cy="144028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FBAA6A3-35A5-A408-B8B2-5DE79E537536}"/>
              </a:ext>
            </a:extLst>
          </p:cNvPr>
          <p:cNvSpPr/>
          <p:nvPr/>
        </p:nvSpPr>
        <p:spPr>
          <a:xfrm>
            <a:off x="11340339" y="3011856"/>
            <a:ext cx="6735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锋刺</a:t>
            </a:r>
            <a:r>
              <a:rPr lang="en-US" altLang="zh-CN" sz="9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7pro</a:t>
            </a:r>
            <a:endParaRPr lang="zh-CN" altLang="en-US" sz="900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2B05A86-900D-18AA-2799-FEA6827B271E}"/>
              </a:ext>
            </a:extLst>
          </p:cNvPr>
          <p:cNvSpPr/>
          <p:nvPr/>
        </p:nvSpPr>
        <p:spPr>
          <a:xfrm>
            <a:off x="11340339" y="3286720"/>
            <a:ext cx="6735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锋刺</a:t>
            </a:r>
            <a:r>
              <a:rPr lang="en-US" altLang="zh-CN" sz="9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6pro</a:t>
            </a:r>
            <a:endParaRPr lang="zh-CN" altLang="en-US" sz="900" dirty="0"/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B4176611-7E73-BFDF-9F00-FBD91A84879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030" r="21276"/>
          <a:stretch>
            <a:fillRect/>
          </a:stretch>
        </p:blipFill>
        <p:spPr>
          <a:xfrm>
            <a:off x="9342517" y="4699202"/>
            <a:ext cx="1908343" cy="2019613"/>
          </a:xfrm>
          <a:prstGeom prst="rect">
            <a:avLst/>
          </a:prstGeom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1673F5A3-57EF-AF1A-3D03-D24BC71762E0}"/>
              </a:ext>
            </a:extLst>
          </p:cNvPr>
          <p:cNvSpPr/>
          <p:nvPr/>
        </p:nvSpPr>
        <p:spPr>
          <a:xfrm>
            <a:off x="11208568" y="5491277"/>
            <a:ext cx="144016" cy="144028"/>
          </a:xfrm>
          <a:prstGeom prst="rect">
            <a:avLst/>
          </a:prstGeom>
          <a:solidFill>
            <a:srgbClr val="D7253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073263B-1612-81D7-3C06-485A06C88764}"/>
              </a:ext>
            </a:extLst>
          </p:cNvPr>
          <p:cNvSpPr/>
          <p:nvPr/>
        </p:nvSpPr>
        <p:spPr>
          <a:xfrm>
            <a:off x="11208568" y="5756699"/>
            <a:ext cx="144016" cy="144028"/>
          </a:xfrm>
          <a:prstGeom prst="rect">
            <a:avLst/>
          </a:prstGeom>
          <a:solidFill>
            <a:srgbClr val="C3E0F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067A3AF-FA95-5511-CB6E-A75C8F3BAC78}"/>
              </a:ext>
            </a:extLst>
          </p:cNvPr>
          <p:cNvSpPr/>
          <p:nvPr/>
        </p:nvSpPr>
        <p:spPr>
          <a:xfrm>
            <a:off x="11340339" y="5445224"/>
            <a:ext cx="6735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锋刺</a:t>
            </a:r>
            <a:r>
              <a:rPr lang="en-US" altLang="zh-CN" sz="9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7pro</a:t>
            </a:r>
            <a:endParaRPr lang="zh-CN" altLang="en-US" sz="900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8E16FD0-7440-6A02-19E0-897FBE25A87E}"/>
              </a:ext>
            </a:extLst>
          </p:cNvPr>
          <p:cNvSpPr/>
          <p:nvPr/>
        </p:nvSpPr>
        <p:spPr>
          <a:xfrm>
            <a:off x="11340339" y="5720088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Gtcut</a:t>
            </a:r>
            <a:r>
              <a:rPr lang="en-US" altLang="zh-CN" sz="900" dirty="0">
                <a:ea typeface="微软雅黑" pitchFamily="34" charset="-122"/>
              </a:rPr>
              <a:t>2.0</a:t>
            </a:r>
            <a:endParaRPr lang="en-US" altLang="zh-CN" sz="9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FB801FE-E15F-D668-DC33-E45430219600}"/>
              </a:ext>
            </a:extLst>
          </p:cNvPr>
          <p:cNvSpPr/>
          <p:nvPr/>
        </p:nvSpPr>
        <p:spPr>
          <a:xfrm>
            <a:off x="10130915" y="2204864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重量</a:t>
            </a:r>
            <a:endParaRPr lang="zh-CN" altLang="en-US" sz="100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CF8D672-B0FC-7E1D-92F7-54C0CF7BCA88}"/>
              </a:ext>
            </a:extLst>
          </p:cNvPr>
          <p:cNvSpPr/>
          <p:nvPr/>
        </p:nvSpPr>
        <p:spPr>
          <a:xfrm>
            <a:off x="10946920" y="2700580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缓震</a:t>
            </a:r>
            <a:endParaRPr lang="zh-CN" altLang="en-US" sz="1000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BE73A60-C723-021D-9FB4-BEA999F0152F}"/>
              </a:ext>
            </a:extLst>
          </p:cNvPr>
          <p:cNvSpPr/>
          <p:nvPr/>
        </p:nvSpPr>
        <p:spPr>
          <a:xfrm>
            <a:off x="10076115" y="4021610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包裹</a:t>
            </a:r>
            <a:endParaRPr lang="zh-CN" altLang="en-US" sz="1000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602ACED-A533-A50A-8AB7-269B06F4AE72}"/>
              </a:ext>
            </a:extLst>
          </p:cNvPr>
          <p:cNvSpPr/>
          <p:nvPr/>
        </p:nvSpPr>
        <p:spPr>
          <a:xfrm>
            <a:off x="9170412" y="2745886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刚性</a:t>
            </a:r>
            <a:endParaRPr lang="zh-CN" altLang="en-US" sz="1000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8A5F9FF-9EE0-0A5A-2429-83368C9C46C9}"/>
              </a:ext>
            </a:extLst>
          </p:cNvPr>
          <p:cNvSpPr/>
          <p:nvPr/>
        </p:nvSpPr>
        <p:spPr>
          <a:xfrm>
            <a:off x="9183674" y="3642265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止滑</a:t>
            </a:r>
            <a:endParaRPr lang="zh-CN" altLang="en-US" sz="1000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8892103-D5CE-8C20-CDE0-1824330D943A}"/>
              </a:ext>
            </a:extLst>
          </p:cNvPr>
          <p:cNvSpPr/>
          <p:nvPr/>
        </p:nvSpPr>
        <p:spPr>
          <a:xfrm>
            <a:off x="10946920" y="3642380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回弹</a:t>
            </a:r>
            <a:endParaRPr lang="zh-CN" altLang="en-US" sz="10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BC12745-3035-0F36-2D88-B5027BCFD818}"/>
              </a:ext>
            </a:extLst>
          </p:cNvPr>
          <p:cNvSpPr/>
          <p:nvPr/>
        </p:nvSpPr>
        <p:spPr>
          <a:xfrm>
            <a:off x="10145117" y="4653136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重量</a:t>
            </a:r>
            <a:endParaRPr lang="zh-CN" altLang="en-US" sz="1000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74E4A41-363A-C0EF-3D4A-21FA1924D1A9}"/>
              </a:ext>
            </a:extLst>
          </p:cNvPr>
          <p:cNvSpPr/>
          <p:nvPr/>
        </p:nvSpPr>
        <p:spPr>
          <a:xfrm>
            <a:off x="10932287" y="5129037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缓震</a:t>
            </a:r>
            <a:endParaRPr lang="zh-CN" altLang="en-US" sz="1000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1023893-EF45-C872-8C28-CC89EF35AABE}"/>
              </a:ext>
            </a:extLst>
          </p:cNvPr>
          <p:cNvSpPr/>
          <p:nvPr/>
        </p:nvSpPr>
        <p:spPr>
          <a:xfrm>
            <a:off x="10076115" y="6472594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包裹</a:t>
            </a:r>
            <a:endParaRPr lang="zh-CN" altLang="en-US" sz="10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F86B4FC-4086-48FE-C7EE-BF786EB26E09}"/>
              </a:ext>
            </a:extLst>
          </p:cNvPr>
          <p:cNvSpPr/>
          <p:nvPr/>
        </p:nvSpPr>
        <p:spPr>
          <a:xfrm>
            <a:off x="9200039" y="5129037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刚性</a:t>
            </a:r>
            <a:endParaRPr lang="zh-CN" altLang="en-US" sz="10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3EAA39F-A0F3-5ABA-89AB-4E32003CB5D4}"/>
              </a:ext>
            </a:extLst>
          </p:cNvPr>
          <p:cNvSpPr/>
          <p:nvPr/>
        </p:nvSpPr>
        <p:spPr>
          <a:xfrm>
            <a:off x="9177953" y="6025416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止滑</a:t>
            </a:r>
            <a:endParaRPr lang="zh-CN" altLang="en-US" sz="10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9AA1E8A-EFAD-63FA-83F6-70FAAF88CA33}"/>
              </a:ext>
            </a:extLst>
          </p:cNvPr>
          <p:cNvSpPr/>
          <p:nvPr/>
        </p:nvSpPr>
        <p:spPr>
          <a:xfrm>
            <a:off x="10947212" y="6025416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回弹</a:t>
            </a:r>
            <a:endParaRPr lang="zh-CN" altLang="en-US" sz="1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15DF7D-AE0C-A349-2E8F-9694AAC78A6F}"/>
              </a:ext>
            </a:extLst>
          </p:cNvPr>
          <p:cNvSpPr/>
          <p:nvPr/>
        </p:nvSpPr>
        <p:spPr>
          <a:xfrm>
            <a:off x="10059879" y="381440"/>
            <a:ext cx="3802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sz="2000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2109419-78F0-186A-5243-50BDB2CF1C36}"/>
              </a:ext>
            </a:extLst>
          </p:cNvPr>
          <p:cNvSpPr/>
          <p:nvPr/>
        </p:nvSpPr>
        <p:spPr>
          <a:xfrm>
            <a:off x="7336015" y="340788"/>
            <a:ext cx="792088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78281DA-8DF4-9B11-A6A4-7623EE704C5D}"/>
              </a:ext>
            </a:extLst>
          </p:cNvPr>
          <p:cNvSpPr/>
          <p:nvPr/>
        </p:nvSpPr>
        <p:spPr>
          <a:xfrm>
            <a:off x="7336015" y="1132876"/>
            <a:ext cx="792088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ABA43FF-2BE4-1CB9-7E3B-F17DA26CBF59}"/>
              </a:ext>
            </a:extLst>
          </p:cNvPr>
          <p:cNvSpPr/>
          <p:nvPr/>
        </p:nvSpPr>
        <p:spPr>
          <a:xfrm>
            <a:off x="8128103" y="340788"/>
            <a:ext cx="432048" cy="792088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9684F57-936A-30A4-754A-C6071E236E08}"/>
              </a:ext>
            </a:extLst>
          </p:cNvPr>
          <p:cNvSpPr/>
          <p:nvPr/>
        </p:nvSpPr>
        <p:spPr>
          <a:xfrm>
            <a:off x="8128103" y="1132876"/>
            <a:ext cx="432048" cy="792088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1D1E5137-247F-E3FD-D8B5-58F8FB1D1DB3}"/>
              </a:ext>
            </a:extLst>
          </p:cNvPr>
          <p:cNvCxnSpPr/>
          <p:nvPr/>
        </p:nvCxnSpPr>
        <p:spPr>
          <a:xfrm flipH="1">
            <a:off x="7336015" y="1132876"/>
            <a:ext cx="792088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矩形 94">
            <a:extLst>
              <a:ext uri="{FF2B5EF4-FFF2-40B4-BE49-F238E27FC236}">
                <a16:creationId xmlns:a16="http://schemas.microsoft.com/office/drawing/2014/main" id="{03E42C6E-DC45-F2F0-259D-1E8720CC5EAD}"/>
              </a:ext>
            </a:extLst>
          </p:cNvPr>
          <p:cNvSpPr/>
          <p:nvPr/>
        </p:nvSpPr>
        <p:spPr>
          <a:xfrm>
            <a:off x="7482686" y="444445"/>
            <a:ext cx="494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1068C22-34BE-0D93-AC4A-94D68A610410}"/>
              </a:ext>
            </a:extLst>
          </p:cNvPr>
          <p:cNvSpPr/>
          <p:nvPr/>
        </p:nvSpPr>
        <p:spPr>
          <a:xfrm>
            <a:off x="7482686" y="1236533"/>
            <a:ext cx="4651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3E39752-42FA-AC2A-48A1-C2D70D213A84}"/>
              </a:ext>
            </a:extLst>
          </p:cNvPr>
          <p:cNvSpPr/>
          <p:nvPr/>
        </p:nvSpPr>
        <p:spPr>
          <a:xfrm>
            <a:off x="7786616" y="1128810"/>
            <a:ext cx="360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BE13EED-85AC-298F-9CED-0496C850F99D}"/>
              </a:ext>
            </a:extLst>
          </p:cNvPr>
          <p:cNvSpPr/>
          <p:nvPr/>
        </p:nvSpPr>
        <p:spPr>
          <a:xfrm>
            <a:off x="7786616" y="332656"/>
            <a:ext cx="2968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endParaRPr lang="zh-CN" altLang="en-US" sz="2000" dirty="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B6797CB-6D18-992F-A132-97D6CE54F36E}"/>
              </a:ext>
            </a:extLst>
          </p:cNvPr>
          <p:cNvSpPr/>
          <p:nvPr/>
        </p:nvSpPr>
        <p:spPr>
          <a:xfrm>
            <a:off x="8164107" y="332656"/>
            <a:ext cx="36004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后卫</a:t>
            </a: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CD7A7D34-3489-BF4B-DAFA-0FCB1441CFD3}"/>
              </a:ext>
            </a:extLst>
          </p:cNvPr>
          <p:cNvSpPr/>
          <p:nvPr/>
        </p:nvSpPr>
        <p:spPr>
          <a:xfrm>
            <a:off x="8164107" y="1094202"/>
            <a:ext cx="36004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小前</a:t>
            </a: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5149DE6-C30D-287A-5160-9AAD1201B465}"/>
              </a:ext>
            </a:extLst>
          </p:cNvPr>
          <p:cNvSpPr/>
          <p:nvPr/>
        </p:nvSpPr>
        <p:spPr>
          <a:xfrm>
            <a:off x="7334576" y="1929030"/>
            <a:ext cx="792088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D8510714-11A5-9363-A4D3-5902868C0A5C}"/>
              </a:ext>
            </a:extLst>
          </p:cNvPr>
          <p:cNvSpPr/>
          <p:nvPr/>
        </p:nvSpPr>
        <p:spPr>
          <a:xfrm>
            <a:off x="8126664" y="1929030"/>
            <a:ext cx="432048" cy="792088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89EA3F6E-9812-348C-0595-20CE95260042}"/>
              </a:ext>
            </a:extLst>
          </p:cNvPr>
          <p:cNvCxnSpPr/>
          <p:nvPr/>
        </p:nvCxnSpPr>
        <p:spPr>
          <a:xfrm flipH="1">
            <a:off x="7334576" y="1929030"/>
            <a:ext cx="792088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矩形 103">
            <a:extLst>
              <a:ext uri="{FF2B5EF4-FFF2-40B4-BE49-F238E27FC236}">
                <a16:creationId xmlns:a16="http://schemas.microsoft.com/office/drawing/2014/main" id="{7AE76BCF-FBD7-43C6-842C-86FB367FDB11}"/>
              </a:ext>
            </a:extLst>
          </p:cNvPr>
          <p:cNvSpPr/>
          <p:nvPr/>
        </p:nvSpPr>
        <p:spPr>
          <a:xfrm>
            <a:off x="7481247" y="2032687"/>
            <a:ext cx="4651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7CBA3DE-7FFC-8DF0-E5C9-DAAE7410243D}"/>
              </a:ext>
            </a:extLst>
          </p:cNvPr>
          <p:cNvSpPr/>
          <p:nvPr/>
        </p:nvSpPr>
        <p:spPr>
          <a:xfrm>
            <a:off x="8162668" y="1903074"/>
            <a:ext cx="36004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突破</a:t>
            </a: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4530427-AE15-FF2F-6B95-2D745FBF8813}"/>
              </a:ext>
            </a:extLst>
          </p:cNvPr>
          <p:cNvSpPr/>
          <p:nvPr/>
        </p:nvSpPr>
        <p:spPr>
          <a:xfrm>
            <a:off x="7334576" y="2721117"/>
            <a:ext cx="792088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29AFEAE-C24E-899C-03C1-498F5D129CE8}"/>
              </a:ext>
            </a:extLst>
          </p:cNvPr>
          <p:cNvSpPr/>
          <p:nvPr/>
        </p:nvSpPr>
        <p:spPr>
          <a:xfrm>
            <a:off x="8126664" y="2721117"/>
            <a:ext cx="432048" cy="792088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507B63A1-68C6-7231-C551-921A58CBFEF3}"/>
              </a:ext>
            </a:extLst>
          </p:cNvPr>
          <p:cNvCxnSpPr/>
          <p:nvPr/>
        </p:nvCxnSpPr>
        <p:spPr>
          <a:xfrm flipH="1">
            <a:off x="7334576" y="2721117"/>
            <a:ext cx="792088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2FBCE7AD-0CA3-9CC9-045C-0C0FC461ED4B}"/>
              </a:ext>
            </a:extLst>
          </p:cNvPr>
          <p:cNvSpPr/>
          <p:nvPr/>
        </p:nvSpPr>
        <p:spPr>
          <a:xfrm>
            <a:off x="7481247" y="2824774"/>
            <a:ext cx="4812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A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8A2E3FBC-10AD-011E-5A9A-90F445A49BC7}"/>
              </a:ext>
            </a:extLst>
          </p:cNvPr>
          <p:cNvSpPr/>
          <p:nvPr/>
        </p:nvSpPr>
        <p:spPr>
          <a:xfrm>
            <a:off x="7785177" y="2717051"/>
            <a:ext cx="360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4AC3D4A-CE2B-9485-F721-E1ECBD64D528}"/>
              </a:ext>
            </a:extLst>
          </p:cNvPr>
          <p:cNvSpPr/>
          <p:nvPr/>
        </p:nvSpPr>
        <p:spPr>
          <a:xfrm>
            <a:off x="8162668" y="2682443"/>
            <a:ext cx="36004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外线</a:t>
            </a: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6E04C69-FB2B-D776-985B-0347C98A38B4}"/>
              </a:ext>
            </a:extLst>
          </p:cNvPr>
          <p:cNvSpPr/>
          <p:nvPr/>
        </p:nvSpPr>
        <p:spPr>
          <a:xfrm>
            <a:off x="7786616" y="1925783"/>
            <a:ext cx="2968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A625B5-7D7D-846B-C83F-F42D96E3C822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问卷汇总分析</a:t>
            </a:r>
          </a:p>
        </p:txBody>
      </p:sp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8F8C86A0-6354-7611-B68C-2423DBA531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5268032"/>
              </p:ext>
            </p:extLst>
          </p:nvPr>
        </p:nvGraphicFramePr>
        <p:xfrm>
          <a:off x="508000" y="1143000"/>
          <a:ext cx="4552950" cy="2197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65EFD588-91C0-454C-F4CC-4CF6B4BBC2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8895060"/>
              </p:ext>
            </p:extLst>
          </p:nvPr>
        </p:nvGraphicFramePr>
        <p:xfrm>
          <a:off x="6350000" y="1143000"/>
          <a:ext cx="4552950" cy="2197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23674483-20EE-F3AE-712E-C1CA56C5F863}"/>
              </a:ext>
            </a:extLst>
          </p:cNvPr>
          <p:cNvSpPr txBox="1"/>
          <p:nvPr/>
        </p:nvSpPr>
        <p:spPr>
          <a:xfrm>
            <a:off x="508000" y="3492500"/>
            <a:ext cx="10882630" cy="87630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样本量：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人；均值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Top3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：包裹感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9.2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分、轻量感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9.0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分、合脚性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8.8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分；高分占比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Top3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：合脚性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100.0%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、轻量感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100.0%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、包裹感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100.0%</a:t>
            </a:r>
            <a:endParaRPr kumimoji="0" lang="zh-CN" altLang="en-US" b="0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87FCC2-4FB1-F0C4-7C03-6E436A06D942}"/>
              </a:ext>
            </a:extLst>
          </p:cNvPr>
          <p:cNvSpPr txBox="1"/>
          <p:nvPr/>
        </p:nvSpPr>
        <p:spPr>
          <a:xfrm>
            <a:off x="508000" y="4191000"/>
            <a:ext cx="10882630" cy="1061827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飞影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GT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在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份样本中表现稳定，包裹感、轻量感与合脚性为主要优势（均值≈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且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【100%】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得分≥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8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），缓冲、稳定、过渡、地面反馈与耐久性均处于良好水平（均值约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8.0–8.4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）；需重点改进的是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【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回弹性能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】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（均值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7.8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）和整体舒适度，建议通过优化中底回弹材料与脚感设计提升长距离表现。</a:t>
            </a:r>
          </a:p>
        </p:txBody>
      </p:sp>
    </p:spTree>
    <p:extLst>
      <p:ext uri="{BB962C8B-B14F-4D97-AF65-F5344CB8AC3E}">
        <p14:creationId xmlns:p14="http://schemas.microsoft.com/office/powerpoint/2010/main" val="27844843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0661D-7A04-F74E-2032-8EC61815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B86A31AF-5F08-993B-EE1D-D306F9CCFF37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4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36CAB2B7-A781-EAA5-3291-B577FC460FC9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总结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337087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6101-7594-CD20-298B-28354F66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D83C43-136A-7D83-9760-8613775C1326}"/>
              </a:ext>
            </a:extLst>
          </p:cNvPr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6D7D4D-9AD9-DD92-A265-A12477B3997C}"/>
              </a:ext>
            </a:extLst>
          </p:cNvPr>
          <p:cNvSpPr/>
          <p:nvPr/>
        </p:nvSpPr>
        <p:spPr>
          <a:xfrm>
            <a:off x="407368" y="7304072"/>
            <a:ext cx="113052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基础数据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生物力学数据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人体试穿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建议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 文字描述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    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000000-0008-0000-0000-000016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130300"/>
            <a:ext cx="2842404" cy="13716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0000000-0008-0000-0000-000017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154" y="1130300"/>
            <a:ext cx="2971070" cy="13716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20DDFED-19EA-B3B7-E13C-ED4F5DFDA33E}"/>
              </a:ext>
            </a:extLst>
          </p:cNvPr>
          <p:cNvSpPr txBox="1"/>
          <p:nvPr/>
        </p:nvSpPr>
        <p:spPr>
          <a:xfrm>
            <a:off x="647700" y="3568700"/>
            <a:ext cx="11455400" cy="1569658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样本量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份。飞影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GT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的主要优势为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【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包裹感、轻量感与合脚性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】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（均值≈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9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且高分占比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100%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），缓冲、稳定、过渡、地面反馈与耐久性均处于良好水平（均值约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8.0–8.4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）。
需要改进的是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【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回弹性能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】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（均值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7.8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，高分占比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60%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）与整体舒适度（均值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8.6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，高分占比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60%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），是下一步优化的重点。</a:t>
            </a:r>
          </a:p>
        </p:txBody>
      </p:sp>
    </p:spTree>
    <p:extLst>
      <p:ext uri="{BB962C8B-B14F-4D97-AF65-F5344CB8AC3E}">
        <p14:creationId xmlns:p14="http://schemas.microsoft.com/office/powerpoint/2010/main" val="404632543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FC4D2-0266-2AB6-0BE8-CEEC42E0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矩形 259">
            <a:extLst>
              <a:ext uri="{FF2B5EF4-FFF2-40B4-BE49-F238E27FC236}">
                <a16:creationId xmlns:a16="http://schemas.microsoft.com/office/drawing/2014/main" id="{CC3D3737-5D40-39D9-26D2-FFDD731B4222}"/>
              </a:ext>
            </a:extLst>
          </p:cNvPr>
          <p:cNvSpPr txBox="1"/>
          <p:nvPr/>
        </p:nvSpPr>
        <p:spPr>
          <a:xfrm>
            <a:off x="904309" y="2569883"/>
            <a:ext cx="6479835" cy="9233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sz="6000" b="1"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r>
              <a:rPr dirty="0">
                <a:latin typeface="微软雅黑" pitchFamily="34" charset="-122"/>
                <a:ea typeface="微软雅黑" pitchFamily="34" charset="-122"/>
              </a:rPr>
              <a:t>THANK YOU</a:t>
            </a:r>
          </a:p>
        </p:txBody>
      </p:sp>
      <p:pic>
        <p:nvPicPr>
          <p:cNvPr id="645" name="Picture 3" descr="Picture 3">
            <a:extLst>
              <a:ext uri="{FF2B5EF4-FFF2-40B4-BE49-F238E27FC236}">
                <a16:creationId xmlns:a16="http://schemas.microsoft.com/office/drawing/2014/main" id="{E23824C5-506F-3208-7A8E-DEC026049C1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3C713E4-7978-2FD5-B005-5F06A2DE0294}"/>
              </a:ext>
            </a:extLst>
          </p:cNvPr>
          <p:cNvSpPr/>
          <p:nvPr/>
        </p:nvSpPr>
        <p:spPr>
          <a:xfrm>
            <a:off x="767080" y="5300980"/>
            <a:ext cx="3067685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</a:t>
            </a:r>
          </a:p>
        </p:txBody>
      </p:sp>
    </p:spTree>
    <p:extLst>
      <p:ext uri="{BB962C8B-B14F-4D97-AF65-F5344CB8AC3E}">
        <p14:creationId xmlns:p14="http://schemas.microsoft.com/office/powerpoint/2010/main" val="109279844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1237</Words>
  <Application>Microsoft Office PowerPoint</Application>
  <PresentationFormat>宽屏</PresentationFormat>
  <Paragraphs>105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微软雅黑</vt:lpstr>
      <vt:lpstr>Arial</vt:lpstr>
      <vt:lpstr>Wingdings</vt:lpstr>
      <vt:lpstr>1_包图主题2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K_OCEAN</dc:creator>
  <cp:lastModifiedBy>陈晶</cp:lastModifiedBy>
  <cp:revision>1067</cp:revision>
  <dcterms:created xsi:type="dcterms:W3CDTF">2019-03-25T05:53:00Z</dcterms:created>
  <dcterms:modified xsi:type="dcterms:W3CDTF">2026-02-10T03:28:37Z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