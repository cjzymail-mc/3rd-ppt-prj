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13.xml" ContentType="application/vnd.openxmlformats-officedocument.presentationml.notesSlide+xml"/>
  <Override PartName="/ppt/charts/chart1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1062" r:id="rId2"/>
    <p:sldId id="1063" r:id="rId3"/>
    <p:sldId id="1064" r:id="rId4"/>
    <p:sldId id="1065" r:id="rId5"/>
    <p:sldId id="1066" r:id="rId6"/>
    <p:sldId id="1067" r:id="rId7"/>
    <p:sldId id="1068" r:id="rId8"/>
    <p:sldId id="1069" r:id="rId9"/>
    <p:sldId id="1070" r:id="rId10"/>
    <p:sldId id="1071" r:id="rId11"/>
    <p:sldId id="1072" r:id="rId12"/>
    <p:sldId id="1073" r:id="rId13"/>
    <p:sldId id="1077" r:id="rId14"/>
    <p:sldId id="1251" r:id="rId15"/>
    <p:sldId id="1074" r:id="rId16"/>
    <p:sldId id="1075" r:id="rId17"/>
    <p:sldId id="107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39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540"/>
    <a:srgbClr val="04B555"/>
    <a:srgbClr val="CACACA"/>
    <a:srgbClr val="C3E0FF"/>
    <a:srgbClr val="F5ADAF"/>
    <a:srgbClr val="E16776"/>
    <a:srgbClr val="E9BDDD"/>
    <a:srgbClr val="4BA1FF"/>
    <a:srgbClr val="6393BC"/>
    <a:srgbClr val="263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7" autoAdjust="0"/>
    <p:restoredTop sz="65688" autoAdjust="0"/>
  </p:normalViewPr>
  <p:slideViewPr>
    <p:cSldViewPr>
      <p:cViewPr varScale="1">
        <p:scale>
          <a:sx n="84" d="100"/>
          <a:sy n="84" d="100"/>
        </p:scale>
        <p:origin x="780" y="72"/>
      </p:cViewPr>
      <p:guideLst>
        <p:guide orient="horz" pos="2024"/>
        <p:guide pos="393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Documents%20and%20Settings\xy24\Desktop\20260521%20&#26381;&#35013;&#35797;&#31359;&#25253;&#21578;%20%20&#32039;&#36523;&#32972;&#24515;%202025%20&#25968;&#25454;%20v2.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'服装试穿问卷--紧身背心'!$A$33</c:f>
              <c:strCache>
                <c:ptCount val="1"/>
                <c:pt idx="0">
                  <c:v>Tina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'服装试穿问卷--紧身背心'!$B$32:$R$32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'服装试穿问卷--紧身背心'!$B$33:$R$33</c:f>
              <c:numCache>
                <c:formatCode>General</c:formatCode>
                <c:ptCount val="17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  <c:pt idx="4">
                  <c:v>1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3</c:v>
                </c:pt>
                <c:pt idx="15">
                  <c:v>4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D6-4D62-9EF6-F2A70A178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25087"/>
        <c:axId val="1507239487"/>
      </c:barChart>
      <c:catAx>
        <c:axId val="150722508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239487"/>
        <c:crosses val="autoZero"/>
        <c:auto val="1"/>
        <c:lblAlgn val="ctr"/>
        <c:lblOffset val="100"/>
        <c:noMultiLvlLbl val="0"/>
      </c:catAx>
      <c:valAx>
        <c:axId val="150723948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2508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'服装试穿问卷--紧身背心'!$A$38</c:f>
              <c:strCache>
                <c:ptCount val="1"/>
                <c:pt idx="0">
                  <c:v>周琪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'服装试穿问卷--紧身背心'!$B$37:$R$37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'服装试穿问卷--紧身背心'!$B$38:$R$38</c:f>
              <c:numCache>
                <c:formatCode>General</c:formatCode>
                <c:ptCount val="17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3</c:v>
                </c:pt>
                <c:pt idx="12">
                  <c:v>4</c:v>
                </c:pt>
                <c:pt idx="13">
                  <c:v>3</c:v>
                </c:pt>
                <c:pt idx="14">
                  <c:v>4</c:v>
                </c:pt>
                <c:pt idx="15">
                  <c:v>3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93-4A08-8F92-D6600F858F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49087"/>
        <c:axId val="1507250047"/>
      </c:barChart>
      <c:catAx>
        <c:axId val="150724908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250047"/>
        <c:crosses val="autoZero"/>
        <c:auto val="1"/>
        <c:lblAlgn val="ctr"/>
        <c:lblOffset val="100"/>
        <c:noMultiLvlLbl val="0"/>
      </c:catAx>
      <c:valAx>
        <c:axId val="150725004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4908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'服装试穿问卷--紧身背心'!$A$43</c:f>
              <c:strCache>
                <c:ptCount val="1"/>
                <c:pt idx="0">
                  <c:v>王雅津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'服装试穿问卷--紧身背心'!$B$42:$R$42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'服装试穿问卷--紧身背心'!$B$43:$R$43</c:f>
              <c:numCache>
                <c:formatCode>General</c:formatCode>
                <c:ptCount val="17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2</c:v>
                </c:pt>
                <c:pt idx="11">
                  <c:v>3</c:v>
                </c:pt>
                <c:pt idx="12">
                  <c:v>2</c:v>
                </c:pt>
                <c:pt idx="13">
                  <c:v>3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B3-4539-8DC1-17D1ADD723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11167"/>
        <c:axId val="1507190047"/>
      </c:barChart>
      <c:catAx>
        <c:axId val="150721116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190047"/>
        <c:crosses val="autoZero"/>
        <c:auto val="1"/>
        <c:lblAlgn val="ctr"/>
        <c:lblOffset val="100"/>
        <c:noMultiLvlLbl val="0"/>
      </c:catAx>
      <c:valAx>
        <c:axId val="150719004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1116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'服装试穿问卷--紧身背心'!$A$48</c:f>
              <c:strCache>
                <c:ptCount val="1"/>
                <c:pt idx="0">
                  <c:v>陈玉儿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'服装试穿问卷--紧身背心'!$B$47:$R$47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'服装试穿问卷--紧身背心'!$B$48:$R$48</c:f>
              <c:numCache>
                <c:formatCode>General</c:formatCode>
                <c:ptCount val="1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3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D3-4124-8C63-4C9E8D98A4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06847"/>
        <c:axId val="1507205887"/>
      </c:barChart>
      <c:catAx>
        <c:axId val="150720684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205887"/>
        <c:crosses val="autoZero"/>
        <c:auto val="1"/>
        <c:lblAlgn val="ctr"/>
        <c:lblOffset val="100"/>
        <c:noMultiLvlLbl val="0"/>
      </c:catAx>
      <c:valAx>
        <c:axId val="150720588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0684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'服装试穿问卷--紧身背心'!$A$53</c:f>
              <c:strCache>
                <c:ptCount val="1"/>
                <c:pt idx="0">
                  <c:v>赵国萍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'服装试穿问卷--紧身背心'!$B$52:$R$52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'服装试穿问卷--紧身背心'!$B$53:$R$53</c:f>
              <c:numCache>
                <c:formatCode>General</c:formatCode>
                <c:ptCount val="1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DF-49D0-8AC6-E5AF89E98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187647"/>
        <c:axId val="1507196287"/>
      </c:barChart>
      <c:catAx>
        <c:axId val="150718764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196287"/>
        <c:crosses val="autoZero"/>
        <c:auto val="1"/>
        <c:lblAlgn val="ctr"/>
        <c:lblOffset val="100"/>
        <c:noMultiLvlLbl val="0"/>
      </c:catAx>
      <c:valAx>
        <c:axId val="150719628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18764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'服装试穿问卷--紧身背心'!$A$58</c:f>
              <c:strCache>
                <c:ptCount val="1"/>
                <c:pt idx="0">
                  <c:v>余婠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'服装试穿问卷--紧身背心'!$B$57:$R$57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'服装试穿问卷--紧身背心'!$B$58:$R$58</c:f>
              <c:numCache>
                <c:formatCode>General</c:formatCode>
                <c:ptCount val="1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  <c:pt idx="10">
                  <c:v>3</c:v>
                </c:pt>
                <c:pt idx="11">
                  <c:v>4</c:v>
                </c:pt>
                <c:pt idx="12">
                  <c:v>3</c:v>
                </c:pt>
                <c:pt idx="13">
                  <c:v>4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92-40BC-B385-FB17BE445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09727"/>
        <c:axId val="1507198207"/>
      </c:barChart>
      <c:catAx>
        <c:axId val="150720972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198207"/>
        <c:crosses val="autoZero"/>
        <c:auto val="1"/>
        <c:lblAlgn val="ctr"/>
        <c:lblOffset val="100"/>
        <c:noMultiLvlLbl val="0"/>
      </c:catAx>
      <c:valAx>
        <c:axId val="150719820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0972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'服装试穿问卷--紧身背心'!$A$63</c:f>
              <c:strCache>
                <c:ptCount val="1"/>
                <c:pt idx="0">
                  <c:v>恬恬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'服装试穿问卷--紧身背心'!$B$62:$R$62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'服装试穿问卷--紧身背心'!$B$63:$R$63</c:f>
              <c:numCache>
                <c:formatCode>General</c:formatCode>
                <c:ptCount val="17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F9-4057-A434-3161FE281E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04927"/>
        <c:axId val="1507212607"/>
      </c:barChart>
      <c:catAx>
        <c:axId val="150720492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212607"/>
        <c:crosses val="autoZero"/>
        <c:auto val="1"/>
        <c:lblAlgn val="ctr"/>
        <c:lblOffset val="100"/>
        <c:noMultiLvlLbl val="0"/>
      </c:catAx>
      <c:valAx>
        <c:axId val="150721260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0492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'服装试穿问卷--紧身背心'!$A$68</c:f>
              <c:strCache>
                <c:ptCount val="1"/>
                <c:pt idx="0">
                  <c:v>Alisa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'服装试穿问卷--紧身背心'!$B$67:$R$67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'服装试穿问卷--紧身背心'!$B$68:$R$68</c:f>
              <c:numCache>
                <c:formatCode>General</c:formatCode>
                <c:ptCount val="1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4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4</c:v>
                </c:pt>
                <c:pt idx="15">
                  <c:v>4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90-47F5-9723-1D934A2F5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13567"/>
        <c:axId val="1507191007"/>
      </c:barChart>
      <c:catAx>
        <c:axId val="150721356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191007"/>
        <c:crosses val="autoZero"/>
        <c:auto val="1"/>
        <c:lblAlgn val="ctr"/>
        <c:lblOffset val="100"/>
        <c:noMultiLvlLbl val="0"/>
      </c:catAx>
      <c:valAx>
        <c:axId val="150719100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1356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'服装试穿问卷--紧身背心'!$A$73</c:f>
              <c:strCache>
                <c:ptCount val="1"/>
                <c:pt idx="0">
                  <c:v>周敏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'服装试穿问卷--紧身背心'!$B$72:$R$72</c:f>
              <c:strCache>
                <c:ptCount val="17"/>
                <c:pt idx="0">
                  <c:v>1、【整体】版型评分（得分越高评价越合身，下同）</c:v>
                </c:pt>
                <c:pt idx="1">
                  <c:v>2、【领口】版型评分</c:v>
                </c:pt>
                <c:pt idx="2">
                  <c:v>2、【袖口】版型评分</c:v>
                </c:pt>
                <c:pt idx="3">
                  <c:v>3、【肩部】版型评分</c:v>
                </c:pt>
                <c:pt idx="4">
                  <c:v>4、【胸围】版型评分</c:v>
                </c:pt>
                <c:pt idx="5">
                  <c:v>5、【腰围】版型评分</c:v>
                </c:pt>
                <c:pt idx="6">
                  <c:v>1、面料手感/亲肤度（得分越高评价越好，下同）</c:v>
                </c:pt>
                <c:pt idx="7">
                  <c:v>2、面料轻量化评分</c:v>
                </c:pt>
                <c:pt idx="8">
                  <c:v>3、透气性评分</c:v>
                </c:pt>
                <c:pt idx="9">
                  <c:v>1、【整体】吸湿排汗性能评分（得分越高评价越好，下同）</c:v>
                </c:pt>
                <c:pt idx="10">
                  <c:v>2、【腋下】吸湿排汗性能评分</c:v>
                </c:pt>
                <c:pt idx="11">
                  <c:v>3、【后腰】吸湿排汗性能评分</c:v>
                </c:pt>
                <c:pt idx="12">
                  <c:v>4、【前胸】吸湿排汗性能评分</c:v>
                </c:pt>
                <c:pt idx="13">
                  <c:v>5、【整体】速干性能评分（得分越高评价越好，下同）</c:v>
                </c:pt>
                <c:pt idx="14">
                  <c:v>6、【腋下】速干性能评分</c:v>
                </c:pt>
                <c:pt idx="15">
                  <c:v>7、【后腰】速干性能评分</c:v>
                </c:pt>
                <c:pt idx="16">
                  <c:v>8、【前胸】速干性能评分</c:v>
                </c:pt>
              </c:strCache>
            </c:strRef>
          </c:cat>
          <c:val>
            <c:numRef>
              <c:f>'服装试穿问卷--紧身背心'!$B$73:$R$73</c:f>
              <c:numCache>
                <c:formatCode>General</c:formatCode>
                <c:ptCount val="17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5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8F-48E1-84A5-0E7DB0501F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191967"/>
        <c:axId val="1507194847"/>
      </c:barChart>
      <c:catAx>
        <c:axId val="150719196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194847"/>
        <c:crosses val="autoZero"/>
        <c:auto val="1"/>
        <c:lblAlgn val="ctr"/>
        <c:lblOffset val="100"/>
        <c:noMultiLvlLbl val="0"/>
      </c:catAx>
      <c:valAx>
        <c:axId val="150719484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19196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'服装试穿问卷--紧身背心'!$B$61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'服装试穿问卷--紧身背心'!$A$62:$A$67</c:f>
              <c:strCache>
                <c:ptCount val="6"/>
                <c:pt idx="0">
                  <c:v>整体</c:v>
                </c:pt>
                <c:pt idx="1">
                  <c:v>领口</c:v>
                </c:pt>
                <c:pt idx="2">
                  <c:v>袖口</c:v>
                </c:pt>
                <c:pt idx="3">
                  <c:v>肩部</c:v>
                </c:pt>
                <c:pt idx="4">
                  <c:v>胸围</c:v>
                </c:pt>
                <c:pt idx="5">
                  <c:v>腰围</c:v>
                </c:pt>
              </c:strCache>
            </c:strRef>
          </c:cat>
          <c:val>
            <c:numRef>
              <c:f>'服装试穿问卷--紧身背心'!$B$62:$B$67</c:f>
              <c:numCache>
                <c:formatCode>General</c:formatCode>
                <c:ptCount val="6"/>
                <c:pt idx="0">
                  <c:v>4.1100000000000003</c:v>
                </c:pt>
                <c:pt idx="1">
                  <c:v>4</c:v>
                </c:pt>
                <c:pt idx="2">
                  <c:v>3.89</c:v>
                </c:pt>
                <c:pt idx="3">
                  <c:v>4.1100000000000003</c:v>
                </c:pt>
                <c:pt idx="4">
                  <c:v>3.67</c:v>
                </c:pt>
                <c:pt idx="5">
                  <c:v>4.1100000000000003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91-4097-A252-07F24A0D43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16447"/>
        <c:axId val="1507215967"/>
      </c:barChart>
      <c:catAx>
        <c:axId val="150721644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215967"/>
        <c:crosses val="autoZero"/>
        <c:auto val="1"/>
        <c:lblAlgn val="ctr"/>
        <c:lblOffset val="100"/>
        <c:noMultiLvlLbl val="0"/>
      </c:catAx>
      <c:valAx>
        <c:axId val="150721596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1644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'服装试穿问卷--紧身背心'!$B$72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'服装试穿问卷--紧身背心'!$A$73:$A$75</c:f>
              <c:strCache>
                <c:ptCount val="3"/>
                <c:pt idx="0">
                  <c:v>手感/亲肤度</c:v>
                </c:pt>
                <c:pt idx="1">
                  <c:v>轻量化</c:v>
                </c:pt>
                <c:pt idx="2">
                  <c:v>透气性</c:v>
                </c:pt>
              </c:strCache>
            </c:strRef>
          </c:cat>
          <c:val>
            <c:numRef>
              <c:f>'服装试穿问卷--紧身背心'!$B$73:$B$75</c:f>
              <c:numCache>
                <c:formatCode>General</c:formatCode>
                <c:ptCount val="3"/>
                <c:pt idx="0">
                  <c:v>4.1100000000000003</c:v>
                </c:pt>
                <c:pt idx="1">
                  <c:v>3.89</c:v>
                </c:pt>
                <c:pt idx="2">
                  <c:v>3.89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AA-4F03-ADCE-1A776B69D1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22687"/>
        <c:axId val="1507247167"/>
      </c:barChart>
      <c:catAx>
        <c:axId val="150722268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247167"/>
        <c:crosses val="autoZero"/>
        <c:auto val="1"/>
        <c:lblAlgn val="ctr"/>
        <c:lblOffset val="100"/>
        <c:noMultiLvlLbl val="0"/>
      </c:catAx>
      <c:valAx>
        <c:axId val="150724716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2268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'服装试穿问卷--紧身背心'!$B$80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'服装试穿问卷--紧身背心'!$A$81:$A$84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'服装试穿问卷--紧身背心'!$B$81:$B$84</c:f>
              <c:numCache>
                <c:formatCode>General</c:formatCode>
                <c:ptCount val="4"/>
                <c:pt idx="0">
                  <c:v>3.78</c:v>
                </c:pt>
                <c:pt idx="1">
                  <c:v>3.56</c:v>
                </c:pt>
                <c:pt idx="2">
                  <c:v>3.67</c:v>
                </c:pt>
                <c:pt idx="3">
                  <c:v>3.44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A8-4B98-BBC0-75960758E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48127"/>
        <c:axId val="1507192927"/>
      </c:barChart>
      <c:catAx>
        <c:axId val="150724812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192927"/>
        <c:crosses val="autoZero"/>
        <c:auto val="1"/>
        <c:lblAlgn val="ctr"/>
        <c:lblOffset val="100"/>
        <c:noMultiLvlLbl val="0"/>
      </c:catAx>
      <c:valAx>
        <c:axId val="150719292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24812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'服装试穿问卷--紧身背心'!$B$89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'服装试穿问卷--紧身背心'!$A$90:$A$93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'服装试穿问卷--紧身背心'!$B$90:$B$93</c:f>
              <c:numCache>
                <c:formatCode>General</c:formatCode>
                <c:ptCount val="4"/>
                <c:pt idx="0">
                  <c:v>3.67</c:v>
                </c:pt>
                <c:pt idx="1">
                  <c:v>3.56</c:v>
                </c:pt>
                <c:pt idx="2">
                  <c:v>3.67</c:v>
                </c:pt>
                <c:pt idx="3">
                  <c:v>3.22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4C-437A-B4CD-2E13C74CA4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188607"/>
        <c:axId val="1507195807"/>
      </c:barChart>
      <c:catAx>
        <c:axId val="150718860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507195807"/>
        <c:crosses val="autoZero"/>
        <c:auto val="1"/>
        <c:lblAlgn val="ctr"/>
        <c:lblOffset val="100"/>
        <c:noMultiLvlLbl val="0"/>
      </c:catAx>
      <c:valAx>
        <c:axId val="150719580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ysClr val="windowText" lastClr="000000">
                    <a:tint val="75000"/>
                    <a:shade val="95000"/>
                    <a:satMod val="105000"/>
                  </a:sysClr>
                </a:solidFill>
                <a:prstDash val="solid"/>
                <a:round/>
              </a14:hiddenLine>
            </a:ext>
          </a:extLst>
        </c:spPr>
        <c:crossAx val="1507188607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Sheet1!$D$4</c:f>
              <c:strCache>
                <c:ptCount val="1"/>
                <c:pt idx="0">
                  <c:v>起点（占位）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Sheet1!$C$5:$C$6</c:f>
              <c:strCache>
                <c:ptCount val="2"/>
                <c:pt idx="0">
                  <c:v>体感适宜区间</c:v>
                </c:pt>
                <c:pt idx="1">
                  <c:v>实际穿着区间</c:v>
                </c:pt>
              </c:strCache>
            </c:strRef>
          </c:cat>
          <c:val>
            <c:numRef>
              <c:f>Sheet1!$D$5:$D$6</c:f>
              <c:numCache>
                <c:formatCode>General</c:formatCode>
                <c:ptCount val="2"/>
                <c:pt idx="0">
                  <c:v>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AA-4673-9EDA-08C3CF00FCFE}"/>
            </c:ext>
          </c:extLst>
        </c:ser>
        <c:ser>
          <c:idx val="1"/>
          <c:order val="1"/>
          <c:tx>
            <c:strRef>
              <c:f>Sheet1!$E$4</c:f>
              <c:strCache>
                <c:ptCount val="1"/>
                <c:pt idx="0">
                  <c:v>温度区间（℃）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Sheet1!$C$5:$C$6</c:f>
              <c:strCache>
                <c:ptCount val="2"/>
                <c:pt idx="0">
                  <c:v>体感适宜区间</c:v>
                </c:pt>
                <c:pt idx="1">
                  <c:v>实际穿着区间</c:v>
                </c:pt>
              </c:strCache>
            </c:strRef>
          </c:cat>
          <c:val>
            <c:numRef>
              <c:f>Sheet1!$E$5:$E$6</c:f>
              <c:numCache>
                <c:formatCode>General</c:formatCode>
                <c:ptCount val="2"/>
                <c:pt idx="0">
                  <c:v>20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AA-4673-9EDA-08C3CF00FCFE}"/>
            </c:ext>
          </c:extLst>
        </c:ser>
        <c:ser>
          <c:idx val="2"/>
          <c:order val="2"/>
          <c:tx>
            <c:strRef>
              <c:f>Sheet1!$F$4</c:f>
              <c:strCache>
                <c:ptCount val="1"/>
                <c:pt idx="0">
                  <c:v>终点（占位）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Sheet1!$C$5:$C$6</c:f>
              <c:strCache>
                <c:ptCount val="2"/>
                <c:pt idx="0">
                  <c:v>体感适宜区间</c:v>
                </c:pt>
                <c:pt idx="1">
                  <c:v>实际穿着区间</c:v>
                </c:pt>
              </c:strCache>
            </c:strRef>
          </c:cat>
          <c:val>
            <c:numRef>
              <c:f>Sheet1!$F$5:$F$6</c:f>
              <c:numCache>
                <c:formatCode>General</c:formatCode>
                <c:ptCount val="2"/>
                <c:pt idx="0">
                  <c:v>10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AA-4673-9EDA-08C3CF00F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17173839"/>
        <c:axId val="517184879"/>
      </c:barChart>
      <c:catAx>
        <c:axId val="5171738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7184879"/>
        <c:crosses val="autoZero"/>
        <c:auto val="1"/>
        <c:lblAlgn val="ctr"/>
        <c:lblOffset val="100"/>
        <c:noMultiLvlLbl val="0"/>
      </c:catAx>
      <c:valAx>
        <c:axId val="5171848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7173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'服装试穿问卷--紧身背心'!$B$61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'服装试穿问卷--紧身背心'!$A$62:$A$67</c:f>
              <c:strCache>
                <c:ptCount val="6"/>
                <c:pt idx="0">
                  <c:v>整体</c:v>
                </c:pt>
                <c:pt idx="1">
                  <c:v>领口</c:v>
                </c:pt>
                <c:pt idx="2">
                  <c:v>袖口</c:v>
                </c:pt>
                <c:pt idx="3">
                  <c:v>肩部</c:v>
                </c:pt>
                <c:pt idx="4">
                  <c:v>胸围</c:v>
                </c:pt>
                <c:pt idx="5">
                  <c:v>腰围</c:v>
                </c:pt>
              </c:strCache>
            </c:strRef>
          </c:cat>
          <c:val>
            <c:numRef>
              <c:f>'服装试穿问卷--紧身背心'!$B$62:$B$67</c:f>
              <c:numCache>
                <c:formatCode>General</c:formatCode>
                <c:ptCount val="6"/>
                <c:pt idx="0">
                  <c:v>4.1100000000000003</c:v>
                </c:pt>
                <c:pt idx="1">
                  <c:v>4</c:v>
                </c:pt>
                <c:pt idx="2">
                  <c:v>3.89</c:v>
                </c:pt>
                <c:pt idx="3">
                  <c:v>4.1100000000000003</c:v>
                </c:pt>
                <c:pt idx="4">
                  <c:v>3.67</c:v>
                </c:pt>
                <c:pt idx="5">
                  <c:v>4.1100000000000003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36-4EB3-8511-0BEDC5568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16447"/>
        <c:axId val="1507215967"/>
      </c:barChart>
      <c:catAx>
        <c:axId val="150721644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15967"/>
        <c:crosses val="autoZero"/>
        <c:auto val="1"/>
        <c:lblAlgn val="ctr"/>
        <c:lblOffset val="100"/>
        <c:noMultiLvlLbl val="0"/>
      </c:catAx>
      <c:valAx>
        <c:axId val="150721596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16447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19c4f05-4067-490d-83ed-4af1ff97e129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'服装试穿问卷--紧身背心'!$B$72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'服装试穿问卷--紧身背心'!$A$73:$A$75</c:f>
              <c:strCache>
                <c:ptCount val="3"/>
                <c:pt idx="0">
                  <c:v>手感/亲肤度</c:v>
                </c:pt>
                <c:pt idx="1">
                  <c:v>轻量化</c:v>
                </c:pt>
                <c:pt idx="2">
                  <c:v>透气性</c:v>
                </c:pt>
              </c:strCache>
            </c:strRef>
          </c:cat>
          <c:val>
            <c:numRef>
              <c:f>'服装试穿问卷--紧身背心'!$B$73:$B$75</c:f>
              <c:numCache>
                <c:formatCode>General</c:formatCode>
                <c:ptCount val="3"/>
                <c:pt idx="0">
                  <c:v>4.1100000000000003</c:v>
                </c:pt>
                <c:pt idx="1">
                  <c:v>3.89</c:v>
                </c:pt>
                <c:pt idx="2">
                  <c:v>3.89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75-462A-B6BD-2C813932FA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22687"/>
        <c:axId val="1507247167"/>
      </c:barChart>
      <c:catAx>
        <c:axId val="150722268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47167"/>
        <c:crosses val="autoZero"/>
        <c:auto val="1"/>
        <c:lblAlgn val="ctr"/>
        <c:lblOffset val="100"/>
        <c:noMultiLvlLbl val="0"/>
      </c:catAx>
      <c:valAx>
        <c:axId val="150724716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22687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9e2d559-9aab-4644-904c-24daad720695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'服装试穿问卷--紧身背心'!$B$80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360F-4488-BBED-FF1786070D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'服装试穿问卷--紧身背心'!$A$81:$A$84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'服装试穿问卷--紧身背心'!$B$81:$B$84</c:f>
              <c:numCache>
                <c:formatCode>General</c:formatCode>
                <c:ptCount val="4"/>
                <c:pt idx="0">
                  <c:v>3.78</c:v>
                </c:pt>
                <c:pt idx="1">
                  <c:v>3.56</c:v>
                </c:pt>
                <c:pt idx="2">
                  <c:v>3.67</c:v>
                </c:pt>
                <c:pt idx="3">
                  <c:v>3.44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E-4FDD-915B-D8D46727E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248127"/>
        <c:axId val="1507192927"/>
      </c:barChart>
      <c:catAx>
        <c:axId val="150724812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192927"/>
        <c:crosses val="autoZero"/>
        <c:auto val="1"/>
        <c:lblAlgn val="ctr"/>
        <c:lblOffset val="100"/>
        <c:noMultiLvlLbl val="0"/>
      </c:catAx>
      <c:valAx>
        <c:axId val="150719292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248127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72a60fe-f569-4908-bb18-0a8d26e977e0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'服装试穿问卷--紧身背心'!$B$89</c:f>
              <c:strCache>
                <c:ptCount val="1"/>
                <c:pt idx="0">
                  <c:v>均值</c:v>
                </c:pt>
              </c:strCache>
            </c:strRef>
          </c:tx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0-CD5D-438D-9F6F-CDF0FD781D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'服装试穿问卷--紧身背心'!$A$90:$A$93</c:f>
              <c:strCache>
                <c:ptCount val="4"/>
                <c:pt idx="0">
                  <c:v>整体</c:v>
                </c:pt>
                <c:pt idx="1">
                  <c:v>腋下</c:v>
                </c:pt>
                <c:pt idx="2">
                  <c:v>后腰</c:v>
                </c:pt>
                <c:pt idx="3">
                  <c:v>前胸</c:v>
                </c:pt>
              </c:strCache>
            </c:strRef>
          </c:cat>
          <c:val>
            <c:numRef>
              <c:f>'服装试穿问卷--紧身背心'!$B$90:$B$93</c:f>
              <c:numCache>
                <c:formatCode>General</c:formatCode>
                <c:ptCount val="4"/>
                <c:pt idx="0">
                  <c:v>3.67</c:v>
                </c:pt>
                <c:pt idx="1">
                  <c:v>3.56</c:v>
                </c:pt>
                <c:pt idx="2">
                  <c:v>3.67</c:v>
                </c:pt>
                <c:pt idx="3">
                  <c:v>3.22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D-4E3F-91DB-EBBE83F780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07188607"/>
        <c:axId val="1507195807"/>
      </c:barChart>
      <c:catAx>
        <c:axId val="1507188607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195807"/>
        <c:crosses val="autoZero"/>
        <c:auto val="1"/>
        <c:lblAlgn val="ctr"/>
        <c:lblOffset val="100"/>
        <c:noMultiLvlLbl val="0"/>
      </c:catAx>
      <c:valAx>
        <c:axId val="1507195807"/>
        <c:scaling>
          <c:orientation val="minMax"/>
          <c:max val="6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07188607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fee6a1e-27ba-4318-8942-0286a13ca3ed}"/>
      </c:ext>
    </c:extLst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7619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99F68-1EB6-F281-7271-4D76DC9B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5F18F3-1A81-1E9B-D7E0-ED7D688DA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A2B778-8520-E44B-054B-C0AC68FC0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aseline="0" dirty="0"/>
          </a:p>
        </p:txBody>
      </p:sp>
    </p:spTree>
    <p:extLst>
      <p:ext uri="{BB962C8B-B14F-4D97-AF65-F5344CB8AC3E}">
        <p14:creationId xmlns:p14="http://schemas.microsoft.com/office/powerpoint/2010/main" val="4178767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23741-F526-C9FA-A87D-1380270F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3EA22A-FF71-57D5-E397-ABAE5E352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82B011-20C1-DE45-A7D0-D407FAEAA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4732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2FD3C-0036-3866-853E-3AF02CF8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739E84-A5DA-65BC-F319-5A229714C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8CA14E-1085-3681-53C1-D65F411ED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145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2D83E-4DDA-FFC4-8759-D46F3B3E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DD8C04-7D2C-8DAE-2294-B6E11FF41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5837B4-0265-D9C9-774B-71C28A8DC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8929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A2D6E-5104-4C67-DF53-99524DDD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A02855-558B-065A-4491-01458CB58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5522B0-B76F-C00B-1D71-FBC05935A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163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70A2-AAEE-301F-DEA4-70990E69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74E225-E234-6B15-8949-B2242C7A7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14C256-B1FD-1604-0F05-1E4A6D6B7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8051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87AB-8CFD-9988-93EA-36D45DB6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73E6F8-B054-09A3-E26C-AB17352CF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B38085-243F-5FAC-C1C7-538DE9D47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008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644D0-E5C7-5913-B485-59FAAC00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807141-FB94-F2E2-AEEC-F3E876936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376B0A-9683-38D1-914F-96FC414D0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9421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BDA62-5DD8-F6DA-E996-4EAB76DF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10FDAD-2A59-29B2-DF10-075FA2FD3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3EB4D5-8314-91BC-45F4-0DDE2AB70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3920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8E5F-3CE8-0509-0471-AC30A0A8F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E34874-B17C-F8BE-1143-B25B3A3AE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79097B-6387-74A6-3C90-908FB79CF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358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A8077-4AD0-2EE3-44C6-EAC3AB97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473E44-79F2-E138-37BE-32890C188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940E52-5997-8A42-9606-38DE8A3FE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3427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2E27-8D74-FA3B-A6FF-910B1B23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5330EA-5465-1270-F2B2-64BDD84F1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58E3E4-B9A7-61FC-78FF-D0D263852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6531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4278-16CE-65D1-396C-C604C34A0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89D5D2-E94F-082A-E389-7C0A51C77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A43DAF-C21A-45E3-30E0-838D57BDD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9118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84895-468F-A4C2-E5D4-E2194246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19A60F-E8F5-C38A-2E9C-92F6D62D5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3E0BB6-5601-8BDA-7247-56F5BB839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8980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7388B-4A48-A2F8-3FF4-572199C5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4F8316-FE61-2A77-E4D9-203BEFFBD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04852D-C9B1-D821-C40F-829111EF1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6202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1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826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Picture 2" descr="Picture 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175" y="18727"/>
            <a:ext cx="12188825" cy="6858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" name="直接连接符 3"/>
          <p:cNvSpPr/>
          <p:nvPr userDrawn="1"/>
        </p:nvSpPr>
        <p:spPr>
          <a:xfrm>
            <a:off x="918823" y="6006024"/>
            <a:ext cx="566497" cy="1"/>
          </a:xfrm>
          <a:prstGeom prst="line">
            <a:avLst/>
          </a:prstGeom>
          <a:ln w="28575">
            <a:solidFill>
              <a:srgbClr val="FAD6D7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6" name="Picture 3" descr="Picture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4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sp>
        <p:nvSpPr>
          <p:cNvPr id="5" name="MH_Others_1"/>
          <p:cNvSpPr txBox="1"/>
          <p:nvPr userDrawn="1"/>
        </p:nvSpPr>
        <p:spPr>
          <a:xfrm>
            <a:off x="884526" y="2415447"/>
            <a:ext cx="2355376" cy="571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微软雅黑" charset="-122"/>
                <a:ea typeface="微软雅黑" charset="-122"/>
                <a:cs typeface="微软雅黑" charset="-122"/>
                <a:sym typeface="微软雅黑" charset="-122"/>
              </a:rPr>
              <a:t>目 录</a:t>
            </a:r>
          </a:p>
        </p:txBody>
      </p:sp>
      <p:sp>
        <p:nvSpPr>
          <p:cNvPr id="6" name="MH_Others_2"/>
          <p:cNvSpPr txBox="1"/>
          <p:nvPr userDrawn="1"/>
        </p:nvSpPr>
        <p:spPr>
          <a:xfrm>
            <a:off x="855951" y="2912113"/>
            <a:ext cx="4252686" cy="85137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6000"/>
            </a:lvl1pPr>
          </a:lstStyle>
          <a:p>
            <a:r>
              <a:rPr dirty="0"/>
              <a:t>CONTENTS</a:t>
            </a:r>
          </a:p>
        </p:txBody>
      </p:sp>
      <p:grpSp>
        <p:nvGrpSpPr>
          <p:cNvPr id="11" name="组合 3"/>
          <p:cNvGrpSpPr/>
          <p:nvPr userDrawn="1"/>
        </p:nvGrpSpPr>
        <p:grpSpPr>
          <a:xfrm>
            <a:off x="5667186" y="1678674"/>
            <a:ext cx="656829" cy="3496573"/>
            <a:chOff x="0" y="0"/>
            <a:chExt cx="656827" cy="3496572"/>
          </a:xfrm>
        </p:grpSpPr>
        <p:grpSp>
          <p:nvGrpSpPr>
            <p:cNvPr id="12" name="组合 7"/>
            <p:cNvGrpSpPr/>
            <p:nvPr/>
          </p:nvGrpSpPr>
          <p:grpSpPr>
            <a:xfrm>
              <a:off x="16783" y="0"/>
              <a:ext cx="627413" cy="563272"/>
              <a:chOff x="0" y="0"/>
              <a:chExt cx="627411" cy="563271"/>
            </a:xfrm>
          </p:grpSpPr>
          <p:grpSp>
            <p:nvGrpSpPr>
              <p:cNvPr id="30" name="组合 6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32" name="梯形 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33" name="任意多边形 2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31" name="矩形 19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1</a:t>
                </a:r>
              </a:p>
            </p:txBody>
          </p:sp>
        </p:grpSp>
        <p:grpSp>
          <p:nvGrpSpPr>
            <p:cNvPr id="13" name="组合 34"/>
            <p:cNvGrpSpPr/>
            <p:nvPr/>
          </p:nvGrpSpPr>
          <p:grpSpPr>
            <a:xfrm>
              <a:off x="29415" y="957725"/>
              <a:ext cx="627413" cy="563273"/>
              <a:chOff x="0" y="0"/>
              <a:chExt cx="627411" cy="563271"/>
            </a:xfrm>
          </p:grpSpPr>
          <p:grpSp>
            <p:nvGrpSpPr>
              <p:cNvPr id="24" name="组合 35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8" name="梯形 37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9" name="任意多边形 38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5" name="矩形 36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2</a:t>
                </a:r>
              </a:p>
            </p:txBody>
          </p:sp>
        </p:grpSp>
        <p:grpSp>
          <p:nvGrpSpPr>
            <p:cNvPr id="14" name="组合 46"/>
            <p:cNvGrpSpPr/>
            <p:nvPr/>
          </p:nvGrpSpPr>
          <p:grpSpPr>
            <a:xfrm>
              <a:off x="0" y="1934295"/>
              <a:ext cx="627412" cy="986426"/>
              <a:chOff x="0" y="0"/>
              <a:chExt cx="627411" cy="986425"/>
            </a:xfrm>
          </p:grpSpPr>
          <p:grpSp>
            <p:nvGrpSpPr>
              <p:cNvPr id="20" name="组合 47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2" name="梯形 49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3" name="任意多边形 50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1" name="矩形 48"/>
              <p:cNvSpPr txBox="1"/>
              <p:nvPr/>
            </p:nvSpPr>
            <p:spPr>
              <a:xfrm>
                <a:off x="0" y="14865"/>
                <a:ext cx="581034" cy="9715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3</a:t>
                </a:r>
              </a:p>
            </p:txBody>
          </p:sp>
        </p:grpSp>
        <p:grpSp>
          <p:nvGrpSpPr>
            <p:cNvPr id="15" name="组合 52"/>
            <p:cNvGrpSpPr/>
            <p:nvPr/>
          </p:nvGrpSpPr>
          <p:grpSpPr>
            <a:xfrm>
              <a:off x="4152" y="2933300"/>
              <a:ext cx="627413" cy="563273"/>
              <a:chOff x="0" y="0"/>
              <a:chExt cx="627411" cy="563271"/>
            </a:xfrm>
          </p:grpSpPr>
          <p:grpSp>
            <p:nvGrpSpPr>
              <p:cNvPr id="16" name="组合 53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18" name="梯形 5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19" name="任意多边形 56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17" name="矩形 54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4</a:t>
                </a:r>
              </a:p>
            </p:txBody>
          </p:sp>
        </p:grpSp>
      </p:grpSp>
      <p:sp>
        <p:nvSpPr>
          <p:cNvPr id="34" name="直接连接符 63"/>
          <p:cNvSpPr/>
          <p:nvPr userDrawn="1"/>
        </p:nvSpPr>
        <p:spPr>
          <a:xfrm>
            <a:off x="889515" y="5521552"/>
            <a:ext cx="828676" cy="1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49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0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1" name="文本框 50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2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3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4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5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6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7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0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矩形 23"/>
          <p:cNvSpPr/>
          <p:nvPr userDrawn="1"/>
        </p:nvSpPr>
        <p:spPr>
          <a:xfrm>
            <a:off x="1202795" y="1536895"/>
            <a:ext cx="9789584" cy="3771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98500" dist="215900" dir="5400000" rotWithShape="0">
              <a:srgbClr val="000000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2" name="文本框 7"/>
          <p:cNvSpPr txBox="1"/>
          <p:nvPr userDrawn="1"/>
        </p:nvSpPr>
        <p:spPr>
          <a:xfrm>
            <a:off x="1439290" y="1960453"/>
            <a:ext cx="3586878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dirty="0"/>
              <a:t>0</a:t>
            </a:r>
            <a:r>
              <a:rPr lang="en-US" dirty="0"/>
              <a:t>   </a:t>
            </a:r>
            <a:endParaRPr dirty="0"/>
          </a:p>
        </p:txBody>
      </p:sp>
      <p:sp>
        <p:nvSpPr>
          <p:cNvPr id="13" name="直接连接符 27"/>
          <p:cNvSpPr/>
          <p:nvPr userDrawn="1"/>
        </p:nvSpPr>
        <p:spPr>
          <a:xfrm>
            <a:off x="5759227" y="3600105"/>
            <a:ext cx="5233153" cy="1"/>
          </a:xfrm>
          <a:prstGeom prst="line">
            <a:avLst/>
          </a:prstGeom>
          <a:ln w="12700">
            <a:solidFill>
              <a:srgbClr val="BFBFBF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5" name="Picture 3" descr="C:\Users\Administrator\Desktop\战戟标（3V3标-0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63952" y="3789040"/>
            <a:ext cx="1368152" cy="437971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4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6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7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8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C0C0-F3C1-46A6-B1E0-38A19114CB16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5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7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8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9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C0C0-F3C1-46A6-B1E0-38A19114CB16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2FAE8-C07C-48DA-34E5-3A982F22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4E9C0D7-ADF7-6727-572B-00D84D627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5744210"/>
            <a:ext cx="781050" cy="5619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FD70441-A70E-7E29-6ED2-DCCA0EC4D11B}"/>
              </a:ext>
            </a:extLst>
          </p:cNvPr>
          <p:cNvSpPr/>
          <p:nvPr/>
        </p:nvSpPr>
        <p:spPr>
          <a:xfrm>
            <a:off x="7193280" y="6308725"/>
            <a:ext cx="3067685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运动表现研究部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F0863C-5ED6-BACD-4077-4FAE2CD8EADD}"/>
              </a:ext>
            </a:extLst>
          </p:cNvPr>
          <p:cNvSpPr/>
          <p:nvPr/>
        </p:nvSpPr>
        <p:spPr>
          <a:xfrm>
            <a:off x="119336" y="6309320"/>
            <a:ext cx="398438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报告编号：</a:t>
            </a: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QD20250</a:t>
            </a:r>
            <a:r>
              <a:rPr 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12473F-0A7D-4D86-616A-4A55A1786058}"/>
              </a:ext>
            </a:extLst>
          </p:cNvPr>
          <p:cNvSpPr txBox="1"/>
          <p:nvPr/>
        </p:nvSpPr>
        <p:spPr>
          <a:xfrm>
            <a:off x="10464306" y="6306185"/>
            <a:ext cx="1435648" cy="45845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2026-05-25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5AE75B-8EE8-01DA-376C-311591F242FB}"/>
              </a:ext>
            </a:extLst>
          </p:cNvPr>
          <p:cNvSpPr txBox="1"/>
          <p:nvPr/>
        </p:nvSpPr>
        <p:spPr>
          <a:xfrm>
            <a:off x="977900" y="2057400"/>
            <a:ext cx="711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5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飞影服装试穿反馈功能性测试报告</a:t>
            </a:r>
          </a:p>
        </p:txBody>
      </p:sp>
    </p:spTree>
    <p:extLst>
      <p:ext uri="{BB962C8B-B14F-4D97-AF65-F5344CB8AC3E}">
        <p14:creationId xmlns:p14="http://schemas.microsoft.com/office/powerpoint/2010/main" val="369714883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664F-BE63-66ED-81E4-B92276470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EF4FE6A-F6DA-F419-447A-8389FB740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5013176"/>
            <a:ext cx="1310546" cy="1008112"/>
          </a:xfrm>
          <a:prstGeom prst="rect">
            <a:avLst/>
          </a:prstGeom>
        </p:spPr>
      </p:pic>
      <p:sp>
        <p:nvSpPr>
          <p:cNvPr id="3" name="矩形 259">
            <a:extLst>
              <a:ext uri="{FF2B5EF4-FFF2-40B4-BE49-F238E27FC236}">
                <a16:creationId xmlns:a16="http://schemas.microsoft.com/office/drawing/2014/main" id="{A10F020E-A2F0-312B-C289-5981C062361A}"/>
              </a:ext>
            </a:extLst>
          </p:cNvPr>
          <p:cNvSpPr txBox="1"/>
          <p:nvPr/>
        </p:nvSpPr>
        <p:spPr>
          <a:xfrm>
            <a:off x="6672064" y="1556792"/>
            <a:ext cx="3528391" cy="61555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endParaRPr sz="40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43CD92-7322-7602-7745-375D75A3390A}"/>
              </a:ext>
            </a:extLst>
          </p:cNvPr>
          <p:cNvSpPr/>
          <p:nvPr/>
        </p:nvSpPr>
        <p:spPr>
          <a:xfrm>
            <a:off x="6600056" y="1582713"/>
            <a:ext cx="2007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背景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7190B5-A73C-5FC9-13BF-5FE45A6262CF}"/>
              </a:ext>
            </a:extLst>
          </p:cNvPr>
          <p:cNvSpPr/>
          <p:nvPr/>
        </p:nvSpPr>
        <p:spPr>
          <a:xfrm>
            <a:off x="6600056" y="2628201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基本测试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F11A71-2866-9E59-DF09-8E94C4271B5A}"/>
              </a:ext>
            </a:extLst>
          </p:cNvPr>
          <p:cNvSpPr/>
          <p:nvPr/>
        </p:nvSpPr>
        <p:spPr>
          <a:xfrm>
            <a:off x="6600056" y="4005064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实战测评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D1BE4D-BD4C-0608-CF1C-41DA899C81B5}"/>
              </a:ext>
            </a:extLst>
          </p:cNvPr>
          <p:cNvSpPr/>
          <p:nvPr/>
        </p:nvSpPr>
        <p:spPr>
          <a:xfrm>
            <a:off x="6600056" y="3212976"/>
            <a:ext cx="3384376" cy="664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  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基础物性测试</a:t>
            </a:r>
            <a:endParaRPr lang="en-US" altLang="zh-CN" sz="1400" b="1" dirty="0">
              <a:solidFill>
                <a:schemeClr val="tx2">
                  <a:lumMod val="75000"/>
                </a:schemeClr>
              </a:solidFill>
              <a:latin typeface="微软雅黑" charset="-122"/>
              <a:ea typeface="微软雅黑" charset="-122"/>
            </a:endParaRPr>
          </a:p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II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  生物力学 </a:t>
            </a: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/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运动捕捉测试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2342FF-45EB-82D2-9003-53F23087A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912" y="3410744"/>
            <a:ext cx="1076325" cy="24860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BBF4995-3BE5-B135-A834-41C99DAC3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28" y="3788757"/>
            <a:ext cx="1104900" cy="2095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5F6BED1-1B11-6D15-7F4F-6BB6DF25C6D5}"/>
              </a:ext>
            </a:extLst>
          </p:cNvPr>
          <p:cNvSpPr/>
          <p:nvPr/>
        </p:nvSpPr>
        <p:spPr>
          <a:xfrm>
            <a:off x="6600056" y="4932457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总结</a:t>
            </a:r>
            <a:endParaRPr lang="en-US" altLang="zh-CN" sz="32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186248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4CCAA-ABDD-1A82-C72E-006282E25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B18A48FB-3BA3-5EB9-425A-2CF7D041271B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1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F1C30D16-00F0-3B45-FEFF-F84D32B50A34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项目背景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148644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EB1C3-3A4A-4C8F-095D-F0B6592B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031E780-8D50-8D72-AA92-B40D65ED548F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背景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91CC3C-F788-6306-007D-093E9BD95961}"/>
              </a:ext>
            </a:extLst>
          </p:cNvPr>
          <p:cNvSpPr txBox="1"/>
          <p:nvPr/>
        </p:nvSpPr>
        <p:spPr>
          <a:xfrm>
            <a:off x="241300" y="927100"/>
            <a:ext cx="317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测试背景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8F41AA-07C2-0A3C-1C85-E7CB28AF7C03}"/>
              </a:ext>
            </a:extLst>
          </p:cNvPr>
          <p:cNvSpPr txBox="1"/>
          <p:nvPr/>
        </p:nvSpPr>
        <p:spPr>
          <a:xfrm>
            <a:off x="482600" y="2755900"/>
            <a:ext cx="11455400" cy="923328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科技中心收到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款 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飞影服装试穿反馈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(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底模编号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: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编号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XXXX - 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选填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),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根据项目进度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基于该产品的科技功能定位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现对该款产品进行功能性测试。此次测试的对比样品分别为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:</a:t>
            </a:r>
            <a:r>
              <a:rPr kumimoji="0" lang="zh-CN" altLang="en-US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无</a:t>
            </a:r>
            <a:r>
              <a:rPr kumimoji="0" lang="en-US" altLang="zh-CN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,</a:t>
            </a: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本品及竞品的鞋款信息如图所示。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675800-695D-1D53-8E7D-55792AA3F71E}"/>
              </a:ext>
            </a:extLst>
          </p:cNvPr>
          <p:cNvSpPr txBox="1"/>
          <p:nvPr/>
        </p:nvSpPr>
        <p:spPr>
          <a:xfrm>
            <a:off x="241300" y="4152900"/>
            <a:ext cx="317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测试方法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CF3DA3-DC09-D3FA-6478-88A08A61564E}"/>
              </a:ext>
            </a:extLst>
          </p:cNvPr>
          <p:cNvSpPr txBox="1"/>
          <p:nvPr/>
        </p:nvSpPr>
        <p:spPr>
          <a:xfrm>
            <a:off x="5003800" y="4584700"/>
            <a:ext cx="11455400" cy="87630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基础数据测试、实战测评、运动生物力学测试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E14C96-A94C-5C2D-C3B6-7C3BFFC26E25}"/>
              </a:ext>
            </a:extLst>
          </p:cNvPr>
          <p:cNvSpPr txBox="1"/>
          <p:nvPr/>
        </p:nvSpPr>
        <p:spPr>
          <a:xfrm>
            <a:off x="5130800" y="5003800"/>
            <a:ext cx="7102348" cy="830995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0" lang="zh-CN" altLang="en-US" sz="16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发放给专业运动爱好者，进行试穿体验，并反馈评分。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kumimoji="0" lang="zh-CN" altLang="en-US" sz="1600" b="0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0000000-0008-0000-0000-00001A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4775200"/>
            <a:ext cx="1171854" cy="15773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0000000-0008-0000-0000-00001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130300"/>
            <a:ext cx="258288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137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DEDAF-A6F8-9446-9159-55C02834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732C813E-9444-D963-6CC1-6626D0D876B7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2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C4567309-D8A6-6518-79C7-66A331F6C7D7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基础性能测试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00833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3333B-B2BF-279D-52B9-6F724E6A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A0444C37-1CDB-EE87-A95E-7018297415AF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3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CBC634D8-BD5E-E7BB-9377-4D109E7ED0D2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实战测试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47300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50C9B-FB5C-BA9E-45F5-4D7EE8A6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5E82D9F-6510-3D59-8CDF-BCD3093C4A7B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F29B202-F907-0F8C-352F-EF7E5DA2C454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48D890C-77B3-9524-7005-6093F14E26B8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Tina
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53.0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E5C82609-04C1-90D7-1FBF-6E82959E0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1895326"/>
              </p:ext>
            </p:extLst>
          </p:nvPr>
        </p:nvGraphicFramePr>
        <p:xfrm>
          <a:off x="838200" y="2133600"/>
          <a:ext cx="3175000" cy="187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760E0DF-931C-7C3C-B48C-9CAD3885B032}"/>
              </a:ext>
            </a:extLst>
          </p:cNvPr>
          <p:cNvSpPr txBox="1"/>
          <p:nvPr/>
        </p:nvSpPr>
        <p:spPr>
          <a:xfrm>
            <a:off x="330200" y="4152900"/>
            <a:ext cx="5727700" cy="300081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版型显瘦合身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，肩部、领口整体贴合度较好。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面料顺滑亲肤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，轻量感和透气性表现较好。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、慢跑场景下吸湿排汗表现尚可，适合低强度训练。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腋下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副乳处出汗后易硌、易磨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，舒适性需改进。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、大幅度动作时会有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移位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问题，支撑性偏弱。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速干性一般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，长距离或间歇跑后易粘身、闷汗。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3D9B35-A89C-45F7-2C9F-9EFEAF581ACC}"/>
              </a:ext>
            </a:extLst>
          </p:cNvPr>
          <p:cNvSpPr txBox="1"/>
          <p:nvPr/>
        </p:nvSpPr>
        <p:spPr>
          <a:xfrm>
            <a:off x="63500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测试者姓名：周琪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53.0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030F4077-0B73-5B5D-758C-43C46AD29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2700590"/>
              </p:ext>
            </p:extLst>
          </p:nvPr>
        </p:nvGraphicFramePr>
        <p:xfrm>
          <a:off x="6896100" y="2133600"/>
          <a:ext cx="3175000" cy="187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A12347BD-1B51-F800-DEFD-D8E1BC8E3665}"/>
              </a:ext>
            </a:extLst>
          </p:cNvPr>
          <p:cNvSpPr txBox="1"/>
          <p:nvPr/>
        </p:nvSpPr>
        <p:spPr>
          <a:xfrm>
            <a:off x="6350000" y="4152900"/>
            <a:ext cx="5727700" cy="300081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上身好看显身材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，前侧下摆修饰效果好。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、拉伸和跑步时较自如，版型整体贴合度较好。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、具备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中等强度支撑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，适合日常短距离慢跑训练。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后背偏高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影响运动舒适性，建议下调。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、背后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口袋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/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能量胶位设计不合理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，跑动中难取且影响排汗。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速干性一般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且有掉色问题，不适合比赛。</a:t>
            </a:r>
          </a:p>
        </p:txBody>
      </p:sp>
    </p:spTree>
    <p:extLst>
      <p:ext uri="{BB962C8B-B14F-4D97-AF65-F5344CB8AC3E}">
        <p14:creationId xmlns:p14="http://schemas.microsoft.com/office/powerpoint/2010/main" val="134351127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49CF0-D111-314C-C0A8-D12C5A48D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B71530-EA11-FB7B-FA11-2CA1B6E8F570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2C20ABE-9E53-E973-2F02-7632BF82E2FD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EAFA6CB-8958-84B9-349C-99DBA71B35DA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测试者姓名：王雅津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56.0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F8DE26A7-3251-440E-8E2C-7B0B55955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9475983"/>
              </p:ext>
            </p:extLst>
          </p:nvPr>
        </p:nvGraphicFramePr>
        <p:xfrm>
          <a:off x="838200" y="2133600"/>
          <a:ext cx="3175000" cy="187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7850092-A94A-A267-8040-549A5A95048E}"/>
              </a:ext>
            </a:extLst>
          </p:cNvPr>
          <p:cNvSpPr txBox="1"/>
          <p:nvPr/>
        </p:nvSpPr>
        <p:spPr>
          <a:xfrm>
            <a:off x="330200" y="4152900"/>
            <a:ext cx="5727700" cy="267765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整体合身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，运动时包裹性尚可。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、适合低强度训练，基础支撑表现尚可。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领口、袖口偏高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，摆臂时腋下摩擦明显。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前胸闷热灼热感强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，外层透气性不足，排汗差。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速干性差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且有裹汗感，后背补给袋设计鸡肋。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7192A3-A06D-456C-FB2E-1001762E7627}"/>
              </a:ext>
            </a:extLst>
          </p:cNvPr>
          <p:cNvSpPr txBox="1"/>
          <p:nvPr/>
        </p:nvSpPr>
        <p:spPr>
          <a:xfrm>
            <a:off x="63500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测试者姓名：陈玉儿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45.0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4E1E5A9E-49BB-2611-3319-29AE338840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6445059"/>
              </p:ext>
            </p:extLst>
          </p:nvPr>
        </p:nvGraphicFramePr>
        <p:xfrm>
          <a:off x="6896100" y="2133600"/>
          <a:ext cx="3175000" cy="187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107956FF-F758-E3E2-2323-AE08916E87D9}"/>
              </a:ext>
            </a:extLst>
          </p:cNvPr>
          <p:cNvSpPr txBox="1"/>
          <p:nvPr/>
        </p:nvSpPr>
        <p:spPr>
          <a:xfrm>
            <a:off x="6350000" y="4152900"/>
            <a:ext cx="5727700" cy="267765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版型修身合体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，整体贴合度高。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面料舒适亲肤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，不限制动作、无摩擦，洗后不起球。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、具备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中强度支撑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，整体排汗和速干表现尚可。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前胸排汗偏慢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，局部散热表现一般。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、前胸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干爽速度较慢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，约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分钟后仍不够干爽。</a:t>
            </a:r>
          </a:p>
        </p:txBody>
      </p:sp>
    </p:spTree>
    <p:extLst>
      <p:ext uri="{BB962C8B-B14F-4D97-AF65-F5344CB8AC3E}">
        <p14:creationId xmlns:p14="http://schemas.microsoft.com/office/powerpoint/2010/main" val="349643560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B120A-610A-A8CF-FC38-8311AE59D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89783CA-8BE0-4345-9D8B-5A3FBA2E3A3E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81D92AD-4F29-9601-BF04-8D147F6A77A5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10DDA30-AAA0-F2B4-8233-67F3654E6C75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测试者姓名：赵国萍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60.0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8C297DDF-8FCD-7D94-0E19-C473C85802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3376374"/>
              </p:ext>
            </p:extLst>
          </p:nvPr>
        </p:nvGraphicFramePr>
        <p:xfrm>
          <a:off x="838200" y="2133600"/>
          <a:ext cx="3175000" cy="187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0FBAC6D-3254-C049-0F43-00CE6F434B04}"/>
              </a:ext>
            </a:extLst>
          </p:cNvPr>
          <p:cNvSpPr txBox="1"/>
          <p:nvPr/>
        </p:nvSpPr>
        <p:spPr>
          <a:xfrm>
            <a:off x="330200" y="4152900"/>
            <a:ext cx="5727700" cy="267765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版型合身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、尺码准确，动作舒展且不磨皮肤。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排汗速干表现优秀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，高温下不易粘身，约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15-20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分钟可恢复干爽。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高强度支撑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表现好，训练和竞速场景都适用。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、超过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公里时腋下仍可能有轻微摩擦。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后背补给兜设计不实用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，开口易晃出、取用不便，影响跑步节奏。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7EE6D6-5259-E3B5-5139-417EBD419B0E}"/>
              </a:ext>
            </a:extLst>
          </p:cNvPr>
          <p:cNvSpPr txBox="1"/>
          <p:nvPr/>
        </p:nvSpPr>
        <p:spPr>
          <a:xfrm>
            <a:off x="63500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测试者姓名：余婠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55.0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F69F8F67-5C65-76F4-B6C2-CB9F491509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5216187"/>
              </p:ext>
            </p:extLst>
          </p:nvPr>
        </p:nvGraphicFramePr>
        <p:xfrm>
          <a:off x="68961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993DDFD2-C644-09F3-0C86-514976C444F1}"/>
              </a:ext>
            </a:extLst>
          </p:cNvPr>
          <p:cNvSpPr txBox="1"/>
          <p:nvPr/>
        </p:nvSpPr>
        <p:spPr>
          <a:xfrm>
            <a:off x="6350000" y="4152900"/>
            <a:ext cx="5727700" cy="300081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版型合身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、尺码合适，整体包裹感较好。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、吸湿排汗表现良好，满足日常训练需求。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、具备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高强度支撑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，洗后不起球勾丝。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面料柔软性不足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，有轻微摩擦皮肤和手臂的问题。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、出汗后会略贴身。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速干表现达标但不突出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，约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30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分钟后才较干爽。</a:t>
            </a:r>
          </a:p>
        </p:txBody>
      </p:sp>
    </p:spTree>
    <p:extLst>
      <p:ext uri="{BB962C8B-B14F-4D97-AF65-F5344CB8AC3E}">
        <p14:creationId xmlns:p14="http://schemas.microsoft.com/office/powerpoint/2010/main" val="5105578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3913B-524A-4EE1-439E-2C6041E8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236E75-3AA6-096E-AA8F-642AE5FED8B7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687DB8F-A558-12A1-A068-1D4B40E22872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4A52163-719F-C5BE-D59C-A645B7C2DB4E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测试者姓名：恬恬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100.0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AB44D153-BA74-D819-E067-31198E430F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8305578"/>
              </p:ext>
            </p:extLst>
          </p:nvPr>
        </p:nvGraphicFramePr>
        <p:xfrm>
          <a:off x="8382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A2BCEC7-30CD-23A5-6505-90D07F47B8E6}"/>
              </a:ext>
            </a:extLst>
          </p:cNvPr>
          <p:cNvSpPr txBox="1"/>
          <p:nvPr/>
        </p:nvSpPr>
        <p:spPr>
          <a:xfrm>
            <a:off x="330200" y="4152900"/>
            <a:ext cx="5727700" cy="300081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尺码合适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，整体版型尚可，不限制动作。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、吸湿排汗表现还可以，外层面料速干性尚可。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、适合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短距离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运动，具备一定中强度支撑。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长距离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时胸下和腋下会磨皮肤，面料舒适性一般。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、内层贴身位置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速干较差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后兜储物空间不足且拿取不便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7EE1E6-9B73-8A24-6FBF-4CE862B410B6}"/>
              </a:ext>
            </a:extLst>
          </p:cNvPr>
          <p:cNvSpPr txBox="1"/>
          <p:nvPr/>
        </p:nvSpPr>
        <p:spPr>
          <a:xfrm>
            <a:off x="63500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Alisa
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50.0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4F288C33-D59A-E82F-9548-448ACF0E1B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7477075"/>
              </p:ext>
            </p:extLst>
          </p:nvPr>
        </p:nvGraphicFramePr>
        <p:xfrm>
          <a:off x="68961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2BEF888F-9696-7A2F-00FB-A18BB502D925}"/>
              </a:ext>
            </a:extLst>
          </p:cNvPr>
          <p:cNvSpPr txBox="1"/>
          <p:nvPr/>
        </p:nvSpPr>
        <p:spPr>
          <a:xfrm>
            <a:off x="6350000" y="4152900"/>
            <a:ext cx="5727700" cy="300081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版型不错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，整体贴合度较好。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、穿着过程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无磨皮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现象，舒适性尚可。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、具备一定中强度支撑，适合日常训练场景。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面料偏厚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，透气感一般。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、吸湿排汗表现一般，存在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只吸不排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感受。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速干较慢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，干爽恢复速度不足。</a:t>
            </a:r>
          </a:p>
        </p:txBody>
      </p:sp>
    </p:spTree>
    <p:extLst>
      <p:ext uri="{BB962C8B-B14F-4D97-AF65-F5344CB8AC3E}">
        <p14:creationId xmlns:p14="http://schemas.microsoft.com/office/powerpoint/2010/main" val="3632354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74D64-6609-AB0E-2610-5F43377C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1D8344-B5F9-A5B6-E0FE-4AA0F87DB95C}"/>
              </a:ext>
            </a:extLst>
          </p:cNvPr>
          <p:cNvSpPr txBox="1"/>
          <p:nvPr/>
        </p:nvSpPr>
        <p:spPr>
          <a:xfrm>
            <a:off x="190500" y="190499"/>
            <a:ext cx="2032000" cy="63500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实战测试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BB4021D-8481-5387-4F6B-2E8047160112}"/>
              </a:ext>
            </a:extLst>
          </p:cNvPr>
          <p:cNvCxnSpPr/>
          <p:nvPr/>
        </p:nvCxnSpPr>
        <p:spPr>
          <a:xfrm>
            <a:off x="6096000" y="381000"/>
            <a:ext cx="0" cy="5842000"/>
          </a:xfrm>
          <a:prstGeom prst="line">
            <a:avLst/>
          </a:prstGeom>
          <a:noFill/>
          <a:ln w="6350" cap="flat">
            <a:solidFill>
              <a:srgbClr val="FF0000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24DD470-C88B-A5FE-0F48-41E7FCFE8AFB}"/>
              </a:ext>
            </a:extLst>
          </p:cNvPr>
          <p:cNvSpPr txBox="1"/>
          <p:nvPr/>
        </p:nvSpPr>
        <p:spPr>
          <a:xfrm>
            <a:off x="330200" y="1028700"/>
            <a:ext cx="4762500" cy="830995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测试者姓名：周敏
测试者体重：</a:t>
            </a:r>
            <a:r>
              <a:rPr kumimoji="0" lang="en-US" altLang="zh-CN" sz="16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58.0
</a:t>
            </a:r>
            <a:endParaRPr kumimoji="0" lang="zh-CN" altLang="en-US" sz="1600" b="1" i="0" u="none" strike="noStrike" cap="none" spc="0" normalizeH="0" baseline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/>
              <a:sym typeface="Arial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E155990E-69B6-F8BD-7EAD-037032797A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4077483"/>
              </p:ext>
            </p:extLst>
          </p:nvPr>
        </p:nvGraphicFramePr>
        <p:xfrm>
          <a:off x="838200" y="2133600"/>
          <a:ext cx="3175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95E991D-CCEA-FF8F-3CAB-C51CC65A5E47}"/>
              </a:ext>
            </a:extLst>
          </p:cNvPr>
          <p:cNvSpPr txBox="1"/>
          <p:nvPr/>
        </p:nvSpPr>
        <p:spPr>
          <a:xfrm>
            <a:off x="330200" y="4152900"/>
            <a:ext cx="5727700" cy="3000819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高强度支撑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较好，可应对半马等剧烈运动。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、无磨皮、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不起球不勾丝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，耐用性表现不错。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、速干表现较好，跑后约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15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分钟湿热感可消失。
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罩杯未区分</a:t>
            </a:r>
            <a:r>
              <a:rPr kumimoji="0" lang="en-US" altLang="zh-CN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ABC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C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杯穿着偏挤，有压迫感。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、面料偏厚，</a:t>
            </a:r>
            <a:r>
              <a:rPr kumimoji="0" lang="zh-CN" altLang="en-US" sz="14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透气性略差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，室内跑步会闷。
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、外层面料弹性不足。</a:t>
            </a:r>
          </a:p>
        </p:txBody>
      </p:sp>
    </p:spTree>
    <p:extLst>
      <p:ext uri="{BB962C8B-B14F-4D97-AF65-F5344CB8AC3E}">
        <p14:creationId xmlns:p14="http://schemas.microsoft.com/office/powerpoint/2010/main" val="419826196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94E7-B795-D425-F60E-5FA7A845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F98C441-263F-2E29-E599-748207114BF9}"/>
              </a:ext>
            </a:extLst>
          </p:cNvPr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837C679-C953-D6AE-B323-9120274C01B1}"/>
              </a:ext>
            </a:extLst>
          </p:cNvPr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90228FC-53F0-69E0-B14E-2F6A90B7CF42}"/>
              </a:ext>
            </a:extLst>
          </p:cNvPr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453FA42-29D7-8C1F-F839-0178124B2DC5}"/>
              </a:ext>
            </a:extLst>
          </p:cNvPr>
          <p:cNvSpPr/>
          <p:nvPr/>
        </p:nvSpPr>
        <p:spPr>
          <a:xfrm>
            <a:off x="482600" y="1244600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FE7753-0FE0-3AAF-A6E7-70D725993F82}"/>
              </a:ext>
            </a:extLst>
          </p:cNvPr>
          <p:cNvSpPr txBox="1"/>
          <p:nvPr/>
        </p:nvSpPr>
        <p:spPr>
          <a:xfrm>
            <a:off x="419100" y="1752600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版型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4E85DA7-7C4E-3E7E-02A9-289AB78169C0}"/>
              </a:ext>
            </a:extLst>
          </p:cNvPr>
          <p:cNvSpPr/>
          <p:nvPr/>
        </p:nvSpPr>
        <p:spPr>
          <a:xfrm>
            <a:off x="4191000" y="1244600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044DFB-99D4-2796-8F78-1881D1F2D664}"/>
              </a:ext>
            </a:extLst>
          </p:cNvPr>
          <p:cNvSpPr txBox="1"/>
          <p:nvPr/>
        </p:nvSpPr>
        <p:spPr>
          <a:xfrm>
            <a:off x="4127500" y="1752600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面料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83554EF-9D1C-A071-BBDE-C13AE2972CBA}"/>
              </a:ext>
            </a:extLst>
          </p:cNvPr>
          <p:cNvSpPr/>
          <p:nvPr/>
        </p:nvSpPr>
        <p:spPr>
          <a:xfrm>
            <a:off x="482600" y="2924944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F5DAFE6-F9F2-B13A-5B3C-0048F6DCFC45}"/>
              </a:ext>
            </a:extLst>
          </p:cNvPr>
          <p:cNvSpPr txBox="1"/>
          <p:nvPr/>
        </p:nvSpPr>
        <p:spPr>
          <a:xfrm>
            <a:off x="419100" y="3432944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吸湿排汗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0566A84-0084-297B-DF42-08FDF30B3E65}"/>
              </a:ext>
            </a:extLst>
          </p:cNvPr>
          <p:cNvSpPr/>
          <p:nvPr/>
        </p:nvSpPr>
        <p:spPr>
          <a:xfrm>
            <a:off x="4191000" y="2924944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A9100E-5222-928C-D385-7D04D757159C}"/>
              </a:ext>
            </a:extLst>
          </p:cNvPr>
          <p:cNvSpPr txBox="1"/>
          <p:nvPr/>
        </p:nvSpPr>
        <p:spPr>
          <a:xfrm>
            <a:off x="4127500" y="3432944"/>
            <a:ext cx="1587500" cy="4064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速干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5ADA18-A72A-B269-E931-A3DC40BB85A2}"/>
              </a:ext>
            </a:extLst>
          </p:cNvPr>
          <p:cNvSpPr txBox="1"/>
          <p:nvPr/>
        </p:nvSpPr>
        <p:spPr>
          <a:xfrm>
            <a:off x="262961" y="4548820"/>
            <a:ext cx="5617015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E16776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优点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strengths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CF2995A-8812-804B-AA96-3656BBD250FC}"/>
              </a:ext>
            </a:extLst>
          </p:cNvPr>
          <p:cNvSpPr txBox="1"/>
          <p:nvPr/>
        </p:nvSpPr>
        <p:spPr>
          <a:xfrm>
            <a:off x="10555698" y="679060"/>
            <a:ext cx="1589062" cy="1885128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受试者信息 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A: 162CM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B: 161CM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C: 170CM / 56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D: 156CM / 45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E: 168CM / 60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F: 163CM / 55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G: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H: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charset="-122"/>
              </a:rPr>
              <a:t>I: 162CM / 58 KG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99DA8F-814A-0504-76EE-D3D79602056C}"/>
              </a:ext>
            </a:extLst>
          </p:cNvPr>
          <p:cNvSpPr txBox="1"/>
          <p:nvPr/>
        </p:nvSpPr>
        <p:spPr>
          <a:xfrm>
            <a:off x="6096000" y="4548820"/>
            <a:ext cx="4428601" cy="1944000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C3E0FF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50000"/>
              </a:lnSpc>
              <a:def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rgbClr val="0070C0"/>
                </a:solidFill>
              </a:rPr>
              <a:t>缺点 </a:t>
            </a:r>
            <a:r>
              <a:rPr lang="en-US" altLang="zh-CN" sz="1400" dirty="0">
                <a:solidFill>
                  <a:srgbClr val="0070C0"/>
                </a:solidFill>
              </a:rPr>
              <a:t>drawbacks</a:t>
            </a:r>
            <a:endParaRPr lang="en-US" altLang="zh-CN" sz="1400" b="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0CFA94-D5CC-FFB4-BFC0-0E5BBA4E6827}"/>
              </a:ext>
            </a:extLst>
          </p:cNvPr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28C99B-1A24-7A12-53CB-B3FC8AB6DF48}"/>
              </a:ext>
            </a:extLst>
          </p:cNvPr>
          <p:cNvSpPr txBox="1"/>
          <p:nvPr/>
        </p:nvSpPr>
        <p:spPr>
          <a:xfrm>
            <a:off x="365479" y="4938944"/>
            <a:ext cx="5411978" cy="1346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本次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名样本反馈，版型整体多为合身显身材、动作较自如（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8/9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）；支撑可覆盖中高强度训练，竞速适配有认可（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charset="-122"/>
              </a:rPr>
              <a:t>5/9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charset="-122"/>
              </a:rPr>
              <a:t>）。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B33B73-CDEF-3F0A-D4B9-33F7FA891A71}"/>
              </a:ext>
            </a:extLst>
          </p:cNvPr>
          <p:cNvSpPr txBox="1"/>
          <p:nvPr/>
        </p:nvSpPr>
        <p:spPr>
          <a:xfrm>
            <a:off x="6118860" y="4938944"/>
            <a:ext cx="4296849" cy="134690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342900" indent="-342900">
              <a:lnSpc>
                <a:spcPct val="150000"/>
              </a:lnSpc>
              <a:buFont typeface="+mj-lt"/>
              <a:buAutoNum type="arabicPeriod"/>
              <a:def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</a:rPr>
              <a:t>本次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</a:rPr>
              <a:t>9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</a:rPr>
              <a:t>名样本反馈，</a:t>
            </a:r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</a:rPr>
              <a:t>摩擦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</a:rPr>
              <a:t>腋下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</a:rPr>
              <a:t>胸下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</a:rPr>
              <a:t>副乳处长距离易磨或硌（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</a:rPr>
              <a:t>5/9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</a:rPr>
              <a:t>），</a:t>
            </a:r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</a:rPr>
              <a:t>厚闷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</a:rPr>
              <a:t>前胸或整体偏厚、透气排汗不足（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</a:rPr>
              <a:t>5/9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</a:rPr>
              <a:t>）。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3ACBE2-0E6D-BF1E-B364-BE4FA584BC57}"/>
              </a:ext>
            </a:extLst>
          </p:cNvPr>
          <p:cNvSpPr/>
          <p:nvPr/>
        </p:nvSpPr>
        <p:spPr>
          <a:xfrm>
            <a:off x="4367808" y="154659"/>
            <a:ext cx="33843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  &lt;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面料信息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&gt;</a:t>
            </a: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B26968E4-D9AA-8753-7F3F-BE469A5E6D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3459463"/>
              </p:ext>
            </p:extLst>
          </p:nvPr>
        </p:nvGraphicFramePr>
        <p:xfrm>
          <a:off x="1625600" y="1015999"/>
          <a:ext cx="2413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C98EF08-8336-EFA9-5DD5-FD3784F15C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8768288"/>
              </p:ext>
            </p:extLst>
          </p:nvPr>
        </p:nvGraphicFramePr>
        <p:xfrm>
          <a:off x="5334000" y="1304032"/>
          <a:ext cx="2413000" cy="1245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9606520B-657B-E149-BF6B-6D7B6A4010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4685700"/>
              </p:ext>
            </p:extLst>
          </p:nvPr>
        </p:nvGraphicFramePr>
        <p:xfrm>
          <a:off x="1625600" y="3056384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1C6DD636-16B8-54C4-9813-5DEFBEFF00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6755403"/>
              </p:ext>
            </p:extLst>
          </p:nvPr>
        </p:nvGraphicFramePr>
        <p:xfrm>
          <a:off x="5334000" y="3056384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1781663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图表 63">
            <a:extLst>
              <a:ext uri="{FF2B5EF4-FFF2-40B4-BE49-F238E27FC236}">
                <a16:creationId xmlns:a16="http://schemas.microsoft.com/office/drawing/2014/main" id="{52689025-6E1E-BBD7-22EF-E85E28BC5DF6}"/>
              </a:ext>
            </a:extLst>
          </p:cNvPr>
          <p:cNvGraphicFramePr>
            <a:graphicFrameLocks/>
          </p:cNvGraphicFramePr>
          <p:nvPr/>
        </p:nvGraphicFramePr>
        <p:xfrm>
          <a:off x="2071400" y="5209016"/>
          <a:ext cx="5422924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直接连接符 4"/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4" name="椭圆 3"/>
          <p:cNvSpPr/>
          <p:nvPr/>
        </p:nvSpPr>
        <p:spPr>
          <a:xfrm>
            <a:off x="453851" y="129850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5542" y="1554393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版型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3.98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4210385" y="1356455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58567" y="1589729"/>
            <a:ext cx="1587500" cy="877161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面料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3.96 / 5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53851" y="330623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3609" y="3584621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吸湿排汗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3.61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162251" y="3306237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48324" y="3560831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速干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3.52 / 5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555698" y="679060"/>
            <a:ext cx="1589062" cy="1885128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受试者信息 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A: 162CM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B: 161CM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C: 170CM / 56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D: 156CM / 45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E: 168CM / 60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F: 163CM / 55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I: 162CM / 58 KG</a:t>
            </a:r>
            <a:endParaRPr lang="en-US" altLang="zh-CN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1596851" y="1069906"/>
          <a:ext cx="2413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图表 9"/>
          <p:cNvGraphicFramePr/>
          <p:nvPr/>
        </p:nvGraphicFramePr>
        <p:xfrm>
          <a:off x="5152851" y="1350285"/>
          <a:ext cx="2845645" cy="1245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图表 10"/>
          <p:cNvGraphicFramePr/>
          <p:nvPr/>
        </p:nvGraphicFramePr>
        <p:xfrm>
          <a:off x="1844305" y="3442585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5536152" y="3399947"/>
          <a:ext cx="2413000" cy="124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0" name="椭圆 49">
            <a:extLst>
              <a:ext uri="{FF2B5EF4-FFF2-40B4-BE49-F238E27FC236}">
                <a16:creationId xmlns:a16="http://schemas.microsoft.com/office/drawing/2014/main" id="{D21B2123-BB1F-628E-200D-6AA4245C16AD}"/>
              </a:ext>
            </a:extLst>
          </p:cNvPr>
          <p:cNvSpPr/>
          <p:nvPr/>
        </p:nvSpPr>
        <p:spPr>
          <a:xfrm>
            <a:off x="427393" y="5103078"/>
            <a:ext cx="1435100" cy="1435100"/>
          </a:xfrm>
          <a:prstGeom prst="ellipse">
            <a:avLst/>
          </a:prstGeom>
          <a:solidFill>
            <a:srgbClr val="FFFFFF">
              <a:alpha val="0"/>
            </a:srgbClr>
          </a:solidFill>
          <a:ln w="76200" cap="flat">
            <a:solidFill>
              <a:srgbClr val="F4C1BD"/>
            </a:solidFill>
            <a:prstDash val="dash"/>
            <a:round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8E20231-565C-23DF-A80F-018E8D86BBA1}"/>
              </a:ext>
            </a:extLst>
          </p:cNvPr>
          <p:cNvSpPr txBox="1"/>
          <p:nvPr/>
        </p:nvSpPr>
        <p:spPr>
          <a:xfrm>
            <a:off x="336539" y="5358964"/>
            <a:ext cx="1587500" cy="92332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b="1" dirty="0">
                <a:latin typeface="Arial" panose="020B0604020202020204" pitchFamily="34" charset="0"/>
                <a:ea typeface="微软雅黑" panose="020B0503020204020204" charset="-122"/>
              </a:rPr>
              <a:t>适宜温度</a:t>
            </a:r>
            <a:endParaRPr kumimoji="0" lang="en-US" altLang="zh-CN" sz="2000" b="1" i="0" u="none" strike="noStrike" cap="none" spc="0" normalizeH="0" baseline="0" dirty="0">
              <a:ln>
                <a:noFill/>
              </a:ln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15~25</a:t>
            </a:r>
            <a:r>
              <a:rPr lang="zh-CN" alt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℃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7097865C-B40E-2AB2-2DC9-21197EA32375}"/>
              </a:ext>
            </a:extLst>
          </p:cNvPr>
          <p:cNvSpPr/>
          <p:nvPr/>
        </p:nvSpPr>
        <p:spPr>
          <a:xfrm>
            <a:off x="10766043" y="2886560"/>
            <a:ext cx="1168371" cy="698061"/>
          </a:xfrm>
          <a:prstGeom prst="roundRect">
            <a:avLst/>
          </a:prstGeom>
          <a:solidFill>
            <a:schemeClr val="bg2"/>
          </a:solidFill>
          <a:ln w="38100" cap="flat">
            <a:solidFill>
              <a:schemeClr val="bg2"/>
            </a:solidFill>
            <a:prstDash val="solid"/>
            <a:round/>
          </a:ln>
          <a:effectLst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累计跑量</a:t>
            </a:r>
            <a:r>
              <a:rPr kumimoji="0" lang="en-US" altLang="zh-CN" sz="11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km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</a:rPr>
              <a:t>671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45DA9769-D2C0-A7CD-A1E5-F9A764B84C9D}"/>
              </a:ext>
            </a:extLst>
          </p:cNvPr>
          <p:cNvSpPr/>
          <p:nvPr/>
        </p:nvSpPr>
        <p:spPr>
          <a:xfrm>
            <a:off x="10779395" y="3919187"/>
            <a:ext cx="1168371" cy="698061"/>
          </a:xfrm>
          <a:prstGeom prst="roundRect">
            <a:avLst/>
          </a:prstGeom>
          <a:solidFill>
            <a:schemeClr val="bg2"/>
          </a:solidFill>
          <a:ln w="38100" cap="flat">
            <a:solidFill>
              <a:schemeClr val="bg2"/>
            </a:solidFill>
            <a:prstDash val="solid"/>
            <a:round/>
          </a:ln>
          <a:effectLst>
            <a:outerShdw blurRad="50800" dist="38100" dir="5400000" rotWithShape="0">
              <a:srgbClr val="000000">
                <a:alpha val="4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定位日常训练</a:t>
            </a:r>
            <a:r>
              <a:rPr lang="en-US" altLang="zh-CN" sz="2400" b="1" dirty="0">
                <a:solidFill>
                  <a:schemeClr val="bg1"/>
                </a:solidFill>
              </a:rPr>
              <a:t>7/9</a:t>
            </a:r>
            <a:endParaRPr kumimoji="0" lang="zh-CN" altLang="en-US" sz="2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F328C-5577-55E1-75F2-2081E1D73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5735AD8-3E8B-868E-57D5-531C2DD77E60}"/>
              </a:ext>
            </a:extLst>
          </p:cNvPr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641640B-8850-0327-3D82-FA39B76CD40E}"/>
              </a:ext>
            </a:extLst>
          </p:cNvPr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F125C1D-7969-AFB0-F240-31EF07ACABA6}"/>
              </a:ext>
            </a:extLst>
          </p:cNvPr>
          <p:cNvSpPr txBox="1"/>
          <p:nvPr/>
        </p:nvSpPr>
        <p:spPr>
          <a:xfrm>
            <a:off x="546100" y="673100"/>
            <a:ext cx="3175000" cy="400108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/>
                <a:sym typeface="Arial" panose="020B0604020202020204"/>
              </a:rPr>
              <a:t>服装试穿反馈结果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1DE251-46F6-B2D2-91EA-2F7950B72588}"/>
              </a:ext>
            </a:extLst>
          </p:cNvPr>
          <p:cNvSpPr txBox="1"/>
          <p:nvPr/>
        </p:nvSpPr>
        <p:spPr>
          <a:xfrm>
            <a:off x="426925" y="1627605"/>
            <a:ext cx="7055194" cy="1708158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E16776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优点 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strengths</a:t>
            </a:r>
          </a:p>
          <a:p>
            <a:pPr marL="342900" indent="-342900" algn="ctr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整体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版型合身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、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修身显身材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，上身贴合，动作舒展不受限（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charset="-122"/>
              </a:rPr>
              <a:t>9/9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）。
具备一定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支撑性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，覆盖中低到高强度训练（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charset="-122"/>
              </a:rPr>
              <a:t>7/9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）。
面料有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亲肤性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与一定</a:t>
            </a:r>
            <a:r>
              <a:rPr lang="zh-CN" altLang="en-US" sz="1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耐用性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，多名反馈不起球不勾丝</a:t>
            </a:r>
            <a:endParaRPr lang="en-US" altLang="zh-CN" sz="1400" dirty="0">
              <a:latin typeface="Arial" panose="020B0604020202020204" pitchFamily="34" charset="0"/>
              <a:ea typeface="微软雅黑" panose="020B0503020204020204" charset="-122"/>
            </a:endParaRPr>
          </a:p>
          <a:p>
            <a:pPr marL="342900" indent="-342900" algn="ctr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charset="-122"/>
              </a:rPr>
              <a:t>短距离及日常训练场景下舒适性评价较好。</a:t>
            </a:r>
            <a:endParaRPr lang="en-US" altLang="zh-CN" sz="14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CE4FB02-CCB6-20E1-0425-211E8184E329}"/>
              </a:ext>
            </a:extLst>
          </p:cNvPr>
          <p:cNvSpPr txBox="1"/>
          <p:nvPr/>
        </p:nvSpPr>
        <p:spPr>
          <a:xfrm>
            <a:off x="10555698" y="679060"/>
            <a:ext cx="1589062" cy="1885128"/>
          </a:xfrm>
          <a:prstGeom prst="rect">
            <a:avLst/>
          </a:prstGeom>
          <a:solidFill>
            <a:srgbClr val="FFFF00">
              <a:alpha val="0"/>
            </a:srgbClr>
          </a:solidFill>
          <a:ln w="38100" cap="flat">
            <a:noFill/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受试者信息 </a:t>
            </a: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Information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A: 162CM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B: 161CM / 53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C: 170CM / 56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D: 156CM / 45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E: 168CM / 60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F: 163CM / 55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H: 160CM / 50 KG</a:t>
            </a:r>
          </a:p>
          <a:p>
            <a:pPr marR="0" lvl="0" algn="ctr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I: 162CM / 58 KG</a:t>
            </a:r>
            <a:endParaRPr lang="en-US" altLang="zh-CN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4E159B-670C-3630-6F8F-26F56545F760}"/>
              </a:ext>
            </a:extLst>
          </p:cNvPr>
          <p:cNvSpPr txBox="1"/>
          <p:nvPr/>
        </p:nvSpPr>
        <p:spPr>
          <a:xfrm>
            <a:off x="442680" y="3890160"/>
            <a:ext cx="7039439" cy="2400655"/>
          </a:xfrm>
          <a:prstGeom prst="rect">
            <a:avLst/>
          </a:prstGeom>
          <a:solidFill>
            <a:scrgbClr r="0" g="0" b="0">
              <a:alpha val="0"/>
            </a:scrgbClr>
          </a:solidFill>
          <a:ln w="38100" cap="flat">
            <a:solidFill>
              <a:srgbClr val="C3E0FF"/>
            </a:solidFill>
            <a:prstDash val="dash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ctr" eaLnBrk="1">
              <a:lnSpc>
                <a:spcPct val="150000"/>
              </a:lnSpc>
              <a:def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400" dirty="0">
                <a:solidFill>
                  <a:srgbClr val="0070C0"/>
                </a:solidFill>
              </a:rPr>
              <a:t>缺点 </a:t>
            </a:r>
            <a:r>
              <a:rPr lang="en-US" altLang="zh-CN" sz="1400" dirty="0">
                <a:solidFill>
                  <a:srgbClr val="0070C0"/>
                </a:solidFill>
              </a:rPr>
              <a:t>drawbacks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</a:rPr>
              <a:t>面料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弹性不够（</a:t>
            </a:r>
            <a:r>
              <a:rPr lang="en-US" altLang="zh-CN" sz="1400" dirty="0">
                <a:solidFill>
                  <a:srgbClr val="00B0F0"/>
                </a:solidFill>
                <a:latin typeface="Arial" panose="020B0604020202020204" pitchFamily="34" charset="0"/>
              </a:rPr>
              <a:t>2/9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）</a:t>
            </a:r>
            <a:endParaRPr lang="en-US" altLang="zh-CN" sz="1400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</a:rPr>
              <a:t>前胸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闷热</a:t>
            </a:r>
            <a:r>
              <a:rPr lang="zh-CN" altLang="en-US" sz="1400" b="0" dirty="0">
                <a:latin typeface="Arial" panose="020B0604020202020204" pitchFamily="34" charset="0"/>
              </a:rPr>
              <a:t>、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面料偏厚</a:t>
            </a:r>
            <a:r>
              <a:rPr lang="zh-CN" altLang="en-US" sz="1400" b="0" dirty="0">
                <a:latin typeface="Arial" panose="020B0604020202020204" pitchFamily="34" charset="0"/>
              </a:rPr>
              <a:t>（</a:t>
            </a:r>
            <a:r>
              <a:rPr lang="en-US" altLang="zh-CN" sz="1400" b="0" dirty="0">
                <a:latin typeface="Arial" panose="020B0604020202020204" pitchFamily="34" charset="0"/>
              </a:rPr>
              <a:t>4/9</a:t>
            </a:r>
            <a:r>
              <a:rPr lang="zh-CN" altLang="en-US" sz="1400" b="0" dirty="0">
                <a:latin typeface="Arial" panose="020B0604020202020204" pitchFamily="34" charset="0"/>
              </a:rPr>
              <a:t>）</a:t>
            </a:r>
            <a:endParaRPr lang="en-US" altLang="zh-CN" sz="1400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b="0" dirty="0">
                <a:latin typeface="Arial" panose="020B0604020202020204" pitchFamily="34" charset="0"/>
              </a:rPr>
              <a:t>腋下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摩擦</a:t>
            </a:r>
            <a:r>
              <a:rPr lang="zh-CN" altLang="en-US" sz="1400" b="0" dirty="0">
                <a:latin typeface="Arial" panose="020B0604020202020204" pitchFamily="34" charset="0"/>
              </a:rPr>
              <a:t>、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副乳硌感</a:t>
            </a:r>
            <a:r>
              <a:rPr lang="zh-CN" altLang="en-US" sz="1400" b="0" dirty="0">
                <a:latin typeface="Arial" panose="020B0604020202020204" pitchFamily="34" charset="0"/>
              </a:rPr>
              <a:t>、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胸下磨皮</a:t>
            </a:r>
            <a:r>
              <a:rPr lang="zh-CN" altLang="en-US" sz="1400" b="0" dirty="0">
                <a:latin typeface="Arial" panose="020B0604020202020204" pitchFamily="34" charset="0"/>
              </a:rPr>
              <a:t>较集中，长距离或出汗后更明显（</a:t>
            </a:r>
            <a:r>
              <a:rPr lang="en-US" altLang="zh-CN" sz="1400" b="0" dirty="0">
                <a:latin typeface="Arial" panose="020B0604020202020204" pitchFamily="34" charset="0"/>
              </a:rPr>
              <a:t>8/9</a:t>
            </a:r>
            <a:r>
              <a:rPr lang="zh-CN" altLang="en-US" sz="1400" b="0" dirty="0">
                <a:latin typeface="Arial" panose="020B0604020202020204" pitchFamily="34" charset="0"/>
              </a:rPr>
              <a:t>）。</a:t>
            </a:r>
            <a:r>
              <a:rPr lang="zh-CN" altLang="en-US" sz="1400" dirty="0">
                <a:latin typeface="Arial" panose="020B0604020202020204" pitchFamily="34" charset="0"/>
              </a:rPr>
              <a:t>
</a:t>
            </a:r>
            <a:r>
              <a:rPr lang="zh-CN" altLang="en-US" sz="1400" b="0" dirty="0">
                <a:latin typeface="Arial" panose="020B0604020202020204" pitchFamily="34" charset="0"/>
              </a:rPr>
              <a:t>透气</a:t>
            </a:r>
            <a:r>
              <a:rPr lang="zh-CN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排汗不足</a:t>
            </a:r>
            <a:r>
              <a:rPr lang="zh-CN" altLang="en-US" sz="1400" b="0" dirty="0">
                <a:latin typeface="Arial" panose="020B0604020202020204" pitchFamily="34" charset="0"/>
              </a:rPr>
              <a:t>较突出，局部有只吸不排、贴身感，速干较差（</a:t>
            </a:r>
            <a:r>
              <a:rPr lang="en-US" altLang="zh-CN" sz="1400" b="0" dirty="0">
                <a:latin typeface="Arial" panose="020B0604020202020204" pitchFamily="34" charset="0"/>
              </a:rPr>
              <a:t>6/9</a:t>
            </a:r>
            <a:r>
              <a:rPr lang="zh-CN" altLang="en-US" sz="1400" b="0" dirty="0">
                <a:latin typeface="Arial" panose="020B0604020202020204" pitchFamily="34" charset="0"/>
              </a:rPr>
              <a:t>）。
后背口袋不便，补给袋定位与开口方向影响取用（</a:t>
            </a:r>
            <a:r>
              <a:rPr lang="en-US" altLang="zh-CN" sz="1400" b="0" dirty="0">
                <a:latin typeface="Arial" panose="020B0604020202020204" pitchFamily="34" charset="0"/>
              </a:rPr>
              <a:t>4/9</a:t>
            </a:r>
            <a:r>
              <a:rPr lang="zh-CN" altLang="en-US" sz="1400" b="0" dirty="0">
                <a:latin typeface="Arial" panose="020B0604020202020204" pitchFamily="34" charset="0"/>
              </a:rPr>
              <a:t>）；</a:t>
            </a:r>
            <a:endParaRPr lang="en-US" altLang="zh-CN" sz="1400" b="0" dirty="0">
              <a:latin typeface="Arial" panose="020B0604020202020204" pitchFamily="34" charset="0"/>
            </a:endParaRPr>
          </a:p>
          <a:p>
            <a:r>
              <a:rPr lang="zh-CN" altLang="en-US" sz="1400" b="0" dirty="0">
                <a:latin typeface="Arial" panose="020B0604020202020204" pitchFamily="34" charset="0"/>
              </a:rPr>
              <a:t>建议</a:t>
            </a:r>
            <a:r>
              <a:rPr lang="zh-CN" altLang="en-US" b="0" dirty="0"/>
              <a:t>改为</a:t>
            </a:r>
            <a:r>
              <a:rPr lang="zh-CN" altLang="en-US" dirty="0"/>
              <a:t>侧向开口</a:t>
            </a:r>
            <a:r>
              <a:rPr lang="en-US" altLang="zh-CN" dirty="0"/>
              <a:t>/</a:t>
            </a:r>
            <a:r>
              <a:rPr lang="zh-CN" altLang="en-US" dirty="0"/>
              <a:t>更低位置</a:t>
            </a:r>
            <a:r>
              <a:rPr lang="zh-CN" altLang="en-US" b="0" dirty="0"/>
              <a:t>设计。</a:t>
            </a:r>
            <a:endParaRPr lang="en-US" altLang="zh-CN" b="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DAF1AF9-EAA9-13EB-BF18-A3BFFC1E6323}"/>
              </a:ext>
            </a:extLst>
          </p:cNvPr>
          <p:cNvSpPr txBox="1"/>
          <p:nvPr/>
        </p:nvSpPr>
        <p:spPr>
          <a:xfrm>
            <a:off x="262961" y="113947"/>
            <a:ext cx="7345207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试穿反馈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Athletes’ Feedback】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083014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AF77-9A94-1373-DB18-1767AA83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>
            <a:extLst>
              <a:ext uri="{FF2B5EF4-FFF2-40B4-BE49-F238E27FC236}">
                <a16:creationId xmlns:a16="http://schemas.microsoft.com/office/drawing/2014/main" id="{F83BD135-0354-E747-5BF5-10E172FF8A75}"/>
              </a:ext>
            </a:extLst>
          </p:cNvPr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4</a:t>
            </a:r>
            <a:endParaRPr dirty="0"/>
          </a:p>
        </p:txBody>
      </p:sp>
      <p:sp>
        <p:nvSpPr>
          <p:cNvPr id="3" name="矩形 259">
            <a:extLst>
              <a:ext uri="{FF2B5EF4-FFF2-40B4-BE49-F238E27FC236}">
                <a16:creationId xmlns:a16="http://schemas.microsoft.com/office/drawing/2014/main" id="{0CE4A246-877F-EF5B-BB3C-B621C2EEC25F}"/>
              </a:ext>
            </a:extLst>
          </p:cNvPr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>
                <a:solidFill>
                  <a:schemeClr val="tx1"/>
                </a:solidFill>
                <a:latin typeface="微软雅黑" charset="-122"/>
                <a:ea typeface="微软雅黑" charset="-122"/>
              </a:rPr>
              <a:t>总结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621929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D781C-04B7-6186-6A4C-27DF1AC1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E2B569-A536-0678-87EC-F1C459ADCC6E}"/>
              </a:ext>
            </a:extLst>
          </p:cNvPr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442D7B-0398-B300-AED2-4B05C9BDFBE1}"/>
              </a:ext>
            </a:extLst>
          </p:cNvPr>
          <p:cNvSpPr/>
          <p:nvPr/>
        </p:nvSpPr>
        <p:spPr>
          <a:xfrm>
            <a:off x="407368" y="7304072"/>
            <a:ext cx="113052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基础数据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生物力学数据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人体试穿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建议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 文字描述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    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000000-0008-0000-0000-000014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130300"/>
            <a:ext cx="2582883" cy="13716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4B4BE41-C9D9-EC78-C418-711E800015E5}"/>
              </a:ext>
            </a:extLst>
          </p:cNvPr>
          <p:cNvSpPr txBox="1"/>
          <p:nvPr/>
        </p:nvSpPr>
        <p:spPr>
          <a:xfrm>
            <a:off x="647700" y="2603500"/>
            <a:ext cx="11455400" cy="3046986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【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优点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】
1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、整体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版型合身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修身显身材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，多数反馈上身贴合，动作舒展不受限。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、具备一定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支撑性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，覆盖中低到高强度训练，部分样本可用于竞速。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、面料有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亲肤性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与一定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耐用性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，多名反馈不起球不勾丝，常规排汗速干尚可。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【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缺点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】
1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腋下摩擦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副乳硌感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胸下磨皮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较集中，长距离或出汗后更明显。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前胸闷热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面料偏厚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透气排汗不足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较突出，局部有只吸不排、贴身感。
</a:t>
            </a:r>
            <a:r>
              <a:rPr kumimoji="0" lang="en-US" altLang="zh-CN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3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速干一般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与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后背口袋不实用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反复出现，另有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罩杯压迫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移位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、</a:t>
            </a:r>
            <a:r>
              <a:rPr kumimoji="0" lang="zh-CN" altLang="en-US" sz="160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掉色</a:t>
            </a:r>
            <a:r>
              <a:rPr kumimoji="0" lang="zh-CN" altLang="en-US" sz="1600" i="0" u="none" strike="noStrike" cap="none" spc="0" normalizeH="0" baseline="0">
                <a:ln>
                  <a:noFill/>
                </a:ln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/>
                <a:sym typeface="Arial"/>
              </a:rPr>
              <a:t>问题。</a:t>
            </a:r>
          </a:p>
        </p:txBody>
      </p:sp>
    </p:spTree>
    <p:extLst>
      <p:ext uri="{BB962C8B-B14F-4D97-AF65-F5344CB8AC3E}">
        <p14:creationId xmlns:p14="http://schemas.microsoft.com/office/powerpoint/2010/main" val="307708553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E1201-47DB-BDCC-3238-3B8FFC874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矩形 259">
            <a:extLst>
              <a:ext uri="{FF2B5EF4-FFF2-40B4-BE49-F238E27FC236}">
                <a16:creationId xmlns:a16="http://schemas.microsoft.com/office/drawing/2014/main" id="{F4038315-F50A-7CAF-5088-AE067EF27EA0}"/>
              </a:ext>
            </a:extLst>
          </p:cNvPr>
          <p:cNvSpPr txBox="1"/>
          <p:nvPr/>
        </p:nvSpPr>
        <p:spPr>
          <a:xfrm>
            <a:off x="904309" y="2569883"/>
            <a:ext cx="6479835" cy="9233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sz="6000" b="1"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r>
              <a:rPr dirty="0">
                <a:latin typeface="微软雅黑" pitchFamily="34" charset="-122"/>
                <a:ea typeface="微软雅黑" pitchFamily="34" charset="-122"/>
              </a:rPr>
              <a:t>THANK YOU</a:t>
            </a:r>
          </a:p>
        </p:txBody>
      </p:sp>
      <p:pic>
        <p:nvPicPr>
          <p:cNvPr id="645" name="Picture 3" descr="Picture 3">
            <a:extLst>
              <a:ext uri="{FF2B5EF4-FFF2-40B4-BE49-F238E27FC236}">
                <a16:creationId xmlns:a16="http://schemas.microsoft.com/office/drawing/2014/main" id="{7F10FE19-F8D7-9887-886F-EA4FFBE76AE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D682C55-93A1-5C76-884B-62D90213D8A8}"/>
              </a:ext>
            </a:extLst>
          </p:cNvPr>
          <p:cNvSpPr/>
          <p:nvPr/>
        </p:nvSpPr>
        <p:spPr>
          <a:xfrm>
            <a:off x="767080" y="5300980"/>
            <a:ext cx="3067685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</a:t>
            </a:r>
          </a:p>
        </p:txBody>
      </p:sp>
    </p:spTree>
    <p:extLst>
      <p:ext uri="{BB962C8B-B14F-4D97-AF65-F5344CB8AC3E}">
        <p14:creationId xmlns:p14="http://schemas.microsoft.com/office/powerpoint/2010/main" val="42598149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1773</Words>
  <Application>Microsoft Office PowerPoint</Application>
  <PresentationFormat>宽屏</PresentationFormat>
  <Paragraphs>124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微软雅黑</vt:lpstr>
      <vt:lpstr>Arial</vt:lpstr>
      <vt:lpstr>Wingdings</vt:lpstr>
      <vt:lpstr>1_包图主题2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K_OCEAN</dc:creator>
  <cp:lastModifiedBy>陈晶</cp:lastModifiedBy>
  <cp:revision>1083</cp:revision>
  <dcterms:created xsi:type="dcterms:W3CDTF">2019-03-25T05:53:00Z</dcterms:created>
  <dcterms:modified xsi:type="dcterms:W3CDTF">2026-05-26T08:48:08Z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